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b0ea113dc964b10" /><Relationship Type="http://schemas.openxmlformats.org/officeDocument/2006/relationships/extended-properties" Target="/docProps/app.xml" Id="R301ea95bb122484c" /><Relationship Type="http://schemas.openxmlformats.org/officeDocument/2006/relationships/officeDocument" Target="/ppt/presentation.xml" Id="R895abe18b69046d2" /></Relationships>
</file>

<file path=ppt/presentation.xml><?xml version="1.0" encoding="utf-8"?>
<p:presentation xmlns:p="http://schemas.openxmlformats.org/presentationml/2006/main">
  <p:sldMasterIdLst>
    <p:sldMasterId xmlns:r="http://schemas.openxmlformats.org/officeDocument/2006/relationships" id="2147483648" r:id="Rfc1e79f8448546a4"/>
  </p:sldMasterIdLst>
  <p:notesMasterIdLst>
    <p:notesMasterId xmlns:r="http://schemas.openxmlformats.org/officeDocument/2006/relationships" r:id="Ra426f43811d44721"/>
  </p:notesMasterIdLst>
  <p:sldIdLst>
    <p:sldId xmlns:r="http://schemas.openxmlformats.org/officeDocument/2006/relationships" id="256" r:id="Rc893f79aa3e24c3e"/>
    <p:sldId xmlns:r="http://schemas.openxmlformats.org/officeDocument/2006/relationships" id="257" r:id="Rc85a63130ff84c8a"/>
    <p:sldId xmlns:r="http://schemas.openxmlformats.org/officeDocument/2006/relationships" id="258" r:id="Rf451c1a7e8a1409e"/>
    <p:sldId xmlns:r="http://schemas.openxmlformats.org/officeDocument/2006/relationships" id="259" r:id="R1cf2d2cea81444f3"/>
    <p:sldId xmlns:r="http://schemas.openxmlformats.org/officeDocument/2006/relationships" id="260" r:id="R706468ebaad24013"/>
    <p:sldId xmlns:r="http://schemas.openxmlformats.org/officeDocument/2006/relationships" id="261" r:id="Rd329855b7c834e6b"/>
    <p:sldId xmlns:r="http://schemas.openxmlformats.org/officeDocument/2006/relationships" id="262" r:id="Re3a9d3be0c644f69"/>
    <p:sldId xmlns:r="http://schemas.openxmlformats.org/officeDocument/2006/relationships" id="263" r:id="Rfe7a7f452019405a"/>
    <p:sldId xmlns:r="http://schemas.openxmlformats.org/officeDocument/2006/relationships" id="264" r:id="R23513999d85a4a45"/>
    <p:sldId xmlns:r="http://schemas.openxmlformats.org/officeDocument/2006/relationships" id="265" r:id="R50cf4dfff6de4020"/>
    <p:sldId xmlns:r="http://schemas.openxmlformats.org/officeDocument/2006/relationships" id="266" r:id="R5a8848823d2e40cb"/>
    <p:sldId xmlns:r="http://schemas.openxmlformats.org/officeDocument/2006/relationships" id="267" r:id="R957b8e2470a34b82"/>
    <p:sldId xmlns:r="http://schemas.openxmlformats.org/officeDocument/2006/relationships" id="268" r:id="Rf59513b4e96549c6"/>
    <p:sldId xmlns:r="http://schemas.openxmlformats.org/officeDocument/2006/relationships" id="269" r:id="R0525d8f062b84a97"/>
    <p:sldId xmlns:r="http://schemas.openxmlformats.org/officeDocument/2006/relationships" id="270" r:id="R5aaa869ccd184520"/>
    <p:sldId xmlns:r="http://schemas.openxmlformats.org/officeDocument/2006/relationships" id="271" r:id="Rc6e2ce12079c4054"/>
    <p:sldId xmlns:r="http://schemas.openxmlformats.org/officeDocument/2006/relationships" id="272" r:id="R547f121800b34174"/>
    <p:sldId xmlns:r="http://schemas.openxmlformats.org/officeDocument/2006/relationships" id="273" r:id="Ra2a0ddd48baa483d"/>
    <p:sldId xmlns:r="http://schemas.openxmlformats.org/officeDocument/2006/relationships" id="274" r:id="Rb8d99e478dcc47b5"/>
    <p:sldId xmlns:r="http://schemas.openxmlformats.org/officeDocument/2006/relationships" id="275" r:id="R9c598ed2f0a345cc"/>
    <p:sldId xmlns:r="http://schemas.openxmlformats.org/officeDocument/2006/relationships" id="276" r:id="Rbba1806a7eac446b"/>
  </p:sldIdLst>
  <p:sldSz cx="7772400" cy="100584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5d6b4dfe6b64fe7" /><Relationship Type="http://schemas.openxmlformats.org/officeDocument/2006/relationships/slideMaster" Target="/ppt/slideMasters/slideMaster1.xml" Id="Rfc1e79f8448546a4" /><Relationship Type="http://schemas.openxmlformats.org/officeDocument/2006/relationships/notesMaster" Target="/ppt/notesMasters/notesMaster1.xml" Id="Ra426f43811d44721" /><Relationship Type="http://schemas.openxmlformats.org/officeDocument/2006/relationships/presProps" Target="/ppt/presProps.xml" Id="R5859d1490a9b4f47" /><Relationship Type="http://schemas.openxmlformats.org/officeDocument/2006/relationships/tableStyles" Target="/ppt/tableStyles.xml" Id="R66ff8e838d344a1f" /><Relationship Type="http://schemas.openxmlformats.org/officeDocument/2006/relationships/slide" Target="/ppt/slides/slide1.xml" Id="Rc893f79aa3e24c3e" /><Relationship Type="http://schemas.openxmlformats.org/officeDocument/2006/relationships/slide" Target="/ppt/slides/slide2.xml" Id="Rc85a63130ff84c8a" /><Relationship Type="http://schemas.openxmlformats.org/officeDocument/2006/relationships/slide" Target="/ppt/slides/slide3.xml" Id="Rf451c1a7e8a1409e" /><Relationship Type="http://schemas.openxmlformats.org/officeDocument/2006/relationships/slide" Target="/ppt/slides/slide4.xml" Id="R1cf2d2cea81444f3" /><Relationship Type="http://schemas.openxmlformats.org/officeDocument/2006/relationships/slide" Target="/ppt/slides/slide5.xml" Id="R706468ebaad24013" /><Relationship Type="http://schemas.openxmlformats.org/officeDocument/2006/relationships/slide" Target="/ppt/slides/slide6.xml" Id="Rd329855b7c834e6b" /><Relationship Type="http://schemas.openxmlformats.org/officeDocument/2006/relationships/slide" Target="/ppt/slides/slide7.xml" Id="Re3a9d3be0c644f69" /><Relationship Type="http://schemas.openxmlformats.org/officeDocument/2006/relationships/slide" Target="/ppt/slides/slide8.xml" Id="Rfe7a7f452019405a" /><Relationship Type="http://schemas.openxmlformats.org/officeDocument/2006/relationships/slide" Target="/ppt/slides/slide9.xml" Id="R23513999d85a4a45" /><Relationship Type="http://schemas.openxmlformats.org/officeDocument/2006/relationships/slide" Target="/ppt/slides/slide10.xml" Id="R50cf4dfff6de4020" /><Relationship Type="http://schemas.openxmlformats.org/officeDocument/2006/relationships/slide" Target="/ppt/slides/slide11.xml" Id="R5a8848823d2e40cb" /><Relationship Type="http://schemas.openxmlformats.org/officeDocument/2006/relationships/slide" Target="/ppt/slides/slide12.xml" Id="R957b8e2470a34b82" /><Relationship Type="http://schemas.openxmlformats.org/officeDocument/2006/relationships/slide" Target="/ppt/slides/slide13.xml" Id="Rf59513b4e96549c6" /><Relationship Type="http://schemas.openxmlformats.org/officeDocument/2006/relationships/slide" Target="/ppt/slides/slide14.xml" Id="R0525d8f062b84a97" /><Relationship Type="http://schemas.openxmlformats.org/officeDocument/2006/relationships/slide" Target="/ppt/slides/slide15.xml" Id="R5aaa869ccd184520" /><Relationship Type="http://schemas.openxmlformats.org/officeDocument/2006/relationships/slide" Target="/ppt/slides/slide16.xml" Id="Rc6e2ce12079c4054" /><Relationship Type="http://schemas.openxmlformats.org/officeDocument/2006/relationships/slide" Target="/ppt/slides/slide17.xml" Id="R547f121800b34174" /><Relationship Type="http://schemas.openxmlformats.org/officeDocument/2006/relationships/slide" Target="/ppt/slides/slide18.xml" Id="Ra2a0ddd48baa483d" /><Relationship Type="http://schemas.openxmlformats.org/officeDocument/2006/relationships/slide" Target="/ppt/slides/slide19.xml" Id="Rb8d99e478dcc47b5" /><Relationship Type="http://schemas.openxmlformats.org/officeDocument/2006/relationships/slide" Target="/ppt/slides/slide20.xml" Id="R9c598ed2f0a345cc" /><Relationship Type="http://schemas.openxmlformats.org/officeDocument/2006/relationships/slide" Target="/ppt/slides/slide21.xml" Id="Rbba1806a7eac446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ab63b14d19342d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Mindful Diabetes">
      <a:dk1>
        <a:srgbClr val="16211D"/>
      </a:dk1>
      <a:lt1>
        <a:srgbClr val="FFFDF7"/>
      </a:lt1>
      <a:dk2>
        <a:srgbClr val="192442"/>
      </a:dk2>
      <a:lt2>
        <a:srgbClr val="FBF3EA"/>
      </a:lt2>
      <a:accent1>
        <a:srgbClr val="034B2F"/>
      </a:accent1>
      <a:accent2>
        <a:srgbClr val="F26A2E"/>
      </a:accent2>
      <a:accent3>
        <a:srgbClr val="E6F2EC"/>
      </a:accent3>
      <a:accent4>
        <a:srgbClr val="EEF7FA"/>
      </a:accent4>
      <a:accent5>
        <a:srgbClr val="F5C66B"/>
      </a:accent5>
      <a:accent6>
        <a:srgbClr val="5C6C67"/>
      </a:accent6>
      <a:hlink>
        <a:srgbClr val="034B2F"/>
      </a:hlink>
      <a:folHlink>
        <a:srgbClr val="192442"/>
      </a:folHlink>
    </a:clrScheme>
    <a:fontScheme name="Office">
      <a:majorFont>
        <a:latin typeface="Calibri Light"/>
        <a:ea typeface="Calibri Light"/>
        <a:cs typeface="Calibri Light"/>
      </a:majorFont>
      <a:minorFont>
        <a:latin typeface="Calibri"/>
        <a:ea typeface="Calibri"/>
        <a:cs typeface="Calibri"/>
      </a:minorFont>
    </a:fontScheme>
    <a:fmtScheme name="Mindful Diabete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c4127ba1bf3469a" /><Relationship Type="http://schemas.openxmlformats.org/officeDocument/2006/relationships/notesMaster" Target="/ppt/notesMasters/notesMaster1.xml" Id="R3259958f78074e0e" /></Relationships>
</file>

<file path=ppt/notesSlides/_rels/notesSlide2.xml.rels>&#65279;<?xml version="1.0" encoding="utf-8"?><Relationships xmlns="http://schemas.openxmlformats.org/package/2006/relationships"><Relationship Type="http://schemas.openxmlformats.org/officeDocument/2006/relationships/slide" Target="/ppt/slides/slide2.xml" Id="Rf601beba72f24814" /><Relationship Type="http://schemas.openxmlformats.org/officeDocument/2006/relationships/notesMaster" Target="/ppt/notesMasters/notesMaster1.xml" Id="Ra055c1c897e34872" /></Relationships>
</file>

<file path=ppt/notesSlides/_rels/notesSlide3.xml.rels>&#65279;<?xml version="1.0" encoding="utf-8"?><Relationships xmlns="http://schemas.openxmlformats.org/package/2006/relationships"><Relationship Type="http://schemas.openxmlformats.org/officeDocument/2006/relationships/slide" Target="/ppt/slides/slide3.xml" Id="R5dc17f553fc34455" /><Relationship Type="http://schemas.openxmlformats.org/officeDocument/2006/relationships/notesMaster" Target="/ppt/notesMasters/notesMaster1.xml" Id="R79266229bdbd42e6" /></Relationships>
</file>

<file path=ppt/notesSlides/_rels/notesSlide4.xml.rels>&#65279;<?xml version="1.0" encoding="utf-8"?><Relationships xmlns="http://schemas.openxmlformats.org/package/2006/relationships"><Relationship Type="http://schemas.openxmlformats.org/officeDocument/2006/relationships/slide" Target="/ppt/slides/slide4.xml" Id="Radf4923b841d40c1" /><Relationship Type="http://schemas.openxmlformats.org/officeDocument/2006/relationships/notesMaster" Target="/ppt/notesMasters/notesMaster1.xml" Id="R0eef9df63b7b49d4" /></Relationships>
</file>

<file path=ppt/notesSlides/_rels/notesSlide5.xml.rels>&#65279;<?xml version="1.0" encoding="utf-8"?><Relationships xmlns="http://schemas.openxmlformats.org/package/2006/relationships"><Relationship Type="http://schemas.openxmlformats.org/officeDocument/2006/relationships/slide" Target="/ppt/slides/slide5.xml" Id="R33840b1ec7d5472b" /><Relationship Type="http://schemas.openxmlformats.org/officeDocument/2006/relationships/notesMaster" Target="/ppt/notesMasters/notesMaster1.xml" Id="R56f8be52bd83495f" /></Relationships>
</file>

<file path=ppt/notesSlides/_rels/notesSlide6.xml.rels>&#65279;<?xml version="1.0" encoding="utf-8"?><Relationships xmlns="http://schemas.openxmlformats.org/package/2006/relationships"><Relationship Type="http://schemas.openxmlformats.org/officeDocument/2006/relationships/slide" Target="/ppt/slides/slide6.xml" Id="Rf8406464438c4350" /><Relationship Type="http://schemas.openxmlformats.org/officeDocument/2006/relationships/notesMaster" Target="/ppt/notesMasters/notesMaster1.xml" Id="Rbb10cffe31014154" /></Relationships>
</file>

<file path=ppt/notesSlides/_rels/notesSlide7.xml.rels>&#65279;<?xml version="1.0" encoding="utf-8"?><Relationships xmlns="http://schemas.openxmlformats.org/package/2006/relationships"><Relationship Type="http://schemas.openxmlformats.org/officeDocument/2006/relationships/slide" Target="/ppt/slides/slide7.xml" Id="Rb5bb95101c124f68" /><Relationship Type="http://schemas.openxmlformats.org/officeDocument/2006/relationships/notesMaster" Target="/ppt/notesMasters/notesMaster1.xml" Id="R21d6c75d72384c2f" /></Relationships>
</file>

<file path=ppt/notesSlides/_rels/notesSlide8.xml.rels>&#65279;<?xml version="1.0" encoding="utf-8"?><Relationships xmlns="http://schemas.openxmlformats.org/package/2006/relationships"><Relationship Type="http://schemas.openxmlformats.org/officeDocument/2006/relationships/slide" Target="/ppt/slides/slide8.xml" Id="R76f3acdfb5c44234" /><Relationship Type="http://schemas.openxmlformats.org/officeDocument/2006/relationships/notesMaster" Target="/ppt/notesMasters/notesMaster1.xml" Id="R64311fd9ed2f4acf" /></Relationships>
</file>

<file path=ppt/notesSlides/_rels/notesSlide9.xml.rels>&#65279;<?xml version="1.0" encoding="utf-8"?><Relationships xmlns="http://schemas.openxmlformats.org/package/2006/relationships"><Relationship Type="http://schemas.openxmlformats.org/officeDocument/2006/relationships/slide" Target="/ppt/slides/slide9.xml" Id="Re32b481df8ff4aff" /><Relationship Type="http://schemas.openxmlformats.org/officeDocument/2006/relationships/notesMaster" Target="/ppt/notesMasters/notesMaster1.xml" Id="R42c80a234505447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b9cf6c8abb14c55" /><Relationship Type="http://schemas.openxmlformats.org/officeDocument/2006/relationships/notesMaster" Target="/ppt/notesMasters/notesMaster1.xml" Id="Rd376b89a43b9499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c5f9439a56a4f15" /><Relationship Type="http://schemas.openxmlformats.org/officeDocument/2006/relationships/notesMaster" Target="/ppt/notesMasters/notesMaster1.xml" Id="Rb3d136e560f341a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01ae04dec8b4296" /><Relationship Type="http://schemas.openxmlformats.org/officeDocument/2006/relationships/notesMaster" Target="/ppt/notesMasters/notesMaster1.xml" Id="R96e26d4b68dd455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db90fe278c1448e" /><Relationship Type="http://schemas.openxmlformats.org/officeDocument/2006/relationships/notesMaster" Target="/ppt/notesMasters/notesMaster1.xml" Id="R28417313aa8a4ed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cc07e13261e4be1" /><Relationship Type="http://schemas.openxmlformats.org/officeDocument/2006/relationships/notesMaster" Target="/ppt/notesMasters/notesMaster1.xml" Id="R67eaba371a9c437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9ed9012435b43c5" /><Relationship Type="http://schemas.openxmlformats.org/officeDocument/2006/relationships/notesMaster" Target="/ppt/notesMasters/notesMaster1.xml" Id="R939f1765088045b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189d818070244e6" /><Relationship Type="http://schemas.openxmlformats.org/officeDocument/2006/relationships/notesMaster" Target="/ppt/notesMasters/notesMaster1.xml" Id="Rdd0ba1003be4471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a3eda3bf4c544f5" /><Relationship Type="http://schemas.openxmlformats.org/officeDocument/2006/relationships/notesMaster" Target="/ppt/notesMasters/notesMaster1.xml" Id="Rfce0035619d04f4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4f9565cae3f45a1" /><Relationship Type="http://schemas.openxmlformats.org/officeDocument/2006/relationships/notesMaster" Target="/ppt/notesMasters/notesMaster1.xml" Id="Rbfd78f4ff26f452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3e72c515eee4e26" /><Relationship Type="http://schemas.openxmlformats.org/officeDocument/2006/relationships/notesMaster" Target="/ppt/notesMasters/notesMaster1.xml" Id="R471a634f0f42405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e9fb6e26f744884" /><Relationship Type="http://schemas.openxmlformats.org/officeDocument/2006/relationships/notesMaster" Target="/ppt/notesMasters/notesMaster1.xml" Id="R0d737e4f156c47d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60c29d497e4458e" /><Relationship Type="http://schemas.openxmlformats.org/officeDocument/2006/relationships/notesMaster" Target="/ppt/notesMasters/notesMaster1.xml" Id="R1f575d19105f4ba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ADA Standards of Care in Diabetes - 2026: https://diabetesjournals.org/care/issue/49/Supplement_1</a:t>
            </a:r>
          </a:p>
          <a:p xmlns:a="http://schemas.openxmlformats.org/drawingml/2006/main">
            <a:r>
              <a:t>- ADA Diabetes Food Hub, What is the Diabetes Plate?: https://diabetesfoodhub.org/blog/what-diabetes-plate</a:t>
            </a:r>
          </a:p>
          <a:p xmlns:a="http://schemas.openxmlformats.org/drawingml/2006/main">
            <a:r>
              <a:t>- FDA Nutrition Facts Label resources: https://www.fda.gov/food/nutrition-facts-label/how-understand-and-use-nutrition-facts-label and https://www.fda.gov/food/nutrition-facts-label/added-sugars-nutrition-facts-label</a:t>
            </a:r>
          </a:p>
          <a:p xmlns:a="http://schemas.openxmlformats.org/drawingml/2006/main">
            <a:r>
              <a:t>- American Heart Association, The Facts on Fats: https://www.heart.org/en/healthy-living/healthy-eating/eat-smart/fats/the-facts-on-fats</a:t>
            </a:r>
          </a:p>
          <a:p xmlns:a="http://schemas.openxmlformats.org/drawingml/2006/main">
            <a:r>
              <a:t>- CDC National Diabetes Prevention Program lifestyle change program: https://www.cdc.gov/diabetes-prevention/lifestyle-change-program/lifestyle-change-program-details.html</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ADA Standards of Care in Diabetes - 2026: https://diabetesjournals.org/care/issue/49/Supplement_1</a:t>
            </a:r>
          </a:p>
          <a:p xmlns:a="http://schemas.openxmlformats.org/drawingml/2006/main">
            <a:r>
              <a:t>- ADA Diabetes Food Hub, What is the Diabetes Plate?: https://diabetesfoodhub.org/blog/what-diabetes-plate</a:t>
            </a:r>
          </a:p>
          <a:p xmlns:a="http://schemas.openxmlformats.org/drawingml/2006/main">
            <a:r>
              <a:t>- FDA Nutrition Facts Label resources: https://www.fda.gov/food/nutrition-facts-label/how-understand-and-use-nutrition-facts-label and https://www.fda.gov/food/nutrition-facts-label/added-sugars-nutrition-facts-label</a:t>
            </a:r>
          </a:p>
          <a:p xmlns:a="http://schemas.openxmlformats.org/drawingml/2006/main">
            <a:r>
              <a:t>- American Heart Association, The Facts on Fats: https://www.heart.org/en/healthy-living/healthy-eating/eat-smart/fats/the-facts-on-fats</a:t>
            </a:r>
          </a:p>
          <a:p xmlns:a="http://schemas.openxmlformats.org/drawingml/2006/main">
            <a:r>
              <a:t>- CDC National Diabetes Prevention Program lifestyle change program: https://www.cdc.gov/diabetes-prevention/lifestyle-change-program/lifestyle-change-program-details.html</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ADA Standards of Care in Diabetes - 2026: https://diabetesjournals.org/care/issue/49/Supplement_1</a:t>
            </a:r>
          </a:p>
          <a:p xmlns:a="http://schemas.openxmlformats.org/drawingml/2006/main">
            <a:r>
              <a:t>- ADA Diabetes Food Hub, What is the Diabetes Plate?: https://diabetesfoodhub.org/blog/what-diabetes-plate</a:t>
            </a:r>
          </a:p>
          <a:p xmlns:a="http://schemas.openxmlformats.org/drawingml/2006/main">
            <a:r>
              <a:t>- FDA Nutrition Facts Label resources: https://www.fda.gov/food/nutrition-facts-label/how-understand-and-use-nutrition-facts-label and https://www.fda.gov/food/nutrition-facts-label/added-sugars-nutrition-facts-label</a:t>
            </a:r>
          </a:p>
          <a:p xmlns:a="http://schemas.openxmlformats.org/drawingml/2006/main">
            <a:r>
              <a:t>- American Heart Association, The Facts on Fats: https://www.heart.org/en/healthy-living/healthy-eating/eat-smart/fats/the-facts-on-fats</a:t>
            </a:r>
          </a:p>
          <a:p xmlns:a="http://schemas.openxmlformats.org/drawingml/2006/main">
            <a:r>
              <a:t>- CDC National Diabetes Prevention Program lifestyle change program: https://www.cdc.gov/diabetes-prevention/lifestyle-change-program/lifestyle-change-program-details.html</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ADA Standards of Care in Diabetes - 2026: https://diabetesjournals.org/care/issue/49/Supplement_1</a:t>
            </a:r>
          </a:p>
          <a:p xmlns:a="http://schemas.openxmlformats.org/drawingml/2006/main">
            <a:r>
              <a:t>- ADA Diabetes Food Hub, What is the Diabetes Plate?: https://diabetesfoodhub.org/blog/what-diabetes-plate</a:t>
            </a:r>
          </a:p>
          <a:p xmlns:a="http://schemas.openxmlformats.org/drawingml/2006/main">
            <a:r>
              <a:t>- FDA Nutrition Facts Label resources: https://www.fda.gov/food/nutrition-facts-label/how-understand-and-use-nutrition-facts-label and https://www.fda.gov/food/nutrition-facts-label/added-sugars-nutrition-facts-label</a:t>
            </a:r>
          </a:p>
          <a:p xmlns:a="http://schemas.openxmlformats.org/drawingml/2006/main">
            <a:r>
              <a:t>- American Heart Association, The Facts on Fats: https://www.heart.org/en/healthy-living/healthy-eating/eat-smart/fats/the-facts-on-fats</a:t>
            </a:r>
          </a:p>
          <a:p xmlns:a="http://schemas.openxmlformats.org/drawingml/2006/main">
            <a:r>
              <a:t>- CDC National Diabetes Prevention Program lifestyle change program: https://www.cdc.gov/diabetes-prevention/lifestyle-change-program/lifestyle-change-program-details.html</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ADA Standards of Care in Diabetes - 2026: https://diabetesjournals.org/care/issue/49/Supplement_1</a:t>
            </a:r>
          </a:p>
          <a:p xmlns:a="http://schemas.openxmlformats.org/drawingml/2006/main">
            <a:r>
              <a:t>- ADA Diabetes Food Hub, What is the Diabetes Plate?: https://diabetesfoodhub.org/blog/what-diabetes-plate</a:t>
            </a:r>
          </a:p>
          <a:p xmlns:a="http://schemas.openxmlformats.org/drawingml/2006/main">
            <a:r>
              <a:t>- FDA Nutrition Facts Label resources: https://www.fda.gov/food/nutrition-facts-label/how-understand-and-use-nutrition-facts-label and https://www.fda.gov/food/nutrition-facts-label/added-sugars-nutrition-facts-label</a:t>
            </a:r>
          </a:p>
          <a:p xmlns:a="http://schemas.openxmlformats.org/drawingml/2006/main">
            <a:r>
              <a:t>- American Heart Association, The Facts on Fats: https://www.heart.org/en/healthy-living/healthy-eating/eat-smart/fats/the-facts-on-fats</a:t>
            </a:r>
          </a:p>
          <a:p xmlns:a="http://schemas.openxmlformats.org/drawingml/2006/main">
            <a:r>
              <a:t>- CDC National Diabetes Prevention Program lifestyle change program: https://www.cdc.gov/diabetes-prevention/lifestyle-change-program/lifestyle-change-program-details.html</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ADA Standards of Care in Diabetes - 2026: https://diabetesjournals.org/care/issue/49/Supplement_1</a:t>
            </a:r>
          </a:p>
          <a:p xmlns:a="http://schemas.openxmlformats.org/drawingml/2006/main">
            <a:r>
              <a:t>- ADA Diabetes Food Hub, What is the Diabetes Plate?: https://diabetesfoodhub.org/blog/what-diabetes-plate</a:t>
            </a:r>
          </a:p>
          <a:p xmlns:a="http://schemas.openxmlformats.org/drawingml/2006/main">
            <a:r>
              <a:t>- FDA Nutrition Facts Label resources: https://www.fda.gov/food/nutrition-facts-label/how-understand-and-use-nutrition-facts-label and https://www.fda.gov/food/nutrition-facts-label/added-sugars-nutrition-facts-label</a:t>
            </a:r>
          </a:p>
          <a:p xmlns:a="http://schemas.openxmlformats.org/drawingml/2006/main">
            <a:r>
              <a:t>- American Heart Association, The Facts on Fats: https://www.heart.org/en/healthy-living/healthy-eating/eat-smart/fats/the-facts-on-fats</a:t>
            </a:r>
          </a:p>
          <a:p xmlns:a="http://schemas.openxmlformats.org/drawingml/2006/main">
            <a:r>
              <a:t>- CDC National Diabetes Prevention Program lifestyle change program: https://www.cdc.gov/diabetes-prevention/lifestyle-change-program/lifestyle-change-program-details.html</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ADA Standards of Care in Diabetes - 2026: https://diabetesjournals.org/care/issue/49/Supplement_1</a:t>
            </a:r>
          </a:p>
          <a:p xmlns:a="http://schemas.openxmlformats.org/drawingml/2006/main">
            <a:r>
              <a:t>- ADA Diabetes Food Hub, What is the Diabetes Plate?: https://diabetesfoodhub.org/blog/what-diabetes-plate</a:t>
            </a:r>
          </a:p>
          <a:p xmlns:a="http://schemas.openxmlformats.org/drawingml/2006/main">
            <a:r>
              <a:t>- FDA Nutrition Facts Label resources: https://www.fda.gov/food/nutrition-facts-label/how-understand-and-use-nutrition-facts-label and https://www.fda.gov/food/nutrition-facts-label/added-sugars-nutrition-facts-label</a:t>
            </a:r>
          </a:p>
          <a:p xmlns:a="http://schemas.openxmlformats.org/drawingml/2006/main">
            <a:r>
              <a:t>- American Heart Association, The Facts on Fats: https://www.heart.org/en/healthy-living/healthy-eating/eat-smart/fats/the-facts-on-fats</a:t>
            </a:r>
          </a:p>
          <a:p xmlns:a="http://schemas.openxmlformats.org/drawingml/2006/main">
            <a:r>
              <a:t>- CDC National Diabetes Prevention Program lifestyle change program: https://www.cdc.gov/diabetes-prevention/lifestyle-change-program/lifestyle-change-program-details.html</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ADA Standards of Care in Diabetes - 2026: https://diabetesjournals.org/care/issue/49/Supplement_1</a:t>
            </a:r>
          </a:p>
          <a:p xmlns:a="http://schemas.openxmlformats.org/drawingml/2006/main">
            <a:r>
              <a:t>- ADA Diabetes Food Hub, What is the Diabetes Plate?: https://diabetesfoodhub.org/blog/what-diabetes-plate</a:t>
            </a:r>
          </a:p>
          <a:p xmlns:a="http://schemas.openxmlformats.org/drawingml/2006/main">
            <a:r>
              <a:t>- FDA Nutrition Facts Label resources: https://www.fda.gov/food/nutrition-facts-label/how-understand-and-use-nutrition-facts-label and https://www.fda.gov/food/nutrition-facts-label/added-sugars-nutrition-facts-label</a:t>
            </a:r>
          </a:p>
          <a:p xmlns:a="http://schemas.openxmlformats.org/drawingml/2006/main">
            <a:r>
              <a:t>- American Heart Association, The Facts on Fats: https://www.heart.org/en/healthy-living/healthy-eating/eat-smart/fats/the-facts-on-fats</a:t>
            </a:r>
          </a:p>
          <a:p xmlns:a="http://schemas.openxmlformats.org/drawingml/2006/main">
            <a:r>
              <a:t>- CDC National Diabetes Prevention Program lifestyle change program: https://www.cdc.gov/diabetes-prevention/lifestyle-change-program/lifestyle-change-program-details.html</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ADA Standards of Care in Diabetes - 2026: https://diabetesjournals.org/care/issue/49/Supplement_1</a:t>
            </a:r>
          </a:p>
          <a:p xmlns:a="http://schemas.openxmlformats.org/drawingml/2006/main">
            <a:r>
              <a:t>- ADA Diabetes Food Hub, What is the Diabetes Plate?: https://diabetesfoodhub.org/blog/what-diabetes-plate</a:t>
            </a:r>
          </a:p>
          <a:p xmlns:a="http://schemas.openxmlformats.org/drawingml/2006/main">
            <a:r>
              <a:t>- FDA Nutrition Facts Label resources: https://www.fda.gov/food/nutrition-facts-label/how-understand-and-use-nutrition-facts-label and https://www.fda.gov/food/nutrition-facts-label/added-sugars-nutrition-facts-label</a:t>
            </a:r>
          </a:p>
          <a:p xmlns:a="http://schemas.openxmlformats.org/drawingml/2006/main">
            <a:r>
              <a:t>- American Heart Association, The Facts on Fats: https://www.heart.org/en/healthy-living/healthy-eating/eat-smart/fats/the-facts-on-fats</a:t>
            </a:r>
          </a:p>
          <a:p xmlns:a="http://schemas.openxmlformats.org/drawingml/2006/main">
            <a:r>
              <a:t>- CDC National Diabetes Prevention Program lifestyle change program: https://www.cdc.gov/diabetes-prevention/lifestyle-change-program/lifestyle-change-program-details.html</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ADA Standards of Care in Diabetes - 2026: https://diabetesjournals.org/care/issue/49/Supplement_1</a:t>
            </a:r>
          </a:p>
          <a:p xmlns:a="http://schemas.openxmlformats.org/drawingml/2006/main">
            <a:r>
              <a:t>- ADA Diabetes Food Hub, What is the Diabetes Plate?: https://diabetesfoodhub.org/blog/what-diabetes-plate</a:t>
            </a:r>
          </a:p>
          <a:p xmlns:a="http://schemas.openxmlformats.org/drawingml/2006/main">
            <a:r>
              <a:t>- FDA Nutrition Facts Label resources: https://www.fda.gov/food/nutrition-facts-label/how-understand-and-use-nutrition-facts-label and https://www.fda.gov/food/nutrition-facts-label/added-sugars-nutrition-facts-label</a:t>
            </a:r>
          </a:p>
          <a:p xmlns:a="http://schemas.openxmlformats.org/drawingml/2006/main">
            <a:r>
              <a:t>- American Heart Association, The Facts on Fats: https://www.heart.org/en/healthy-living/healthy-eating/eat-smart/fats/the-facts-on-fats</a:t>
            </a:r>
          </a:p>
          <a:p xmlns:a="http://schemas.openxmlformats.org/drawingml/2006/main">
            <a:r>
              <a:t>- CDC National Diabetes Prevention Program lifestyle change program: https://www.cdc.gov/diabetes-prevention/lifestyle-change-program/lifestyle-change-program-details.html</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ADA Standards of Care in Diabetes - 2026: https://diabetesjournals.org/care/issue/49/Supplement_1</a:t>
            </a:r>
          </a:p>
          <a:p xmlns:a="http://schemas.openxmlformats.org/drawingml/2006/main">
            <a:r>
              <a:t>- ADA Diabetes Food Hub, What is the Diabetes Plate?: https://diabetesfoodhub.org/blog/what-diabetes-plate</a:t>
            </a:r>
          </a:p>
          <a:p xmlns:a="http://schemas.openxmlformats.org/drawingml/2006/main">
            <a:r>
              <a:t>- FDA Nutrition Facts Label resources: https://www.fda.gov/food/nutrition-facts-label/how-understand-and-use-nutrition-facts-label and https://www.fda.gov/food/nutrition-facts-label/added-sugars-nutrition-facts-label</a:t>
            </a:r>
          </a:p>
          <a:p xmlns:a="http://schemas.openxmlformats.org/drawingml/2006/main">
            <a:r>
              <a:t>- American Heart Association, The Facts on Fats: https://www.heart.org/en/healthy-living/healthy-eating/eat-smart/fats/the-facts-on-fats</a:t>
            </a:r>
          </a:p>
          <a:p xmlns:a="http://schemas.openxmlformats.org/drawingml/2006/main">
            <a:r>
              <a:t>- CDC National Diabetes Prevention Program lifestyle change program: https://www.cdc.gov/diabetes-prevention/lifestyle-change-program/lifestyle-change-program-details.html</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ADA Standards of Care in Diabetes - 2026: https://diabetesjournals.org/care/issue/49/Supplement_1</a:t>
            </a:r>
          </a:p>
          <a:p xmlns:a="http://schemas.openxmlformats.org/drawingml/2006/main">
            <a:r>
              <a:t>- ADA Diabetes Food Hub, What is the Diabetes Plate?: https://diabetesfoodhub.org/blog/what-diabetes-plate</a:t>
            </a:r>
          </a:p>
          <a:p xmlns:a="http://schemas.openxmlformats.org/drawingml/2006/main">
            <a:r>
              <a:t>- FDA Nutrition Facts Label resources: https://www.fda.gov/food/nutrition-facts-label/how-understand-and-use-nutrition-facts-label and https://www.fda.gov/food/nutrition-facts-label/added-sugars-nutrition-facts-label</a:t>
            </a:r>
          </a:p>
          <a:p xmlns:a="http://schemas.openxmlformats.org/drawingml/2006/main">
            <a:r>
              <a:t>- American Heart Association, The Facts on Fats: https://www.heart.org/en/healthy-living/healthy-eating/eat-smart/fats/the-facts-on-fats</a:t>
            </a:r>
          </a:p>
          <a:p xmlns:a="http://schemas.openxmlformats.org/drawingml/2006/main">
            <a:r>
              <a:t>- CDC National Diabetes Prevention Program lifestyle change program: https://www.cdc.gov/diabetes-prevention/lifestyle-change-program/lifestyle-change-program-details.html</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ADA Standards of Care in Diabetes - 2026: https://diabetesjournals.org/care/issue/49/Supplement_1</a:t>
            </a:r>
          </a:p>
          <a:p xmlns:a="http://schemas.openxmlformats.org/drawingml/2006/main">
            <a:r>
              <a:t>- ADA Diabetes Food Hub, What is the Diabetes Plate?: https://diabetesfoodhub.org/blog/what-diabetes-plate</a:t>
            </a:r>
          </a:p>
          <a:p xmlns:a="http://schemas.openxmlformats.org/drawingml/2006/main">
            <a:r>
              <a:t>- FDA Nutrition Facts Label resources: https://www.fda.gov/food/nutrition-facts-label/how-understand-and-use-nutrition-facts-label and https://www.fda.gov/food/nutrition-facts-label/added-sugars-nutrition-facts-label</a:t>
            </a:r>
          </a:p>
          <a:p xmlns:a="http://schemas.openxmlformats.org/drawingml/2006/main">
            <a:r>
              <a:t>- American Heart Association, The Facts on Fats: https://www.heart.org/en/healthy-living/healthy-eating/eat-smart/fats/the-facts-on-fats</a:t>
            </a:r>
          </a:p>
          <a:p xmlns:a="http://schemas.openxmlformats.org/drawingml/2006/main">
            <a:r>
              <a:t>- CDC National Diabetes Prevention Program lifestyle change program: https://www.cdc.gov/diabetes-prevention/lifestyle-change-program/lifestyle-change-program-details.html</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ADA Standards of Care in Diabetes - 2026: https://diabetesjournals.org/care/issue/49/Supplement_1</a:t>
            </a:r>
          </a:p>
          <a:p xmlns:a="http://schemas.openxmlformats.org/drawingml/2006/main">
            <a:r>
              <a:t>- ADA Diabetes Food Hub, What is the Diabetes Plate?: https://diabetesfoodhub.org/blog/what-diabetes-plate</a:t>
            </a:r>
          </a:p>
          <a:p xmlns:a="http://schemas.openxmlformats.org/drawingml/2006/main">
            <a:r>
              <a:t>- FDA Nutrition Facts Label resources: https://www.fda.gov/food/nutrition-facts-label/how-understand-and-use-nutrition-facts-label and https://www.fda.gov/food/nutrition-facts-label/added-sugars-nutrition-facts-label</a:t>
            </a:r>
          </a:p>
          <a:p xmlns:a="http://schemas.openxmlformats.org/drawingml/2006/main">
            <a:r>
              <a:t>- American Heart Association, The Facts on Fats: https://www.heart.org/en/healthy-living/healthy-eating/eat-smart/fats/the-facts-on-fats</a:t>
            </a:r>
          </a:p>
          <a:p xmlns:a="http://schemas.openxmlformats.org/drawingml/2006/main">
            <a:r>
              <a:t>- CDC National Diabetes Prevention Program lifestyle change program: https://www.cdc.gov/diabetes-prevention/lifestyle-change-program/lifestyle-change-program-details.html</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ADA Standards of Care in Diabetes - 2026: https://diabetesjournals.org/care/issue/49/Supplement_1</a:t>
            </a:r>
          </a:p>
          <a:p xmlns:a="http://schemas.openxmlformats.org/drawingml/2006/main">
            <a:r>
              <a:t>- ADA Diabetes Food Hub, What is the Diabetes Plate?: https://diabetesfoodhub.org/blog/what-diabetes-plate</a:t>
            </a:r>
          </a:p>
          <a:p xmlns:a="http://schemas.openxmlformats.org/drawingml/2006/main">
            <a:r>
              <a:t>- FDA Nutrition Facts Label resources: https://www.fda.gov/food/nutrition-facts-label/how-understand-and-use-nutrition-facts-label and https://www.fda.gov/food/nutrition-facts-label/added-sugars-nutrition-facts-label</a:t>
            </a:r>
          </a:p>
          <a:p xmlns:a="http://schemas.openxmlformats.org/drawingml/2006/main">
            <a:r>
              <a:t>- American Heart Association, The Facts on Fats: https://www.heart.org/en/healthy-living/healthy-eating/eat-smart/fats/the-facts-on-fats</a:t>
            </a:r>
          </a:p>
          <a:p xmlns:a="http://schemas.openxmlformats.org/drawingml/2006/main">
            <a:r>
              <a:t>- CDC National Diabetes Prevention Program lifestyle change program: https://www.cdc.gov/diabetes-prevention/lifestyle-change-program/lifestyle-change-program-details.html</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ADA Standards of Care in Diabetes - 2026: https://diabetesjournals.org/care/issue/49/Supplement_1</a:t>
            </a:r>
          </a:p>
          <a:p xmlns:a="http://schemas.openxmlformats.org/drawingml/2006/main">
            <a:r>
              <a:t>- ADA Diabetes Food Hub, What is the Diabetes Plate?: https://diabetesfoodhub.org/blog/what-diabetes-plate</a:t>
            </a:r>
          </a:p>
          <a:p xmlns:a="http://schemas.openxmlformats.org/drawingml/2006/main">
            <a:r>
              <a:t>- FDA Nutrition Facts Label resources: https://www.fda.gov/food/nutrition-facts-label/how-understand-and-use-nutrition-facts-label and https://www.fda.gov/food/nutrition-facts-label/added-sugars-nutrition-facts-label</a:t>
            </a:r>
          </a:p>
          <a:p xmlns:a="http://schemas.openxmlformats.org/drawingml/2006/main">
            <a:r>
              <a:t>- American Heart Association, The Facts on Fats: https://www.heart.org/en/healthy-living/healthy-eating/eat-smart/fats/the-facts-on-fats</a:t>
            </a:r>
          </a:p>
          <a:p xmlns:a="http://schemas.openxmlformats.org/drawingml/2006/main">
            <a:r>
              <a:t>- CDC National Diabetes Prevention Program lifestyle change program: https://www.cdc.gov/diabetes-prevention/lifestyle-change-program/lifestyle-change-program-details.html</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ADA Standards of Care in Diabetes - 2026: https://diabetesjournals.org/care/issue/49/Supplement_1</a:t>
            </a:r>
          </a:p>
          <a:p xmlns:a="http://schemas.openxmlformats.org/drawingml/2006/main">
            <a:r>
              <a:t>- ADA Diabetes Food Hub, What is the Diabetes Plate?: https://diabetesfoodhub.org/blog/what-diabetes-plate</a:t>
            </a:r>
          </a:p>
          <a:p xmlns:a="http://schemas.openxmlformats.org/drawingml/2006/main">
            <a:r>
              <a:t>- FDA Nutrition Facts Label resources: https://www.fda.gov/food/nutrition-facts-label/how-understand-and-use-nutrition-facts-label and https://www.fda.gov/food/nutrition-facts-label/added-sugars-nutrition-facts-label</a:t>
            </a:r>
          </a:p>
          <a:p xmlns:a="http://schemas.openxmlformats.org/drawingml/2006/main">
            <a:r>
              <a:t>- American Heart Association, The Facts on Fats: https://www.heart.org/en/healthy-living/healthy-eating/eat-smart/fats/the-facts-on-fats</a:t>
            </a:r>
          </a:p>
          <a:p xmlns:a="http://schemas.openxmlformats.org/drawingml/2006/main">
            <a:r>
              <a:t>- CDC National Diabetes Prevention Program lifestyle change program: https://www.cdc.gov/diabetes-prevention/lifestyle-change-program/lifestyle-change-program-details.html</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ADA Standards of Care in Diabetes - 2026: https://diabetesjournals.org/care/issue/49/Supplement_1</a:t>
            </a:r>
          </a:p>
          <a:p xmlns:a="http://schemas.openxmlformats.org/drawingml/2006/main">
            <a:r>
              <a:t>- ADA Diabetes Food Hub, What is the Diabetes Plate?: https://diabetesfoodhub.org/blog/what-diabetes-plate</a:t>
            </a:r>
          </a:p>
          <a:p xmlns:a="http://schemas.openxmlformats.org/drawingml/2006/main">
            <a:r>
              <a:t>- FDA Nutrition Facts Label resources: https://www.fda.gov/food/nutrition-facts-label/how-understand-and-use-nutrition-facts-label and https://www.fda.gov/food/nutrition-facts-label/added-sugars-nutrition-facts-label</a:t>
            </a:r>
          </a:p>
          <a:p xmlns:a="http://schemas.openxmlformats.org/drawingml/2006/main">
            <a:r>
              <a:t>- American Heart Association, The Facts on Fats: https://www.heart.org/en/healthy-living/healthy-eating/eat-smart/fats/the-facts-on-fats</a:t>
            </a:r>
          </a:p>
          <a:p xmlns:a="http://schemas.openxmlformats.org/drawingml/2006/main">
            <a:r>
              <a:t>- CDC National Diabetes Prevention Program lifestyle change program: https://www.cdc.gov/diabetes-prevention/lifestyle-change-program/lifestyle-change-program-details.html</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ADA Standards of Care in Diabetes - 2026: https://diabetesjournals.org/care/issue/49/Supplement_1</a:t>
            </a:r>
          </a:p>
          <a:p xmlns:a="http://schemas.openxmlformats.org/drawingml/2006/main">
            <a:r>
              <a:t>- ADA Diabetes Food Hub, What is the Diabetes Plate?: https://diabetesfoodhub.org/blog/what-diabetes-plate</a:t>
            </a:r>
          </a:p>
          <a:p xmlns:a="http://schemas.openxmlformats.org/drawingml/2006/main">
            <a:r>
              <a:t>- FDA Nutrition Facts Label resources: https://www.fda.gov/food/nutrition-facts-label/how-understand-and-use-nutrition-facts-label and https://www.fda.gov/food/nutrition-facts-label/added-sugars-nutrition-facts-label</a:t>
            </a:r>
          </a:p>
          <a:p xmlns:a="http://schemas.openxmlformats.org/drawingml/2006/main">
            <a:r>
              <a:t>- American Heart Association, The Facts on Fats: https://www.heart.org/en/healthy-living/healthy-eating/eat-smart/fats/the-facts-on-fats</a:t>
            </a:r>
          </a:p>
          <a:p xmlns:a="http://schemas.openxmlformats.org/drawingml/2006/main">
            <a:r>
              <a:t>- CDC National Diabetes Prevention Program lifestyle change program: https://www.cdc.gov/diabetes-prevention/lifestyle-change-program/lifestyle-change-program-details.html</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ADA Standards of Care in Diabetes - 2026: https://diabetesjournals.org/care/issue/49/Supplement_1</a:t>
            </a:r>
          </a:p>
          <a:p xmlns:a="http://schemas.openxmlformats.org/drawingml/2006/main">
            <a:r>
              <a:t>- ADA Diabetes Food Hub, What is the Diabetes Plate?: https://diabetesfoodhub.org/blog/what-diabetes-plate</a:t>
            </a:r>
          </a:p>
          <a:p xmlns:a="http://schemas.openxmlformats.org/drawingml/2006/main">
            <a:r>
              <a:t>- FDA Nutrition Facts Label resources: https://www.fda.gov/food/nutrition-facts-label/how-understand-and-use-nutrition-facts-label and https://www.fda.gov/food/nutrition-facts-label/added-sugars-nutrition-facts-label</a:t>
            </a:r>
          </a:p>
          <a:p xmlns:a="http://schemas.openxmlformats.org/drawingml/2006/main">
            <a:r>
              <a:t>- American Heart Association, The Facts on Fats: https://www.heart.org/en/healthy-living/healthy-eating/eat-smart/fats/the-facts-on-fats</a:t>
            </a:r>
          </a:p>
          <a:p xmlns:a="http://schemas.openxmlformats.org/drawingml/2006/main">
            <a:r>
              <a:t>- CDC National Diabetes Prevention Program lifestyle change program: https://www.cdc.gov/diabetes-prevention/lifestyle-change-program/lifestyle-change-program-details.html</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ADA Standards of Care in Diabetes - 2026: https://diabetesjournals.org/care/issue/49/Supplement_1</a:t>
            </a:r>
          </a:p>
          <a:p xmlns:a="http://schemas.openxmlformats.org/drawingml/2006/main">
            <a:r>
              <a:t>- ADA Diabetes Food Hub, What is the Diabetes Plate?: https://diabetesfoodhub.org/blog/what-diabetes-plate</a:t>
            </a:r>
          </a:p>
          <a:p xmlns:a="http://schemas.openxmlformats.org/drawingml/2006/main">
            <a:r>
              <a:t>- FDA Nutrition Facts Label resources: https://www.fda.gov/food/nutrition-facts-label/how-understand-and-use-nutrition-facts-label and https://www.fda.gov/food/nutrition-facts-label/added-sugars-nutrition-facts-label</a:t>
            </a:r>
          </a:p>
          <a:p xmlns:a="http://schemas.openxmlformats.org/drawingml/2006/main">
            <a:r>
              <a:t>- American Heart Association, The Facts on Fats: https://www.heart.org/en/healthy-living/healthy-eating/eat-smart/fats/the-facts-on-fats</a:t>
            </a:r>
          </a:p>
          <a:p xmlns:a="http://schemas.openxmlformats.org/drawingml/2006/main">
            <a:r>
              <a:t>- CDC National Diabetes Prevention Program lifestyle change program: https://www.cdc.gov/diabetes-prevention/lifestyle-change-program/lifestyle-change-program-details.html</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30ca841c208455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199dde1a4054682" /><Relationship Type="http://schemas.openxmlformats.org/officeDocument/2006/relationships/slideLayout" Target="/ppt/slideLayouts/slideLayout1.xml" Id="Rad048f1cdc7f428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d048f1cdc7f428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Mindful Diabetes">
      <a:dk1>
        <a:srgbClr val="16211D"/>
      </a:dk1>
      <a:lt1>
        <a:srgbClr val="FFFDF7"/>
      </a:lt1>
      <a:dk2>
        <a:srgbClr val="192442"/>
      </a:dk2>
      <a:lt2>
        <a:srgbClr val="FBF3EA"/>
      </a:lt2>
      <a:accent1>
        <a:srgbClr val="034B2F"/>
      </a:accent1>
      <a:accent2>
        <a:srgbClr val="F26A2E"/>
      </a:accent2>
      <a:accent3>
        <a:srgbClr val="E6F2EC"/>
      </a:accent3>
      <a:accent4>
        <a:srgbClr val="EEF7FA"/>
      </a:accent4>
      <a:accent5>
        <a:srgbClr val="F5C66B"/>
      </a:accent5>
      <a:accent6>
        <a:srgbClr val="5C6C67"/>
      </a:accent6>
      <a:hlink>
        <a:srgbClr val="034B2F"/>
      </a:hlink>
      <a:folHlink>
        <a:srgbClr val="192442"/>
      </a:folHlink>
    </a:clrScheme>
    <a:fontScheme name="Office">
      <a:majorFont>
        <a:latin typeface="Calibri Light"/>
        <a:ea typeface="Calibri Light"/>
        <a:cs typeface="Calibri Light"/>
      </a:majorFont>
      <a:minorFont>
        <a:latin typeface="Calibri"/>
        <a:ea typeface="Calibri"/>
        <a:cs typeface="Calibri"/>
      </a:minorFont>
    </a:fontScheme>
    <a:fmtScheme name="Mindful Diabete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b715da564fa4913" /><Relationship Type="http://schemas.openxmlformats.org/officeDocument/2006/relationships/image" Target="/ppt/media/image.png" Id="R8a2dec4938a84cbe" /><Relationship Type="http://schemas.openxmlformats.org/officeDocument/2006/relationships/image" Target="/ppt/media/image.jpeg" Id="R821ef039736047d6" /><Relationship Type="http://schemas.openxmlformats.org/officeDocument/2006/relationships/notesSlide" Target="/ppt/notesSlides/notesSlide1.xml" Id="R6b370c8b596140f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86fea5f115f4b1d" /><Relationship Type="http://schemas.openxmlformats.org/officeDocument/2006/relationships/image" Target="/ppt/media/image2.jpeg" Id="R7b197b6c59f44c0e" /><Relationship Type="http://schemas.openxmlformats.org/officeDocument/2006/relationships/image" Target="/ppt/media/image2.png" Id="Rb609fd69785447de" /><Relationship Type="http://schemas.openxmlformats.org/officeDocument/2006/relationships/notesSlide" Target="/ppt/notesSlides/notesSlide2.xml" Id="Rbcbffb077f2e45c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a86fa749ea14950" /><Relationship Type="http://schemas.openxmlformats.org/officeDocument/2006/relationships/image" Target="/ppt/media/image3.jpeg" Id="R15d4667e5d7042ad" /><Relationship Type="http://schemas.openxmlformats.org/officeDocument/2006/relationships/notesSlide" Target="/ppt/notesSlides/notesSlide3.xml" Id="R4638436e7f0b4cf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086a1ec1579442c" /><Relationship Type="http://schemas.openxmlformats.org/officeDocument/2006/relationships/image" Target="/ppt/media/image4.jpeg" Id="R879bedcde0774d25" /><Relationship Type="http://schemas.openxmlformats.org/officeDocument/2006/relationships/notesSlide" Target="/ppt/notesSlides/notesSlide4.xml" Id="R14aba782a7884ee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10ab3f8b69942b9" /><Relationship Type="http://schemas.openxmlformats.org/officeDocument/2006/relationships/image" Target="/ppt/media/image5.jpeg" Id="Rce8e189314274bc8" /><Relationship Type="http://schemas.openxmlformats.org/officeDocument/2006/relationships/notesSlide" Target="/ppt/notesSlides/notesSlide5.xml" Id="Rd116767fc0cf431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336f39623b74a64" /><Relationship Type="http://schemas.openxmlformats.org/officeDocument/2006/relationships/image" Target="/ppt/media/image6.jpeg" Id="R14a413eaef7243e8" /><Relationship Type="http://schemas.openxmlformats.org/officeDocument/2006/relationships/notesSlide" Target="/ppt/notesSlides/notesSlide6.xml" Id="R263e9cbb8f8b438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7467c0dd4514b3a" /><Relationship Type="http://schemas.openxmlformats.org/officeDocument/2006/relationships/image" Target="/ppt/media/image7.jpeg" Id="R965cc50a3aaf4882" /><Relationship Type="http://schemas.openxmlformats.org/officeDocument/2006/relationships/notesSlide" Target="/ppt/notesSlides/notesSlide7.xml" Id="Ra00ba80c0f654c3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d29219bc84f4156" /><Relationship Type="http://schemas.openxmlformats.org/officeDocument/2006/relationships/image" Target="/ppt/media/image8.jpeg" Id="R4e8760c2afcb4f7f" /><Relationship Type="http://schemas.openxmlformats.org/officeDocument/2006/relationships/notesSlide" Target="/ppt/notesSlides/notesSlide8.xml" Id="Rdd4b60c3ca10473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e251dc42f2b4140" /><Relationship Type="http://schemas.openxmlformats.org/officeDocument/2006/relationships/image" Target="/ppt/media/image9.jpeg" Id="R0c2c6b9347ae4826" /><Relationship Type="http://schemas.openxmlformats.org/officeDocument/2006/relationships/notesSlide" Target="/ppt/notesSlides/notesSlide9.xml" Id="Rd771354384e6446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410a059e47644bb" /><Relationship Type="http://schemas.openxmlformats.org/officeDocument/2006/relationships/image" Target="/ppt/media/image10.jpeg" Id="R69e20b38500546c3" /><Relationship Type="http://schemas.openxmlformats.org/officeDocument/2006/relationships/notesSlide" Target="/ppt/notesSlides/notesSlide10.xml" Id="R11e28254ce014a6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49d127854654b81" /><Relationship Type="http://schemas.openxmlformats.org/officeDocument/2006/relationships/image" Target="/ppt/media/image11.jpeg" Id="R41180a228e7e4e41" /><Relationship Type="http://schemas.openxmlformats.org/officeDocument/2006/relationships/notesSlide" Target="/ppt/notesSlides/notesSlide11.xml" Id="R422f3b00894e45b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0bcb38b0dbe4b0a" /><Relationship Type="http://schemas.openxmlformats.org/officeDocument/2006/relationships/image" Target="/ppt/media/image12.jpeg" Id="Rd58c3f9102894277" /><Relationship Type="http://schemas.openxmlformats.org/officeDocument/2006/relationships/notesSlide" Target="/ppt/notesSlides/notesSlide12.xml" Id="R30998f86eb32428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fb8d518b68a429e" /><Relationship Type="http://schemas.openxmlformats.org/officeDocument/2006/relationships/image" Target="/ppt/media/image13.jpeg" Id="Re950c0e2c09342b7" /><Relationship Type="http://schemas.openxmlformats.org/officeDocument/2006/relationships/notesSlide" Target="/ppt/notesSlides/notesSlide13.xml" Id="R5187b88098934e8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c4401aedbb349fb" /><Relationship Type="http://schemas.openxmlformats.org/officeDocument/2006/relationships/image" Target="/ppt/media/image14.jpeg" Id="R7731ae59377f4618" /><Relationship Type="http://schemas.openxmlformats.org/officeDocument/2006/relationships/notesSlide" Target="/ppt/notesSlides/notesSlide14.xml" Id="R214aa2be2db8465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19caee991da447a" /><Relationship Type="http://schemas.openxmlformats.org/officeDocument/2006/relationships/image" Target="/ppt/media/image15.jpeg" Id="Rd8b0a7eb3ae743ce" /><Relationship Type="http://schemas.openxmlformats.org/officeDocument/2006/relationships/notesSlide" Target="/ppt/notesSlides/notesSlide15.xml" Id="R17ab2201f14b4aa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27e0201d5844a79" /><Relationship Type="http://schemas.openxmlformats.org/officeDocument/2006/relationships/image" Target="/ppt/media/image16.jpeg" Id="Ref40a5f901ab4b03" /><Relationship Type="http://schemas.openxmlformats.org/officeDocument/2006/relationships/notesSlide" Target="/ppt/notesSlides/notesSlide16.xml" Id="Rb297d88f57d1414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16333a2c5a8430a" /><Relationship Type="http://schemas.openxmlformats.org/officeDocument/2006/relationships/image" Target="/ppt/media/image17.jpeg" Id="R6f657e9d18b64319" /><Relationship Type="http://schemas.openxmlformats.org/officeDocument/2006/relationships/notesSlide" Target="/ppt/notesSlides/notesSlide17.xml" Id="R30df41610d9d41b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18dc5b2d33d45f8" /><Relationship Type="http://schemas.openxmlformats.org/officeDocument/2006/relationships/image" Target="/ppt/media/image18.jpeg" Id="Rc3aa5c82a7174ff9" /><Relationship Type="http://schemas.openxmlformats.org/officeDocument/2006/relationships/notesSlide" Target="/ppt/notesSlides/notesSlide18.xml" Id="R4e197f2b4bdf472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717b71364d714645" /><Relationship Type="http://schemas.openxmlformats.org/officeDocument/2006/relationships/image" Target="/ppt/media/image19.jpeg" Id="R7ebbfd8b77914670" /><Relationship Type="http://schemas.openxmlformats.org/officeDocument/2006/relationships/notesSlide" Target="/ppt/notesSlides/notesSlide19.xml" Id="Rc60f551f0da849d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1c21ef4d9154b8e" /><Relationship Type="http://schemas.openxmlformats.org/officeDocument/2006/relationships/image" Target="/ppt/media/image20.jpeg" Id="Rdd27d527d2924f30" /><Relationship Type="http://schemas.openxmlformats.org/officeDocument/2006/relationships/image" Target="/ppt/media/image21.jpeg" Id="R8dd59fa85b0549ad" /><Relationship Type="http://schemas.openxmlformats.org/officeDocument/2006/relationships/notesSlide" Target="/ppt/notesSlides/notesSlide20.xml" Id="R27d81711152e484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dee97c8b512a4103" /><Relationship Type="http://schemas.openxmlformats.org/officeDocument/2006/relationships/image" Target="/ppt/media/image22.jpeg" Id="Rf353d69c587d4a96" /><Relationship Type="http://schemas.openxmlformats.org/officeDocument/2006/relationships/notesSlide" Target="/ppt/notesSlides/notesSlide21.xml" Id="R75fe373b2ac34891" /></Relationships>
</file>

<file path=ppt/slides/slide1.xml><?xml version="1.0" encoding="utf-8"?>
<p:sld xmlns:p="http://schemas.openxmlformats.org/presentationml/2006/main">
  <p:cSld>
    <p:bg>
      <p:bgPr>
        <a:solidFill xmlns:a="http://schemas.openxmlformats.org/drawingml/2006/main">
          <a:srgbClr val="FBF3EA"/>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8a2dec4938a84cbe"/>
          <a:srcRect xmlns:a="http://schemas.openxmlformats.org/drawingml/2006/main" l="0" t="25654" r="0" b="25654"/>
          <a:stretch xmlns:a="http://schemas.openxmlformats.org/drawingml/2006/main">
            <a:fillRect l="0" t="0" r="0" b="0"/>
          </a:stretch>
        </p:blipFill>
        <p:spPr>
          <a:xfrm xmlns:a="http://schemas.openxmlformats.org/drawingml/2006/main">
            <a:off x="0" y="0"/>
            <a:ext cx="7772400" cy="5676900"/>
          </a:xfrm>
          <a:prstGeom xmlns:a="http://schemas.openxmlformats.org/drawingml/2006/main" prst="roundRect">
            <a:avLst>
              <a:gd name="adj" fmla="val 2349"/>
            </a:avLst>
          </a:prstGeom>
        </p:spPr>
      </p:pic>
      <p:sp>
        <p:nvSpPr>
          <p:cNvPr id="2" name="">
            <a:extLst xmlns:a="http://schemas.openxmlformats.org/drawingml/2006/main">
              <a:ext uri="{FF2B5EF4-FFF2-40B4-BE49-F238E27FC236}">
                <a16:creationId xmlns:a16="http://schemas.microsoft.com/office/drawing/2014/main" id="{F62CFA1C-B7D5-4DCC-B217-A747F475F04F}"/>
              </a:ext>
            </a:extLst>
          </p:cNvPr>
          <p:cNvSpPr>
            <a:spLocks xmlns:a="http://schemas.openxmlformats.org/drawingml/2006/main" noGrp="1"/>
          </p:cNvSpPr>
          <p:nvPr/>
        </p:nvSpPr>
        <p:spPr>
          <a:xfrm xmlns:a="http://schemas.openxmlformats.org/drawingml/2006/main">
            <a:off x="0" y="0"/>
            <a:ext cx="7772400" cy="5676900"/>
          </a:xfrm>
          <a:prstGeom xmlns:a="http://schemas.openxmlformats.org/drawingml/2006/main" prst="rect">
            <a:avLst/>
          </a:prstGeom>
          <a:solidFill xmlns:a="http://schemas.openxmlformats.org/drawingml/2006/main">
            <a:srgbClr val="032D28">
              <a:alpha val="58000"/>
            </a:srgbClr>
          </a:solidFill>
          <a:ln xmlns:a="http://schemas.openxmlformats.org/drawingml/2006/main" w="0">
            <a:noFill/>
            <a:prstDash val="solid"/>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821ef039736047d6"/>
          <a:srcRect xmlns:a="http://schemas.openxmlformats.org/drawingml/2006/main" l="699" t="0" r="699" b="0"/>
          <a:stretch xmlns:a="http://schemas.openxmlformats.org/drawingml/2006/main">
            <a:fillRect l="0" t="0" r="0" b="0"/>
          </a:stretch>
        </p:blipFill>
        <p:spPr>
          <a:xfrm xmlns:a="http://schemas.openxmlformats.org/drawingml/2006/main">
            <a:off x="590550" y="571500"/>
            <a:ext cx="514350" cy="552450"/>
          </a:xfrm>
          <a:prstGeom xmlns:a="http://schemas.openxmlformats.org/drawingml/2006/main" prst="roundRect">
            <a:avLst>
              <a:gd name="adj" fmla="val 18519"/>
            </a:avLst>
          </a:prstGeom>
        </p:spPr>
      </p:pic>
      <p:sp>
        <p:nvSpPr>
          <p:cNvPr id="4" name="">
            <a:extLst xmlns:a="http://schemas.openxmlformats.org/drawingml/2006/main">
              <a:ext uri="{FF2B5EF4-FFF2-40B4-BE49-F238E27FC236}">
                <a16:creationId xmlns:a16="http://schemas.microsoft.com/office/drawing/2014/main" id="{4293AD40-E612-4238-B256-78522228C8DA}"/>
              </a:ext>
            </a:extLst>
          </p:cNvPr>
          <p:cNvSpPr>
            <a:spLocks xmlns:a="http://schemas.openxmlformats.org/drawingml/2006/main" noGrp="1"/>
          </p:cNvSpPr>
          <p:nvPr/>
        </p:nvSpPr>
        <p:spPr>
          <a:xfrm xmlns:a="http://schemas.openxmlformats.org/drawingml/2006/main">
            <a:off x="1219200" y="619125"/>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1125" b="1" i="0">
                <a:solidFill>
                  <a:srgbClr val="FFFFFF"/>
                </a:solidFill>
                <a:latin typeface="Lora"/>
                <a:ea typeface="Lora"/>
                <a:cs typeface="Lora"/>
              </a:defRPr>
            </a:pPr>
            <a:r>
              <a:rPr sz="1125" b="1" i="0">
                <a:solidFill>
                  <a:srgbClr val="FFFFFF"/>
                </a:solidFill>
                <a:latin typeface="Lora"/>
                <a:ea typeface="Lora"/>
                <a:cs typeface="Lora"/>
              </a:rPr>
              <a:t>Mindful Diabetes Free Guides</a:t>
            </a:r>
          </a:p>
        </p:txBody>
      </p:sp>
      <p:sp>
        <p:nvSpPr>
          <p:cNvPr id="5" name="">
            <a:extLst xmlns:a="http://schemas.openxmlformats.org/drawingml/2006/main">
              <a:ext uri="{FF2B5EF4-FFF2-40B4-BE49-F238E27FC236}">
                <a16:creationId xmlns:a16="http://schemas.microsoft.com/office/drawing/2014/main" id="{43EC2BFA-D691-48CF-830E-1983E78ADCF4}"/>
              </a:ext>
            </a:extLst>
          </p:cNvPr>
          <p:cNvSpPr>
            <a:spLocks xmlns:a="http://schemas.openxmlformats.org/drawingml/2006/main" noGrp="1"/>
          </p:cNvSpPr>
          <p:nvPr/>
        </p:nvSpPr>
        <p:spPr>
          <a:xfrm xmlns:a="http://schemas.openxmlformats.org/drawingml/2006/main">
            <a:off x="1219200" y="866775"/>
            <a:ext cx="2952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788" b="0" i="0">
                <a:solidFill>
                  <a:srgbClr val="E6F2EC"/>
                </a:solidFill>
                <a:latin typeface="Lato"/>
                <a:ea typeface="Lato"/>
                <a:cs typeface="Lato"/>
              </a:defRPr>
            </a:pPr>
            <a:r>
              <a:rPr sz="788" b="0" i="0">
                <a:solidFill>
                  <a:srgbClr val="E6F2EC"/>
                </a:solidFill>
                <a:latin typeface="Lato"/>
                <a:ea typeface="Lato"/>
                <a:cs typeface="Lato"/>
              </a:rPr>
              <a:t>501(c)(3) nonprofit health education</a:t>
            </a:r>
          </a:p>
        </p:txBody>
      </p:sp>
      <p:sp>
        <p:nvSpPr>
          <p:cNvPr id="6" name="">
            <a:extLst xmlns:a="http://schemas.openxmlformats.org/drawingml/2006/main">
              <a:ext uri="{FF2B5EF4-FFF2-40B4-BE49-F238E27FC236}">
                <a16:creationId xmlns:a16="http://schemas.microsoft.com/office/drawing/2014/main" id="{397F6D12-DA1B-4680-9A52-04677FAB587F}"/>
              </a:ext>
            </a:extLst>
          </p:cNvPr>
          <p:cNvSpPr>
            <a:spLocks xmlns:a="http://schemas.openxmlformats.org/drawingml/2006/main" noGrp="1"/>
          </p:cNvSpPr>
          <p:nvPr/>
        </p:nvSpPr>
        <p:spPr>
          <a:xfrm xmlns:a="http://schemas.openxmlformats.org/drawingml/2006/main">
            <a:off x="590550" y="4610100"/>
            <a:ext cx="971550" cy="304800"/>
          </a:xfrm>
          <a:prstGeom xmlns:a="http://schemas.openxmlformats.org/drawingml/2006/main" prst="roundRect">
            <a:avLst>
              <a:gd name="adj" fmla="val 50000"/>
            </a:avLst>
          </a:prstGeom>
          <a:solidFill xmlns:a="http://schemas.openxmlformats.org/drawingml/2006/main">
            <a:srgbClr val="F26A2E"/>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0FE8664-1367-47AD-9D6C-5746B47E5563}"/>
              </a:ext>
            </a:extLst>
          </p:cNvPr>
          <p:cNvSpPr>
            <a:spLocks xmlns:a="http://schemas.openxmlformats.org/drawingml/2006/main" noGrp="1"/>
          </p:cNvSpPr>
          <p:nvPr/>
        </p:nvSpPr>
        <p:spPr>
          <a:xfrm xmlns:a="http://schemas.openxmlformats.org/drawingml/2006/main">
            <a:off x="723900" y="4686300"/>
            <a:ext cx="7429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lnSpc>
                <a:spcPct val="116000"/>
              </a:lnSpc>
              <a:buNone/>
              <a:defRPr sz="750" b="1" i="0">
                <a:solidFill>
                  <a:srgbClr val="FFFFFF"/>
                </a:solidFill>
                <a:latin typeface="Lato"/>
                <a:ea typeface="Lato"/>
                <a:cs typeface="Lato"/>
              </a:defRPr>
            </a:pPr>
            <a:r>
              <a:rPr sz="750" b="1" i="0">
                <a:solidFill>
                  <a:srgbClr val="FFFFFF"/>
                </a:solidFill>
                <a:latin typeface="Lato"/>
                <a:ea typeface="Lato"/>
                <a:cs typeface="Lato"/>
              </a:rPr>
              <a:t>FREE GUIDE</a:t>
            </a:r>
          </a:p>
        </p:txBody>
      </p:sp>
      <p:sp>
        <p:nvSpPr>
          <p:cNvPr id="8" name="">
            <a:extLst xmlns:a="http://schemas.openxmlformats.org/drawingml/2006/main">
              <a:ext uri="{FF2B5EF4-FFF2-40B4-BE49-F238E27FC236}">
                <a16:creationId xmlns:a16="http://schemas.microsoft.com/office/drawing/2014/main" id="{3FD0D04D-6CF0-4AE8-B5DB-88AE991417C5}"/>
              </a:ext>
            </a:extLst>
          </p:cNvPr>
          <p:cNvSpPr>
            <a:spLocks xmlns:a="http://schemas.openxmlformats.org/drawingml/2006/main" noGrp="1"/>
          </p:cNvSpPr>
          <p:nvPr/>
        </p:nvSpPr>
        <p:spPr>
          <a:xfrm xmlns:a="http://schemas.openxmlformats.org/drawingml/2006/main">
            <a:off x="590550" y="5953125"/>
            <a:ext cx="6286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98000"/>
              </a:lnSpc>
              <a:buNone/>
              <a:defRPr sz="4425" b="1" i="0">
                <a:solidFill>
                  <a:srgbClr val="192442"/>
                </a:solidFill>
                <a:latin typeface="Lora"/>
                <a:ea typeface="Lora"/>
                <a:cs typeface="Lora"/>
              </a:defRPr>
            </a:pPr>
            <a:r>
              <a:rPr sz="4425" b="1" i="0">
                <a:solidFill>
                  <a:srgbClr val="192442"/>
                </a:solidFill>
                <a:latin typeface="Lora"/>
                <a:ea typeface="Lora"/>
                <a:cs typeface="Lora"/>
              </a:rPr>
              <a:t>The Mindful Plate</a:t>
            </a:r>
          </a:p>
        </p:txBody>
      </p:sp>
      <p:sp>
        <p:nvSpPr>
          <p:cNvPr id="9" name="">
            <a:extLst xmlns:a="http://schemas.openxmlformats.org/drawingml/2006/main">
              <a:ext uri="{FF2B5EF4-FFF2-40B4-BE49-F238E27FC236}">
                <a16:creationId xmlns:a16="http://schemas.microsoft.com/office/drawing/2014/main" id="{A1A9DDDA-E626-47F4-B48C-FF7E297A9958}"/>
              </a:ext>
            </a:extLst>
          </p:cNvPr>
          <p:cNvSpPr>
            <a:spLocks xmlns:a="http://schemas.openxmlformats.org/drawingml/2006/main" noGrp="1"/>
          </p:cNvSpPr>
          <p:nvPr/>
        </p:nvSpPr>
        <p:spPr>
          <a:xfrm xmlns:a="http://schemas.openxmlformats.org/drawingml/2006/main">
            <a:off x="628650" y="6858000"/>
            <a:ext cx="581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1500" b="1" i="0">
                <a:solidFill>
                  <a:srgbClr val="034B2F"/>
                </a:solidFill>
                <a:latin typeface="Lato"/>
                <a:ea typeface="Lato"/>
                <a:cs typeface="Lato"/>
              </a:defRPr>
            </a:pPr>
            <a:r>
              <a:rPr sz="1500" b="1" i="0">
                <a:solidFill>
                  <a:srgbClr val="034B2F"/>
                </a:solidFill>
                <a:latin typeface="Lato"/>
                <a:ea typeface="Lato"/>
                <a:cs typeface="Lato"/>
              </a:rPr>
              <a:t>A Simple Guide to Blood Sugar-Friendly Eating</a:t>
            </a:r>
          </a:p>
        </p:txBody>
      </p:sp>
      <p:sp>
        <p:nvSpPr>
          <p:cNvPr id="10" name="">
            <a:extLst xmlns:a="http://schemas.openxmlformats.org/drawingml/2006/main">
              <a:ext uri="{FF2B5EF4-FFF2-40B4-BE49-F238E27FC236}">
                <a16:creationId xmlns:a16="http://schemas.microsoft.com/office/drawing/2014/main" id="{0387B350-CE90-48C0-974D-9A17C6C2C1F5}"/>
              </a:ext>
            </a:extLst>
          </p:cNvPr>
          <p:cNvSpPr>
            <a:spLocks xmlns:a="http://schemas.openxmlformats.org/drawingml/2006/main" noGrp="1"/>
          </p:cNvSpPr>
          <p:nvPr/>
        </p:nvSpPr>
        <p:spPr>
          <a:xfrm xmlns:a="http://schemas.openxmlformats.org/drawingml/2006/main">
            <a:off x="628650" y="7372350"/>
            <a:ext cx="6191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24000"/>
              </a:lnSpc>
              <a:buNone/>
              <a:defRPr sz="1140" b="0" i="0">
                <a:solidFill>
                  <a:srgbClr val="16211D"/>
                </a:solidFill>
                <a:latin typeface="Lato"/>
                <a:ea typeface="Lato"/>
                <a:cs typeface="Lato"/>
              </a:defRPr>
            </a:pPr>
            <a:r>
              <a:rPr sz="1140" b="0" i="0">
                <a:solidFill>
                  <a:srgbClr val="16211D"/>
                </a:solidFill>
                <a:latin typeface="Lato"/>
                <a:ea typeface="Lato"/>
                <a:cs typeface="Lato"/>
              </a:rPr>
              <a:t>Use a flexible plate pattern to build meals with vegetables, protein, carbohydrate, flavor, and a lower-sugar drink - without turning food into a math problem.</a:t>
            </a:r>
          </a:p>
        </p:txBody>
      </p:sp>
      <p:sp>
        <p:nvSpPr>
          <p:cNvPr id="11" name="">
            <a:extLst xmlns:a="http://schemas.openxmlformats.org/drawingml/2006/main">
              <a:ext uri="{FF2B5EF4-FFF2-40B4-BE49-F238E27FC236}">
                <a16:creationId xmlns:a16="http://schemas.microsoft.com/office/drawing/2014/main" id="{FEEC43BB-5FB7-4E2F-8EAF-41FE5B4E8FEE}"/>
              </a:ext>
            </a:extLst>
          </p:cNvPr>
          <p:cNvSpPr>
            <a:spLocks xmlns:a="http://schemas.openxmlformats.org/drawingml/2006/main" noGrp="1"/>
          </p:cNvSpPr>
          <p:nvPr/>
        </p:nvSpPr>
        <p:spPr>
          <a:xfrm xmlns:a="http://schemas.openxmlformats.org/drawingml/2006/main">
            <a:off x="628650" y="8362950"/>
            <a:ext cx="6286500" cy="781050"/>
          </a:xfrm>
          <a:prstGeom xmlns:a="http://schemas.openxmlformats.org/drawingml/2006/main" prst="roundRect">
            <a:avLst>
              <a:gd name="adj" fmla="val 12195"/>
            </a:avLst>
          </a:prstGeom>
          <a:solidFill xmlns:a="http://schemas.openxmlformats.org/drawingml/2006/main">
            <a:srgbClr val="E6F2EC"/>
          </a:solidFill>
          <a:ln xmlns:a="http://schemas.openxmlformats.org/drawingml/2006/main" w="11430">
            <a:solidFill>
              <a:srgbClr val="B8D8C8"/>
            </a:solidFill>
            <a:prstDash val="solid"/>
          </a:ln>
        </p:spPr>
      </p:sp>
      <p:sp>
        <p:nvSpPr>
          <p:cNvPr id="12" name="">
            <a:extLst xmlns:a="http://schemas.openxmlformats.org/drawingml/2006/main">
              <a:ext uri="{FF2B5EF4-FFF2-40B4-BE49-F238E27FC236}">
                <a16:creationId xmlns:a16="http://schemas.microsoft.com/office/drawing/2014/main" id="{86768DE9-473D-411F-A1EE-B046DBB4398D}"/>
              </a:ext>
            </a:extLst>
          </p:cNvPr>
          <p:cNvSpPr>
            <a:spLocks xmlns:a="http://schemas.openxmlformats.org/drawingml/2006/main" noGrp="1"/>
          </p:cNvSpPr>
          <p:nvPr/>
        </p:nvSpPr>
        <p:spPr>
          <a:xfrm xmlns:a="http://schemas.openxmlformats.org/drawingml/2006/main">
            <a:off x="790575" y="8496300"/>
            <a:ext cx="5962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975" b="1" i="0">
                <a:solidFill>
                  <a:srgbClr val="034B2F"/>
                </a:solidFill>
                <a:latin typeface="Lato"/>
                <a:ea typeface="Lato"/>
                <a:cs typeface="Lato"/>
              </a:defRPr>
            </a:pPr>
            <a:r>
              <a:rPr sz="975" b="1" i="0">
                <a:solidFill>
                  <a:srgbClr val="034B2F"/>
                </a:solidFill>
                <a:latin typeface="Lato"/>
                <a:ea typeface="Lato"/>
                <a:cs typeface="Lato"/>
              </a:rPr>
              <a:t>Inside</a:t>
            </a:r>
          </a:p>
        </p:txBody>
      </p:sp>
      <p:sp>
        <p:nvSpPr>
          <p:cNvPr id="13" name="">
            <a:extLst xmlns:a="http://schemas.openxmlformats.org/drawingml/2006/main">
              <a:ext uri="{FF2B5EF4-FFF2-40B4-BE49-F238E27FC236}">
                <a16:creationId xmlns:a16="http://schemas.microsoft.com/office/drawing/2014/main" id="{9D2C846A-526C-4EDA-B30B-A3BDF8224C90}"/>
              </a:ext>
            </a:extLst>
          </p:cNvPr>
          <p:cNvSpPr>
            <a:spLocks xmlns:a="http://schemas.openxmlformats.org/drawingml/2006/main" noGrp="1"/>
          </p:cNvSpPr>
          <p:nvPr/>
        </p:nvSpPr>
        <p:spPr>
          <a:xfrm xmlns:a="http://schemas.openxmlformats.org/drawingml/2006/main">
            <a:off x="790575" y="8763000"/>
            <a:ext cx="5962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7000"/>
              </a:lnSpc>
              <a:buNone/>
              <a:defRPr sz="900" b="0" i="0">
                <a:solidFill>
                  <a:srgbClr val="16211D"/>
                </a:solidFill>
                <a:latin typeface="Lato"/>
                <a:ea typeface="Lato"/>
                <a:cs typeface="Lato"/>
              </a:defRPr>
            </a:pPr>
            <a:r>
              <a:rPr sz="900" b="0" i="0">
                <a:solidFill>
                  <a:srgbClr val="16211D"/>
                </a:solidFill>
                <a:latin typeface="Lato"/>
                <a:ea typeface="Lato"/>
                <a:cs typeface="Lato"/>
              </a:rPr>
              <a:t>Quick-start plate visual, food examples, drink comparison, grocery starter list, printable worksheet, safety notes, and references.</a:t>
            </a:r>
          </a:p>
        </p:txBody>
      </p:sp>
      <p:sp>
        <p:nvSpPr>
          <p:cNvPr id="14" name="">
            <a:extLst xmlns:a="http://schemas.openxmlformats.org/drawingml/2006/main">
              <a:ext uri="{FF2B5EF4-FFF2-40B4-BE49-F238E27FC236}">
                <a16:creationId xmlns:a16="http://schemas.microsoft.com/office/drawing/2014/main" id="{A25234AC-53E8-498B-8E82-CCCA5C211550}"/>
              </a:ext>
            </a:extLst>
          </p:cNvPr>
          <p:cNvSpPr>
            <a:spLocks xmlns:a="http://schemas.openxmlformats.org/drawingml/2006/main" noGrp="1"/>
          </p:cNvSpPr>
          <p:nvPr/>
        </p:nvSpPr>
        <p:spPr>
          <a:xfrm xmlns:a="http://schemas.openxmlformats.org/drawingml/2006/main">
            <a:off x="628650" y="94107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788" b="0" i="0">
                <a:solidFill>
                  <a:srgbClr val="5C6C67"/>
                </a:solidFill>
                <a:latin typeface="Lato"/>
                <a:ea typeface="Lato"/>
                <a:cs typeface="Lato"/>
              </a:defRPr>
            </a:pPr>
            <a:r>
              <a:rPr sz="788" b="0" i="0">
                <a:solidFill>
                  <a:srgbClr val="5C6C67"/>
                </a:solidFill>
                <a:latin typeface="Lato"/>
                <a:ea typeface="Lato"/>
                <a:cs typeface="Lato"/>
              </a:rPr>
              <a:t>Published July 30, 2026 | Medical review: pending</a:t>
            </a:r>
          </a:p>
        </p:txBody>
      </p:sp>
      <p:sp>
        <p:nvSpPr>
          <p:cNvPr id="15" name="">
            <a:extLst xmlns:a="http://schemas.openxmlformats.org/drawingml/2006/main">
              <a:ext uri="{FF2B5EF4-FFF2-40B4-BE49-F238E27FC236}">
                <a16:creationId xmlns:a16="http://schemas.microsoft.com/office/drawing/2014/main" id="{701D7A93-7380-4281-BEA9-D005CE951FDA}"/>
              </a:ext>
            </a:extLst>
          </p:cNvPr>
          <p:cNvSpPr>
            <a:spLocks xmlns:a="http://schemas.openxmlformats.org/drawingml/2006/main" noGrp="1"/>
          </p:cNvSpPr>
          <p:nvPr/>
        </p:nvSpPr>
        <p:spPr>
          <a:xfrm xmlns:a="http://schemas.openxmlformats.org/drawingml/2006/main">
            <a:off x="5657850" y="9410700"/>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r">
              <a:lnSpc>
                <a:spcPct val="116000"/>
              </a:lnSpc>
              <a:buNone/>
              <a:defRPr sz="788" b="1" i="0">
                <a:solidFill>
                  <a:srgbClr val="034B2F"/>
                </a:solidFill>
                <a:latin typeface="Lato"/>
                <a:ea typeface="Lato"/>
                <a:cs typeface="Lato"/>
              </a:defRPr>
            </a:pPr>
            <a:r>
              <a:rPr sz="788" b="1" i="0">
                <a:solidFill>
                  <a:srgbClr val="034B2F"/>
                </a:solidFill>
                <a:latin typeface="Lato"/>
                <a:ea typeface="Lato"/>
                <a:cs typeface="Lato"/>
              </a:rPr>
              <a:t>mindfuldiabetes.org</a:t>
            </a:r>
          </a:p>
        </p:txBody>
      </p:sp>
    </p:spTree>
    <p:extLst>
      <p:ext uri="{BB962C8B-B14F-4D97-AF65-F5344CB8AC3E}">
        <p14:creationId xmlns:p14="http://schemas.microsoft.com/office/powerpoint/2010/main" val="1004479622"/>
      </p:ext>
    </p:extLst>
  </p:cSld>
</p:sld>
</file>

<file path=ppt/slides/slide2.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7b197b6c59f44c0e"/>
          <a:srcRect xmlns:a="http://schemas.openxmlformats.org/drawingml/2006/main" l="699" t="0" r="699" b="0"/>
          <a:stretch xmlns:a="http://schemas.openxmlformats.org/drawingml/2006/main">
            <a:fillRect l="0" t="0" r="0" b="0"/>
          </a:stretch>
        </p:blipFill>
        <p:spPr>
          <a:xfrm xmlns:a="http://schemas.openxmlformats.org/drawingml/2006/main">
            <a:off x="552450" y="285750"/>
            <a:ext cx="257175" cy="276225"/>
          </a:xfrm>
          <a:prstGeom xmlns:a="http://schemas.openxmlformats.org/drawingml/2006/main" prst="roundRect">
            <a:avLst>
              <a:gd name="adj" fmla="val 29630"/>
            </a:avLst>
          </a:prstGeom>
        </p:spPr>
      </p:pic>
      <p:sp>
        <p:nvSpPr>
          <p:cNvPr id="2" name="">
            <a:extLst xmlns:a="http://schemas.openxmlformats.org/drawingml/2006/main">
              <a:ext uri="{FF2B5EF4-FFF2-40B4-BE49-F238E27FC236}">
                <a16:creationId xmlns:a16="http://schemas.microsoft.com/office/drawing/2014/main" id="{424F3265-74C0-4EF8-A8D7-39011B668987}"/>
              </a:ext>
            </a:extLst>
          </p:cNvPr>
          <p:cNvSpPr>
            <a:spLocks xmlns:a="http://schemas.openxmlformats.org/drawingml/2006/main" noGrp="1"/>
          </p:cNvSpPr>
          <p:nvPr/>
        </p:nvSpPr>
        <p:spPr>
          <a:xfrm xmlns:a="http://schemas.openxmlformats.org/drawingml/2006/main">
            <a:off x="876300" y="3333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788" b="1" i="0">
                <a:solidFill>
                  <a:srgbClr val="034B2F"/>
                </a:solidFill>
                <a:latin typeface="Lora"/>
                <a:ea typeface="Lora"/>
                <a:cs typeface="Lora"/>
              </a:defRPr>
            </a:pPr>
            <a:r>
              <a:rPr sz="788" b="1" i="0">
                <a:solidFill>
                  <a:srgbClr val="034B2F"/>
                </a:solidFill>
                <a:latin typeface="Lora"/>
                <a:ea typeface="Lora"/>
                <a:cs typeface="Lora"/>
              </a:rPr>
              <a:t>The Mindful Plate</a:t>
            </a:r>
          </a:p>
        </p:txBody>
      </p:sp>
      <p:sp>
        <p:nvSpPr>
          <p:cNvPr id="3" name="">
            <a:extLst xmlns:a="http://schemas.openxmlformats.org/drawingml/2006/main">
              <a:ext uri="{FF2B5EF4-FFF2-40B4-BE49-F238E27FC236}">
                <a16:creationId xmlns:a16="http://schemas.microsoft.com/office/drawing/2014/main" id="{01AC0916-8E0E-4427-8DF1-20C1892E8B3A}"/>
              </a:ext>
            </a:extLst>
          </p:cNvPr>
          <p:cNvSpPr>
            <a:spLocks xmlns:a="http://schemas.openxmlformats.org/drawingml/2006/main" noGrp="1"/>
          </p:cNvSpPr>
          <p:nvPr/>
        </p:nvSpPr>
        <p:spPr>
          <a:xfrm xmlns:a="http://schemas.openxmlformats.org/drawingml/2006/main">
            <a:off x="876300" y="485775"/>
            <a:ext cx="2190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660" b="0" i="0">
                <a:solidFill>
                  <a:srgbClr val="5C6C67"/>
                </a:solidFill>
                <a:latin typeface="Lato"/>
                <a:ea typeface="Lato"/>
                <a:cs typeface="Lato"/>
              </a:defRPr>
            </a:pPr>
            <a:r>
              <a:rPr sz="660" b="0" i="0">
                <a:solidFill>
                  <a:srgbClr val="5C6C67"/>
                </a:solidFill>
                <a:latin typeface="Lato"/>
                <a:ea typeface="Lato"/>
                <a:cs typeface="Lato"/>
              </a:rPr>
              <a:t>Welcome</a:t>
            </a:r>
          </a:p>
        </p:txBody>
      </p:sp>
      <p:sp>
        <p:nvSpPr>
          <p:cNvPr id="4" name="">
            <a:extLst xmlns:a="http://schemas.openxmlformats.org/drawingml/2006/main">
              <a:ext uri="{FF2B5EF4-FFF2-40B4-BE49-F238E27FC236}">
                <a16:creationId xmlns:a16="http://schemas.microsoft.com/office/drawing/2014/main" id="{CA52BF6B-870D-48BF-A62B-268841403B75}"/>
              </a:ext>
            </a:extLst>
          </p:cNvPr>
          <p:cNvSpPr>
            <a:spLocks xmlns:a="http://schemas.openxmlformats.org/drawingml/2006/main" noGrp="1"/>
          </p:cNvSpPr>
          <p:nvPr/>
        </p:nvSpPr>
        <p:spPr>
          <a:xfrm xmlns:a="http://schemas.openxmlformats.org/drawingml/2006/main">
            <a:off x="552450" y="714375"/>
            <a:ext cx="6667500" cy="0"/>
          </a:xfrm>
          <a:prstGeom xmlns:a="http://schemas.openxmlformats.org/drawingml/2006/main" prst="line">
            <a:avLst/>
          </a:prstGeom>
          <a:noFill xmlns:a="http://schemas.openxmlformats.org/drawingml/2006/main"/>
          <a:ln xmlns:a="http://schemas.openxmlformats.org/drawingml/2006/main" w="11430">
            <a:solidFill>
              <a:srgbClr val="D9E2DA"/>
            </a:solidFill>
            <a:prstDash val="solid"/>
          </a:ln>
        </p:spPr>
      </p:sp>
      <p:sp>
        <p:nvSpPr>
          <p:cNvPr id="5" name="">
            <a:extLst xmlns:a="http://schemas.openxmlformats.org/drawingml/2006/main">
              <a:ext uri="{FF2B5EF4-FFF2-40B4-BE49-F238E27FC236}">
                <a16:creationId xmlns:a16="http://schemas.microsoft.com/office/drawing/2014/main" id="{997E459D-9638-41B9-8A32-7A95B7F1CC84}"/>
              </a:ext>
            </a:extLst>
          </p:cNvPr>
          <p:cNvSpPr>
            <a:spLocks xmlns:a="http://schemas.openxmlformats.org/drawingml/2006/main" noGrp="1"/>
          </p:cNvSpPr>
          <p:nvPr/>
        </p:nvSpPr>
        <p:spPr>
          <a:xfrm xmlns:a="http://schemas.openxmlformats.org/drawingml/2006/main">
            <a:off x="552450" y="9610725"/>
            <a:ext cx="6667500" cy="0"/>
          </a:xfrm>
          <a:prstGeom xmlns:a="http://schemas.openxmlformats.org/drawingml/2006/main" prst="line">
            <a:avLst/>
          </a:prstGeom>
          <a:noFill xmlns:a="http://schemas.openxmlformats.org/drawingml/2006/main"/>
          <a:ln xmlns:a="http://schemas.openxmlformats.org/drawingml/2006/main" w="11430">
            <a:solidFill>
              <a:srgbClr val="D9E2DA"/>
            </a:solidFill>
            <a:prstDash val="solid"/>
          </a:ln>
        </p:spPr>
      </p:sp>
      <p:sp>
        <p:nvSpPr>
          <p:cNvPr id="6" name="">
            <a:extLst xmlns:a="http://schemas.openxmlformats.org/drawingml/2006/main">
              <a:ext uri="{FF2B5EF4-FFF2-40B4-BE49-F238E27FC236}">
                <a16:creationId xmlns:a16="http://schemas.microsoft.com/office/drawing/2014/main" id="{743C6B19-D894-4040-B5ED-86558E65D10D}"/>
              </a:ext>
            </a:extLst>
          </p:cNvPr>
          <p:cNvSpPr>
            <a:spLocks xmlns:a="http://schemas.openxmlformats.org/drawingml/2006/main" noGrp="1"/>
          </p:cNvSpPr>
          <p:nvPr/>
        </p:nvSpPr>
        <p:spPr>
          <a:xfrm xmlns:a="http://schemas.openxmlformats.org/drawingml/2006/main">
            <a:off x="552450" y="9715500"/>
            <a:ext cx="1762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660" b="0" i="0">
                <a:solidFill>
                  <a:srgbClr val="5C6C67"/>
                </a:solidFill>
                <a:latin typeface="Lato"/>
                <a:ea typeface="Lato"/>
                <a:cs typeface="Lato"/>
              </a:defRPr>
            </a:pPr>
            <a:r>
              <a:rPr sz="660" b="0" i="0">
                <a:solidFill>
                  <a:srgbClr val="5C6C67"/>
                </a:solidFill>
                <a:latin typeface="Lato"/>
                <a:ea typeface="Lato"/>
                <a:cs typeface="Lato"/>
              </a:rPr>
              <a:t>Mindful Diabetes Inc.</a:t>
            </a:r>
          </a:p>
        </p:txBody>
      </p:sp>
      <p:sp>
        <p:nvSpPr>
          <p:cNvPr id="7" name="">
            <a:extLst xmlns:a="http://schemas.openxmlformats.org/drawingml/2006/main">
              <a:ext uri="{FF2B5EF4-FFF2-40B4-BE49-F238E27FC236}">
                <a16:creationId xmlns:a16="http://schemas.microsoft.com/office/drawing/2014/main" id="{B2377B94-86A7-4841-8C76-B7A8EE57182E}"/>
              </a:ext>
            </a:extLst>
          </p:cNvPr>
          <p:cNvSpPr>
            <a:spLocks xmlns:a="http://schemas.openxmlformats.org/drawingml/2006/main" noGrp="1"/>
          </p:cNvSpPr>
          <p:nvPr/>
        </p:nvSpPr>
        <p:spPr>
          <a:xfrm xmlns:a="http://schemas.openxmlformats.org/drawingml/2006/main">
            <a:off x="3162300" y="9715500"/>
            <a:ext cx="14763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lnSpc>
                <a:spcPct val="116000"/>
              </a:lnSpc>
              <a:buNone/>
              <a:defRPr sz="660" b="0" i="0">
                <a:solidFill>
                  <a:srgbClr val="5C6C67"/>
                </a:solidFill>
                <a:latin typeface="Lato"/>
                <a:ea typeface="Lato"/>
                <a:cs typeface="Lato"/>
              </a:defRPr>
            </a:pPr>
            <a:r>
              <a:rPr sz="660" b="0" i="0">
                <a:solidFill>
                  <a:srgbClr val="5C6C67"/>
                </a:solidFill>
                <a:latin typeface="Lato"/>
                <a:ea typeface="Lato"/>
                <a:cs typeface="Lato"/>
              </a:rPr>
              <a:t>mindfuldiabetes.org</a:t>
            </a:r>
          </a:p>
        </p:txBody>
      </p:sp>
      <p:sp>
        <p:nvSpPr>
          <p:cNvPr id="8" name="">
            <a:extLst xmlns:a="http://schemas.openxmlformats.org/drawingml/2006/main">
              <a:ext uri="{FF2B5EF4-FFF2-40B4-BE49-F238E27FC236}">
                <a16:creationId xmlns:a16="http://schemas.microsoft.com/office/drawing/2014/main" id="{6D688DF2-7DBC-415C-A73A-6A1593158C3E}"/>
              </a:ext>
            </a:extLst>
          </p:cNvPr>
          <p:cNvSpPr>
            <a:spLocks xmlns:a="http://schemas.openxmlformats.org/drawingml/2006/main" noGrp="1"/>
          </p:cNvSpPr>
          <p:nvPr/>
        </p:nvSpPr>
        <p:spPr>
          <a:xfrm xmlns:a="http://schemas.openxmlformats.org/drawingml/2006/main">
            <a:off x="6886575" y="9715500"/>
            <a:ext cx="3333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r">
              <a:lnSpc>
                <a:spcPct val="116000"/>
              </a:lnSpc>
              <a:buNone/>
              <a:defRPr sz="660" b="0" i="0">
                <a:solidFill>
                  <a:srgbClr val="F26A2E"/>
                </a:solidFill>
                <a:latin typeface="Lato"/>
                <a:ea typeface="Lato"/>
                <a:cs typeface="Lato"/>
              </a:defRPr>
            </a:pPr>
            <a:r>
              <a:rPr sz="660" b="0" i="0">
                <a:solidFill>
                  <a:srgbClr val="F26A2E"/>
                </a:solidFill>
                <a:latin typeface="Lato"/>
                <a:ea typeface="Lato"/>
                <a:cs typeface="Lato"/>
              </a:rPr>
              <a:t>2</a:t>
            </a:r>
          </a:p>
        </p:txBody>
      </p:sp>
      <p:sp>
        <p:nvSpPr>
          <p:cNvPr id="9" name="">
            <a:extLst xmlns:a="http://schemas.openxmlformats.org/drawingml/2006/main">
              <a:ext uri="{FF2B5EF4-FFF2-40B4-BE49-F238E27FC236}">
                <a16:creationId xmlns:a16="http://schemas.microsoft.com/office/drawing/2014/main" id="{21F8AE53-E524-4C5E-9925-47A2B6C35ABA}"/>
              </a:ext>
            </a:extLst>
          </p:cNvPr>
          <p:cNvSpPr>
            <a:spLocks xmlns:a="http://schemas.openxmlformats.org/drawingml/2006/main" noGrp="1"/>
          </p:cNvSpPr>
          <p:nvPr/>
        </p:nvSpPr>
        <p:spPr>
          <a:xfrm xmlns:a="http://schemas.openxmlformats.org/drawingml/2006/main">
            <a:off x="628650" y="790575"/>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900" b="1" i="0">
                <a:solidFill>
                  <a:srgbClr val="F26A2E"/>
                </a:solidFill>
                <a:latin typeface="Lato"/>
                <a:ea typeface="Lato"/>
                <a:cs typeface="Lato"/>
              </a:defRPr>
            </a:pPr>
            <a:r>
              <a:rPr sz="900" b="1" i="0">
                <a:solidFill>
                  <a:srgbClr val="F26A2E"/>
                </a:solidFill>
                <a:latin typeface="Lato"/>
                <a:ea typeface="Lato"/>
                <a:cs typeface="Lato"/>
              </a:rPr>
              <a:t>WELCOME</a:t>
            </a:r>
          </a:p>
        </p:txBody>
      </p:sp>
      <p:sp>
        <p:nvSpPr>
          <p:cNvPr id="10" name="">
            <a:extLst xmlns:a="http://schemas.openxmlformats.org/drawingml/2006/main">
              <a:ext uri="{FF2B5EF4-FFF2-40B4-BE49-F238E27FC236}">
                <a16:creationId xmlns:a16="http://schemas.microsoft.com/office/drawing/2014/main" id="{04899691-501D-44EA-ACC3-1792B94A4EFF}"/>
              </a:ext>
            </a:extLst>
          </p:cNvPr>
          <p:cNvSpPr>
            <a:spLocks xmlns:a="http://schemas.openxmlformats.org/drawingml/2006/main" noGrp="1"/>
          </p:cNvSpPr>
          <p:nvPr/>
        </p:nvSpPr>
        <p:spPr>
          <a:xfrm xmlns:a="http://schemas.openxmlformats.org/drawingml/2006/main">
            <a:off x="590550" y="1066800"/>
            <a:ext cx="619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03000"/>
              </a:lnSpc>
              <a:buNone/>
              <a:defRPr sz="2550" b="1" i="0">
                <a:solidFill>
                  <a:srgbClr val="192442"/>
                </a:solidFill>
                <a:latin typeface="Lora"/>
                <a:ea typeface="Lora"/>
                <a:cs typeface="Lora"/>
              </a:defRPr>
            </a:pPr>
            <a:r>
              <a:rPr sz="2550" b="1" i="0">
                <a:solidFill>
                  <a:srgbClr val="192442"/>
                </a:solidFill>
                <a:latin typeface="Lora"/>
                <a:ea typeface="Lora"/>
                <a:cs typeface="Lora"/>
              </a:rPr>
              <a:t>A calmer way to build a meal</a:t>
            </a:r>
          </a:p>
        </p:txBody>
      </p:sp>
      <p:sp>
        <p:nvSpPr>
          <p:cNvPr id="11" name="">
            <a:extLst xmlns:a="http://schemas.openxmlformats.org/drawingml/2006/main">
              <a:ext uri="{FF2B5EF4-FFF2-40B4-BE49-F238E27FC236}">
                <a16:creationId xmlns:a16="http://schemas.microsoft.com/office/drawing/2014/main" id="{D867156A-6AA9-45C9-A8BB-3FE23FE102DA}"/>
              </a:ext>
            </a:extLst>
          </p:cNvPr>
          <p:cNvSpPr>
            <a:spLocks xmlns:a="http://schemas.openxmlformats.org/drawingml/2006/main" noGrp="1"/>
          </p:cNvSpPr>
          <p:nvPr/>
        </p:nvSpPr>
        <p:spPr>
          <a:xfrm xmlns:a="http://schemas.openxmlformats.org/drawingml/2006/main">
            <a:off x="628650" y="1866900"/>
            <a:ext cx="6381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25000"/>
              </a:lnSpc>
              <a:buNone/>
              <a:defRPr sz="1125" b="0" i="0">
                <a:solidFill>
                  <a:srgbClr val="5C6C67"/>
                </a:solidFill>
                <a:latin typeface="Lato"/>
                <a:ea typeface="Lato"/>
                <a:cs typeface="Lato"/>
              </a:defRPr>
            </a:pPr>
            <a:r>
              <a:rPr sz="1125" b="0" i="0">
                <a:solidFill>
                  <a:srgbClr val="5C6C67"/>
                </a:solidFill>
                <a:latin typeface="Lato"/>
                <a:ea typeface="Lato"/>
                <a:cs typeface="Lato"/>
              </a:rPr>
              <a:t>This guide is for real kitchens, busy schedules, mixed dishes, familiar foods, and small changes that can actually happen.</a:t>
            </a:r>
          </a:p>
        </p:txBody>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b609fd69785447de"/>
          <a:srcRect xmlns:a="http://schemas.openxmlformats.org/drawingml/2006/main" l="0" t="17325" r="0" b="17325"/>
          <a:stretch xmlns:a="http://schemas.openxmlformats.org/drawingml/2006/main">
            <a:fillRect l="0" t="0" r="0" b="0"/>
          </a:stretch>
        </p:blipFill>
        <p:spPr>
          <a:xfrm xmlns:a="http://schemas.openxmlformats.org/drawingml/2006/main">
            <a:off x="628650" y="2381250"/>
            <a:ext cx="6515100" cy="2838450"/>
          </a:xfrm>
          <a:prstGeom xmlns:a="http://schemas.openxmlformats.org/drawingml/2006/main" prst="roundRect">
            <a:avLst>
              <a:gd name="adj" fmla="val 4698"/>
            </a:avLst>
          </a:prstGeom>
        </p:spPr>
      </p:pic>
      <p:sp>
        <p:nvSpPr>
          <p:cNvPr id="13" name="">
            <a:extLst xmlns:a="http://schemas.openxmlformats.org/drawingml/2006/main">
              <a:ext uri="{FF2B5EF4-FFF2-40B4-BE49-F238E27FC236}">
                <a16:creationId xmlns:a16="http://schemas.microsoft.com/office/drawing/2014/main" id="{8EAA1EF3-6D6F-4D50-9AE9-42EB5EBB4E29}"/>
              </a:ext>
            </a:extLst>
          </p:cNvPr>
          <p:cNvSpPr>
            <a:spLocks xmlns:a="http://schemas.openxmlformats.org/drawingml/2006/main" noGrp="1"/>
          </p:cNvSpPr>
          <p:nvPr/>
        </p:nvSpPr>
        <p:spPr>
          <a:xfrm xmlns:a="http://schemas.openxmlformats.org/drawingml/2006/main">
            <a:off x="628650" y="5581650"/>
            <a:ext cx="1952625" cy="876300"/>
          </a:xfrm>
          <a:prstGeom xmlns:a="http://schemas.openxmlformats.org/drawingml/2006/main" prst="roundRect">
            <a:avLst>
              <a:gd name="adj" fmla="val 9783"/>
            </a:avLst>
          </a:prstGeom>
          <a:solidFill xmlns:a="http://schemas.openxmlformats.org/drawingml/2006/main">
            <a:srgbClr val="E6F2EC"/>
          </a:solidFill>
          <a:ln xmlns:a="http://schemas.openxmlformats.org/drawingml/2006/main" w="11430">
            <a:solidFill>
              <a:srgbClr val="C9DAD3"/>
            </a:solidFill>
            <a:prstDash val="solid"/>
          </a:ln>
        </p:spPr>
      </p:sp>
      <p:sp>
        <p:nvSpPr>
          <p:cNvPr id="14" name="">
            <a:extLst xmlns:a="http://schemas.openxmlformats.org/drawingml/2006/main">
              <a:ext uri="{FF2B5EF4-FFF2-40B4-BE49-F238E27FC236}">
                <a16:creationId xmlns:a16="http://schemas.microsoft.com/office/drawing/2014/main" id="{A9C5A854-F67E-49AF-AA0E-EB9AFCD43F40}"/>
              </a:ext>
            </a:extLst>
          </p:cNvPr>
          <p:cNvSpPr>
            <a:spLocks xmlns:a="http://schemas.openxmlformats.org/drawingml/2006/main" noGrp="1"/>
          </p:cNvSpPr>
          <p:nvPr/>
        </p:nvSpPr>
        <p:spPr>
          <a:xfrm xmlns:a="http://schemas.openxmlformats.org/drawingml/2006/main">
            <a:off x="819150" y="5772150"/>
            <a:ext cx="1571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1125" b="1" i="0">
                <a:solidFill>
                  <a:srgbClr val="034B2F"/>
                </a:solidFill>
                <a:latin typeface="Lato"/>
                <a:ea typeface="Lato"/>
                <a:cs typeface="Lato"/>
              </a:defRPr>
            </a:pPr>
            <a:r>
              <a:rPr sz="1125" b="1" i="0">
                <a:solidFill>
                  <a:srgbClr val="034B2F"/>
                </a:solidFill>
                <a:latin typeface="Lato"/>
                <a:ea typeface="Lato"/>
                <a:cs typeface="Lato"/>
              </a:rPr>
              <a:t>Flexible</a:t>
            </a:r>
          </a:p>
        </p:txBody>
      </p:sp>
      <p:sp>
        <p:nvSpPr>
          <p:cNvPr id="15" name="">
            <a:extLst xmlns:a="http://schemas.openxmlformats.org/drawingml/2006/main">
              <a:ext uri="{FF2B5EF4-FFF2-40B4-BE49-F238E27FC236}">
                <a16:creationId xmlns:a16="http://schemas.microsoft.com/office/drawing/2014/main" id="{37126B2B-5415-4527-A79E-D41CB0780134}"/>
              </a:ext>
            </a:extLst>
          </p:cNvPr>
          <p:cNvSpPr>
            <a:spLocks xmlns:a="http://schemas.openxmlformats.org/drawingml/2006/main" noGrp="1"/>
          </p:cNvSpPr>
          <p:nvPr/>
        </p:nvSpPr>
        <p:spPr>
          <a:xfrm xmlns:a="http://schemas.openxmlformats.org/drawingml/2006/main">
            <a:off x="819150" y="6057900"/>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5000"/>
              </a:lnSpc>
              <a:buNone/>
              <a:defRPr sz="863" b="0" i="0">
                <a:solidFill>
                  <a:srgbClr val="16211D"/>
                </a:solidFill>
                <a:latin typeface="Lato"/>
                <a:ea typeface="Lato"/>
                <a:cs typeface="Lato"/>
              </a:defRPr>
            </a:pPr>
            <a:r>
              <a:rPr sz="863" b="0" i="0">
                <a:solidFill>
                  <a:srgbClr val="16211D"/>
                </a:solidFill>
                <a:latin typeface="Lato"/>
                <a:ea typeface="Lato"/>
                <a:cs typeface="Lato"/>
              </a:rPr>
              <a:t>Use the plate as a starting point.</a:t>
            </a:r>
          </a:p>
        </p:txBody>
      </p:sp>
      <p:sp>
        <p:nvSpPr>
          <p:cNvPr id="16" name="">
            <a:extLst xmlns:a="http://schemas.openxmlformats.org/drawingml/2006/main">
              <a:ext uri="{FF2B5EF4-FFF2-40B4-BE49-F238E27FC236}">
                <a16:creationId xmlns:a16="http://schemas.microsoft.com/office/drawing/2014/main" id="{8D705B4B-A6F7-45FD-A1FB-3B04EACB69AE}"/>
              </a:ext>
            </a:extLst>
          </p:cNvPr>
          <p:cNvSpPr>
            <a:spLocks xmlns:a="http://schemas.openxmlformats.org/drawingml/2006/main" noGrp="1"/>
          </p:cNvSpPr>
          <p:nvPr/>
        </p:nvSpPr>
        <p:spPr>
          <a:xfrm xmlns:a="http://schemas.openxmlformats.org/drawingml/2006/main">
            <a:off x="2800350" y="5581650"/>
            <a:ext cx="1952625" cy="876300"/>
          </a:xfrm>
          <a:prstGeom xmlns:a="http://schemas.openxmlformats.org/drawingml/2006/main" prst="roundRect">
            <a:avLst>
              <a:gd name="adj" fmla="val 9783"/>
            </a:avLst>
          </a:prstGeom>
          <a:solidFill xmlns:a="http://schemas.openxmlformats.org/drawingml/2006/main">
            <a:srgbClr val="EEF7FA"/>
          </a:solidFill>
          <a:ln xmlns:a="http://schemas.openxmlformats.org/drawingml/2006/main" w="11430">
            <a:solidFill>
              <a:srgbClr val="C9DAD3"/>
            </a:solidFill>
            <a:prstDash val="solid"/>
          </a:ln>
        </p:spPr>
      </p:sp>
      <p:sp>
        <p:nvSpPr>
          <p:cNvPr id="17" name="">
            <a:extLst xmlns:a="http://schemas.openxmlformats.org/drawingml/2006/main">
              <a:ext uri="{FF2B5EF4-FFF2-40B4-BE49-F238E27FC236}">
                <a16:creationId xmlns:a16="http://schemas.microsoft.com/office/drawing/2014/main" id="{A31A9D50-CEEA-4B69-99CA-A38EED6C5706}"/>
              </a:ext>
            </a:extLst>
          </p:cNvPr>
          <p:cNvSpPr>
            <a:spLocks xmlns:a="http://schemas.openxmlformats.org/drawingml/2006/main" noGrp="1"/>
          </p:cNvSpPr>
          <p:nvPr/>
        </p:nvSpPr>
        <p:spPr>
          <a:xfrm xmlns:a="http://schemas.openxmlformats.org/drawingml/2006/main">
            <a:off x="2990850" y="5772150"/>
            <a:ext cx="1571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1125" b="1" i="0">
                <a:solidFill>
                  <a:srgbClr val="034B2F"/>
                </a:solidFill>
                <a:latin typeface="Lato"/>
                <a:ea typeface="Lato"/>
                <a:cs typeface="Lato"/>
              </a:defRPr>
            </a:pPr>
            <a:r>
              <a:rPr sz="1125" b="1" i="0">
                <a:solidFill>
                  <a:srgbClr val="034B2F"/>
                </a:solidFill>
                <a:latin typeface="Lato"/>
                <a:ea typeface="Lato"/>
                <a:cs typeface="Lato"/>
              </a:rPr>
              <a:t>Practical</a:t>
            </a:r>
          </a:p>
        </p:txBody>
      </p:sp>
      <p:sp>
        <p:nvSpPr>
          <p:cNvPr id="18" name="">
            <a:extLst xmlns:a="http://schemas.openxmlformats.org/drawingml/2006/main">
              <a:ext uri="{FF2B5EF4-FFF2-40B4-BE49-F238E27FC236}">
                <a16:creationId xmlns:a16="http://schemas.microsoft.com/office/drawing/2014/main" id="{09DB845D-933D-4F32-B749-12CB0EBB879E}"/>
              </a:ext>
            </a:extLst>
          </p:cNvPr>
          <p:cNvSpPr>
            <a:spLocks xmlns:a="http://schemas.openxmlformats.org/drawingml/2006/main" noGrp="1"/>
          </p:cNvSpPr>
          <p:nvPr/>
        </p:nvSpPr>
        <p:spPr>
          <a:xfrm xmlns:a="http://schemas.openxmlformats.org/drawingml/2006/main">
            <a:off x="2990850" y="6057900"/>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5000"/>
              </a:lnSpc>
              <a:buNone/>
              <a:defRPr sz="863" b="0" i="0">
                <a:solidFill>
                  <a:srgbClr val="16211D"/>
                </a:solidFill>
                <a:latin typeface="Lato"/>
                <a:ea typeface="Lato"/>
                <a:cs typeface="Lato"/>
              </a:defRPr>
            </a:pPr>
            <a:r>
              <a:rPr sz="863" b="0" i="0">
                <a:solidFill>
                  <a:srgbClr val="16211D"/>
                </a:solidFill>
                <a:latin typeface="Lato"/>
                <a:ea typeface="Lato"/>
                <a:cs typeface="Lato"/>
              </a:rPr>
              <a:t>Frozen, canned, dried, and store-brand foods count.</a:t>
            </a:r>
          </a:p>
        </p:txBody>
      </p:sp>
      <p:sp>
        <p:nvSpPr>
          <p:cNvPr id="19" name="">
            <a:extLst xmlns:a="http://schemas.openxmlformats.org/drawingml/2006/main">
              <a:ext uri="{FF2B5EF4-FFF2-40B4-BE49-F238E27FC236}">
                <a16:creationId xmlns:a16="http://schemas.microsoft.com/office/drawing/2014/main" id="{C54E3304-88C4-4EBF-B7C8-8B52C5433FB3}"/>
              </a:ext>
            </a:extLst>
          </p:cNvPr>
          <p:cNvSpPr>
            <a:spLocks xmlns:a="http://schemas.openxmlformats.org/drawingml/2006/main" noGrp="1"/>
          </p:cNvSpPr>
          <p:nvPr/>
        </p:nvSpPr>
        <p:spPr>
          <a:xfrm xmlns:a="http://schemas.openxmlformats.org/drawingml/2006/main">
            <a:off x="4972050" y="5581650"/>
            <a:ext cx="1952625" cy="876300"/>
          </a:xfrm>
          <a:prstGeom xmlns:a="http://schemas.openxmlformats.org/drawingml/2006/main" prst="roundRect">
            <a:avLst>
              <a:gd name="adj" fmla="val 9783"/>
            </a:avLst>
          </a:prstGeom>
          <a:solidFill xmlns:a="http://schemas.openxmlformats.org/drawingml/2006/main">
            <a:srgbClr val="E6F2EC"/>
          </a:solidFill>
          <a:ln xmlns:a="http://schemas.openxmlformats.org/drawingml/2006/main" w="11430">
            <a:solidFill>
              <a:srgbClr val="C9DAD3"/>
            </a:solidFill>
            <a:prstDash val="solid"/>
          </a:ln>
        </p:spPr>
      </p:sp>
      <p:sp>
        <p:nvSpPr>
          <p:cNvPr id="20" name="">
            <a:extLst xmlns:a="http://schemas.openxmlformats.org/drawingml/2006/main">
              <a:ext uri="{FF2B5EF4-FFF2-40B4-BE49-F238E27FC236}">
                <a16:creationId xmlns:a16="http://schemas.microsoft.com/office/drawing/2014/main" id="{7AAA3F00-559C-4090-97BA-36B5F5DC94E2}"/>
              </a:ext>
            </a:extLst>
          </p:cNvPr>
          <p:cNvSpPr>
            <a:spLocks xmlns:a="http://schemas.openxmlformats.org/drawingml/2006/main" noGrp="1"/>
          </p:cNvSpPr>
          <p:nvPr/>
        </p:nvSpPr>
        <p:spPr>
          <a:xfrm xmlns:a="http://schemas.openxmlformats.org/drawingml/2006/main">
            <a:off x="5162550" y="5772150"/>
            <a:ext cx="1571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1125" b="1" i="0">
                <a:solidFill>
                  <a:srgbClr val="034B2F"/>
                </a:solidFill>
                <a:latin typeface="Lato"/>
                <a:ea typeface="Lato"/>
                <a:cs typeface="Lato"/>
              </a:defRPr>
            </a:pPr>
            <a:r>
              <a:rPr sz="1125" b="1" i="0">
                <a:solidFill>
                  <a:srgbClr val="034B2F"/>
                </a:solidFill>
                <a:latin typeface="Lato"/>
                <a:ea typeface="Lato"/>
                <a:cs typeface="Lato"/>
              </a:rPr>
              <a:t>Personal</a:t>
            </a:r>
          </a:p>
        </p:txBody>
      </p:sp>
      <p:sp>
        <p:nvSpPr>
          <p:cNvPr id="21" name="">
            <a:extLst xmlns:a="http://schemas.openxmlformats.org/drawingml/2006/main">
              <a:ext uri="{FF2B5EF4-FFF2-40B4-BE49-F238E27FC236}">
                <a16:creationId xmlns:a16="http://schemas.microsoft.com/office/drawing/2014/main" id="{411859A2-01D3-424C-87A0-96D68407A0BE}"/>
              </a:ext>
            </a:extLst>
          </p:cNvPr>
          <p:cNvSpPr>
            <a:spLocks xmlns:a="http://schemas.openxmlformats.org/drawingml/2006/main" noGrp="1"/>
          </p:cNvSpPr>
          <p:nvPr/>
        </p:nvSpPr>
        <p:spPr>
          <a:xfrm xmlns:a="http://schemas.openxmlformats.org/drawingml/2006/main">
            <a:off x="5162550" y="6057900"/>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5000"/>
              </a:lnSpc>
              <a:buNone/>
              <a:defRPr sz="863" b="0" i="0">
                <a:solidFill>
                  <a:srgbClr val="16211D"/>
                </a:solidFill>
                <a:latin typeface="Lato"/>
                <a:ea typeface="Lato"/>
                <a:cs typeface="Lato"/>
              </a:defRPr>
            </a:pPr>
            <a:r>
              <a:rPr sz="863" b="0" i="0">
                <a:solidFill>
                  <a:srgbClr val="16211D"/>
                </a:solidFill>
                <a:latin typeface="Lato"/>
                <a:ea typeface="Lato"/>
                <a:cs typeface="Lato"/>
              </a:rPr>
              <a:t>Culture, budget, appetite, and medical needs still matter.</a:t>
            </a:r>
          </a:p>
        </p:txBody>
      </p:sp>
      <p:sp>
        <p:nvSpPr>
          <p:cNvPr id="22" name="">
            <a:extLst xmlns:a="http://schemas.openxmlformats.org/drawingml/2006/main">
              <a:ext uri="{FF2B5EF4-FFF2-40B4-BE49-F238E27FC236}">
                <a16:creationId xmlns:a16="http://schemas.microsoft.com/office/drawing/2014/main" id="{78CC786D-2182-4242-8E59-9142EF707283}"/>
              </a:ext>
            </a:extLst>
          </p:cNvPr>
          <p:cNvSpPr>
            <a:spLocks xmlns:a="http://schemas.openxmlformats.org/drawingml/2006/main" noGrp="1"/>
          </p:cNvSpPr>
          <p:nvPr/>
        </p:nvSpPr>
        <p:spPr>
          <a:xfrm xmlns:a="http://schemas.openxmlformats.org/drawingml/2006/main">
            <a:off x="723900" y="6877050"/>
            <a:ext cx="60960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22000"/>
              </a:lnSpc>
              <a:buNone/>
              <a:defRPr sz="1088" b="0" i="0">
                <a:solidFill>
                  <a:srgbClr val="16211D"/>
                </a:solidFill>
                <a:latin typeface="Lato"/>
                <a:ea typeface="Lato"/>
                <a:cs typeface="Lato"/>
              </a:defRPr>
            </a:pPr>
            <a:r>
              <a:rPr sz="1088" b="0" i="0">
                <a:solidFill>
                  <a:srgbClr val="16211D"/>
                </a:solidFill>
                <a:latin typeface="Lato"/>
                <a:ea typeface="Lato"/>
                <a:cs typeface="Lato"/>
              </a:rPr>
              <a:t>If food advice has started to feel like a stack of rules, let this guide lower the noise. The Mindful Plate is a simple way to assemble a meal: vegetables, protein, carbohydrate, drink, and flavor. You do not have to weigh everything or give up foods that matter to you.</a:t>
            </a:r>
          </a:p>
        </p:txBody>
      </p:sp>
      <p:sp>
        <p:nvSpPr>
          <p:cNvPr id="23" name="">
            <a:extLst xmlns:a="http://schemas.openxmlformats.org/drawingml/2006/main">
              <a:ext uri="{FF2B5EF4-FFF2-40B4-BE49-F238E27FC236}">
                <a16:creationId xmlns:a16="http://schemas.microsoft.com/office/drawing/2014/main" id="{9B0A3DB0-2D4B-43DB-A337-0D48CF998122}"/>
              </a:ext>
            </a:extLst>
          </p:cNvPr>
          <p:cNvSpPr>
            <a:spLocks xmlns:a="http://schemas.openxmlformats.org/drawingml/2006/main" noGrp="1"/>
          </p:cNvSpPr>
          <p:nvPr/>
        </p:nvSpPr>
        <p:spPr>
          <a:xfrm xmlns:a="http://schemas.openxmlformats.org/drawingml/2006/main">
            <a:off x="628650" y="8248650"/>
            <a:ext cx="6515100" cy="781050"/>
          </a:xfrm>
          <a:prstGeom xmlns:a="http://schemas.openxmlformats.org/drawingml/2006/main" prst="roundRect">
            <a:avLst>
              <a:gd name="adj" fmla="val 12195"/>
            </a:avLst>
          </a:prstGeom>
          <a:solidFill xmlns:a="http://schemas.openxmlformats.org/drawingml/2006/main">
            <a:srgbClr val="FCE4D8"/>
          </a:solidFill>
          <a:ln xmlns:a="http://schemas.openxmlformats.org/drawingml/2006/main" w="11430">
            <a:solidFill>
              <a:srgbClr val="F3B499"/>
            </a:solidFill>
            <a:prstDash val="solid"/>
          </a:ln>
        </p:spPr>
      </p:sp>
      <p:sp>
        <p:nvSpPr>
          <p:cNvPr id="24" name="">
            <a:extLst xmlns:a="http://schemas.openxmlformats.org/drawingml/2006/main">
              <a:ext uri="{FF2B5EF4-FFF2-40B4-BE49-F238E27FC236}">
                <a16:creationId xmlns:a16="http://schemas.microsoft.com/office/drawing/2014/main" id="{06F88D72-27DB-4F4E-9A2A-62672B2E09E2}"/>
              </a:ext>
            </a:extLst>
          </p:cNvPr>
          <p:cNvSpPr>
            <a:spLocks xmlns:a="http://schemas.openxmlformats.org/drawingml/2006/main" noGrp="1"/>
          </p:cNvSpPr>
          <p:nvPr/>
        </p:nvSpPr>
        <p:spPr>
          <a:xfrm xmlns:a="http://schemas.openxmlformats.org/drawingml/2006/main">
            <a:off x="790575" y="83820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975" b="1" i="0">
                <a:solidFill>
                  <a:srgbClr val="8F3519"/>
                </a:solidFill>
                <a:latin typeface="Lato"/>
                <a:ea typeface="Lato"/>
                <a:cs typeface="Lato"/>
              </a:defRPr>
            </a:pPr>
            <a:r>
              <a:rPr sz="975" b="1" i="0">
                <a:solidFill>
                  <a:srgbClr val="8F3519"/>
                </a:solidFill>
                <a:latin typeface="Lato"/>
                <a:ea typeface="Lato"/>
                <a:cs typeface="Lato"/>
              </a:rPr>
              <a:t>This guide cannot replace</a:t>
            </a:r>
          </a:p>
        </p:txBody>
      </p:sp>
      <p:sp>
        <p:nvSpPr>
          <p:cNvPr id="25" name="">
            <a:extLst xmlns:a="http://schemas.openxmlformats.org/drawingml/2006/main">
              <a:ext uri="{FF2B5EF4-FFF2-40B4-BE49-F238E27FC236}">
                <a16:creationId xmlns:a16="http://schemas.microsoft.com/office/drawing/2014/main" id="{352DD0D0-180C-48EE-AFE9-5CD02F1F9129}"/>
              </a:ext>
            </a:extLst>
          </p:cNvPr>
          <p:cNvSpPr>
            <a:spLocks xmlns:a="http://schemas.openxmlformats.org/drawingml/2006/main" noGrp="1"/>
          </p:cNvSpPr>
          <p:nvPr/>
        </p:nvSpPr>
        <p:spPr>
          <a:xfrm xmlns:a="http://schemas.openxmlformats.org/drawingml/2006/main">
            <a:off x="790575" y="8648700"/>
            <a:ext cx="619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7000"/>
              </a:lnSpc>
              <a:buNone/>
              <a:defRPr sz="900" b="0" i="0">
                <a:solidFill>
                  <a:srgbClr val="16211D"/>
                </a:solidFill>
                <a:latin typeface="Lato"/>
                <a:ea typeface="Lato"/>
                <a:cs typeface="Lato"/>
              </a:defRPr>
            </a:pPr>
            <a:r>
              <a:rPr sz="900" b="0" i="0">
                <a:solidFill>
                  <a:srgbClr val="16211D"/>
                </a:solidFill>
                <a:latin typeface="Lato"/>
                <a:ea typeface="Lato"/>
                <a:cs typeface="Lato"/>
              </a:rPr>
              <a:t>Medical nutrition therapy, medication guidance, glucose targets, insulin changes, pregnancy care, eating-disorder care, or urgent medical attention.</a:t>
            </a:r>
          </a:p>
        </p:txBody>
      </p:sp>
    </p:spTree>
    <p:extLst>
      <p:ext uri="{BB962C8B-B14F-4D97-AF65-F5344CB8AC3E}">
        <p14:creationId xmlns:p14="http://schemas.microsoft.com/office/powerpoint/2010/main" val="2132429042"/>
      </p:ext>
    </p:extLst>
  </p:cSld>
</p:sld>
</file>

<file path=ppt/slides/slide3.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15d4667e5d7042ad"/>
          <a:srcRect xmlns:a="http://schemas.openxmlformats.org/drawingml/2006/main" l="699" t="0" r="699" b="0"/>
          <a:stretch xmlns:a="http://schemas.openxmlformats.org/drawingml/2006/main">
            <a:fillRect l="0" t="0" r="0" b="0"/>
          </a:stretch>
        </p:blipFill>
        <p:spPr>
          <a:xfrm xmlns:a="http://schemas.openxmlformats.org/drawingml/2006/main">
            <a:off x="552450" y="285750"/>
            <a:ext cx="257175" cy="276225"/>
          </a:xfrm>
          <a:prstGeom xmlns:a="http://schemas.openxmlformats.org/drawingml/2006/main" prst="roundRect">
            <a:avLst>
              <a:gd name="adj" fmla="val 29630"/>
            </a:avLst>
          </a:prstGeom>
        </p:spPr>
      </p:pic>
      <p:sp>
        <p:nvSpPr>
          <p:cNvPr id="2" name="">
            <a:extLst xmlns:a="http://schemas.openxmlformats.org/drawingml/2006/main">
              <a:ext uri="{FF2B5EF4-FFF2-40B4-BE49-F238E27FC236}">
                <a16:creationId xmlns:a16="http://schemas.microsoft.com/office/drawing/2014/main" id="{6200B14C-2308-4132-9DE4-8423DA51985F}"/>
              </a:ext>
            </a:extLst>
          </p:cNvPr>
          <p:cNvSpPr>
            <a:spLocks xmlns:a="http://schemas.openxmlformats.org/drawingml/2006/main" noGrp="1"/>
          </p:cNvSpPr>
          <p:nvPr/>
        </p:nvSpPr>
        <p:spPr>
          <a:xfrm xmlns:a="http://schemas.openxmlformats.org/drawingml/2006/main">
            <a:off x="876300" y="3333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788" b="1" i="0">
                <a:solidFill>
                  <a:srgbClr val="034B2F"/>
                </a:solidFill>
                <a:latin typeface="Lora"/>
                <a:ea typeface="Lora"/>
                <a:cs typeface="Lora"/>
              </a:defRPr>
            </a:pPr>
            <a:r>
              <a:rPr sz="788" b="1" i="0">
                <a:solidFill>
                  <a:srgbClr val="034B2F"/>
                </a:solidFill>
                <a:latin typeface="Lora"/>
                <a:ea typeface="Lora"/>
                <a:cs typeface="Lora"/>
              </a:rPr>
              <a:t>The Mindful Plate</a:t>
            </a:r>
          </a:p>
        </p:txBody>
      </p:sp>
      <p:sp>
        <p:nvSpPr>
          <p:cNvPr id="3" name="">
            <a:extLst xmlns:a="http://schemas.openxmlformats.org/drawingml/2006/main">
              <a:ext uri="{FF2B5EF4-FFF2-40B4-BE49-F238E27FC236}">
                <a16:creationId xmlns:a16="http://schemas.microsoft.com/office/drawing/2014/main" id="{103FDD10-5C19-4633-814F-6AD6933D9FA0}"/>
              </a:ext>
            </a:extLst>
          </p:cNvPr>
          <p:cNvSpPr>
            <a:spLocks xmlns:a="http://schemas.openxmlformats.org/drawingml/2006/main" noGrp="1"/>
          </p:cNvSpPr>
          <p:nvPr/>
        </p:nvSpPr>
        <p:spPr>
          <a:xfrm xmlns:a="http://schemas.openxmlformats.org/drawingml/2006/main">
            <a:off x="876300" y="485775"/>
            <a:ext cx="2190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660" b="0" i="0">
                <a:solidFill>
                  <a:srgbClr val="5C6C67"/>
                </a:solidFill>
                <a:latin typeface="Lato"/>
                <a:ea typeface="Lato"/>
                <a:cs typeface="Lato"/>
              </a:defRPr>
            </a:pPr>
            <a:r>
              <a:rPr sz="660" b="0" i="0">
                <a:solidFill>
                  <a:srgbClr val="5C6C67"/>
                </a:solidFill>
                <a:latin typeface="Lato"/>
                <a:ea typeface="Lato"/>
                <a:cs typeface="Lato"/>
              </a:rPr>
              <a:t>Quick start</a:t>
            </a:r>
          </a:p>
        </p:txBody>
      </p:sp>
      <p:sp>
        <p:nvSpPr>
          <p:cNvPr id="4" name="">
            <a:extLst xmlns:a="http://schemas.openxmlformats.org/drawingml/2006/main">
              <a:ext uri="{FF2B5EF4-FFF2-40B4-BE49-F238E27FC236}">
                <a16:creationId xmlns:a16="http://schemas.microsoft.com/office/drawing/2014/main" id="{3C097060-F193-467A-9191-5DD569CAB004}"/>
              </a:ext>
            </a:extLst>
          </p:cNvPr>
          <p:cNvSpPr>
            <a:spLocks xmlns:a="http://schemas.openxmlformats.org/drawingml/2006/main" noGrp="1"/>
          </p:cNvSpPr>
          <p:nvPr/>
        </p:nvSpPr>
        <p:spPr>
          <a:xfrm xmlns:a="http://schemas.openxmlformats.org/drawingml/2006/main">
            <a:off x="552450" y="714375"/>
            <a:ext cx="6667500" cy="0"/>
          </a:xfrm>
          <a:prstGeom xmlns:a="http://schemas.openxmlformats.org/drawingml/2006/main" prst="line">
            <a:avLst/>
          </a:prstGeom>
          <a:noFill xmlns:a="http://schemas.openxmlformats.org/drawingml/2006/main"/>
          <a:ln xmlns:a="http://schemas.openxmlformats.org/drawingml/2006/main" w="11430">
            <a:solidFill>
              <a:srgbClr val="D9E2DA"/>
            </a:solidFill>
            <a:prstDash val="solid"/>
          </a:ln>
        </p:spPr>
      </p:sp>
      <p:sp>
        <p:nvSpPr>
          <p:cNvPr id="5" name="">
            <a:extLst xmlns:a="http://schemas.openxmlformats.org/drawingml/2006/main">
              <a:ext uri="{FF2B5EF4-FFF2-40B4-BE49-F238E27FC236}">
                <a16:creationId xmlns:a16="http://schemas.microsoft.com/office/drawing/2014/main" id="{2FEB74D4-7936-499B-9744-10777DC3ADFC}"/>
              </a:ext>
            </a:extLst>
          </p:cNvPr>
          <p:cNvSpPr>
            <a:spLocks xmlns:a="http://schemas.openxmlformats.org/drawingml/2006/main" noGrp="1"/>
          </p:cNvSpPr>
          <p:nvPr/>
        </p:nvSpPr>
        <p:spPr>
          <a:xfrm xmlns:a="http://schemas.openxmlformats.org/drawingml/2006/main">
            <a:off x="552450" y="9610725"/>
            <a:ext cx="6667500" cy="0"/>
          </a:xfrm>
          <a:prstGeom xmlns:a="http://schemas.openxmlformats.org/drawingml/2006/main" prst="line">
            <a:avLst/>
          </a:prstGeom>
          <a:noFill xmlns:a="http://schemas.openxmlformats.org/drawingml/2006/main"/>
          <a:ln xmlns:a="http://schemas.openxmlformats.org/drawingml/2006/main" w="11430">
            <a:solidFill>
              <a:srgbClr val="D9E2DA"/>
            </a:solidFill>
            <a:prstDash val="solid"/>
          </a:ln>
        </p:spPr>
      </p:sp>
      <p:sp>
        <p:nvSpPr>
          <p:cNvPr id="6" name="">
            <a:extLst xmlns:a="http://schemas.openxmlformats.org/drawingml/2006/main">
              <a:ext uri="{FF2B5EF4-FFF2-40B4-BE49-F238E27FC236}">
                <a16:creationId xmlns:a16="http://schemas.microsoft.com/office/drawing/2014/main" id="{EA2D8F5B-B84B-4C67-B9FD-4E41B9ABA3F0}"/>
              </a:ext>
            </a:extLst>
          </p:cNvPr>
          <p:cNvSpPr>
            <a:spLocks xmlns:a="http://schemas.openxmlformats.org/drawingml/2006/main" noGrp="1"/>
          </p:cNvSpPr>
          <p:nvPr/>
        </p:nvSpPr>
        <p:spPr>
          <a:xfrm xmlns:a="http://schemas.openxmlformats.org/drawingml/2006/main">
            <a:off x="552450" y="9715500"/>
            <a:ext cx="1762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660" b="0" i="0">
                <a:solidFill>
                  <a:srgbClr val="5C6C67"/>
                </a:solidFill>
                <a:latin typeface="Lato"/>
                <a:ea typeface="Lato"/>
                <a:cs typeface="Lato"/>
              </a:defRPr>
            </a:pPr>
            <a:r>
              <a:rPr sz="660" b="0" i="0">
                <a:solidFill>
                  <a:srgbClr val="5C6C67"/>
                </a:solidFill>
                <a:latin typeface="Lato"/>
                <a:ea typeface="Lato"/>
                <a:cs typeface="Lato"/>
              </a:rPr>
              <a:t>Mindful Diabetes Inc.</a:t>
            </a:r>
          </a:p>
        </p:txBody>
      </p:sp>
      <p:sp>
        <p:nvSpPr>
          <p:cNvPr id="7" name="">
            <a:extLst xmlns:a="http://schemas.openxmlformats.org/drawingml/2006/main">
              <a:ext uri="{FF2B5EF4-FFF2-40B4-BE49-F238E27FC236}">
                <a16:creationId xmlns:a16="http://schemas.microsoft.com/office/drawing/2014/main" id="{6C910CA4-DE96-4074-BD2F-CF95761890F9}"/>
              </a:ext>
            </a:extLst>
          </p:cNvPr>
          <p:cNvSpPr>
            <a:spLocks xmlns:a="http://schemas.openxmlformats.org/drawingml/2006/main" noGrp="1"/>
          </p:cNvSpPr>
          <p:nvPr/>
        </p:nvSpPr>
        <p:spPr>
          <a:xfrm xmlns:a="http://schemas.openxmlformats.org/drawingml/2006/main">
            <a:off x="3162300" y="9715500"/>
            <a:ext cx="14763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lnSpc>
                <a:spcPct val="116000"/>
              </a:lnSpc>
              <a:buNone/>
              <a:defRPr sz="660" b="0" i="0">
                <a:solidFill>
                  <a:srgbClr val="5C6C67"/>
                </a:solidFill>
                <a:latin typeface="Lato"/>
                <a:ea typeface="Lato"/>
                <a:cs typeface="Lato"/>
              </a:defRPr>
            </a:pPr>
            <a:r>
              <a:rPr sz="660" b="0" i="0">
                <a:solidFill>
                  <a:srgbClr val="5C6C67"/>
                </a:solidFill>
                <a:latin typeface="Lato"/>
                <a:ea typeface="Lato"/>
                <a:cs typeface="Lato"/>
              </a:rPr>
              <a:t>mindfuldiabetes.org</a:t>
            </a:r>
          </a:p>
        </p:txBody>
      </p:sp>
      <p:sp>
        <p:nvSpPr>
          <p:cNvPr id="8" name="">
            <a:extLst xmlns:a="http://schemas.openxmlformats.org/drawingml/2006/main">
              <a:ext uri="{FF2B5EF4-FFF2-40B4-BE49-F238E27FC236}">
                <a16:creationId xmlns:a16="http://schemas.microsoft.com/office/drawing/2014/main" id="{E309690F-1AC0-4CFE-A332-4FD4FFCD2D25}"/>
              </a:ext>
            </a:extLst>
          </p:cNvPr>
          <p:cNvSpPr>
            <a:spLocks xmlns:a="http://schemas.openxmlformats.org/drawingml/2006/main" noGrp="1"/>
          </p:cNvSpPr>
          <p:nvPr/>
        </p:nvSpPr>
        <p:spPr>
          <a:xfrm xmlns:a="http://schemas.openxmlformats.org/drawingml/2006/main">
            <a:off x="6886575" y="9715500"/>
            <a:ext cx="3333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r">
              <a:lnSpc>
                <a:spcPct val="116000"/>
              </a:lnSpc>
              <a:buNone/>
              <a:defRPr sz="660" b="0" i="0">
                <a:solidFill>
                  <a:srgbClr val="F26A2E"/>
                </a:solidFill>
                <a:latin typeface="Lato"/>
                <a:ea typeface="Lato"/>
                <a:cs typeface="Lato"/>
              </a:defRPr>
            </a:pPr>
            <a:r>
              <a:rPr sz="660" b="0" i="0">
                <a:solidFill>
                  <a:srgbClr val="F26A2E"/>
                </a:solidFill>
                <a:latin typeface="Lato"/>
                <a:ea typeface="Lato"/>
                <a:cs typeface="Lato"/>
              </a:rPr>
              <a:t>3</a:t>
            </a:r>
          </a:p>
        </p:txBody>
      </p:sp>
      <p:sp>
        <p:nvSpPr>
          <p:cNvPr id="9" name="">
            <a:extLst xmlns:a="http://schemas.openxmlformats.org/drawingml/2006/main">
              <a:ext uri="{FF2B5EF4-FFF2-40B4-BE49-F238E27FC236}">
                <a16:creationId xmlns:a16="http://schemas.microsoft.com/office/drawing/2014/main" id="{2B65450E-85B6-446C-9BD0-ED129AE82797}"/>
              </a:ext>
            </a:extLst>
          </p:cNvPr>
          <p:cNvSpPr>
            <a:spLocks xmlns:a="http://schemas.openxmlformats.org/drawingml/2006/main" noGrp="1"/>
          </p:cNvSpPr>
          <p:nvPr/>
        </p:nvSpPr>
        <p:spPr>
          <a:xfrm xmlns:a="http://schemas.openxmlformats.org/drawingml/2006/main">
            <a:off x="628650" y="790575"/>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900" b="1" i="0">
                <a:solidFill>
                  <a:srgbClr val="F26A2E"/>
                </a:solidFill>
                <a:latin typeface="Lato"/>
                <a:ea typeface="Lato"/>
                <a:cs typeface="Lato"/>
              </a:defRPr>
            </a:pPr>
            <a:r>
              <a:rPr sz="900" b="1" i="0">
                <a:solidFill>
                  <a:srgbClr val="F26A2E"/>
                </a:solidFill>
                <a:latin typeface="Lato"/>
                <a:ea typeface="Lato"/>
                <a:cs typeface="Lato"/>
              </a:rPr>
              <a:t>QUICK START</a:t>
            </a:r>
          </a:p>
        </p:txBody>
      </p:sp>
      <p:sp>
        <p:nvSpPr>
          <p:cNvPr id="10" name="">
            <a:extLst xmlns:a="http://schemas.openxmlformats.org/drawingml/2006/main">
              <a:ext uri="{FF2B5EF4-FFF2-40B4-BE49-F238E27FC236}">
                <a16:creationId xmlns:a16="http://schemas.microsoft.com/office/drawing/2014/main" id="{D7FD6A1D-5DE3-4C3D-BC69-9EA8E6880075}"/>
              </a:ext>
            </a:extLst>
          </p:cNvPr>
          <p:cNvSpPr>
            <a:spLocks xmlns:a="http://schemas.openxmlformats.org/drawingml/2006/main" noGrp="1"/>
          </p:cNvSpPr>
          <p:nvPr/>
        </p:nvSpPr>
        <p:spPr>
          <a:xfrm xmlns:a="http://schemas.openxmlformats.org/drawingml/2006/main">
            <a:off x="590550" y="1066800"/>
            <a:ext cx="619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03000"/>
              </a:lnSpc>
              <a:buNone/>
              <a:defRPr sz="2550" b="1" i="0">
                <a:solidFill>
                  <a:srgbClr val="192442"/>
                </a:solidFill>
                <a:latin typeface="Lora"/>
                <a:ea typeface="Lora"/>
                <a:cs typeface="Lora"/>
              </a:defRPr>
            </a:pPr>
            <a:r>
              <a:rPr sz="2550" b="1" i="0">
                <a:solidFill>
                  <a:srgbClr val="192442"/>
                </a:solidFill>
                <a:latin typeface="Lora"/>
                <a:ea typeface="Lora"/>
                <a:cs typeface="Lora"/>
              </a:rPr>
              <a:t>Start here tonight</a:t>
            </a:r>
          </a:p>
        </p:txBody>
      </p:sp>
      <p:sp>
        <p:nvSpPr>
          <p:cNvPr id="11" name="">
            <a:extLst xmlns:a="http://schemas.openxmlformats.org/drawingml/2006/main">
              <a:ext uri="{FF2B5EF4-FFF2-40B4-BE49-F238E27FC236}">
                <a16:creationId xmlns:a16="http://schemas.microsoft.com/office/drawing/2014/main" id="{165BDC41-3DB6-416C-8024-A113BEFA77CE}"/>
              </a:ext>
            </a:extLst>
          </p:cNvPr>
          <p:cNvSpPr>
            <a:spLocks xmlns:a="http://schemas.openxmlformats.org/drawingml/2006/main" noGrp="1"/>
          </p:cNvSpPr>
          <p:nvPr/>
        </p:nvSpPr>
        <p:spPr>
          <a:xfrm xmlns:a="http://schemas.openxmlformats.org/drawingml/2006/main">
            <a:off x="628650" y="1866900"/>
            <a:ext cx="6381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25000"/>
              </a:lnSpc>
              <a:buNone/>
              <a:defRPr sz="1125" b="0" i="0">
                <a:solidFill>
                  <a:srgbClr val="5C6C67"/>
                </a:solidFill>
                <a:latin typeface="Lato"/>
                <a:ea typeface="Lato"/>
                <a:cs typeface="Lato"/>
              </a:defRPr>
            </a:pPr>
            <a:r>
              <a:rPr sz="1125" b="0" i="0">
                <a:solidFill>
                  <a:srgbClr val="5C6C67"/>
                </a:solidFill>
                <a:latin typeface="Lato"/>
                <a:ea typeface="Lato"/>
                <a:cs typeface="Lato"/>
              </a:rPr>
              <a:t>Choose one meal, not your whole life. Use the plate as a quick visual check, then adapt it to the food you actually have.</a:t>
            </a:r>
          </a:p>
        </p:txBody>
      </p:sp>
      <p:sp>
        <p:nvSpPr>
          <p:cNvPr id="12" name="">
            <a:extLst xmlns:a="http://schemas.openxmlformats.org/drawingml/2006/main">
              <a:ext uri="{FF2B5EF4-FFF2-40B4-BE49-F238E27FC236}">
                <a16:creationId xmlns:a16="http://schemas.microsoft.com/office/drawing/2014/main" id="{6C323A0A-F1F3-439B-818D-88D9CF549784}"/>
              </a:ext>
            </a:extLst>
          </p:cNvPr>
          <p:cNvSpPr>
            <a:spLocks xmlns:a="http://schemas.openxmlformats.org/drawingml/2006/main" noGrp="1"/>
          </p:cNvSpPr>
          <p:nvPr/>
        </p:nvSpPr>
        <p:spPr>
          <a:xfrm xmlns:a="http://schemas.openxmlformats.org/drawingml/2006/main">
            <a:off x="1028700" y="2571750"/>
            <a:ext cx="4000500" cy="4000500"/>
          </a:xfrm>
          <a:prstGeom xmlns:a="http://schemas.openxmlformats.org/drawingml/2006/main" prst="ellipse">
            <a:avLst/>
          </a:prstGeom>
          <a:solidFill xmlns:a="http://schemas.openxmlformats.org/drawingml/2006/main">
            <a:srgbClr val="FFFFFF"/>
          </a:solidFill>
          <a:ln xmlns:a="http://schemas.openxmlformats.org/drawingml/2006/main" w="11430">
            <a:solidFill>
              <a:srgbClr val="192442"/>
            </a:solidFill>
            <a:prstDash val="solid"/>
          </a:ln>
        </p:spPr>
      </p:sp>
      <p:sp>
        <p:nvSpPr>
          <p:cNvPr id="13" name="">
            <a:extLst xmlns:a="http://schemas.openxmlformats.org/drawingml/2006/main">
              <a:ext uri="{FF2B5EF4-FFF2-40B4-BE49-F238E27FC236}">
                <a16:creationId xmlns:a16="http://schemas.microsoft.com/office/drawing/2014/main" id="{103890FA-1498-467B-97FF-496E35DCF859}"/>
              </a:ext>
            </a:extLst>
          </p:cNvPr>
          <p:cNvSpPr>
            <a:spLocks xmlns:a="http://schemas.openxmlformats.org/drawingml/2006/main" noGrp="1"/>
          </p:cNvSpPr>
          <p:nvPr/>
        </p:nvSpPr>
        <p:spPr>
          <a:xfrm xmlns:a="http://schemas.openxmlformats.org/drawingml/2006/main">
            <a:off x="3028950" y="2647950"/>
            <a:ext cx="0" cy="3848100"/>
          </a:xfrm>
          <a:prstGeom xmlns:a="http://schemas.openxmlformats.org/drawingml/2006/main" prst="line">
            <a:avLst/>
          </a:prstGeom>
          <a:noFill xmlns:a="http://schemas.openxmlformats.org/drawingml/2006/main"/>
          <a:ln xmlns:a="http://schemas.openxmlformats.org/drawingml/2006/main" w="11430">
            <a:solidFill>
              <a:srgbClr val="192442"/>
            </a:solidFill>
            <a:prstDash val="solid"/>
          </a:ln>
        </p:spPr>
      </p:sp>
      <p:sp>
        <p:nvSpPr>
          <p:cNvPr id="14" name="">
            <a:extLst xmlns:a="http://schemas.openxmlformats.org/drawingml/2006/main">
              <a:ext uri="{FF2B5EF4-FFF2-40B4-BE49-F238E27FC236}">
                <a16:creationId xmlns:a16="http://schemas.microsoft.com/office/drawing/2014/main" id="{FC6C6654-3D6E-457A-8CE3-F7D0B15BAC41}"/>
              </a:ext>
            </a:extLst>
          </p:cNvPr>
          <p:cNvSpPr>
            <a:spLocks xmlns:a="http://schemas.openxmlformats.org/drawingml/2006/main" noGrp="1"/>
          </p:cNvSpPr>
          <p:nvPr/>
        </p:nvSpPr>
        <p:spPr>
          <a:xfrm xmlns:a="http://schemas.openxmlformats.org/drawingml/2006/main">
            <a:off x="3028950" y="4572000"/>
            <a:ext cx="1924050" cy="0"/>
          </a:xfrm>
          <a:prstGeom xmlns:a="http://schemas.openxmlformats.org/drawingml/2006/main" prst="line">
            <a:avLst/>
          </a:prstGeom>
          <a:noFill xmlns:a="http://schemas.openxmlformats.org/drawingml/2006/main"/>
          <a:ln xmlns:a="http://schemas.openxmlformats.org/drawingml/2006/main" w="11430">
            <a:solidFill>
              <a:srgbClr val="192442"/>
            </a:solidFill>
            <a:prstDash val="solid"/>
          </a:ln>
        </p:spPr>
      </p:sp>
      <p:sp>
        <p:nvSpPr>
          <p:cNvPr id="15" name="">
            <a:extLst xmlns:a="http://schemas.openxmlformats.org/drawingml/2006/main">
              <a:ext uri="{FF2B5EF4-FFF2-40B4-BE49-F238E27FC236}">
                <a16:creationId xmlns:a16="http://schemas.microsoft.com/office/drawing/2014/main" id="{01D3B228-74B2-4C22-9D02-1E2A62AC1102}"/>
              </a:ext>
            </a:extLst>
          </p:cNvPr>
          <p:cNvSpPr>
            <a:spLocks xmlns:a="http://schemas.openxmlformats.org/drawingml/2006/main" noGrp="1"/>
          </p:cNvSpPr>
          <p:nvPr/>
        </p:nvSpPr>
        <p:spPr>
          <a:xfrm xmlns:a="http://schemas.openxmlformats.org/drawingml/2006/main">
            <a:off x="1295400" y="4162425"/>
            <a:ext cx="1524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lnSpc>
                <a:spcPct val="105000"/>
              </a:lnSpc>
              <a:buNone/>
              <a:defRPr sz="1275" b="1" i="0">
                <a:solidFill>
                  <a:srgbClr val="034B2F"/>
                </a:solidFill>
                <a:latin typeface="Lato"/>
                <a:ea typeface="Lato"/>
                <a:cs typeface="Lato"/>
              </a:defRPr>
            </a:pPr>
            <a:r>
              <a:rPr sz="1275" b="1" i="0">
                <a:solidFill>
                  <a:srgbClr val="034B2F"/>
                </a:solidFill>
                <a:latin typeface="Lato"/>
                <a:ea typeface="Lato"/>
                <a:cs typeface="Lato"/>
              </a:rPr>
              <a:t>1/2 plate</a:t>
            </a:r>
          </a:p>
          <a:p xmlns:a="http://schemas.openxmlformats.org/drawingml/2006/main">
            <a:pPr algn="ctr">
              <a:lnSpc>
                <a:spcPct val="105000"/>
              </a:lnSpc>
              <a:buNone/>
              <a:defRPr sz="1275" b="1" i="0">
                <a:solidFill>
                  <a:srgbClr val="034B2F"/>
                </a:solidFill>
                <a:latin typeface="Lato"/>
                <a:ea typeface="Lato"/>
                <a:cs typeface="Lato"/>
              </a:defRPr>
            </a:pPr>
            <a:r>
              <a:rPr sz="1275" b="1" i="0">
                <a:solidFill>
                  <a:srgbClr val="034B2F"/>
                </a:solidFill>
                <a:latin typeface="Lato"/>
                <a:ea typeface="Lato"/>
                <a:cs typeface="Lato"/>
              </a:rPr>
              <a:t>non-starchy</a:t>
            </a:r>
          </a:p>
          <a:p xmlns:a="http://schemas.openxmlformats.org/drawingml/2006/main">
            <a:pPr algn="ctr">
              <a:lnSpc>
                <a:spcPct val="105000"/>
              </a:lnSpc>
              <a:buNone/>
              <a:defRPr sz="1275" b="1" i="0">
                <a:solidFill>
                  <a:srgbClr val="034B2F"/>
                </a:solidFill>
                <a:latin typeface="Lato"/>
                <a:ea typeface="Lato"/>
                <a:cs typeface="Lato"/>
              </a:defRPr>
            </a:pPr>
            <a:r>
              <a:rPr sz="1275" b="1" i="0">
                <a:solidFill>
                  <a:srgbClr val="034B2F"/>
                </a:solidFill>
                <a:latin typeface="Lato"/>
                <a:ea typeface="Lato"/>
                <a:cs typeface="Lato"/>
              </a:rPr>
              <a:t>vegetables</a:t>
            </a:r>
          </a:p>
        </p:txBody>
      </p:sp>
      <p:sp>
        <p:nvSpPr>
          <p:cNvPr id="16" name="">
            <a:extLst xmlns:a="http://schemas.openxmlformats.org/drawingml/2006/main">
              <a:ext uri="{FF2B5EF4-FFF2-40B4-BE49-F238E27FC236}">
                <a16:creationId xmlns:a16="http://schemas.microsoft.com/office/drawing/2014/main" id="{7F4FF161-2CB5-4830-9C98-711DBCA41377}"/>
              </a:ext>
            </a:extLst>
          </p:cNvPr>
          <p:cNvSpPr>
            <a:spLocks xmlns:a="http://schemas.openxmlformats.org/drawingml/2006/main" noGrp="1"/>
          </p:cNvSpPr>
          <p:nvPr/>
        </p:nvSpPr>
        <p:spPr>
          <a:xfrm xmlns:a="http://schemas.openxmlformats.org/drawingml/2006/main">
            <a:off x="3314700" y="3238500"/>
            <a:ext cx="15049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lnSpc>
                <a:spcPct val="105000"/>
              </a:lnSpc>
              <a:buNone/>
              <a:defRPr sz="1275" b="1" i="0">
                <a:solidFill>
                  <a:srgbClr val="192442"/>
                </a:solidFill>
                <a:latin typeface="Lato"/>
                <a:ea typeface="Lato"/>
                <a:cs typeface="Lato"/>
              </a:defRPr>
            </a:pPr>
            <a:r>
              <a:rPr sz="1275" b="1" i="0">
                <a:solidFill>
                  <a:srgbClr val="192442"/>
                </a:solidFill>
                <a:latin typeface="Lato"/>
                <a:ea typeface="Lato"/>
                <a:cs typeface="Lato"/>
              </a:rPr>
              <a:t>1/4 plate</a:t>
            </a:r>
          </a:p>
          <a:p xmlns:a="http://schemas.openxmlformats.org/drawingml/2006/main">
            <a:pPr algn="ctr">
              <a:lnSpc>
                <a:spcPct val="105000"/>
              </a:lnSpc>
              <a:buNone/>
              <a:defRPr sz="1275" b="1" i="0">
                <a:solidFill>
                  <a:srgbClr val="192442"/>
                </a:solidFill>
                <a:latin typeface="Lato"/>
                <a:ea typeface="Lato"/>
                <a:cs typeface="Lato"/>
              </a:defRPr>
            </a:pPr>
            <a:r>
              <a:rPr sz="1275" b="1" i="0">
                <a:solidFill>
                  <a:srgbClr val="192442"/>
                </a:solidFill>
                <a:latin typeface="Lato"/>
                <a:ea typeface="Lato"/>
                <a:cs typeface="Lato"/>
              </a:rPr>
              <a:t>protein</a:t>
            </a:r>
          </a:p>
        </p:txBody>
      </p:sp>
      <p:sp>
        <p:nvSpPr>
          <p:cNvPr id="17" name="">
            <a:extLst xmlns:a="http://schemas.openxmlformats.org/drawingml/2006/main">
              <a:ext uri="{FF2B5EF4-FFF2-40B4-BE49-F238E27FC236}">
                <a16:creationId xmlns:a16="http://schemas.microsoft.com/office/drawing/2014/main" id="{7D0FE030-B7C3-4D08-BA4A-DE3C3A585945}"/>
              </a:ext>
            </a:extLst>
          </p:cNvPr>
          <p:cNvSpPr>
            <a:spLocks xmlns:a="http://schemas.openxmlformats.org/drawingml/2006/main" noGrp="1"/>
          </p:cNvSpPr>
          <p:nvPr/>
        </p:nvSpPr>
        <p:spPr>
          <a:xfrm xmlns:a="http://schemas.openxmlformats.org/drawingml/2006/main">
            <a:off x="3276600" y="5048250"/>
            <a:ext cx="1504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lnSpc>
                <a:spcPct val="105000"/>
              </a:lnSpc>
              <a:buNone/>
              <a:defRPr sz="1275" b="1" i="0">
                <a:solidFill>
                  <a:srgbClr val="F26A2E"/>
                </a:solidFill>
                <a:latin typeface="Lato"/>
                <a:ea typeface="Lato"/>
                <a:cs typeface="Lato"/>
              </a:defRPr>
            </a:pPr>
            <a:r>
              <a:rPr sz="1275" b="1" i="0">
                <a:solidFill>
                  <a:srgbClr val="F26A2E"/>
                </a:solidFill>
                <a:latin typeface="Lato"/>
                <a:ea typeface="Lato"/>
                <a:cs typeface="Lato"/>
              </a:rPr>
              <a:t>1/4 plate</a:t>
            </a:r>
          </a:p>
          <a:p xmlns:a="http://schemas.openxmlformats.org/drawingml/2006/main">
            <a:pPr algn="ctr">
              <a:lnSpc>
                <a:spcPct val="105000"/>
              </a:lnSpc>
              <a:buNone/>
              <a:defRPr sz="1275" b="1" i="0">
                <a:solidFill>
                  <a:srgbClr val="F26A2E"/>
                </a:solidFill>
                <a:latin typeface="Lato"/>
                <a:ea typeface="Lato"/>
                <a:cs typeface="Lato"/>
              </a:defRPr>
            </a:pPr>
            <a:r>
              <a:rPr sz="1275" b="1" i="0">
                <a:solidFill>
                  <a:srgbClr val="F26A2E"/>
                </a:solidFill>
                <a:latin typeface="Lato"/>
                <a:ea typeface="Lato"/>
                <a:cs typeface="Lato"/>
              </a:rPr>
              <a:t>carbohydrate</a:t>
            </a:r>
          </a:p>
        </p:txBody>
      </p:sp>
      <p:sp>
        <p:nvSpPr>
          <p:cNvPr id="18" name="">
            <a:extLst xmlns:a="http://schemas.openxmlformats.org/drawingml/2006/main">
              <a:ext uri="{FF2B5EF4-FFF2-40B4-BE49-F238E27FC236}">
                <a16:creationId xmlns:a16="http://schemas.microsoft.com/office/drawing/2014/main" id="{E20E0A6D-6B76-4EEF-A23C-09BD1A84B80A}"/>
              </a:ext>
            </a:extLst>
          </p:cNvPr>
          <p:cNvSpPr>
            <a:spLocks xmlns:a="http://schemas.openxmlformats.org/drawingml/2006/main" noGrp="1"/>
          </p:cNvSpPr>
          <p:nvPr/>
        </p:nvSpPr>
        <p:spPr>
          <a:xfrm xmlns:a="http://schemas.openxmlformats.org/drawingml/2006/main">
            <a:off x="4981575" y="5638800"/>
            <a:ext cx="952500" cy="552450"/>
          </a:xfrm>
          <a:prstGeom xmlns:a="http://schemas.openxmlformats.org/drawingml/2006/main" prst="roundRect">
            <a:avLst>
              <a:gd name="adj" fmla="val 20690"/>
            </a:avLst>
          </a:prstGeom>
          <a:solidFill xmlns:a="http://schemas.openxmlformats.org/drawingml/2006/main">
            <a:srgbClr val="EEF7FA"/>
          </a:solidFill>
          <a:ln xmlns:a="http://schemas.openxmlformats.org/drawingml/2006/main" w="11430">
            <a:solidFill>
              <a:srgbClr val="BFDCE6"/>
            </a:solidFill>
            <a:prstDash val="solid"/>
          </a:ln>
        </p:spPr>
      </p:sp>
      <p:sp>
        <p:nvSpPr>
          <p:cNvPr id="19" name="">
            <a:extLst xmlns:a="http://schemas.openxmlformats.org/drawingml/2006/main">
              <a:ext uri="{FF2B5EF4-FFF2-40B4-BE49-F238E27FC236}">
                <a16:creationId xmlns:a16="http://schemas.microsoft.com/office/drawing/2014/main" id="{101F5361-871F-447B-A648-19B7352BDF0B}"/>
              </a:ext>
            </a:extLst>
          </p:cNvPr>
          <p:cNvSpPr>
            <a:spLocks xmlns:a="http://schemas.openxmlformats.org/drawingml/2006/main" noGrp="1"/>
          </p:cNvSpPr>
          <p:nvPr/>
        </p:nvSpPr>
        <p:spPr>
          <a:xfrm xmlns:a="http://schemas.openxmlformats.org/drawingml/2006/main">
            <a:off x="5095875" y="5762625"/>
            <a:ext cx="723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lnSpc>
                <a:spcPct val="108000"/>
              </a:lnSpc>
              <a:buNone/>
              <a:defRPr sz="825" b="1" i="0">
                <a:solidFill>
                  <a:srgbClr val="192442"/>
                </a:solidFill>
                <a:latin typeface="Lato"/>
                <a:ea typeface="Lato"/>
                <a:cs typeface="Lato"/>
              </a:defRPr>
            </a:pPr>
            <a:r>
              <a:rPr sz="825" b="1" i="0">
                <a:solidFill>
                  <a:srgbClr val="192442"/>
                </a:solidFill>
                <a:latin typeface="Lato"/>
                <a:ea typeface="Lato"/>
                <a:cs typeface="Lato"/>
              </a:rPr>
              <a:t>lower-sugar</a:t>
            </a:r>
          </a:p>
          <a:p xmlns:a="http://schemas.openxmlformats.org/drawingml/2006/main">
            <a:pPr algn="ctr">
              <a:lnSpc>
                <a:spcPct val="108000"/>
              </a:lnSpc>
              <a:buNone/>
              <a:defRPr sz="825" b="1" i="0">
                <a:solidFill>
                  <a:srgbClr val="192442"/>
                </a:solidFill>
                <a:latin typeface="Lato"/>
                <a:ea typeface="Lato"/>
                <a:cs typeface="Lato"/>
              </a:defRPr>
            </a:pPr>
            <a:r>
              <a:rPr sz="825" b="1" i="0">
                <a:solidFill>
                  <a:srgbClr val="192442"/>
                </a:solidFill>
                <a:latin typeface="Lato"/>
                <a:ea typeface="Lato"/>
                <a:cs typeface="Lato"/>
              </a:rPr>
              <a:t>drink</a:t>
            </a:r>
          </a:p>
        </p:txBody>
      </p:sp>
      <p:sp>
        <p:nvSpPr>
          <p:cNvPr id="20" name="">
            <a:extLst xmlns:a="http://schemas.openxmlformats.org/drawingml/2006/main">
              <a:ext uri="{FF2B5EF4-FFF2-40B4-BE49-F238E27FC236}">
                <a16:creationId xmlns:a16="http://schemas.microsoft.com/office/drawing/2014/main" id="{81D976BB-B081-4F0E-893E-2A6D6CF6261A}"/>
              </a:ext>
            </a:extLst>
          </p:cNvPr>
          <p:cNvSpPr>
            <a:spLocks xmlns:a="http://schemas.openxmlformats.org/drawingml/2006/main" noGrp="1"/>
          </p:cNvSpPr>
          <p:nvPr/>
        </p:nvSpPr>
        <p:spPr>
          <a:xfrm xmlns:a="http://schemas.openxmlformats.org/drawingml/2006/main">
            <a:off x="762000" y="7115175"/>
            <a:ext cx="95250" cy="95250"/>
          </a:xfrm>
          <a:prstGeom xmlns:a="http://schemas.openxmlformats.org/drawingml/2006/main" prst="ellipse">
            <a:avLst/>
          </a:prstGeom>
          <a:solidFill xmlns:a="http://schemas.openxmlformats.org/drawingml/2006/main">
            <a:srgbClr val="F26A2E"/>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E19585C3-8C9F-4C85-B12D-5F5D3BE2459A}"/>
              </a:ext>
            </a:extLst>
          </p:cNvPr>
          <p:cNvSpPr>
            <a:spLocks xmlns:a="http://schemas.openxmlformats.org/drawingml/2006/main" noGrp="1"/>
          </p:cNvSpPr>
          <p:nvPr/>
        </p:nvSpPr>
        <p:spPr>
          <a:xfrm xmlns:a="http://schemas.openxmlformats.org/drawingml/2006/main">
            <a:off x="971550" y="7067550"/>
            <a:ext cx="5981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8000"/>
              </a:lnSpc>
              <a:buNone/>
              <a:defRPr sz="1035" b="0" i="0">
                <a:solidFill>
                  <a:srgbClr val="16211D"/>
                </a:solidFill>
                <a:latin typeface="Lato"/>
                <a:ea typeface="Lato"/>
                <a:cs typeface="Lato"/>
              </a:defRPr>
            </a:pPr>
            <a:r>
              <a:rPr sz="1035" b="0" i="0">
                <a:solidFill>
                  <a:srgbClr val="16211D"/>
                </a:solidFill>
                <a:latin typeface="Lato"/>
                <a:ea typeface="Lato"/>
                <a:cs typeface="Lato"/>
              </a:rPr>
              <a:t>Half the plate: non-starchy vegetables when available.</a:t>
            </a:r>
          </a:p>
        </p:txBody>
      </p:sp>
      <p:sp>
        <p:nvSpPr>
          <p:cNvPr id="22" name="">
            <a:extLst xmlns:a="http://schemas.openxmlformats.org/drawingml/2006/main">
              <a:ext uri="{FF2B5EF4-FFF2-40B4-BE49-F238E27FC236}">
                <a16:creationId xmlns:a16="http://schemas.microsoft.com/office/drawing/2014/main" id="{609E846E-75DF-488F-8DBE-567F6A3F2950}"/>
              </a:ext>
            </a:extLst>
          </p:cNvPr>
          <p:cNvSpPr>
            <a:spLocks xmlns:a="http://schemas.openxmlformats.org/drawingml/2006/main" noGrp="1"/>
          </p:cNvSpPr>
          <p:nvPr/>
        </p:nvSpPr>
        <p:spPr>
          <a:xfrm xmlns:a="http://schemas.openxmlformats.org/drawingml/2006/main">
            <a:off x="762000" y="7477125"/>
            <a:ext cx="95250" cy="95250"/>
          </a:xfrm>
          <a:prstGeom xmlns:a="http://schemas.openxmlformats.org/drawingml/2006/main" prst="ellipse">
            <a:avLst/>
          </a:prstGeom>
          <a:solidFill xmlns:a="http://schemas.openxmlformats.org/drawingml/2006/main">
            <a:srgbClr val="F26A2E"/>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EAB5B7A8-2FAC-4E03-8FEE-FD08DF02C682}"/>
              </a:ext>
            </a:extLst>
          </p:cNvPr>
          <p:cNvSpPr>
            <a:spLocks xmlns:a="http://schemas.openxmlformats.org/drawingml/2006/main" noGrp="1"/>
          </p:cNvSpPr>
          <p:nvPr/>
        </p:nvSpPr>
        <p:spPr>
          <a:xfrm xmlns:a="http://schemas.openxmlformats.org/drawingml/2006/main">
            <a:off x="971550" y="7429500"/>
            <a:ext cx="5981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8000"/>
              </a:lnSpc>
              <a:buNone/>
              <a:defRPr sz="1035" b="0" i="0">
                <a:solidFill>
                  <a:srgbClr val="16211D"/>
                </a:solidFill>
                <a:latin typeface="Lato"/>
                <a:ea typeface="Lato"/>
                <a:cs typeface="Lato"/>
              </a:defRPr>
            </a:pPr>
            <a:r>
              <a:rPr sz="1035" b="0" i="0">
                <a:solidFill>
                  <a:srgbClr val="16211D"/>
                </a:solidFill>
                <a:latin typeface="Lato"/>
                <a:ea typeface="Lato"/>
                <a:cs typeface="Lato"/>
              </a:rPr>
              <a:t>One quarter: protein such as eggs, fish, tofu, beans, yogurt, chicken, or lean meat.</a:t>
            </a:r>
          </a:p>
        </p:txBody>
      </p:sp>
      <p:sp>
        <p:nvSpPr>
          <p:cNvPr id="24" name="">
            <a:extLst xmlns:a="http://schemas.openxmlformats.org/drawingml/2006/main">
              <a:ext uri="{FF2B5EF4-FFF2-40B4-BE49-F238E27FC236}">
                <a16:creationId xmlns:a16="http://schemas.microsoft.com/office/drawing/2014/main" id="{D24B0FCB-1CD1-45FD-A7D4-9DD044397E48}"/>
              </a:ext>
            </a:extLst>
          </p:cNvPr>
          <p:cNvSpPr>
            <a:spLocks xmlns:a="http://schemas.openxmlformats.org/drawingml/2006/main" noGrp="1"/>
          </p:cNvSpPr>
          <p:nvPr/>
        </p:nvSpPr>
        <p:spPr>
          <a:xfrm xmlns:a="http://schemas.openxmlformats.org/drawingml/2006/main">
            <a:off x="762000" y="7839075"/>
            <a:ext cx="95250" cy="95250"/>
          </a:xfrm>
          <a:prstGeom xmlns:a="http://schemas.openxmlformats.org/drawingml/2006/main" prst="ellipse">
            <a:avLst/>
          </a:prstGeom>
          <a:solidFill xmlns:a="http://schemas.openxmlformats.org/drawingml/2006/main">
            <a:srgbClr val="F26A2E"/>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6B797B9E-63DE-41E6-9094-C76BDD1A745F}"/>
              </a:ext>
            </a:extLst>
          </p:cNvPr>
          <p:cNvSpPr>
            <a:spLocks xmlns:a="http://schemas.openxmlformats.org/drawingml/2006/main" noGrp="1"/>
          </p:cNvSpPr>
          <p:nvPr/>
        </p:nvSpPr>
        <p:spPr>
          <a:xfrm xmlns:a="http://schemas.openxmlformats.org/drawingml/2006/main">
            <a:off x="971550" y="7791450"/>
            <a:ext cx="5981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8000"/>
              </a:lnSpc>
              <a:buNone/>
              <a:defRPr sz="1035" b="0" i="0">
                <a:solidFill>
                  <a:srgbClr val="16211D"/>
                </a:solidFill>
                <a:latin typeface="Lato"/>
                <a:ea typeface="Lato"/>
                <a:cs typeface="Lato"/>
              </a:defRPr>
            </a:pPr>
            <a:r>
              <a:rPr sz="1035" b="0" i="0">
                <a:solidFill>
                  <a:srgbClr val="16211D"/>
                </a:solidFill>
                <a:latin typeface="Lato"/>
                <a:ea typeface="Lato"/>
                <a:cs typeface="Lato"/>
              </a:rPr>
              <a:t>One quarter: carbohydrate such as rice, oats, bread, fruit, beans, potato, or tortilla.</a:t>
            </a:r>
          </a:p>
        </p:txBody>
      </p:sp>
      <p:sp>
        <p:nvSpPr>
          <p:cNvPr id="26" name="">
            <a:extLst xmlns:a="http://schemas.openxmlformats.org/drawingml/2006/main">
              <a:ext uri="{FF2B5EF4-FFF2-40B4-BE49-F238E27FC236}">
                <a16:creationId xmlns:a16="http://schemas.microsoft.com/office/drawing/2014/main" id="{E16BECC1-AADC-453A-B3C0-5E2B6936615E}"/>
              </a:ext>
            </a:extLst>
          </p:cNvPr>
          <p:cNvSpPr>
            <a:spLocks xmlns:a="http://schemas.openxmlformats.org/drawingml/2006/main" noGrp="1"/>
          </p:cNvSpPr>
          <p:nvPr/>
        </p:nvSpPr>
        <p:spPr>
          <a:xfrm xmlns:a="http://schemas.openxmlformats.org/drawingml/2006/main">
            <a:off x="762000" y="8201025"/>
            <a:ext cx="95250" cy="95250"/>
          </a:xfrm>
          <a:prstGeom xmlns:a="http://schemas.openxmlformats.org/drawingml/2006/main" prst="ellipse">
            <a:avLst/>
          </a:prstGeom>
          <a:solidFill xmlns:a="http://schemas.openxmlformats.org/drawingml/2006/main">
            <a:srgbClr val="F26A2E"/>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8EB65EE7-0ED6-44C3-9431-5CB98876173E}"/>
              </a:ext>
            </a:extLst>
          </p:cNvPr>
          <p:cNvSpPr>
            <a:spLocks xmlns:a="http://schemas.openxmlformats.org/drawingml/2006/main" noGrp="1"/>
          </p:cNvSpPr>
          <p:nvPr/>
        </p:nvSpPr>
        <p:spPr>
          <a:xfrm xmlns:a="http://schemas.openxmlformats.org/drawingml/2006/main">
            <a:off x="971550" y="8153400"/>
            <a:ext cx="5981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8000"/>
              </a:lnSpc>
              <a:buNone/>
              <a:defRPr sz="1035" b="0" i="0">
                <a:solidFill>
                  <a:srgbClr val="16211D"/>
                </a:solidFill>
                <a:latin typeface="Lato"/>
                <a:ea typeface="Lato"/>
                <a:cs typeface="Lato"/>
              </a:defRPr>
            </a:pPr>
            <a:r>
              <a:rPr sz="1035" b="0" i="0">
                <a:solidFill>
                  <a:srgbClr val="16211D"/>
                </a:solidFill>
                <a:latin typeface="Lato"/>
                <a:ea typeface="Lato"/>
                <a:cs typeface="Lato"/>
              </a:rPr>
              <a:t>Drink: water, unsweet tea, or another lower-sugar choice.</a:t>
            </a:r>
          </a:p>
        </p:txBody>
      </p:sp>
      <p:sp>
        <p:nvSpPr>
          <p:cNvPr id="28" name="">
            <a:extLst xmlns:a="http://schemas.openxmlformats.org/drawingml/2006/main">
              <a:ext uri="{FF2B5EF4-FFF2-40B4-BE49-F238E27FC236}">
                <a16:creationId xmlns:a16="http://schemas.microsoft.com/office/drawing/2014/main" id="{429608D7-DF04-4407-B98B-10D3E21215C4}"/>
              </a:ext>
            </a:extLst>
          </p:cNvPr>
          <p:cNvSpPr>
            <a:spLocks xmlns:a="http://schemas.openxmlformats.org/drawingml/2006/main" noGrp="1"/>
          </p:cNvSpPr>
          <p:nvPr/>
        </p:nvSpPr>
        <p:spPr>
          <a:xfrm xmlns:a="http://schemas.openxmlformats.org/drawingml/2006/main">
            <a:off x="628650" y="8572500"/>
            <a:ext cx="6515100" cy="685800"/>
          </a:xfrm>
          <a:prstGeom xmlns:a="http://schemas.openxmlformats.org/drawingml/2006/main" prst="roundRect">
            <a:avLst>
              <a:gd name="adj" fmla="val 13889"/>
            </a:avLst>
          </a:prstGeom>
          <a:solidFill xmlns:a="http://schemas.openxmlformats.org/drawingml/2006/main">
            <a:srgbClr val="E6F2EC"/>
          </a:solidFill>
          <a:ln xmlns:a="http://schemas.openxmlformats.org/drawingml/2006/main" w="11430">
            <a:solidFill>
              <a:srgbClr val="B8D8C8"/>
            </a:solidFill>
            <a:prstDash val="solid"/>
          </a:ln>
        </p:spPr>
      </p:sp>
      <p:sp>
        <p:nvSpPr>
          <p:cNvPr id="29" name="">
            <a:extLst xmlns:a="http://schemas.openxmlformats.org/drawingml/2006/main">
              <a:ext uri="{FF2B5EF4-FFF2-40B4-BE49-F238E27FC236}">
                <a16:creationId xmlns:a16="http://schemas.microsoft.com/office/drawing/2014/main" id="{2E82F3DA-93EF-4BBD-B3F6-CAFEF3A26618}"/>
              </a:ext>
            </a:extLst>
          </p:cNvPr>
          <p:cNvSpPr>
            <a:spLocks xmlns:a="http://schemas.openxmlformats.org/drawingml/2006/main" noGrp="1"/>
          </p:cNvSpPr>
          <p:nvPr/>
        </p:nvSpPr>
        <p:spPr>
          <a:xfrm xmlns:a="http://schemas.openxmlformats.org/drawingml/2006/main">
            <a:off x="790575" y="87058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975" b="1" i="0">
                <a:solidFill>
                  <a:srgbClr val="034B2F"/>
                </a:solidFill>
                <a:latin typeface="Lato"/>
                <a:ea typeface="Lato"/>
                <a:cs typeface="Lato"/>
              </a:defRPr>
            </a:pPr>
            <a:r>
              <a:rPr sz="975" b="1" i="0">
                <a:solidFill>
                  <a:srgbClr val="034B2F"/>
                </a:solidFill>
                <a:latin typeface="Lato"/>
                <a:ea typeface="Lato"/>
                <a:cs typeface="Lato"/>
              </a:rPr>
              <a:t>No all-or-nothing test</a:t>
            </a:r>
          </a:p>
        </p:txBody>
      </p:sp>
      <p:sp>
        <p:nvSpPr>
          <p:cNvPr id="30" name="">
            <a:extLst xmlns:a="http://schemas.openxmlformats.org/drawingml/2006/main">
              <a:ext uri="{FF2B5EF4-FFF2-40B4-BE49-F238E27FC236}">
                <a16:creationId xmlns:a16="http://schemas.microsoft.com/office/drawing/2014/main" id="{A1379093-82D5-4E4C-A3FD-43E2A70C0C59}"/>
              </a:ext>
            </a:extLst>
          </p:cNvPr>
          <p:cNvSpPr>
            <a:spLocks xmlns:a="http://schemas.openxmlformats.org/drawingml/2006/main" noGrp="1"/>
          </p:cNvSpPr>
          <p:nvPr/>
        </p:nvSpPr>
        <p:spPr>
          <a:xfrm xmlns:a="http://schemas.openxmlformats.org/drawingml/2006/main">
            <a:off x="790575" y="897255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7000"/>
              </a:lnSpc>
              <a:buNone/>
              <a:defRPr sz="900" b="0" i="0">
                <a:solidFill>
                  <a:srgbClr val="16211D"/>
                </a:solidFill>
                <a:latin typeface="Lato"/>
                <a:ea typeface="Lato"/>
                <a:cs typeface="Lato"/>
              </a:defRPr>
            </a:pPr>
            <a:r>
              <a:rPr sz="900" b="0" i="0">
                <a:solidFill>
                  <a:srgbClr val="16211D"/>
                </a:solidFill>
                <a:latin typeface="Lato"/>
                <a:ea typeface="Lato"/>
                <a:cs typeface="Lato"/>
              </a:rPr>
              <a:t>If dinner is pizza, add a salad or vegetable side. If breakfast is rushed, improve the drink. One useful change is enough.</a:t>
            </a:r>
          </a:p>
        </p:txBody>
      </p:sp>
    </p:spTree>
    <p:extLst>
      <p:ext uri="{BB962C8B-B14F-4D97-AF65-F5344CB8AC3E}">
        <p14:creationId xmlns:p14="http://schemas.microsoft.com/office/powerpoint/2010/main" val="138759576"/>
      </p:ext>
    </p:extLst>
  </p:cSld>
</p:sld>
</file>

<file path=ppt/slides/slide4.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879bedcde0774d25"/>
          <a:srcRect xmlns:a="http://schemas.openxmlformats.org/drawingml/2006/main" l="699" t="0" r="699" b="0"/>
          <a:stretch xmlns:a="http://schemas.openxmlformats.org/drawingml/2006/main">
            <a:fillRect l="0" t="0" r="0" b="0"/>
          </a:stretch>
        </p:blipFill>
        <p:spPr>
          <a:xfrm xmlns:a="http://schemas.openxmlformats.org/drawingml/2006/main">
            <a:off x="552450" y="285750"/>
            <a:ext cx="257175" cy="276225"/>
          </a:xfrm>
          <a:prstGeom xmlns:a="http://schemas.openxmlformats.org/drawingml/2006/main" prst="roundRect">
            <a:avLst>
              <a:gd name="adj" fmla="val 29630"/>
            </a:avLst>
          </a:prstGeom>
        </p:spPr>
      </p:pic>
      <p:sp>
        <p:nvSpPr>
          <p:cNvPr id="2" name="">
            <a:extLst xmlns:a="http://schemas.openxmlformats.org/drawingml/2006/main">
              <a:ext uri="{FF2B5EF4-FFF2-40B4-BE49-F238E27FC236}">
                <a16:creationId xmlns:a16="http://schemas.microsoft.com/office/drawing/2014/main" id="{CE927A67-460E-45D5-825D-6F1EAB5E91E6}"/>
              </a:ext>
            </a:extLst>
          </p:cNvPr>
          <p:cNvSpPr>
            <a:spLocks xmlns:a="http://schemas.openxmlformats.org/drawingml/2006/main" noGrp="1"/>
          </p:cNvSpPr>
          <p:nvPr/>
        </p:nvSpPr>
        <p:spPr>
          <a:xfrm xmlns:a="http://schemas.openxmlformats.org/drawingml/2006/main">
            <a:off x="876300" y="3333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788" b="1" i="0">
                <a:solidFill>
                  <a:srgbClr val="034B2F"/>
                </a:solidFill>
                <a:latin typeface="Lora"/>
                <a:ea typeface="Lora"/>
                <a:cs typeface="Lora"/>
              </a:defRPr>
            </a:pPr>
            <a:r>
              <a:rPr sz="788" b="1" i="0">
                <a:solidFill>
                  <a:srgbClr val="034B2F"/>
                </a:solidFill>
                <a:latin typeface="Lora"/>
                <a:ea typeface="Lora"/>
                <a:cs typeface="Lora"/>
              </a:rPr>
              <a:t>The Mindful Plate</a:t>
            </a:r>
          </a:p>
        </p:txBody>
      </p:sp>
      <p:sp>
        <p:nvSpPr>
          <p:cNvPr id="3" name="">
            <a:extLst xmlns:a="http://schemas.openxmlformats.org/drawingml/2006/main">
              <a:ext uri="{FF2B5EF4-FFF2-40B4-BE49-F238E27FC236}">
                <a16:creationId xmlns:a16="http://schemas.microsoft.com/office/drawing/2014/main" id="{DC0061B2-6DF6-46B7-B057-7A5421BB20C4}"/>
              </a:ext>
            </a:extLst>
          </p:cNvPr>
          <p:cNvSpPr>
            <a:spLocks xmlns:a="http://schemas.openxmlformats.org/drawingml/2006/main" noGrp="1"/>
          </p:cNvSpPr>
          <p:nvPr/>
        </p:nvSpPr>
        <p:spPr>
          <a:xfrm xmlns:a="http://schemas.openxmlformats.org/drawingml/2006/main">
            <a:off x="876300" y="485775"/>
            <a:ext cx="2190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660" b="0" i="0">
                <a:solidFill>
                  <a:srgbClr val="5C6C67"/>
                </a:solidFill>
                <a:latin typeface="Lato"/>
                <a:ea typeface="Lato"/>
                <a:cs typeface="Lato"/>
              </a:defRPr>
            </a:pPr>
            <a:r>
              <a:rPr sz="660" b="0" i="0">
                <a:solidFill>
                  <a:srgbClr val="5C6C67"/>
                </a:solidFill>
                <a:latin typeface="Lato"/>
                <a:ea typeface="Lato"/>
                <a:cs typeface="Lato"/>
              </a:rPr>
              <a:t>Food and blood sugar</a:t>
            </a:r>
          </a:p>
        </p:txBody>
      </p:sp>
      <p:sp>
        <p:nvSpPr>
          <p:cNvPr id="4" name="">
            <a:extLst xmlns:a="http://schemas.openxmlformats.org/drawingml/2006/main">
              <a:ext uri="{FF2B5EF4-FFF2-40B4-BE49-F238E27FC236}">
                <a16:creationId xmlns:a16="http://schemas.microsoft.com/office/drawing/2014/main" id="{DB48D210-E45F-4B18-9E83-40631549AA26}"/>
              </a:ext>
            </a:extLst>
          </p:cNvPr>
          <p:cNvSpPr>
            <a:spLocks xmlns:a="http://schemas.openxmlformats.org/drawingml/2006/main" noGrp="1"/>
          </p:cNvSpPr>
          <p:nvPr/>
        </p:nvSpPr>
        <p:spPr>
          <a:xfrm xmlns:a="http://schemas.openxmlformats.org/drawingml/2006/main">
            <a:off x="552450" y="714375"/>
            <a:ext cx="6667500" cy="0"/>
          </a:xfrm>
          <a:prstGeom xmlns:a="http://schemas.openxmlformats.org/drawingml/2006/main" prst="line">
            <a:avLst/>
          </a:prstGeom>
          <a:noFill xmlns:a="http://schemas.openxmlformats.org/drawingml/2006/main"/>
          <a:ln xmlns:a="http://schemas.openxmlformats.org/drawingml/2006/main" w="11430">
            <a:solidFill>
              <a:srgbClr val="D9E2DA"/>
            </a:solidFill>
            <a:prstDash val="solid"/>
          </a:ln>
        </p:spPr>
      </p:sp>
      <p:sp>
        <p:nvSpPr>
          <p:cNvPr id="5" name="">
            <a:extLst xmlns:a="http://schemas.openxmlformats.org/drawingml/2006/main">
              <a:ext uri="{FF2B5EF4-FFF2-40B4-BE49-F238E27FC236}">
                <a16:creationId xmlns:a16="http://schemas.microsoft.com/office/drawing/2014/main" id="{0121711E-4978-4C74-8619-43275CDE0549}"/>
              </a:ext>
            </a:extLst>
          </p:cNvPr>
          <p:cNvSpPr>
            <a:spLocks xmlns:a="http://schemas.openxmlformats.org/drawingml/2006/main" noGrp="1"/>
          </p:cNvSpPr>
          <p:nvPr/>
        </p:nvSpPr>
        <p:spPr>
          <a:xfrm xmlns:a="http://schemas.openxmlformats.org/drawingml/2006/main">
            <a:off x="552450" y="9610725"/>
            <a:ext cx="6667500" cy="0"/>
          </a:xfrm>
          <a:prstGeom xmlns:a="http://schemas.openxmlformats.org/drawingml/2006/main" prst="line">
            <a:avLst/>
          </a:prstGeom>
          <a:noFill xmlns:a="http://schemas.openxmlformats.org/drawingml/2006/main"/>
          <a:ln xmlns:a="http://schemas.openxmlformats.org/drawingml/2006/main" w="11430">
            <a:solidFill>
              <a:srgbClr val="D9E2DA"/>
            </a:solidFill>
            <a:prstDash val="solid"/>
          </a:ln>
        </p:spPr>
      </p:sp>
      <p:sp>
        <p:nvSpPr>
          <p:cNvPr id="6" name="">
            <a:extLst xmlns:a="http://schemas.openxmlformats.org/drawingml/2006/main">
              <a:ext uri="{FF2B5EF4-FFF2-40B4-BE49-F238E27FC236}">
                <a16:creationId xmlns:a16="http://schemas.microsoft.com/office/drawing/2014/main" id="{B6338373-483E-44E5-8B72-64F4EF1C723C}"/>
              </a:ext>
            </a:extLst>
          </p:cNvPr>
          <p:cNvSpPr>
            <a:spLocks xmlns:a="http://schemas.openxmlformats.org/drawingml/2006/main" noGrp="1"/>
          </p:cNvSpPr>
          <p:nvPr/>
        </p:nvSpPr>
        <p:spPr>
          <a:xfrm xmlns:a="http://schemas.openxmlformats.org/drawingml/2006/main">
            <a:off x="552450" y="9715500"/>
            <a:ext cx="1762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660" b="0" i="0">
                <a:solidFill>
                  <a:srgbClr val="5C6C67"/>
                </a:solidFill>
                <a:latin typeface="Lato"/>
                <a:ea typeface="Lato"/>
                <a:cs typeface="Lato"/>
              </a:defRPr>
            </a:pPr>
            <a:r>
              <a:rPr sz="660" b="0" i="0">
                <a:solidFill>
                  <a:srgbClr val="5C6C67"/>
                </a:solidFill>
                <a:latin typeface="Lato"/>
                <a:ea typeface="Lato"/>
                <a:cs typeface="Lato"/>
              </a:rPr>
              <a:t>Mindful Diabetes Inc.</a:t>
            </a:r>
          </a:p>
        </p:txBody>
      </p:sp>
      <p:sp>
        <p:nvSpPr>
          <p:cNvPr id="7" name="">
            <a:extLst xmlns:a="http://schemas.openxmlformats.org/drawingml/2006/main">
              <a:ext uri="{FF2B5EF4-FFF2-40B4-BE49-F238E27FC236}">
                <a16:creationId xmlns:a16="http://schemas.microsoft.com/office/drawing/2014/main" id="{341F1142-E564-47C4-9EA6-9CF4BF3F9586}"/>
              </a:ext>
            </a:extLst>
          </p:cNvPr>
          <p:cNvSpPr>
            <a:spLocks xmlns:a="http://schemas.openxmlformats.org/drawingml/2006/main" noGrp="1"/>
          </p:cNvSpPr>
          <p:nvPr/>
        </p:nvSpPr>
        <p:spPr>
          <a:xfrm xmlns:a="http://schemas.openxmlformats.org/drawingml/2006/main">
            <a:off x="3162300" y="9715500"/>
            <a:ext cx="14763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lnSpc>
                <a:spcPct val="116000"/>
              </a:lnSpc>
              <a:buNone/>
              <a:defRPr sz="660" b="0" i="0">
                <a:solidFill>
                  <a:srgbClr val="5C6C67"/>
                </a:solidFill>
                <a:latin typeface="Lato"/>
                <a:ea typeface="Lato"/>
                <a:cs typeface="Lato"/>
              </a:defRPr>
            </a:pPr>
            <a:r>
              <a:rPr sz="660" b="0" i="0">
                <a:solidFill>
                  <a:srgbClr val="5C6C67"/>
                </a:solidFill>
                <a:latin typeface="Lato"/>
                <a:ea typeface="Lato"/>
                <a:cs typeface="Lato"/>
              </a:rPr>
              <a:t>mindfuldiabetes.org</a:t>
            </a:r>
          </a:p>
        </p:txBody>
      </p:sp>
      <p:sp>
        <p:nvSpPr>
          <p:cNvPr id="8" name="">
            <a:extLst xmlns:a="http://schemas.openxmlformats.org/drawingml/2006/main">
              <a:ext uri="{FF2B5EF4-FFF2-40B4-BE49-F238E27FC236}">
                <a16:creationId xmlns:a16="http://schemas.microsoft.com/office/drawing/2014/main" id="{0614CD6C-EB7B-458F-947D-EE110561855D}"/>
              </a:ext>
            </a:extLst>
          </p:cNvPr>
          <p:cNvSpPr>
            <a:spLocks xmlns:a="http://schemas.openxmlformats.org/drawingml/2006/main" noGrp="1"/>
          </p:cNvSpPr>
          <p:nvPr/>
        </p:nvSpPr>
        <p:spPr>
          <a:xfrm xmlns:a="http://schemas.openxmlformats.org/drawingml/2006/main">
            <a:off x="6886575" y="9715500"/>
            <a:ext cx="3333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r">
              <a:lnSpc>
                <a:spcPct val="116000"/>
              </a:lnSpc>
              <a:buNone/>
              <a:defRPr sz="660" b="0" i="0">
                <a:solidFill>
                  <a:srgbClr val="F26A2E"/>
                </a:solidFill>
                <a:latin typeface="Lato"/>
                <a:ea typeface="Lato"/>
                <a:cs typeface="Lato"/>
              </a:defRPr>
            </a:pPr>
            <a:r>
              <a:rPr sz="660" b="0" i="0">
                <a:solidFill>
                  <a:srgbClr val="F26A2E"/>
                </a:solidFill>
                <a:latin typeface="Lato"/>
                <a:ea typeface="Lato"/>
                <a:cs typeface="Lato"/>
              </a:rPr>
              <a:t>4</a:t>
            </a:r>
          </a:p>
        </p:txBody>
      </p:sp>
      <p:sp>
        <p:nvSpPr>
          <p:cNvPr id="9" name="">
            <a:extLst xmlns:a="http://schemas.openxmlformats.org/drawingml/2006/main">
              <a:ext uri="{FF2B5EF4-FFF2-40B4-BE49-F238E27FC236}">
                <a16:creationId xmlns:a16="http://schemas.microsoft.com/office/drawing/2014/main" id="{8D370D47-3365-4B69-9FC3-15B7A0EF7B19}"/>
              </a:ext>
            </a:extLst>
          </p:cNvPr>
          <p:cNvSpPr>
            <a:spLocks xmlns:a="http://schemas.openxmlformats.org/drawingml/2006/main" noGrp="1"/>
          </p:cNvSpPr>
          <p:nvPr/>
        </p:nvSpPr>
        <p:spPr>
          <a:xfrm xmlns:a="http://schemas.openxmlformats.org/drawingml/2006/main">
            <a:off x="628650" y="790575"/>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900" b="1" i="0">
                <a:solidFill>
                  <a:srgbClr val="F26A2E"/>
                </a:solidFill>
                <a:latin typeface="Lato"/>
                <a:ea typeface="Lato"/>
                <a:cs typeface="Lato"/>
              </a:defRPr>
            </a:pPr>
            <a:r>
              <a:rPr sz="900" b="1" i="0">
                <a:solidFill>
                  <a:srgbClr val="F26A2E"/>
                </a:solidFill>
                <a:latin typeface="Lato"/>
                <a:ea typeface="Lato"/>
                <a:cs typeface="Lato"/>
              </a:rPr>
              <a:t>FOOD AND BLOOD SUGAR</a:t>
            </a:r>
          </a:p>
        </p:txBody>
      </p:sp>
      <p:sp>
        <p:nvSpPr>
          <p:cNvPr id="10" name="">
            <a:extLst xmlns:a="http://schemas.openxmlformats.org/drawingml/2006/main">
              <a:ext uri="{FF2B5EF4-FFF2-40B4-BE49-F238E27FC236}">
                <a16:creationId xmlns:a16="http://schemas.microsoft.com/office/drawing/2014/main" id="{623CAB84-7F83-4298-847B-C3F19E3757F8}"/>
              </a:ext>
            </a:extLst>
          </p:cNvPr>
          <p:cNvSpPr>
            <a:spLocks xmlns:a="http://schemas.openxmlformats.org/drawingml/2006/main" noGrp="1"/>
          </p:cNvSpPr>
          <p:nvPr/>
        </p:nvSpPr>
        <p:spPr>
          <a:xfrm xmlns:a="http://schemas.openxmlformats.org/drawingml/2006/main">
            <a:off x="590550" y="1066800"/>
            <a:ext cx="619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03000"/>
              </a:lnSpc>
              <a:buNone/>
              <a:defRPr sz="2550" b="1" i="0">
                <a:solidFill>
                  <a:srgbClr val="192442"/>
                </a:solidFill>
                <a:latin typeface="Lora"/>
                <a:ea typeface="Lora"/>
                <a:cs typeface="Lora"/>
              </a:defRPr>
            </a:pPr>
            <a:r>
              <a:rPr sz="2550" b="1" i="0">
                <a:solidFill>
                  <a:srgbClr val="192442"/>
                </a:solidFill>
                <a:latin typeface="Lora"/>
                <a:ea typeface="Lora"/>
                <a:cs typeface="Lora"/>
              </a:rPr>
              <a:t>What happens after we eat?</a:t>
            </a:r>
          </a:p>
        </p:txBody>
      </p:sp>
      <p:sp>
        <p:nvSpPr>
          <p:cNvPr id="11" name="">
            <a:extLst xmlns:a="http://schemas.openxmlformats.org/drawingml/2006/main">
              <a:ext uri="{FF2B5EF4-FFF2-40B4-BE49-F238E27FC236}">
                <a16:creationId xmlns:a16="http://schemas.microsoft.com/office/drawing/2014/main" id="{3F447421-9B29-4DA6-B971-A094A21AEC9F}"/>
              </a:ext>
            </a:extLst>
          </p:cNvPr>
          <p:cNvSpPr>
            <a:spLocks xmlns:a="http://schemas.openxmlformats.org/drawingml/2006/main" noGrp="1"/>
          </p:cNvSpPr>
          <p:nvPr/>
        </p:nvSpPr>
        <p:spPr>
          <a:xfrm xmlns:a="http://schemas.openxmlformats.org/drawingml/2006/main">
            <a:off x="628650" y="1866900"/>
            <a:ext cx="6381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25000"/>
              </a:lnSpc>
              <a:buNone/>
              <a:defRPr sz="1125" b="0" i="0">
                <a:solidFill>
                  <a:srgbClr val="5C6C67"/>
                </a:solidFill>
                <a:latin typeface="Lato"/>
                <a:ea typeface="Lato"/>
                <a:cs typeface="Lato"/>
              </a:defRPr>
            </a:pPr>
            <a:r>
              <a:rPr sz="1125" b="0" i="0">
                <a:solidFill>
                  <a:srgbClr val="5C6C67"/>
                </a:solidFill>
                <a:latin typeface="Lato"/>
                <a:ea typeface="Lato"/>
                <a:cs typeface="Lato"/>
              </a:rPr>
              <a:t>The short version: food is digested, some foods become glucose, insulin helps glucose move into cells, and many everyday factors affect the pattern.</a:t>
            </a:r>
          </a:p>
        </p:txBody>
      </p:sp>
      <p:sp>
        <p:nvSpPr>
          <p:cNvPr id="12" name="">
            <a:extLst xmlns:a="http://schemas.openxmlformats.org/drawingml/2006/main">
              <a:ext uri="{FF2B5EF4-FFF2-40B4-BE49-F238E27FC236}">
                <a16:creationId xmlns:a16="http://schemas.microsoft.com/office/drawing/2014/main" id="{06242DC8-5317-4B72-94DF-CD5A70DF9D5A}"/>
              </a:ext>
            </a:extLst>
          </p:cNvPr>
          <p:cNvSpPr>
            <a:spLocks xmlns:a="http://schemas.openxmlformats.org/drawingml/2006/main" noGrp="1"/>
          </p:cNvSpPr>
          <p:nvPr/>
        </p:nvSpPr>
        <p:spPr>
          <a:xfrm xmlns:a="http://schemas.openxmlformats.org/drawingml/2006/main">
            <a:off x="742950" y="2781300"/>
            <a:ext cx="1238250" cy="1066800"/>
          </a:xfrm>
          <a:prstGeom xmlns:a="http://schemas.openxmlformats.org/drawingml/2006/main" prst="roundRect">
            <a:avLst>
              <a:gd name="adj" fmla="val 10714"/>
            </a:avLst>
          </a:prstGeom>
          <a:solidFill xmlns:a="http://schemas.openxmlformats.org/drawingml/2006/main">
            <a:srgbClr val="E6F2EC"/>
          </a:solidFill>
          <a:ln xmlns:a="http://schemas.openxmlformats.org/drawingml/2006/main" w="11430">
            <a:solidFill>
              <a:srgbClr val="C8DAD2"/>
            </a:solidFill>
            <a:prstDash val="solid"/>
          </a:ln>
        </p:spPr>
      </p:sp>
      <p:sp>
        <p:nvSpPr>
          <p:cNvPr id="13" name="">
            <a:extLst xmlns:a="http://schemas.openxmlformats.org/drawingml/2006/main">
              <a:ext uri="{FF2B5EF4-FFF2-40B4-BE49-F238E27FC236}">
                <a16:creationId xmlns:a16="http://schemas.microsoft.com/office/drawing/2014/main" id="{08C2B199-9C1E-4E60-86F4-6B6E295ECF47}"/>
              </a:ext>
            </a:extLst>
          </p:cNvPr>
          <p:cNvSpPr>
            <a:spLocks xmlns:a="http://schemas.openxmlformats.org/drawingml/2006/main" noGrp="1"/>
          </p:cNvSpPr>
          <p:nvPr/>
        </p:nvSpPr>
        <p:spPr>
          <a:xfrm xmlns:a="http://schemas.openxmlformats.org/drawingml/2006/main">
            <a:off x="1209675" y="2943225"/>
            <a:ext cx="304800" cy="304800"/>
          </a:xfrm>
          <a:prstGeom xmlns:a="http://schemas.openxmlformats.org/drawingml/2006/main" prst="ellipse">
            <a:avLst/>
          </a:prstGeom>
          <a:solidFill xmlns:a="http://schemas.openxmlformats.org/drawingml/2006/main">
            <a:srgbClr val="FFFFFF"/>
          </a:solidFill>
          <a:ln xmlns:a="http://schemas.openxmlformats.org/drawingml/2006/main" w="11430">
            <a:solidFill>
              <a:srgbClr val="C8DAD2"/>
            </a:solidFill>
            <a:prstDash val="solid"/>
          </a:ln>
        </p:spPr>
      </p:sp>
      <p:sp>
        <p:nvSpPr>
          <p:cNvPr id="14" name="">
            <a:extLst xmlns:a="http://schemas.openxmlformats.org/drawingml/2006/main">
              <a:ext uri="{FF2B5EF4-FFF2-40B4-BE49-F238E27FC236}">
                <a16:creationId xmlns:a16="http://schemas.microsoft.com/office/drawing/2014/main" id="{77FF46D5-DC01-4A09-8377-5E9E2B0FB1D6}"/>
              </a:ext>
            </a:extLst>
          </p:cNvPr>
          <p:cNvSpPr>
            <a:spLocks xmlns:a="http://schemas.openxmlformats.org/drawingml/2006/main" noGrp="1"/>
          </p:cNvSpPr>
          <p:nvPr/>
        </p:nvSpPr>
        <p:spPr>
          <a:xfrm xmlns:a="http://schemas.openxmlformats.org/drawingml/2006/main">
            <a:off x="857250" y="3324225"/>
            <a:ext cx="1009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lnSpc>
                <a:spcPct val="116000"/>
              </a:lnSpc>
              <a:buNone/>
              <a:defRPr sz="1050" b="1" i="0">
                <a:solidFill>
                  <a:srgbClr val="192442"/>
                </a:solidFill>
                <a:latin typeface="Lato"/>
                <a:ea typeface="Lato"/>
                <a:cs typeface="Lato"/>
              </a:defRPr>
            </a:pPr>
            <a:r>
              <a:rPr sz="1050" b="1" i="0">
                <a:solidFill>
                  <a:srgbClr val="192442"/>
                </a:solidFill>
                <a:latin typeface="Lato"/>
                <a:ea typeface="Lato"/>
                <a:cs typeface="Lato"/>
              </a:rPr>
              <a:t>Food</a:t>
            </a:r>
          </a:p>
        </p:txBody>
      </p:sp>
      <p:sp>
        <p:nvSpPr>
          <p:cNvPr id="15" name="">
            <a:extLst xmlns:a="http://schemas.openxmlformats.org/drawingml/2006/main">
              <a:ext uri="{FF2B5EF4-FFF2-40B4-BE49-F238E27FC236}">
                <a16:creationId xmlns:a16="http://schemas.microsoft.com/office/drawing/2014/main" id="{5D824EC7-60EE-496D-A6AE-26D0DAEF5FBC}"/>
              </a:ext>
            </a:extLst>
          </p:cNvPr>
          <p:cNvSpPr>
            <a:spLocks xmlns:a="http://schemas.openxmlformats.org/drawingml/2006/main" noGrp="1"/>
          </p:cNvSpPr>
          <p:nvPr/>
        </p:nvSpPr>
        <p:spPr>
          <a:xfrm xmlns:a="http://schemas.openxmlformats.org/drawingml/2006/main">
            <a:off x="876300" y="3543300"/>
            <a:ext cx="9715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lnSpc>
                <a:spcPct val="105000"/>
              </a:lnSpc>
              <a:buNone/>
              <a:defRPr sz="713" b="0" i="0">
                <a:solidFill>
                  <a:srgbClr val="5C6C67"/>
                </a:solidFill>
                <a:latin typeface="Lato"/>
                <a:ea typeface="Lato"/>
                <a:cs typeface="Lato"/>
              </a:defRPr>
            </a:pPr>
            <a:r>
              <a:rPr sz="713" b="0" i="0">
                <a:solidFill>
                  <a:srgbClr val="5C6C67"/>
                </a:solidFill>
                <a:latin typeface="Lato"/>
                <a:ea typeface="Lato"/>
                <a:cs typeface="Lato"/>
              </a:rPr>
              <a:t>Meal or snack</a:t>
            </a:r>
          </a:p>
        </p:txBody>
      </p:sp>
      <p:sp>
        <p:nvSpPr>
          <p:cNvPr id="16" name="">
            <a:extLst xmlns:a="http://schemas.openxmlformats.org/drawingml/2006/main">
              <a:ext uri="{FF2B5EF4-FFF2-40B4-BE49-F238E27FC236}">
                <a16:creationId xmlns:a16="http://schemas.microsoft.com/office/drawing/2014/main" id="{34E6F22B-203A-481E-9A3E-C73E85DDA88E}"/>
              </a:ext>
            </a:extLst>
          </p:cNvPr>
          <p:cNvSpPr>
            <a:spLocks xmlns:a="http://schemas.openxmlformats.org/drawingml/2006/main" noGrp="1"/>
          </p:cNvSpPr>
          <p:nvPr/>
        </p:nvSpPr>
        <p:spPr>
          <a:xfrm xmlns:a="http://schemas.openxmlformats.org/drawingml/2006/main">
            <a:off x="1943100" y="3305175"/>
            <a:ext cx="533400" cy="0"/>
          </a:xfrm>
          <a:prstGeom xmlns:a="http://schemas.openxmlformats.org/drawingml/2006/main" prst="line">
            <a:avLst/>
          </a:prstGeom>
          <a:noFill xmlns:a="http://schemas.openxmlformats.org/drawingml/2006/main"/>
          <a:ln xmlns:a="http://schemas.openxmlformats.org/drawingml/2006/main" w="11430">
            <a:solidFill>
              <a:srgbClr val="F26A2E"/>
            </a:solidFill>
            <a:prstDash val="solid"/>
          </a:ln>
        </p:spPr>
      </p:sp>
      <p:sp>
        <p:nvSpPr>
          <p:cNvPr id="17" name="">
            <a:extLst xmlns:a="http://schemas.openxmlformats.org/drawingml/2006/main">
              <a:ext uri="{FF2B5EF4-FFF2-40B4-BE49-F238E27FC236}">
                <a16:creationId xmlns:a16="http://schemas.microsoft.com/office/drawing/2014/main" id="{32E78A0C-E678-4690-943E-247C9A067C4C}"/>
              </a:ext>
            </a:extLst>
          </p:cNvPr>
          <p:cNvSpPr>
            <a:spLocks xmlns:a="http://schemas.openxmlformats.org/drawingml/2006/main" noGrp="1"/>
          </p:cNvSpPr>
          <p:nvPr/>
        </p:nvSpPr>
        <p:spPr>
          <a:xfrm xmlns:a="http://schemas.openxmlformats.org/drawingml/2006/main">
            <a:off x="2343150" y="2781300"/>
            <a:ext cx="1238250" cy="1066800"/>
          </a:xfrm>
          <a:prstGeom xmlns:a="http://schemas.openxmlformats.org/drawingml/2006/main" prst="roundRect">
            <a:avLst>
              <a:gd name="adj" fmla="val 10714"/>
            </a:avLst>
          </a:prstGeom>
          <a:solidFill xmlns:a="http://schemas.openxmlformats.org/drawingml/2006/main">
            <a:srgbClr val="EEF7FA"/>
          </a:solidFill>
          <a:ln xmlns:a="http://schemas.openxmlformats.org/drawingml/2006/main" w="11430">
            <a:solidFill>
              <a:srgbClr val="C8DAD2"/>
            </a:solidFill>
            <a:prstDash val="solid"/>
          </a:ln>
        </p:spPr>
      </p:sp>
      <p:sp>
        <p:nvSpPr>
          <p:cNvPr id="18" name="">
            <a:extLst xmlns:a="http://schemas.openxmlformats.org/drawingml/2006/main">
              <a:ext uri="{FF2B5EF4-FFF2-40B4-BE49-F238E27FC236}">
                <a16:creationId xmlns:a16="http://schemas.microsoft.com/office/drawing/2014/main" id="{A7C04B10-3592-4D8F-92BD-74A1BAA0877B}"/>
              </a:ext>
            </a:extLst>
          </p:cNvPr>
          <p:cNvSpPr>
            <a:spLocks xmlns:a="http://schemas.openxmlformats.org/drawingml/2006/main" noGrp="1"/>
          </p:cNvSpPr>
          <p:nvPr/>
        </p:nvSpPr>
        <p:spPr>
          <a:xfrm xmlns:a="http://schemas.openxmlformats.org/drawingml/2006/main">
            <a:off x="2809875" y="2943225"/>
            <a:ext cx="304800" cy="304800"/>
          </a:xfrm>
          <a:prstGeom xmlns:a="http://schemas.openxmlformats.org/drawingml/2006/main" prst="ellipse">
            <a:avLst/>
          </a:prstGeom>
          <a:solidFill xmlns:a="http://schemas.openxmlformats.org/drawingml/2006/main">
            <a:srgbClr val="FFFFFF"/>
          </a:solidFill>
          <a:ln xmlns:a="http://schemas.openxmlformats.org/drawingml/2006/main" w="11430">
            <a:solidFill>
              <a:srgbClr val="C8DAD2"/>
            </a:solidFill>
            <a:prstDash val="solid"/>
          </a:ln>
        </p:spPr>
      </p:sp>
      <p:sp>
        <p:nvSpPr>
          <p:cNvPr id="19" name="">
            <a:extLst xmlns:a="http://schemas.openxmlformats.org/drawingml/2006/main">
              <a:ext uri="{FF2B5EF4-FFF2-40B4-BE49-F238E27FC236}">
                <a16:creationId xmlns:a16="http://schemas.microsoft.com/office/drawing/2014/main" id="{7D16711A-A375-48D1-B435-008CFA586981}"/>
              </a:ext>
            </a:extLst>
          </p:cNvPr>
          <p:cNvSpPr>
            <a:spLocks xmlns:a="http://schemas.openxmlformats.org/drawingml/2006/main" noGrp="1"/>
          </p:cNvSpPr>
          <p:nvPr/>
        </p:nvSpPr>
        <p:spPr>
          <a:xfrm xmlns:a="http://schemas.openxmlformats.org/drawingml/2006/main">
            <a:off x="2457450" y="3324225"/>
            <a:ext cx="1009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lnSpc>
                <a:spcPct val="116000"/>
              </a:lnSpc>
              <a:buNone/>
              <a:defRPr sz="1050" b="1" i="0">
                <a:solidFill>
                  <a:srgbClr val="192442"/>
                </a:solidFill>
                <a:latin typeface="Lato"/>
                <a:ea typeface="Lato"/>
                <a:cs typeface="Lato"/>
              </a:defRPr>
            </a:pPr>
            <a:r>
              <a:rPr sz="1050" b="1" i="0">
                <a:solidFill>
                  <a:srgbClr val="192442"/>
                </a:solidFill>
                <a:latin typeface="Lato"/>
                <a:ea typeface="Lato"/>
                <a:cs typeface="Lato"/>
              </a:rPr>
              <a:t>Digestion</a:t>
            </a:r>
          </a:p>
        </p:txBody>
      </p:sp>
      <p:sp>
        <p:nvSpPr>
          <p:cNvPr id="20" name="">
            <a:extLst xmlns:a="http://schemas.openxmlformats.org/drawingml/2006/main">
              <a:ext uri="{FF2B5EF4-FFF2-40B4-BE49-F238E27FC236}">
                <a16:creationId xmlns:a16="http://schemas.microsoft.com/office/drawing/2014/main" id="{888E2303-4EE4-4C3E-9D20-CF7516B9F918}"/>
              </a:ext>
            </a:extLst>
          </p:cNvPr>
          <p:cNvSpPr>
            <a:spLocks xmlns:a="http://schemas.openxmlformats.org/drawingml/2006/main" noGrp="1"/>
          </p:cNvSpPr>
          <p:nvPr/>
        </p:nvSpPr>
        <p:spPr>
          <a:xfrm xmlns:a="http://schemas.openxmlformats.org/drawingml/2006/main">
            <a:off x="2476500" y="3543300"/>
            <a:ext cx="9715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lnSpc>
                <a:spcPct val="105000"/>
              </a:lnSpc>
              <a:buNone/>
              <a:defRPr sz="713" b="0" i="0">
                <a:solidFill>
                  <a:srgbClr val="5C6C67"/>
                </a:solidFill>
                <a:latin typeface="Lato"/>
                <a:ea typeface="Lato"/>
                <a:cs typeface="Lato"/>
              </a:defRPr>
            </a:pPr>
            <a:r>
              <a:rPr sz="713" b="0" i="0">
                <a:solidFill>
                  <a:srgbClr val="5C6C67"/>
                </a:solidFill>
                <a:latin typeface="Lato"/>
                <a:ea typeface="Lato"/>
                <a:cs typeface="Lato"/>
              </a:rPr>
              <a:t>Carbs break into glucose</a:t>
            </a:r>
          </a:p>
        </p:txBody>
      </p:sp>
      <p:sp>
        <p:nvSpPr>
          <p:cNvPr id="21" name="">
            <a:extLst xmlns:a="http://schemas.openxmlformats.org/drawingml/2006/main">
              <a:ext uri="{FF2B5EF4-FFF2-40B4-BE49-F238E27FC236}">
                <a16:creationId xmlns:a16="http://schemas.microsoft.com/office/drawing/2014/main" id="{9588A184-62D4-4E43-987D-EF044FFDBF16}"/>
              </a:ext>
            </a:extLst>
          </p:cNvPr>
          <p:cNvSpPr>
            <a:spLocks xmlns:a="http://schemas.openxmlformats.org/drawingml/2006/main" noGrp="1"/>
          </p:cNvSpPr>
          <p:nvPr/>
        </p:nvSpPr>
        <p:spPr>
          <a:xfrm xmlns:a="http://schemas.openxmlformats.org/drawingml/2006/main">
            <a:off x="3543300" y="3305175"/>
            <a:ext cx="533400" cy="0"/>
          </a:xfrm>
          <a:prstGeom xmlns:a="http://schemas.openxmlformats.org/drawingml/2006/main" prst="line">
            <a:avLst/>
          </a:prstGeom>
          <a:noFill xmlns:a="http://schemas.openxmlformats.org/drawingml/2006/main"/>
          <a:ln xmlns:a="http://schemas.openxmlformats.org/drawingml/2006/main" w="11430">
            <a:solidFill>
              <a:srgbClr val="F26A2E"/>
            </a:solidFill>
            <a:prstDash val="solid"/>
          </a:ln>
        </p:spPr>
      </p:sp>
      <p:sp>
        <p:nvSpPr>
          <p:cNvPr id="22" name="">
            <a:extLst xmlns:a="http://schemas.openxmlformats.org/drawingml/2006/main">
              <a:ext uri="{FF2B5EF4-FFF2-40B4-BE49-F238E27FC236}">
                <a16:creationId xmlns:a16="http://schemas.microsoft.com/office/drawing/2014/main" id="{7BE13DB4-AECB-42EB-91BA-18D3576D6594}"/>
              </a:ext>
            </a:extLst>
          </p:cNvPr>
          <p:cNvSpPr>
            <a:spLocks xmlns:a="http://schemas.openxmlformats.org/drawingml/2006/main" noGrp="1"/>
          </p:cNvSpPr>
          <p:nvPr/>
        </p:nvSpPr>
        <p:spPr>
          <a:xfrm xmlns:a="http://schemas.openxmlformats.org/drawingml/2006/main">
            <a:off x="3943350" y="2781300"/>
            <a:ext cx="1238250" cy="1066800"/>
          </a:xfrm>
          <a:prstGeom xmlns:a="http://schemas.openxmlformats.org/drawingml/2006/main" prst="roundRect">
            <a:avLst>
              <a:gd name="adj" fmla="val 10714"/>
            </a:avLst>
          </a:prstGeom>
          <a:solidFill xmlns:a="http://schemas.openxmlformats.org/drawingml/2006/main">
            <a:srgbClr val="E6F2EC"/>
          </a:solidFill>
          <a:ln xmlns:a="http://schemas.openxmlformats.org/drawingml/2006/main" w="11430">
            <a:solidFill>
              <a:srgbClr val="C8DAD2"/>
            </a:solidFill>
            <a:prstDash val="solid"/>
          </a:ln>
        </p:spPr>
      </p:sp>
      <p:sp>
        <p:nvSpPr>
          <p:cNvPr id="23" name="">
            <a:extLst xmlns:a="http://schemas.openxmlformats.org/drawingml/2006/main">
              <a:ext uri="{FF2B5EF4-FFF2-40B4-BE49-F238E27FC236}">
                <a16:creationId xmlns:a16="http://schemas.microsoft.com/office/drawing/2014/main" id="{AB3A4627-7F49-40F1-B934-ED0EB3A22B3D}"/>
              </a:ext>
            </a:extLst>
          </p:cNvPr>
          <p:cNvSpPr>
            <a:spLocks xmlns:a="http://schemas.openxmlformats.org/drawingml/2006/main" noGrp="1"/>
          </p:cNvSpPr>
          <p:nvPr/>
        </p:nvSpPr>
        <p:spPr>
          <a:xfrm xmlns:a="http://schemas.openxmlformats.org/drawingml/2006/main">
            <a:off x="4410075" y="2943225"/>
            <a:ext cx="304800" cy="304800"/>
          </a:xfrm>
          <a:prstGeom xmlns:a="http://schemas.openxmlformats.org/drawingml/2006/main" prst="ellipse">
            <a:avLst/>
          </a:prstGeom>
          <a:solidFill xmlns:a="http://schemas.openxmlformats.org/drawingml/2006/main">
            <a:srgbClr val="FFFFFF"/>
          </a:solidFill>
          <a:ln xmlns:a="http://schemas.openxmlformats.org/drawingml/2006/main" w="11430">
            <a:solidFill>
              <a:srgbClr val="C8DAD2"/>
            </a:solidFill>
            <a:prstDash val="solid"/>
          </a:ln>
        </p:spPr>
      </p:sp>
      <p:sp>
        <p:nvSpPr>
          <p:cNvPr id="24" name="">
            <a:extLst xmlns:a="http://schemas.openxmlformats.org/drawingml/2006/main">
              <a:ext uri="{FF2B5EF4-FFF2-40B4-BE49-F238E27FC236}">
                <a16:creationId xmlns:a16="http://schemas.microsoft.com/office/drawing/2014/main" id="{ED7BFD66-89E6-4AA0-9DAB-F4135119A776}"/>
              </a:ext>
            </a:extLst>
          </p:cNvPr>
          <p:cNvSpPr>
            <a:spLocks xmlns:a="http://schemas.openxmlformats.org/drawingml/2006/main" noGrp="1"/>
          </p:cNvSpPr>
          <p:nvPr/>
        </p:nvSpPr>
        <p:spPr>
          <a:xfrm xmlns:a="http://schemas.openxmlformats.org/drawingml/2006/main">
            <a:off x="4057650" y="3324225"/>
            <a:ext cx="1009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lnSpc>
                <a:spcPct val="116000"/>
              </a:lnSpc>
              <a:buNone/>
              <a:defRPr sz="1050" b="1" i="0">
                <a:solidFill>
                  <a:srgbClr val="192442"/>
                </a:solidFill>
                <a:latin typeface="Lato"/>
                <a:ea typeface="Lato"/>
                <a:cs typeface="Lato"/>
              </a:defRPr>
            </a:pPr>
            <a:r>
              <a:rPr sz="1050" b="1" i="0">
                <a:solidFill>
                  <a:srgbClr val="192442"/>
                </a:solidFill>
                <a:latin typeface="Lato"/>
                <a:ea typeface="Lato"/>
                <a:cs typeface="Lato"/>
              </a:rPr>
              <a:t>Insulin</a:t>
            </a:r>
          </a:p>
        </p:txBody>
      </p:sp>
      <p:sp>
        <p:nvSpPr>
          <p:cNvPr id="25" name="">
            <a:extLst xmlns:a="http://schemas.openxmlformats.org/drawingml/2006/main">
              <a:ext uri="{FF2B5EF4-FFF2-40B4-BE49-F238E27FC236}">
                <a16:creationId xmlns:a16="http://schemas.microsoft.com/office/drawing/2014/main" id="{8B96BB63-E0B6-4990-9552-9A540FDDC70C}"/>
              </a:ext>
            </a:extLst>
          </p:cNvPr>
          <p:cNvSpPr>
            <a:spLocks xmlns:a="http://schemas.openxmlformats.org/drawingml/2006/main" noGrp="1"/>
          </p:cNvSpPr>
          <p:nvPr/>
        </p:nvSpPr>
        <p:spPr>
          <a:xfrm xmlns:a="http://schemas.openxmlformats.org/drawingml/2006/main">
            <a:off x="4076700" y="3543300"/>
            <a:ext cx="9715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lnSpc>
                <a:spcPct val="105000"/>
              </a:lnSpc>
              <a:buNone/>
              <a:defRPr sz="713" b="0" i="0">
                <a:solidFill>
                  <a:srgbClr val="5C6C67"/>
                </a:solidFill>
                <a:latin typeface="Lato"/>
                <a:ea typeface="Lato"/>
                <a:cs typeface="Lato"/>
              </a:defRPr>
            </a:pPr>
            <a:r>
              <a:rPr sz="713" b="0" i="0">
                <a:solidFill>
                  <a:srgbClr val="5C6C67"/>
                </a:solidFill>
                <a:latin typeface="Lato"/>
                <a:ea typeface="Lato"/>
                <a:cs typeface="Lato"/>
              </a:rPr>
              <a:t>Helps cells use glucose</a:t>
            </a:r>
          </a:p>
        </p:txBody>
      </p:sp>
      <p:sp>
        <p:nvSpPr>
          <p:cNvPr id="26" name="">
            <a:extLst xmlns:a="http://schemas.openxmlformats.org/drawingml/2006/main">
              <a:ext uri="{FF2B5EF4-FFF2-40B4-BE49-F238E27FC236}">
                <a16:creationId xmlns:a16="http://schemas.microsoft.com/office/drawing/2014/main" id="{203B50C7-0677-4402-ADED-0E9FAC6C7089}"/>
              </a:ext>
            </a:extLst>
          </p:cNvPr>
          <p:cNvSpPr>
            <a:spLocks xmlns:a="http://schemas.openxmlformats.org/drawingml/2006/main" noGrp="1"/>
          </p:cNvSpPr>
          <p:nvPr/>
        </p:nvSpPr>
        <p:spPr>
          <a:xfrm xmlns:a="http://schemas.openxmlformats.org/drawingml/2006/main">
            <a:off x="5143500" y="3305175"/>
            <a:ext cx="533400" cy="0"/>
          </a:xfrm>
          <a:prstGeom xmlns:a="http://schemas.openxmlformats.org/drawingml/2006/main" prst="line">
            <a:avLst/>
          </a:prstGeom>
          <a:noFill xmlns:a="http://schemas.openxmlformats.org/drawingml/2006/main"/>
          <a:ln xmlns:a="http://schemas.openxmlformats.org/drawingml/2006/main" w="11430">
            <a:solidFill>
              <a:srgbClr val="F26A2E"/>
            </a:solidFill>
            <a:prstDash val="solid"/>
          </a:ln>
        </p:spPr>
      </p:sp>
      <p:sp>
        <p:nvSpPr>
          <p:cNvPr id="27" name="">
            <a:extLst xmlns:a="http://schemas.openxmlformats.org/drawingml/2006/main">
              <a:ext uri="{FF2B5EF4-FFF2-40B4-BE49-F238E27FC236}">
                <a16:creationId xmlns:a16="http://schemas.microsoft.com/office/drawing/2014/main" id="{CAB8378D-BC86-4AFF-8BB6-68056B3D3042}"/>
              </a:ext>
            </a:extLst>
          </p:cNvPr>
          <p:cNvSpPr>
            <a:spLocks xmlns:a="http://schemas.openxmlformats.org/drawingml/2006/main" noGrp="1"/>
          </p:cNvSpPr>
          <p:nvPr/>
        </p:nvSpPr>
        <p:spPr>
          <a:xfrm xmlns:a="http://schemas.openxmlformats.org/drawingml/2006/main">
            <a:off x="5543550" y="2781300"/>
            <a:ext cx="1238250" cy="1066800"/>
          </a:xfrm>
          <a:prstGeom xmlns:a="http://schemas.openxmlformats.org/drawingml/2006/main" prst="roundRect">
            <a:avLst>
              <a:gd name="adj" fmla="val 10714"/>
            </a:avLst>
          </a:prstGeom>
          <a:solidFill xmlns:a="http://schemas.openxmlformats.org/drawingml/2006/main">
            <a:srgbClr val="EEF7FA"/>
          </a:solidFill>
          <a:ln xmlns:a="http://schemas.openxmlformats.org/drawingml/2006/main" w="11430">
            <a:solidFill>
              <a:srgbClr val="C8DAD2"/>
            </a:solidFill>
            <a:prstDash val="solid"/>
          </a:ln>
        </p:spPr>
      </p:sp>
      <p:sp>
        <p:nvSpPr>
          <p:cNvPr id="28" name="">
            <a:extLst xmlns:a="http://schemas.openxmlformats.org/drawingml/2006/main">
              <a:ext uri="{FF2B5EF4-FFF2-40B4-BE49-F238E27FC236}">
                <a16:creationId xmlns:a16="http://schemas.microsoft.com/office/drawing/2014/main" id="{891025E1-B64E-4AD4-8AF1-AD5D04649522}"/>
              </a:ext>
            </a:extLst>
          </p:cNvPr>
          <p:cNvSpPr>
            <a:spLocks xmlns:a="http://schemas.openxmlformats.org/drawingml/2006/main" noGrp="1"/>
          </p:cNvSpPr>
          <p:nvPr/>
        </p:nvSpPr>
        <p:spPr>
          <a:xfrm xmlns:a="http://schemas.openxmlformats.org/drawingml/2006/main">
            <a:off x="6010275" y="2943225"/>
            <a:ext cx="304800" cy="304800"/>
          </a:xfrm>
          <a:prstGeom xmlns:a="http://schemas.openxmlformats.org/drawingml/2006/main" prst="ellipse">
            <a:avLst/>
          </a:prstGeom>
          <a:solidFill xmlns:a="http://schemas.openxmlformats.org/drawingml/2006/main">
            <a:srgbClr val="FFFFFF"/>
          </a:solidFill>
          <a:ln xmlns:a="http://schemas.openxmlformats.org/drawingml/2006/main" w="11430">
            <a:solidFill>
              <a:srgbClr val="C8DAD2"/>
            </a:solidFill>
            <a:prstDash val="solid"/>
          </a:ln>
        </p:spPr>
      </p:sp>
      <p:sp>
        <p:nvSpPr>
          <p:cNvPr id="29" name="">
            <a:extLst xmlns:a="http://schemas.openxmlformats.org/drawingml/2006/main">
              <a:ext uri="{FF2B5EF4-FFF2-40B4-BE49-F238E27FC236}">
                <a16:creationId xmlns:a16="http://schemas.microsoft.com/office/drawing/2014/main" id="{276FD492-96DE-4296-B898-F2B045B7CE17}"/>
              </a:ext>
            </a:extLst>
          </p:cNvPr>
          <p:cNvSpPr>
            <a:spLocks xmlns:a="http://schemas.openxmlformats.org/drawingml/2006/main" noGrp="1"/>
          </p:cNvSpPr>
          <p:nvPr/>
        </p:nvSpPr>
        <p:spPr>
          <a:xfrm xmlns:a="http://schemas.openxmlformats.org/drawingml/2006/main">
            <a:off x="5657850" y="3324225"/>
            <a:ext cx="1009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lnSpc>
                <a:spcPct val="116000"/>
              </a:lnSpc>
              <a:buNone/>
              <a:defRPr sz="1050" b="1" i="0">
                <a:solidFill>
                  <a:srgbClr val="192442"/>
                </a:solidFill>
                <a:latin typeface="Lato"/>
                <a:ea typeface="Lato"/>
                <a:cs typeface="Lato"/>
              </a:defRPr>
            </a:pPr>
            <a:r>
              <a:rPr sz="1050" b="1" i="0">
                <a:solidFill>
                  <a:srgbClr val="192442"/>
                </a:solidFill>
                <a:latin typeface="Lato"/>
                <a:ea typeface="Lato"/>
                <a:cs typeface="Lato"/>
              </a:rPr>
              <a:t>Energy</a:t>
            </a:r>
          </a:p>
        </p:txBody>
      </p:sp>
      <p:sp>
        <p:nvSpPr>
          <p:cNvPr id="30" name="">
            <a:extLst xmlns:a="http://schemas.openxmlformats.org/drawingml/2006/main">
              <a:ext uri="{FF2B5EF4-FFF2-40B4-BE49-F238E27FC236}">
                <a16:creationId xmlns:a16="http://schemas.microsoft.com/office/drawing/2014/main" id="{1C8D7AED-D87C-4364-AC26-4F1BFC486BC3}"/>
              </a:ext>
            </a:extLst>
          </p:cNvPr>
          <p:cNvSpPr>
            <a:spLocks xmlns:a="http://schemas.openxmlformats.org/drawingml/2006/main" noGrp="1"/>
          </p:cNvSpPr>
          <p:nvPr/>
        </p:nvSpPr>
        <p:spPr>
          <a:xfrm xmlns:a="http://schemas.openxmlformats.org/drawingml/2006/main">
            <a:off x="5676900" y="3543300"/>
            <a:ext cx="9715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lnSpc>
                <a:spcPct val="105000"/>
              </a:lnSpc>
              <a:buNone/>
              <a:defRPr sz="713" b="0" i="0">
                <a:solidFill>
                  <a:srgbClr val="5C6C67"/>
                </a:solidFill>
                <a:latin typeface="Lato"/>
                <a:ea typeface="Lato"/>
                <a:cs typeface="Lato"/>
              </a:defRPr>
            </a:pPr>
            <a:r>
              <a:rPr sz="713" b="0" i="0">
                <a:solidFill>
                  <a:srgbClr val="5C6C67"/>
                </a:solidFill>
                <a:latin typeface="Lato"/>
                <a:ea typeface="Lato"/>
                <a:cs typeface="Lato"/>
              </a:rPr>
              <a:t>Use now or store</a:t>
            </a:r>
          </a:p>
        </p:txBody>
      </p:sp>
      <p:sp>
        <p:nvSpPr>
          <p:cNvPr id="31" name="">
            <a:extLst xmlns:a="http://schemas.openxmlformats.org/drawingml/2006/main">
              <a:ext uri="{FF2B5EF4-FFF2-40B4-BE49-F238E27FC236}">
                <a16:creationId xmlns:a16="http://schemas.microsoft.com/office/drawing/2014/main" id="{A7E7521D-83D8-40FE-818D-09398078681F}"/>
              </a:ext>
            </a:extLst>
          </p:cNvPr>
          <p:cNvSpPr>
            <a:spLocks xmlns:a="http://schemas.openxmlformats.org/drawingml/2006/main" noGrp="1"/>
          </p:cNvSpPr>
          <p:nvPr/>
        </p:nvSpPr>
        <p:spPr>
          <a:xfrm xmlns:a="http://schemas.openxmlformats.org/drawingml/2006/main">
            <a:off x="723900" y="4514850"/>
            <a:ext cx="6096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24000"/>
              </a:lnSpc>
              <a:buNone/>
              <a:defRPr sz="1065" b="0" i="0">
                <a:solidFill>
                  <a:srgbClr val="16211D"/>
                </a:solidFill>
                <a:latin typeface="Lato"/>
                <a:ea typeface="Lato"/>
                <a:cs typeface="Lato"/>
              </a:defRPr>
            </a:pPr>
            <a:r>
              <a:rPr sz="1065" b="0" i="0">
                <a:solidFill>
                  <a:srgbClr val="16211D"/>
                </a:solidFill>
                <a:latin typeface="Lato"/>
                <a:ea typeface="Lato"/>
                <a:cs typeface="Lato"/>
              </a:rPr>
              <a:t>During digestion, the body breaks food into smaller parts. Carbohydrate foods usually have the most direct effect on blood glucose because many carbohydrates break down into glucose. Insulin helps move glucose from the blood into cells so it can be used for energy.</a:t>
            </a:r>
          </a:p>
        </p:txBody>
      </p:sp>
      <p:sp>
        <p:nvSpPr>
          <p:cNvPr id="32" name="">
            <a:extLst xmlns:a="http://schemas.openxmlformats.org/drawingml/2006/main">
              <a:ext uri="{FF2B5EF4-FFF2-40B4-BE49-F238E27FC236}">
                <a16:creationId xmlns:a16="http://schemas.microsoft.com/office/drawing/2014/main" id="{68FAE68D-B3A7-491E-AF90-10F7ED612E67}"/>
              </a:ext>
            </a:extLst>
          </p:cNvPr>
          <p:cNvSpPr>
            <a:spLocks xmlns:a="http://schemas.openxmlformats.org/drawingml/2006/main" noGrp="1"/>
          </p:cNvSpPr>
          <p:nvPr/>
        </p:nvSpPr>
        <p:spPr>
          <a:xfrm xmlns:a="http://schemas.openxmlformats.org/drawingml/2006/main">
            <a:off x="762000" y="5819775"/>
            <a:ext cx="95250" cy="95250"/>
          </a:xfrm>
          <a:prstGeom xmlns:a="http://schemas.openxmlformats.org/drawingml/2006/main" prst="ellipse">
            <a:avLst/>
          </a:prstGeom>
          <a:solidFill xmlns:a="http://schemas.openxmlformats.org/drawingml/2006/main">
            <a:srgbClr val="F26A2E"/>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DC4CE59A-FD60-432B-95C3-05DC5991EC53}"/>
              </a:ext>
            </a:extLst>
          </p:cNvPr>
          <p:cNvSpPr>
            <a:spLocks xmlns:a="http://schemas.openxmlformats.org/drawingml/2006/main" noGrp="1"/>
          </p:cNvSpPr>
          <p:nvPr/>
        </p:nvSpPr>
        <p:spPr>
          <a:xfrm xmlns:a="http://schemas.openxmlformats.org/drawingml/2006/main">
            <a:off x="971550" y="5772150"/>
            <a:ext cx="5981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8000"/>
              </a:lnSpc>
              <a:buNone/>
              <a:defRPr sz="1013" b="0" i="0">
                <a:solidFill>
                  <a:srgbClr val="16211D"/>
                </a:solidFill>
                <a:latin typeface="Lato"/>
                <a:ea typeface="Lato"/>
                <a:cs typeface="Lato"/>
              </a:defRPr>
            </a:pPr>
            <a:r>
              <a:rPr sz="1013" b="0" i="0">
                <a:solidFill>
                  <a:srgbClr val="16211D"/>
                </a:solidFill>
                <a:latin typeface="Lato"/>
                <a:ea typeface="Lato"/>
                <a:cs typeface="Lato"/>
              </a:rPr>
              <a:t>Protein, fiber, fat, portion, activity, timing, stress, illness, sleep, alcohol, and medicines can all influence glucose patterns.</a:t>
            </a:r>
          </a:p>
        </p:txBody>
      </p:sp>
      <p:sp>
        <p:nvSpPr>
          <p:cNvPr id="34" name="">
            <a:extLst xmlns:a="http://schemas.openxmlformats.org/drawingml/2006/main">
              <a:ext uri="{FF2B5EF4-FFF2-40B4-BE49-F238E27FC236}">
                <a16:creationId xmlns:a16="http://schemas.microsoft.com/office/drawing/2014/main" id="{DB481291-2BBA-480B-BE15-59A10B764797}"/>
              </a:ext>
            </a:extLst>
          </p:cNvPr>
          <p:cNvSpPr>
            <a:spLocks xmlns:a="http://schemas.openxmlformats.org/drawingml/2006/main" noGrp="1"/>
          </p:cNvSpPr>
          <p:nvPr/>
        </p:nvSpPr>
        <p:spPr>
          <a:xfrm xmlns:a="http://schemas.openxmlformats.org/drawingml/2006/main">
            <a:off x="762000" y="6315075"/>
            <a:ext cx="95250" cy="95250"/>
          </a:xfrm>
          <a:prstGeom xmlns:a="http://schemas.openxmlformats.org/drawingml/2006/main" prst="ellipse">
            <a:avLst/>
          </a:prstGeom>
          <a:solidFill xmlns:a="http://schemas.openxmlformats.org/drawingml/2006/main">
            <a:srgbClr val="F26A2E"/>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06CFDC51-9164-4203-90D5-CC1FEAB11DDE}"/>
              </a:ext>
            </a:extLst>
          </p:cNvPr>
          <p:cNvSpPr>
            <a:spLocks xmlns:a="http://schemas.openxmlformats.org/drawingml/2006/main" noGrp="1"/>
          </p:cNvSpPr>
          <p:nvPr/>
        </p:nvSpPr>
        <p:spPr>
          <a:xfrm xmlns:a="http://schemas.openxmlformats.org/drawingml/2006/main">
            <a:off x="971550" y="6267450"/>
            <a:ext cx="5981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8000"/>
              </a:lnSpc>
              <a:buNone/>
              <a:defRPr sz="1013" b="0" i="0">
                <a:solidFill>
                  <a:srgbClr val="16211D"/>
                </a:solidFill>
                <a:latin typeface="Lato"/>
                <a:ea typeface="Lato"/>
                <a:cs typeface="Lato"/>
              </a:defRPr>
            </a:pPr>
            <a:r>
              <a:rPr sz="1013" b="0" i="0">
                <a:solidFill>
                  <a:srgbClr val="16211D"/>
                </a:solidFill>
                <a:latin typeface="Lato"/>
                <a:ea typeface="Lato"/>
                <a:cs typeface="Lato"/>
              </a:rPr>
              <a:t>Two people can eat a similar meal and see different results.</a:t>
            </a:r>
          </a:p>
        </p:txBody>
      </p:sp>
      <p:sp>
        <p:nvSpPr>
          <p:cNvPr id="36" name="">
            <a:extLst xmlns:a="http://schemas.openxmlformats.org/drawingml/2006/main">
              <a:ext uri="{FF2B5EF4-FFF2-40B4-BE49-F238E27FC236}">
                <a16:creationId xmlns:a16="http://schemas.microsoft.com/office/drawing/2014/main" id="{6F9A4DDC-44AC-4603-BB00-706216140C1B}"/>
              </a:ext>
            </a:extLst>
          </p:cNvPr>
          <p:cNvSpPr>
            <a:spLocks xmlns:a="http://schemas.openxmlformats.org/drawingml/2006/main" noGrp="1"/>
          </p:cNvSpPr>
          <p:nvPr/>
        </p:nvSpPr>
        <p:spPr>
          <a:xfrm xmlns:a="http://schemas.openxmlformats.org/drawingml/2006/main">
            <a:off x="628650" y="7924800"/>
            <a:ext cx="6515100" cy="876300"/>
          </a:xfrm>
          <a:prstGeom xmlns:a="http://schemas.openxmlformats.org/drawingml/2006/main" prst="roundRect">
            <a:avLst>
              <a:gd name="adj" fmla="val 10870"/>
            </a:avLst>
          </a:prstGeom>
          <a:solidFill xmlns:a="http://schemas.openxmlformats.org/drawingml/2006/main">
            <a:srgbClr val="FCE4D8"/>
          </a:solidFill>
          <a:ln xmlns:a="http://schemas.openxmlformats.org/drawingml/2006/main" w="11430">
            <a:solidFill>
              <a:srgbClr val="F3B499"/>
            </a:solidFill>
            <a:prstDash val="solid"/>
          </a:ln>
        </p:spPr>
      </p:sp>
      <p:sp>
        <p:nvSpPr>
          <p:cNvPr id="37" name="">
            <a:extLst xmlns:a="http://schemas.openxmlformats.org/drawingml/2006/main">
              <a:ext uri="{FF2B5EF4-FFF2-40B4-BE49-F238E27FC236}">
                <a16:creationId xmlns:a16="http://schemas.microsoft.com/office/drawing/2014/main" id="{2C91AA05-5701-4FD6-AC95-6CB96FF9470A}"/>
              </a:ext>
            </a:extLst>
          </p:cNvPr>
          <p:cNvSpPr>
            <a:spLocks xmlns:a="http://schemas.openxmlformats.org/drawingml/2006/main" noGrp="1"/>
          </p:cNvSpPr>
          <p:nvPr/>
        </p:nvSpPr>
        <p:spPr>
          <a:xfrm xmlns:a="http://schemas.openxmlformats.org/drawingml/2006/main">
            <a:off x="790575" y="80581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975" b="1" i="0">
                <a:solidFill>
                  <a:srgbClr val="8F3519"/>
                </a:solidFill>
                <a:latin typeface="Lato"/>
                <a:ea typeface="Lato"/>
                <a:cs typeface="Lato"/>
              </a:defRPr>
            </a:pPr>
            <a:r>
              <a:rPr sz="975" b="1" i="0">
                <a:solidFill>
                  <a:srgbClr val="8F3519"/>
                </a:solidFill>
                <a:latin typeface="Lato"/>
                <a:ea typeface="Lato"/>
                <a:cs typeface="Lato"/>
              </a:rPr>
              <a:t>Safety note</a:t>
            </a:r>
          </a:p>
        </p:txBody>
      </p:sp>
      <p:sp>
        <p:nvSpPr>
          <p:cNvPr id="38" name="">
            <a:extLst xmlns:a="http://schemas.openxmlformats.org/drawingml/2006/main">
              <a:ext uri="{FF2B5EF4-FFF2-40B4-BE49-F238E27FC236}">
                <a16:creationId xmlns:a16="http://schemas.microsoft.com/office/drawing/2014/main" id="{32BEB057-A4DB-40A9-A2D7-4146EDB6BC0D}"/>
              </a:ext>
            </a:extLst>
          </p:cNvPr>
          <p:cNvSpPr>
            <a:spLocks xmlns:a="http://schemas.openxmlformats.org/drawingml/2006/main" noGrp="1"/>
          </p:cNvSpPr>
          <p:nvPr/>
        </p:nvSpPr>
        <p:spPr>
          <a:xfrm xmlns:a="http://schemas.openxmlformats.org/drawingml/2006/main">
            <a:off x="790575" y="8324850"/>
            <a:ext cx="619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7000"/>
              </a:lnSpc>
              <a:buNone/>
              <a:defRPr sz="900" b="0" i="0">
                <a:solidFill>
                  <a:srgbClr val="16211D"/>
                </a:solidFill>
                <a:latin typeface="Lato"/>
                <a:ea typeface="Lato"/>
                <a:cs typeface="Lato"/>
              </a:defRPr>
            </a:pPr>
            <a:r>
              <a:rPr sz="900" b="0" i="0">
                <a:solidFill>
                  <a:srgbClr val="16211D"/>
                </a:solidFill>
                <a:latin typeface="Lato"/>
                <a:ea typeface="Lato"/>
                <a:cs typeface="Lato"/>
              </a:rPr>
              <a:t>Do not change insulin, diabetes medicine, or glucose targets because of this guide. If readings are often high or low, ask your care team what changes are safest for you.</a:t>
            </a:r>
          </a:p>
        </p:txBody>
      </p:sp>
    </p:spTree>
    <p:extLst>
      <p:ext uri="{BB962C8B-B14F-4D97-AF65-F5344CB8AC3E}">
        <p14:creationId xmlns:p14="http://schemas.microsoft.com/office/powerpoint/2010/main" val="337936070"/>
      </p:ext>
    </p:extLst>
  </p:cSld>
</p:sld>
</file>

<file path=ppt/slides/slide5.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ce8e189314274bc8"/>
          <a:srcRect xmlns:a="http://schemas.openxmlformats.org/drawingml/2006/main" l="699" t="0" r="699" b="0"/>
          <a:stretch xmlns:a="http://schemas.openxmlformats.org/drawingml/2006/main">
            <a:fillRect l="0" t="0" r="0" b="0"/>
          </a:stretch>
        </p:blipFill>
        <p:spPr>
          <a:xfrm xmlns:a="http://schemas.openxmlformats.org/drawingml/2006/main">
            <a:off x="552450" y="285750"/>
            <a:ext cx="257175" cy="276225"/>
          </a:xfrm>
          <a:prstGeom xmlns:a="http://schemas.openxmlformats.org/drawingml/2006/main" prst="roundRect">
            <a:avLst>
              <a:gd name="adj" fmla="val 29630"/>
            </a:avLst>
          </a:prstGeom>
        </p:spPr>
      </p:pic>
      <p:sp>
        <p:nvSpPr>
          <p:cNvPr id="2" name="">
            <a:extLst xmlns:a="http://schemas.openxmlformats.org/drawingml/2006/main">
              <a:ext uri="{FF2B5EF4-FFF2-40B4-BE49-F238E27FC236}">
                <a16:creationId xmlns:a16="http://schemas.microsoft.com/office/drawing/2014/main" id="{D3FF82A2-922B-4AA0-951E-70051341DF1C}"/>
              </a:ext>
            </a:extLst>
          </p:cNvPr>
          <p:cNvSpPr>
            <a:spLocks xmlns:a="http://schemas.openxmlformats.org/drawingml/2006/main" noGrp="1"/>
          </p:cNvSpPr>
          <p:nvPr/>
        </p:nvSpPr>
        <p:spPr>
          <a:xfrm xmlns:a="http://schemas.openxmlformats.org/drawingml/2006/main">
            <a:off x="876300" y="3333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788" b="1" i="0">
                <a:solidFill>
                  <a:srgbClr val="034B2F"/>
                </a:solidFill>
                <a:latin typeface="Lora"/>
                <a:ea typeface="Lora"/>
                <a:cs typeface="Lora"/>
              </a:defRPr>
            </a:pPr>
            <a:r>
              <a:rPr sz="788" b="1" i="0">
                <a:solidFill>
                  <a:srgbClr val="034B2F"/>
                </a:solidFill>
                <a:latin typeface="Lora"/>
                <a:ea typeface="Lora"/>
                <a:cs typeface="Lora"/>
              </a:rPr>
              <a:t>The Mindful Plate</a:t>
            </a:r>
          </a:p>
        </p:txBody>
      </p:sp>
      <p:sp>
        <p:nvSpPr>
          <p:cNvPr id="3" name="">
            <a:extLst xmlns:a="http://schemas.openxmlformats.org/drawingml/2006/main">
              <a:ext uri="{FF2B5EF4-FFF2-40B4-BE49-F238E27FC236}">
                <a16:creationId xmlns:a16="http://schemas.microsoft.com/office/drawing/2014/main" id="{F279EB32-E891-456C-B530-37ACEBD12246}"/>
              </a:ext>
            </a:extLst>
          </p:cNvPr>
          <p:cNvSpPr>
            <a:spLocks xmlns:a="http://schemas.openxmlformats.org/drawingml/2006/main" noGrp="1"/>
          </p:cNvSpPr>
          <p:nvPr/>
        </p:nvSpPr>
        <p:spPr>
          <a:xfrm xmlns:a="http://schemas.openxmlformats.org/drawingml/2006/main">
            <a:off x="876300" y="485775"/>
            <a:ext cx="2190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660" b="0" i="0">
                <a:solidFill>
                  <a:srgbClr val="5C6C67"/>
                </a:solidFill>
                <a:latin typeface="Lato"/>
                <a:ea typeface="Lato"/>
                <a:cs typeface="Lato"/>
              </a:defRPr>
            </a:pPr>
            <a:r>
              <a:rPr sz="660" b="0" i="0">
                <a:solidFill>
                  <a:srgbClr val="5C6C67"/>
                </a:solidFill>
                <a:latin typeface="Lato"/>
                <a:ea typeface="Lato"/>
                <a:cs typeface="Lato"/>
              </a:rPr>
              <a:t>Plate method</a:t>
            </a:r>
          </a:p>
        </p:txBody>
      </p:sp>
      <p:sp>
        <p:nvSpPr>
          <p:cNvPr id="4" name="">
            <a:extLst xmlns:a="http://schemas.openxmlformats.org/drawingml/2006/main">
              <a:ext uri="{FF2B5EF4-FFF2-40B4-BE49-F238E27FC236}">
                <a16:creationId xmlns:a16="http://schemas.microsoft.com/office/drawing/2014/main" id="{B0E3899B-22EB-495D-9F91-61E39F029308}"/>
              </a:ext>
            </a:extLst>
          </p:cNvPr>
          <p:cNvSpPr>
            <a:spLocks xmlns:a="http://schemas.openxmlformats.org/drawingml/2006/main" noGrp="1"/>
          </p:cNvSpPr>
          <p:nvPr/>
        </p:nvSpPr>
        <p:spPr>
          <a:xfrm xmlns:a="http://schemas.openxmlformats.org/drawingml/2006/main">
            <a:off x="552450" y="714375"/>
            <a:ext cx="6667500" cy="0"/>
          </a:xfrm>
          <a:prstGeom xmlns:a="http://schemas.openxmlformats.org/drawingml/2006/main" prst="line">
            <a:avLst/>
          </a:prstGeom>
          <a:noFill xmlns:a="http://schemas.openxmlformats.org/drawingml/2006/main"/>
          <a:ln xmlns:a="http://schemas.openxmlformats.org/drawingml/2006/main" w="11430">
            <a:solidFill>
              <a:srgbClr val="D9E2DA"/>
            </a:solidFill>
            <a:prstDash val="solid"/>
          </a:ln>
        </p:spPr>
      </p:sp>
      <p:sp>
        <p:nvSpPr>
          <p:cNvPr id="5" name="">
            <a:extLst xmlns:a="http://schemas.openxmlformats.org/drawingml/2006/main">
              <a:ext uri="{FF2B5EF4-FFF2-40B4-BE49-F238E27FC236}">
                <a16:creationId xmlns:a16="http://schemas.microsoft.com/office/drawing/2014/main" id="{996C2B51-3046-4320-B64A-C8ECDB9B6044}"/>
              </a:ext>
            </a:extLst>
          </p:cNvPr>
          <p:cNvSpPr>
            <a:spLocks xmlns:a="http://schemas.openxmlformats.org/drawingml/2006/main" noGrp="1"/>
          </p:cNvSpPr>
          <p:nvPr/>
        </p:nvSpPr>
        <p:spPr>
          <a:xfrm xmlns:a="http://schemas.openxmlformats.org/drawingml/2006/main">
            <a:off x="552450" y="9610725"/>
            <a:ext cx="6667500" cy="0"/>
          </a:xfrm>
          <a:prstGeom xmlns:a="http://schemas.openxmlformats.org/drawingml/2006/main" prst="line">
            <a:avLst/>
          </a:prstGeom>
          <a:noFill xmlns:a="http://schemas.openxmlformats.org/drawingml/2006/main"/>
          <a:ln xmlns:a="http://schemas.openxmlformats.org/drawingml/2006/main" w="11430">
            <a:solidFill>
              <a:srgbClr val="D9E2DA"/>
            </a:solidFill>
            <a:prstDash val="solid"/>
          </a:ln>
        </p:spPr>
      </p:sp>
      <p:sp>
        <p:nvSpPr>
          <p:cNvPr id="6" name="">
            <a:extLst xmlns:a="http://schemas.openxmlformats.org/drawingml/2006/main">
              <a:ext uri="{FF2B5EF4-FFF2-40B4-BE49-F238E27FC236}">
                <a16:creationId xmlns:a16="http://schemas.microsoft.com/office/drawing/2014/main" id="{1B411D40-82C9-40BF-9377-7C4E3995B2E3}"/>
              </a:ext>
            </a:extLst>
          </p:cNvPr>
          <p:cNvSpPr>
            <a:spLocks xmlns:a="http://schemas.openxmlformats.org/drawingml/2006/main" noGrp="1"/>
          </p:cNvSpPr>
          <p:nvPr/>
        </p:nvSpPr>
        <p:spPr>
          <a:xfrm xmlns:a="http://schemas.openxmlformats.org/drawingml/2006/main">
            <a:off x="552450" y="9715500"/>
            <a:ext cx="1762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660" b="0" i="0">
                <a:solidFill>
                  <a:srgbClr val="5C6C67"/>
                </a:solidFill>
                <a:latin typeface="Lato"/>
                <a:ea typeface="Lato"/>
                <a:cs typeface="Lato"/>
              </a:defRPr>
            </a:pPr>
            <a:r>
              <a:rPr sz="660" b="0" i="0">
                <a:solidFill>
                  <a:srgbClr val="5C6C67"/>
                </a:solidFill>
                <a:latin typeface="Lato"/>
                <a:ea typeface="Lato"/>
                <a:cs typeface="Lato"/>
              </a:rPr>
              <a:t>Mindful Diabetes Inc.</a:t>
            </a:r>
          </a:p>
        </p:txBody>
      </p:sp>
      <p:sp>
        <p:nvSpPr>
          <p:cNvPr id="7" name="">
            <a:extLst xmlns:a="http://schemas.openxmlformats.org/drawingml/2006/main">
              <a:ext uri="{FF2B5EF4-FFF2-40B4-BE49-F238E27FC236}">
                <a16:creationId xmlns:a16="http://schemas.microsoft.com/office/drawing/2014/main" id="{1204CF32-2A5D-4B3E-9A44-5295C799DDD1}"/>
              </a:ext>
            </a:extLst>
          </p:cNvPr>
          <p:cNvSpPr>
            <a:spLocks xmlns:a="http://schemas.openxmlformats.org/drawingml/2006/main" noGrp="1"/>
          </p:cNvSpPr>
          <p:nvPr/>
        </p:nvSpPr>
        <p:spPr>
          <a:xfrm xmlns:a="http://schemas.openxmlformats.org/drawingml/2006/main">
            <a:off x="3162300" y="9715500"/>
            <a:ext cx="14763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lnSpc>
                <a:spcPct val="116000"/>
              </a:lnSpc>
              <a:buNone/>
              <a:defRPr sz="660" b="0" i="0">
                <a:solidFill>
                  <a:srgbClr val="5C6C67"/>
                </a:solidFill>
                <a:latin typeface="Lato"/>
                <a:ea typeface="Lato"/>
                <a:cs typeface="Lato"/>
              </a:defRPr>
            </a:pPr>
            <a:r>
              <a:rPr sz="660" b="0" i="0">
                <a:solidFill>
                  <a:srgbClr val="5C6C67"/>
                </a:solidFill>
                <a:latin typeface="Lato"/>
                <a:ea typeface="Lato"/>
                <a:cs typeface="Lato"/>
              </a:rPr>
              <a:t>mindfuldiabetes.org</a:t>
            </a:r>
          </a:p>
        </p:txBody>
      </p:sp>
      <p:sp>
        <p:nvSpPr>
          <p:cNvPr id="8" name="">
            <a:extLst xmlns:a="http://schemas.openxmlformats.org/drawingml/2006/main">
              <a:ext uri="{FF2B5EF4-FFF2-40B4-BE49-F238E27FC236}">
                <a16:creationId xmlns:a16="http://schemas.microsoft.com/office/drawing/2014/main" id="{1A23A3F6-784F-40F6-9618-0628841E1F52}"/>
              </a:ext>
            </a:extLst>
          </p:cNvPr>
          <p:cNvSpPr>
            <a:spLocks xmlns:a="http://schemas.openxmlformats.org/drawingml/2006/main" noGrp="1"/>
          </p:cNvSpPr>
          <p:nvPr/>
        </p:nvSpPr>
        <p:spPr>
          <a:xfrm xmlns:a="http://schemas.openxmlformats.org/drawingml/2006/main">
            <a:off x="6886575" y="9715500"/>
            <a:ext cx="3333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r">
              <a:lnSpc>
                <a:spcPct val="116000"/>
              </a:lnSpc>
              <a:buNone/>
              <a:defRPr sz="660" b="0" i="0">
                <a:solidFill>
                  <a:srgbClr val="F26A2E"/>
                </a:solidFill>
                <a:latin typeface="Lato"/>
                <a:ea typeface="Lato"/>
                <a:cs typeface="Lato"/>
              </a:defRPr>
            </a:pPr>
            <a:r>
              <a:rPr sz="660" b="0" i="0">
                <a:solidFill>
                  <a:srgbClr val="F26A2E"/>
                </a:solidFill>
                <a:latin typeface="Lato"/>
                <a:ea typeface="Lato"/>
                <a:cs typeface="Lato"/>
              </a:rPr>
              <a:t>5</a:t>
            </a:r>
          </a:p>
        </p:txBody>
      </p:sp>
      <p:sp>
        <p:nvSpPr>
          <p:cNvPr id="9" name="">
            <a:extLst xmlns:a="http://schemas.openxmlformats.org/drawingml/2006/main">
              <a:ext uri="{FF2B5EF4-FFF2-40B4-BE49-F238E27FC236}">
                <a16:creationId xmlns:a16="http://schemas.microsoft.com/office/drawing/2014/main" id="{2A15EB77-3FD0-4CFC-A9F5-08F7B4FE999D}"/>
              </a:ext>
            </a:extLst>
          </p:cNvPr>
          <p:cNvSpPr>
            <a:spLocks xmlns:a="http://schemas.openxmlformats.org/drawingml/2006/main" noGrp="1"/>
          </p:cNvSpPr>
          <p:nvPr/>
        </p:nvSpPr>
        <p:spPr>
          <a:xfrm xmlns:a="http://schemas.openxmlformats.org/drawingml/2006/main">
            <a:off x="628650" y="790575"/>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900" b="1" i="0">
                <a:solidFill>
                  <a:srgbClr val="F26A2E"/>
                </a:solidFill>
                <a:latin typeface="Lato"/>
                <a:ea typeface="Lato"/>
                <a:cs typeface="Lato"/>
              </a:defRPr>
            </a:pPr>
            <a:r>
              <a:rPr sz="900" b="1" i="0">
                <a:solidFill>
                  <a:srgbClr val="F26A2E"/>
                </a:solidFill>
                <a:latin typeface="Lato"/>
                <a:ea typeface="Lato"/>
                <a:cs typeface="Lato"/>
              </a:rPr>
              <a:t>PLATE METHOD</a:t>
            </a:r>
          </a:p>
        </p:txBody>
      </p:sp>
      <p:sp>
        <p:nvSpPr>
          <p:cNvPr id="10" name="">
            <a:extLst xmlns:a="http://schemas.openxmlformats.org/drawingml/2006/main">
              <a:ext uri="{FF2B5EF4-FFF2-40B4-BE49-F238E27FC236}">
                <a16:creationId xmlns:a16="http://schemas.microsoft.com/office/drawing/2014/main" id="{6CCA883F-4208-4DDB-829B-A5050F33F43B}"/>
              </a:ext>
            </a:extLst>
          </p:cNvPr>
          <p:cNvSpPr>
            <a:spLocks xmlns:a="http://schemas.openxmlformats.org/drawingml/2006/main" noGrp="1"/>
          </p:cNvSpPr>
          <p:nvPr/>
        </p:nvSpPr>
        <p:spPr>
          <a:xfrm xmlns:a="http://schemas.openxmlformats.org/drawingml/2006/main">
            <a:off x="590550" y="1066800"/>
            <a:ext cx="619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03000"/>
              </a:lnSpc>
              <a:buNone/>
              <a:defRPr sz="2550" b="1" i="0">
                <a:solidFill>
                  <a:srgbClr val="192442"/>
                </a:solidFill>
                <a:latin typeface="Lora"/>
                <a:ea typeface="Lora"/>
                <a:cs typeface="Lora"/>
              </a:defRPr>
            </a:pPr>
            <a:r>
              <a:rPr sz="2550" b="1" i="0">
                <a:solidFill>
                  <a:srgbClr val="192442"/>
                </a:solidFill>
                <a:latin typeface="Lora"/>
                <a:ea typeface="Lora"/>
                <a:cs typeface="Lora"/>
              </a:rPr>
              <a:t>The Mindful Plate method</a:t>
            </a:r>
          </a:p>
        </p:txBody>
      </p:sp>
      <p:sp>
        <p:nvSpPr>
          <p:cNvPr id="11" name="">
            <a:extLst xmlns:a="http://schemas.openxmlformats.org/drawingml/2006/main">
              <a:ext uri="{FF2B5EF4-FFF2-40B4-BE49-F238E27FC236}">
                <a16:creationId xmlns:a16="http://schemas.microsoft.com/office/drawing/2014/main" id="{37863B51-8920-450A-A80C-1922FE1E67FE}"/>
              </a:ext>
            </a:extLst>
          </p:cNvPr>
          <p:cNvSpPr>
            <a:spLocks xmlns:a="http://schemas.openxmlformats.org/drawingml/2006/main" noGrp="1"/>
          </p:cNvSpPr>
          <p:nvPr/>
        </p:nvSpPr>
        <p:spPr>
          <a:xfrm xmlns:a="http://schemas.openxmlformats.org/drawingml/2006/main">
            <a:off x="628650" y="1866900"/>
            <a:ext cx="6381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25000"/>
              </a:lnSpc>
              <a:buNone/>
              <a:defRPr sz="1125" b="0" i="0">
                <a:solidFill>
                  <a:srgbClr val="5C6C67"/>
                </a:solidFill>
                <a:latin typeface="Lato"/>
                <a:ea typeface="Lato"/>
                <a:cs typeface="Lato"/>
              </a:defRPr>
            </a:pPr>
            <a:r>
              <a:rPr sz="1125" b="0" i="0">
                <a:solidFill>
                  <a:srgbClr val="5C6C67"/>
                </a:solidFill>
                <a:latin typeface="Lato"/>
                <a:ea typeface="Lato"/>
                <a:cs typeface="Lato"/>
              </a:rPr>
              <a:t>A common diabetes plate pattern uses about one-half non-starchy vegetables, one-quarter protein, one-quarter carbohydrate, and water or another low-calorie drink.</a:t>
            </a:r>
          </a:p>
        </p:txBody>
      </p:sp>
      <p:sp>
        <p:nvSpPr>
          <p:cNvPr id="12" name="">
            <a:extLst xmlns:a="http://schemas.openxmlformats.org/drawingml/2006/main">
              <a:ext uri="{FF2B5EF4-FFF2-40B4-BE49-F238E27FC236}">
                <a16:creationId xmlns:a16="http://schemas.microsoft.com/office/drawing/2014/main" id="{DF354353-2E44-446E-827A-6CFCD0D401CB}"/>
              </a:ext>
            </a:extLst>
          </p:cNvPr>
          <p:cNvSpPr>
            <a:spLocks xmlns:a="http://schemas.openxmlformats.org/drawingml/2006/main" noGrp="1"/>
          </p:cNvSpPr>
          <p:nvPr/>
        </p:nvSpPr>
        <p:spPr>
          <a:xfrm xmlns:a="http://schemas.openxmlformats.org/drawingml/2006/main">
            <a:off x="628650" y="2381250"/>
            <a:ext cx="3048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22000"/>
              </a:lnSpc>
              <a:buNone/>
              <a:defRPr sz="1050" b="0" i="0">
                <a:solidFill>
                  <a:srgbClr val="16211D"/>
                </a:solidFill>
                <a:latin typeface="Lato"/>
                <a:ea typeface="Lato"/>
                <a:cs typeface="Lato"/>
              </a:defRPr>
            </a:pPr>
            <a:r>
              <a:rPr sz="1050" b="0" i="0">
                <a:solidFill>
                  <a:srgbClr val="16211D"/>
                </a:solidFill>
                <a:latin typeface="Lato"/>
                <a:ea typeface="Lato"/>
                <a:cs typeface="Lato"/>
              </a:rPr>
              <a:t>It can fit bowls, soups, tacos, dal, stir-fries, sandwiches, and leftovers. Mixed dishes can still be balanced by thinking about what is inside them.</a:t>
            </a:r>
          </a:p>
        </p:txBody>
      </p:sp>
      <p:sp>
        <p:nvSpPr>
          <p:cNvPr id="13" name="">
            <a:extLst xmlns:a="http://schemas.openxmlformats.org/drawingml/2006/main">
              <a:ext uri="{FF2B5EF4-FFF2-40B4-BE49-F238E27FC236}">
                <a16:creationId xmlns:a16="http://schemas.microsoft.com/office/drawing/2014/main" id="{FE1D9B75-79A0-4728-B55C-C99F4AE8327E}"/>
              </a:ext>
            </a:extLst>
          </p:cNvPr>
          <p:cNvSpPr>
            <a:spLocks xmlns:a="http://schemas.openxmlformats.org/drawingml/2006/main" noGrp="1"/>
          </p:cNvSpPr>
          <p:nvPr/>
        </p:nvSpPr>
        <p:spPr>
          <a:xfrm xmlns:a="http://schemas.openxmlformats.org/drawingml/2006/main">
            <a:off x="666750" y="3667125"/>
            <a:ext cx="95250" cy="95250"/>
          </a:xfrm>
          <a:prstGeom xmlns:a="http://schemas.openxmlformats.org/drawingml/2006/main" prst="ellipse">
            <a:avLst/>
          </a:prstGeom>
          <a:solidFill xmlns:a="http://schemas.openxmlformats.org/drawingml/2006/main">
            <a:srgbClr val="F26A2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9A053FB-7A6B-4965-86C5-130D43C60F97}"/>
              </a:ext>
            </a:extLst>
          </p:cNvPr>
          <p:cNvSpPr>
            <a:spLocks xmlns:a="http://schemas.openxmlformats.org/drawingml/2006/main" noGrp="1"/>
          </p:cNvSpPr>
          <p:nvPr/>
        </p:nvSpPr>
        <p:spPr>
          <a:xfrm xmlns:a="http://schemas.openxmlformats.org/drawingml/2006/main">
            <a:off x="876300" y="3619500"/>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8000"/>
              </a:lnSpc>
              <a:buNone/>
              <a:defRPr sz="1013" b="0" i="0">
                <a:solidFill>
                  <a:srgbClr val="16211D"/>
                </a:solidFill>
                <a:latin typeface="Lato"/>
                <a:ea typeface="Lato"/>
                <a:cs typeface="Lato"/>
              </a:defRPr>
            </a:pPr>
            <a:r>
              <a:rPr sz="1013" b="0" i="0">
                <a:solidFill>
                  <a:srgbClr val="16211D"/>
                </a:solidFill>
                <a:latin typeface="Lato"/>
                <a:ea typeface="Lato"/>
                <a:cs typeface="Lato"/>
              </a:rPr>
              <a:t>Vegetables add volume, color, fiber, and nutrients.</a:t>
            </a:r>
          </a:p>
        </p:txBody>
      </p:sp>
      <p:sp>
        <p:nvSpPr>
          <p:cNvPr id="15" name="">
            <a:extLst xmlns:a="http://schemas.openxmlformats.org/drawingml/2006/main">
              <a:ext uri="{FF2B5EF4-FFF2-40B4-BE49-F238E27FC236}">
                <a16:creationId xmlns:a16="http://schemas.microsoft.com/office/drawing/2014/main" id="{765C20D2-7954-4244-ABF0-1614A10D8A6D}"/>
              </a:ext>
            </a:extLst>
          </p:cNvPr>
          <p:cNvSpPr>
            <a:spLocks xmlns:a="http://schemas.openxmlformats.org/drawingml/2006/main" noGrp="1"/>
          </p:cNvSpPr>
          <p:nvPr/>
        </p:nvSpPr>
        <p:spPr>
          <a:xfrm xmlns:a="http://schemas.openxmlformats.org/drawingml/2006/main">
            <a:off x="666750" y="4095750"/>
            <a:ext cx="95250" cy="95250"/>
          </a:xfrm>
          <a:prstGeom xmlns:a="http://schemas.openxmlformats.org/drawingml/2006/main" prst="ellipse">
            <a:avLst/>
          </a:prstGeom>
          <a:solidFill xmlns:a="http://schemas.openxmlformats.org/drawingml/2006/main">
            <a:srgbClr val="F26A2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7CA7C881-28F5-45B8-A2AA-54F0A9565B7E}"/>
              </a:ext>
            </a:extLst>
          </p:cNvPr>
          <p:cNvSpPr>
            <a:spLocks xmlns:a="http://schemas.openxmlformats.org/drawingml/2006/main" noGrp="1"/>
          </p:cNvSpPr>
          <p:nvPr/>
        </p:nvSpPr>
        <p:spPr>
          <a:xfrm xmlns:a="http://schemas.openxmlformats.org/drawingml/2006/main">
            <a:off x="876300" y="4048125"/>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8000"/>
              </a:lnSpc>
              <a:buNone/>
              <a:defRPr sz="1013" b="0" i="0">
                <a:solidFill>
                  <a:srgbClr val="16211D"/>
                </a:solidFill>
                <a:latin typeface="Lato"/>
                <a:ea typeface="Lato"/>
                <a:cs typeface="Lato"/>
              </a:defRPr>
            </a:pPr>
            <a:r>
              <a:rPr sz="1013" b="0" i="0">
                <a:solidFill>
                  <a:srgbClr val="16211D"/>
                </a:solidFill>
                <a:latin typeface="Lato"/>
                <a:ea typeface="Lato"/>
                <a:cs typeface="Lato"/>
              </a:rPr>
              <a:t>Protein can help a meal feel more satisfying.</a:t>
            </a:r>
          </a:p>
        </p:txBody>
      </p:sp>
      <p:sp>
        <p:nvSpPr>
          <p:cNvPr id="17" name="">
            <a:extLst xmlns:a="http://schemas.openxmlformats.org/drawingml/2006/main">
              <a:ext uri="{FF2B5EF4-FFF2-40B4-BE49-F238E27FC236}">
                <a16:creationId xmlns:a16="http://schemas.microsoft.com/office/drawing/2014/main" id="{1DBFC212-9084-4D6A-8EE1-4A352250EC8D}"/>
              </a:ext>
            </a:extLst>
          </p:cNvPr>
          <p:cNvSpPr>
            <a:spLocks xmlns:a="http://schemas.openxmlformats.org/drawingml/2006/main" noGrp="1"/>
          </p:cNvSpPr>
          <p:nvPr/>
        </p:nvSpPr>
        <p:spPr>
          <a:xfrm xmlns:a="http://schemas.openxmlformats.org/drawingml/2006/main">
            <a:off x="666750" y="4524375"/>
            <a:ext cx="95250" cy="95250"/>
          </a:xfrm>
          <a:prstGeom xmlns:a="http://schemas.openxmlformats.org/drawingml/2006/main" prst="ellipse">
            <a:avLst/>
          </a:prstGeom>
          <a:solidFill xmlns:a="http://schemas.openxmlformats.org/drawingml/2006/main">
            <a:srgbClr val="F26A2E"/>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24811AB-317E-4103-A3DD-2080585B699B}"/>
              </a:ext>
            </a:extLst>
          </p:cNvPr>
          <p:cNvSpPr>
            <a:spLocks xmlns:a="http://schemas.openxmlformats.org/drawingml/2006/main" noGrp="1"/>
          </p:cNvSpPr>
          <p:nvPr/>
        </p:nvSpPr>
        <p:spPr>
          <a:xfrm xmlns:a="http://schemas.openxmlformats.org/drawingml/2006/main">
            <a:off x="876300" y="4476750"/>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8000"/>
              </a:lnSpc>
              <a:buNone/>
              <a:defRPr sz="1013" b="0" i="0">
                <a:solidFill>
                  <a:srgbClr val="16211D"/>
                </a:solidFill>
                <a:latin typeface="Lato"/>
                <a:ea typeface="Lato"/>
                <a:cs typeface="Lato"/>
              </a:defRPr>
            </a:pPr>
            <a:r>
              <a:rPr sz="1013" b="0" i="0">
                <a:solidFill>
                  <a:srgbClr val="16211D"/>
                </a:solidFill>
                <a:latin typeface="Lato"/>
                <a:ea typeface="Lato"/>
                <a:cs typeface="Lato"/>
              </a:rPr>
              <a:t>Carbohydrate foods can fit with attention to portion and pairing.</a:t>
            </a:r>
          </a:p>
        </p:txBody>
      </p:sp>
      <p:sp>
        <p:nvSpPr>
          <p:cNvPr id="19" name="">
            <a:extLst xmlns:a="http://schemas.openxmlformats.org/drawingml/2006/main">
              <a:ext uri="{FF2B5EF4-FFF2-40B4-BE49-F238E27FC236}">
                <a16:creationId xmlns:a16="http://schemas.microsoft.com/office/drawing/2014/main" id="{CBFAA1E5-C3EF-4001-95F7-D02BCF720302}"/>
              </a:ext>
            </a:extLst>
          </p:cNvPr>
          <p:cNvSpPr>
            <a:spLocks xmlns:a="http://schemas.openxmlformats.org/drawingml/2006/main" noGrp="1"/>
          </p:cNvSpPr>
          <p:nvPr/>
        </p:nvSpPr>
        <p:spPr>
          <a:xfrm xmlns:a="http://schemas.openxmlformats.org/drawingml/2006/main">
            <a:off x="666750" y="4953000"/>
            <a:ext cx="95250" cy="95250"/>
          </a:xfrm>
          <a:prstGeom xmlns:a="http://schemas.openxmlformats.org/drawingml/2006/main" prst="ellipse">
            <a:avLst/>
          </a:prstGeom>
          <a:solidFill xmlns:a="http://schemas.openxmlformats.org/drawingml/2006/main">
            <a:srgbClr val="F26A2E"/>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2D62C09F-BD0B-495E-B4A5-516BFCBD8DC6}"/>
              </a:ext>
            </a:extLst>
          </p:cNvPr>
          <p:cNvSpPr>
            <a:spLocks xmlns:a="http://schemas.openxmlformats.org/drawingml/2006/main" noGrp="1"/>
          </p:cNvSpPr>
          <p:nvPr/>
        </p:nvSpPr>
        <p:spPr>
          <a:xfrm xmlns:a="http://schemas.openxmlformats.org/drawingml/2006/main">
            <a:off x="876300" y="4905375"/>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8000"/>
              </a:lnSpc>
              <a:buNone/>
              <a:defRPr sz="1013" b="0" i="0">
                <a:solidFill>
                  <a:srgbClr val="16211D"/>
                </a:solidFill>
                <a:latin typeface="Lato"/>
                <a:ea typeface="Lato"/>
                <a:cs typeface="Lato"/>
              </a:defRPr>
            </a:pPr>
            <a:r>
              <a:rPr sz="1013" b="0" i="0">
                <a:solidFill>
                  <a:srgbClr val="16211D"/>
                </a:solidFill>
                <a:latin typeface="Lato"/>
                <a:ea typeface="Lato"/>
                <a:cs typeface="Lato"/>
              </a:rPr>
              <a:t>A lower-sugar drink keeps the meal simpler.</a:t>
            </a:r>
          </a:p>
        </p:txBody>
      </p:sp>
      <p:sp>
        <p:nvSpPr>
          <p:cNvPr id="21" name="">
            <a:extLst xmlns:a="http://schemas.openxmlformats.org/drawingml/2006/main">
              <a:ext uri="{FF2B5EF4-FFF2-40B4-BE49-F238E27FC236}">
                <a16:creationId xmlns:a16="http://schemas.microsoft.com/office/drawing/2014/main" id="{773A6263-8E61-4244-B513-F48EB3C63658}"/>
              </a:ext>
            </a:extLst>
          </p:cNvPr>
          <p:cNvSpPr>
            <a:spLocks xmlns:a="http://schemas.openxmlformats.org/drawingml/2006/main" noGrp="1"/>
          </p:cNvSpPr>
          <p:nvPr/>
        </p:nvSpPr>
        <p:spPr>
          <a:xfrm xmlns:a="http://schemas.openxmlformats.org/drawingml/2006/main">
            <a:off x="4057650" y="2876550"/>
            <a:ext cx="2381250" cy="2381250"/>
          </a:xfrm>
          <a:prstGeom xmlns:a="http://schemas.openxmlformats.org/drawingml/2006/main" prst="ellipse">
            <a:avLst/>
          </a:prstGeom>
          <a:solidFill xmlns:a="http://schemas.openxmlformats.org/drawingml/2006/main">
            <a:srgbClr val="FFFFFF"/>
          </a:solidFill>
          <a:ln xmlns:a="http://schemas.openxmlformats.org/drawingml/2006/main" w="11430">
            <a:solidFill>
              <a:srgbClr val="192442"/>
            </a:solidFill>
            <a:prstDash val="solid"/>
          </a:ln>
        </p:spPr>
      </p:sp>
      <p:sp>
        <p:nvSpPr>
          <p:cNvPr id="22" name="">
            <a:extLst xmlns:a="http://schemas.openxmlformats.org/drawingml/2006/main">
              <a:ext uri="{FF2B5EF4-FFF2-40B4-BE49-F238E27FC236}">
                <a16:creationId xmlns:a16="http://schemas.microsoft.com/office/drawing/2014/main" id="{7D2996B1-EF5F-466D-8DE9-DBBCAC375C9C}"/>
              </a:ext>
            </a:extLst>
          </p:cNvPr>
          <p:cNvSpPr>
            <a:spLocks xmlns:a="http://schemas.openxmlformats.org/drawingml/2006/main" noGrp="1"/>
          </p:cNvSpPr>
          <p:nvPr/>
        </p:nvSpPr>
        <p:spPr>
          <a:xfrm xmlns:a="http://schemas.openxmlformats.org/drawingml/2006/main">
            <a:off x="5248275" y="2952750"/>
            <a:ext cx="0" cy="2228850"/>
          </a:xfrm>
          <a:prstGeom xmlns:a="http://schemas.openxmlformats.org/drawingml/2006/main" prst="line">
            <a:avLst/>
          </a:prstGeom>
          <a:noFill xmlns:a="http://schemas.openxmlformats.org/drawingml/2006/main"/>
          <a:ln xmlns:a="http://schemas.openxmlformats.org/drawingml/2006/main" w="11430">
            <a:solidFill>
              <a:srgbClr val="192442"/>
            </a:solidFill>
            <a:prstDash val="solid"/>
          </a:ln>
        </p:spPr>
      </p:sp>
      <p:sp>
        <p:nvSpPr>
          <p:cNvPr id="23" name="">
            <a:extLst xmlns:a="http://schemas.openxmlformats.org/drawingml/2006/main">
              <a:ext uri="{FF2B5EF4-FFF2-40B4-BE49-F238E27FC236}">
                <a16:creationId xmlns:a16="http://schemas.microsoft.com/office/drawing/2014/main" id="{675CE876-31C8-4F9A-9869-14A2DF0440A0}"/>
              </a:ext>
            </a:extLst>
          </p:cNvPr>
          <p:cNvSpPr>
            <a:spLocks xmlns:a="http://schemas.openxmlformats.org/drawingml/2006/main" noGrp="1"/>
          </p:cNvSpPr>
          <p:nvPr/>
        </p:nvSpPr>
        <p:spPr>
          <a:xfrm xmlns:a="http://schemas.openxmlformats.org/drawingml/2006/main">
            <a:off x="5248275" y="4067175"/>
            <a:ext cx="1114425" cy="0"/>
          </a:xfrm>
          <a:prstGeom xmlns:a="http://schemas.openxmlformats.org/drawingml/2006/main" prst="line">
            <a:avLst/>
          </a:prstGeom>
          <a:noFill xmlns:a="http://schemas.openxmlformats.org/drawingml/2006/main"/>
          <a:ln xmlns:a="http://schemas.openxmlformats.org/drawingml/2006/main" w="11430">
            <a:solidFill>
              <a:srgbClr val="192442"/>
            </a:solidFill>
            <a:prstDash val="solid"/>
          </a:ln>
        </p:spPr>
      </p:sp>
      <p:sp>
        <p:nvSpPr>
          <p:cNvPr id="24" name="">
            <a:extLst xmlns:a="http://schemas.openxmlformats.org/drawingml/2006/main">
              <a:ext uri="{FF2B5EF4-FFF2-40B4-BE49-F238E27FC236}">
                <a16:creationId xmlns:a16="http://schemas.microsoft.com/office/drawing/2014/main" id="{716830C4-5C5A-48F5-BA0E-681C5957E84D}"/>
              </a:ext>
            </a:extLst>
          </p:cNvPr>
          <p:cNvSpPr>
            <a:spLocks xmlns:a="http://schemas.openxmlformats.org/drawingml/2006/main" noGrp="1"/>
          </p:cNvSpPr>
          <p:nvPr/>
        </p:nvSpPr>
        <p:spPr>
          <a:xfrm xmlns:a="http://schemas.openxmlformats.org/drawingml/2006/main">
            <a:off x="4324350" y="3657600"/>
            <a:ext cx="71437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lnSpc>
                <a:spcPct val="105000"/>
              </a:lnSpc>
              <a:buNone/>
              <a:defRPr sz="900" b="1" i="0">
                <a:solidFill>
                  <a:srgbClr val="034B2F"/>
                </a:solidFill>
                <a:latin typeface="Lato"/>
                <a:ea typeface="Lato"/>
                <a:cs typeface="Lato"/>
              </a:defRPr>
            </a:pPr>
            <a:r>
              <a:rPr sz="900" b="1" i="0">
                <a:solidFill>
                  <a:srgbClr val="034B2F"/>
                </a:solidFill>
                <a:latin typeface="Lato"/>
                <a:ea typeface="Lato"/>
                <a:cs typeface="Lato"/>
              </a:rPr>
              <a:t>1/2 plate</a:t>
            </a:r>
          </a:p>
          <a:p xmlns:a="http://schemas.openxmlformats.org/drawingml/2006/main">
            <a:pPr algn="ctr">
              <a:lnSpc>
                <a:spcPct val="105000"/>
              </a:lnSpc>
              <a:buNone/>
              <a:defRPr sz="900" b="1" i="0">
                <a:solidFill>
                  <a:srgbClr val="034B2F"/>
                </a:solidFill>
                <a:latin typeface="Lato"/>
                <a:ea typeface="Lato"/>
                <a:cs typeface="Lato"/>
              </a:defRPr>
            </a:pPr>
            <a:r>
              <a:rPr sz="900" b="1" i="0">
                <a:solidFill>
                  <a:srgbClr val="034B2F"/>
                </a:solidFill>
                <a:latin typeface="Lato"/>
                <a:ea typeface="Lato"/>
                <a:cs typeface="Lato"/>
              </a:rPr>
              <a:t>non-starchy</a:t>
            </a:r>
          </a:p>
          <a:p xmlns:a="http://schemas.openxmlformats.org/drawingml/2006/main">
            <a:pPr algn="ctr">
              <a:lnSpc>
                <a:spcPct val="105000"/>
              </a:lnSpc>
              <a:buNone/>
              <a:defRPr sz="900" b="1" i="0">
                <a:solidFill>
                  <a:srgbClr val="034B2F"/>
                </a:solidFill>
                <a:latin typeface="Lato"/>
                <a:ea typeface="Lato"/>
                <a:cs typeface="Lato"/>
              </a:defRPr>
            </a:pPr>
            <a:r>
              <a:rPr sz="900" b="1" i="0">
                <a:solidFill>
                  <a:srgbClr val="034B2F"/>
                </a:solidFill>
                <a:latin typeface="Lato"/>
                <a:ea typeface="Lato"/>
                <a:cs typeface="Lato"/>
              </a:rPr>
              <a:t>vegetables</a:t>
            </a:r>
          </a:p>
        </p:txBody>
      </p:sp>
      <p:sp>
        <p:nvSpPr>
          <p:cNvPr id="25" name="">
            <a:extLst xmlns:a="http://schemas.openxmlformats.org/drawingml/2006/main">
              <a:ext uri="{FF2B5EF4-FFF2-40B4-BE49-F238E27FC236}">
                <a16:creationId xmlns:a16="http://schemas.microsoft.com/office/drawing/2014/main" id="{7F71C4C2-86B1-4FC3-B0C6-ED7FD5774212}"/>
              </a:ext>
            </a:extLst>
          </p:cNvPr>
          <p:cNvSpPr>
            <a:spLocks xmlns:a="http://schemas.openxmlformats.org/drawingml/2006/main" noGrp="1"/>
          </p:cNvSpPr>
          <p:nvPr/>
        </p:nvSpPr>
        <p:spPr>
          <a:xfrm xmlns:a="http://schemas.openxmlformats.org/drawingml/2006/main">
            <a:off x="5534025" y="3543300"/>
            <a:ext cx="6953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lnSpc>
                <a:spcPct val="105000"/>
              </a:lnSpc>
              <a:buNone/>
              <a:defRPr sz="900" b="1" i="0">
                <a:solidFill>
                  <a:srgbClr val="192442"/>
                </a:solidFill>
                <a:latin typeface="Lato"/>
                <a:ea typeface="Lato"/>
                <a:cs typeface="Lato"/>
              </a:defRPr>
            </a:pPr>
            <a:r>
              <a:rPr sz="900" b="1" i="0">
                <a:solidFill>
                  <a:srgbClr val="192442"/>
                </a:solidFill>
                <a:latin typeface="Lato"/>
                <a:ea typeface="Lato"/>
                <a:cs typeface="Lato"/>
              </a:rPr>
              <a:t>1/4 plate</a:t>
            </a:r>
          </a:p>
          <a:p xmlns:a="http://schemas.openxmlformats.org/drawingml/2006/main">
            <a:pPr algn="ctr">
              <a:lnSpc>
                <a:spcPct val="105000"/>
              </a:lnSpc>
              <a:buNone/>
              <a:defRPr sz="900" b="1" i="0">
                <a:solidFill>
                  <a:srgbClr val="192442"/>
                </a:solidFill>
                <a:latin typeface="Lato"/>
                <a:ea typeface="Lato"/>
                <a:cs typeface="Lato"/>
              </a:defRPr>
            </a:pPr>
            <a:r>
              <a:rPr sz="900" b="1" i="0">
                <a:solidFill>
                  <a:srgbClr val="192442"/>
                </a:solidFill>
                <a:latin typeface="Lato"/>
                <a:ea typeface="Lato"/>
                <a:cs typeface="Lato"/>
              </a:rPr>
              <a:t>protein</a:t>
            </a:r>
          </a:p>
        </p:txBody>
      </p:sp>
      <p:sp>
        <p:nvSpPr>
          <p:cNvPr id="26" name="">
            <a:extLst xmlns:a="http://schemas.openxmlformats.org/drawingml/2006/main">
              <a:ext uri="{FF2B5EF4-FFF2-40B4-BE49-F238E27FC236}">
                <a16:creationId xmlns:a16="http://schemas.microsoft.com/office/drawing/2014/main" id="{4B1862BB-C85A-4075-BC05-712479F2252B}"/>
              </a:ext>
            </a:extLst>
          </p:cNvPr>
          <p:cNvSpPr>
            <a:spLocks xmlns:a="http://schemas.openxmlformats.org/drawingml/2006/main" noGrp="1"/>
          </p:cNvSpPr>
          <p:nvPr/>
        </p:nvSpPr>
        <p:spPr>
          <a:xfrm xmlns:a="http://schemas.openxmlformats.org/drawingml/2006/main">
            <a:off x="5495925" y="4543425"/>
            <a:ext cx="6953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lnSpc>
                <a:spcPct val="105000"/>
              </a:lnSpc>
              <a:buNone/>
              <a:defRPr sz="900" b="1" i="0">
                <a:solidFill>
                  <a:srgbClr val="F26A2E"/>
                </a:solidFill>
                <a:latin typeface="Lato"/>
                <a:ea typeface="Lato"/>
                <a:cs typeface="Lato"/>
              </a:defRPr>
            </a:pPr>
            <a:r>
              <a:rPr sz="900" b="1" i="0">
                <a:solidFill>
                  <a:srgbClr val="F26A2E"/>
                </a:solidFill>
                <a:latin typeface="Lato"/>
                <a:ea typeface="Lato"/>
                <a:cs typeface="Lato"/>
              </a:rPr>
              <a:t>1/4 plate</a:t>
            </a:r>
          </a:p>
          <a:p xmlns:a="http://schemas.openxmlformats.org/drawingml/2006/main">
            <a:pPr algn="ctr">
              <a:lnSpc>
                <a:spcPct val="105000"/>
              </a:lnSpc>
              <a:buNone/>
              <a:defRPr sz="900" b="1" i="0">
                <a:solidFill>
                  <a:srgbClr val="F26A2E"/>
                </a:solidFill>
                <a:latin typeface="Lato"/>
                <a:ea typeface="Lato"/>
                <a:cs typeface="Lato"/>
              </a:defRPr>
            </a:pPr>
            <a:r>
              <a:rPr sz="900" b="1" i="0">
                <a:solidFill>
                  <a:srgbClr val="F26A2E"/>
                </a:solidFill>
                <a:latin typeface="Lato"/>
                <a:ea typeface="Lato"/>
                <a:cs typeface="Lato"/>
              </a:rPr>
              <a:t>carbohydrate</a:t>
            </a:r>
          </a:p>
        </p:txBody>
      </p:sp>
      <p:sp>
        <p:nvSpPr>
          <p:cNvPr id="27" name="">
            <a:extLst xmlns:a="http://schemas.openxmlformats.org/drawingml/2006/main">
              <a:ext uri="{FF2B5EF4-FFF2-40B4-BE49-F238E27FC236}">
                <a16:creationId xmlns:a16="http://schemas.microsoft.com/office/drawing/2014/main" id="{5100B3EB-0B7A-46A8-A98D-58D0ABFC3DAA}"/>
              </a:ext>
            </a:extLst>
          </p:cNvPr>
          <p:cNvSpPr>
            <a:spLocks xmlns:a="http://schemas.openxmlformats.org/drawingml/2006/main" noGrp="1"/>
          </p:cNvSpPr>
          <p:nvPr/>
        </p:nvSpPr>
        <p:spPr>
          <a:xfrm xmlns:a="http://schemas.openxmlformats.org/drawingml/2006/main">
            <a:off x="6391275" y="5133975"/>
            <a:ext cx="952500" cy="552450"/>
          </a:xfrm>
          <a:prstGeom xmlns:a="http://schemas.openxmlformats.org/drawingml/2006/main" prst="roundRect">
            <a:avLst>
              <a:gd name="adj" fmla="val 20690"/>
            </a:avLst>
          </a:prstGeom>
          <a:solidFill xmlns:a="http://schemas.openxmlformats.org/drawingml/2006/main">
            <a:srgbClr val="EEF7FA"/>
          </a:solidFill>
          <a:ln xmlns:a="http://schemas.openxmlformats.org/drawingml/2006/main" w="11430">
            <a:solidFill>
              <a:srgbClr val="BFDCE6"/>
            </a:solidFill>
            <a:prstDash val="solid"/>
          </a:ln>
        </p:spPr>
      </p:sp>
      <p:sp>
        <p:nvSpPr>
          <p:cNvPr id="28" name="">
            <a:extLst xmlns:a="http://schemas.openxmlformats.org/drawingml/2006/main">
              <a:ext uri="{FF2B5EF4-FFF2-40B4-BE49-F238E27FC236}">
                <a16:creationId xmlns:a16="http://schemas.microsoft.com/office/drawing/2014/main" id="{239D7354-0B2A-4C7C-AC34-48E768653D86}"/>
              </a:ext>
            </a:extLst>
          </p:cNvPr>
          <p:cNvSpPr>
            <a:spLocks xmlns:a="http://schemas.openxmlformats.org/drawingml/2006/main" noGrp="1"/>
          </p:cNvSpPr>
          <p:nvPr/>
        </p:nvSpPr>
        <p:spPr>
          <a:xfrm xmlns:a="http://schemas.openxmlformats.org/drawingml/2006/main">
            <a:off x="6505575" y="5257800"/>
            <a:ext cx="723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lnSpc>
                <a:spcPct val="108000"/>
              </a:lnSpc>
              <a:buNone/>
              <a:defRPr sz="825" b="1" i="0">
                <a:solidFill>
                  <a:srgbClr val="192442"/>
                </a:solidFill>
                <a:latin typeface="Lato"/>
                <a:ea typeface="Lato"/>
                <a:cs typeface="Lato"/>
              </a:defRPr>
            </a:pPr>
            <a:r>
              <a:rPr sz="825" b="1" i="0">
                <a:solidFill>
                  <a:srgbClr val="192442"/>
                </a:solidFill>
                <a:latin typeface="Lato"/>
                <a:ea typeface="Lato"/>
                <a:cs typeface="Lato"/>
              </a:rPr>
              <a:t>lower-sugar</a:t>
            </a:r>
          </a:p>
          <a:p xmlns:a="http://schemas.openxmlformats.org/drawingml/2006/main">
            <a:pPr algn="ctr">
              <a:lnSpc>
                <a:spcPct val="108000"/>
              </a:lnSpc>
              <a:buNone/>
              <a:defRPr sz="825" b="1" i="0">
                <a:solidFill>
                  <a:srgbClr val="192442"/>
                </a:solidFill>
                <a:latin typeface="Lato"/>
                <a:ea typeface="Lato"/>
                <a:cs typeface="Lato"/>
              </a:defRPr>
            </a:pPr>
            <a:r>
              <a:rPr sz="825" b="1" i="0">
                <a:solidFill>
                  <a:srgbClr val="192442"/>
                </a:solidFill>
                <a:latin typeface="Lato"/>
                <a:ea typeface="Lato"/>
                <a:cs typeface="Lato"/>
              </a:rPr>
              <a:t>drink</a:t>
            </a:r>
          </a:p>
        </p:txBody>
      </p:sp>
      <p:sp>
        <p:nvSpPr>
          <p:cNvPr id="29" name="">
            <a:extLst xmlns:a="http://schemas.openxmlformats.org/drawingml/2006/main">
              <a:ext uri="{FF2B5EF4-FFF2-40B4-BE49-F238E27FC236}">
                <a16:creationId xmlns:a16="http://schemas.microsoft.com/office/drawing/2014/main" id="{52EA0690-E70C-49D7-8ABF-14081C519E16}"/>
              </a:ext>
            </a:extLst>
          </p:cNvPr>
          <p:cNvSpPr>
            <a:spLocks xmlns:a="http://schemas.openxmlformats.org/drawingml/2006/main" noGrp="1"/>
          </p:cNvSpPr>
          <p:nvPr/>
        </p:nvSpPr>
        <p:spPr>
          <a:xfrm xmlns:a="http://schemas.openxmlformats.org/drawingml/2006/main">
            <a:off x="628650" y="8020050"/>
            <a:ext cx="6515100" cy="742950"/>
          </a:xfrm>
          <a:prstGeom xmlns:a="http://schemas.openxmlformats.org/drawingml/2006/main" prst="roundRect">
            <a:avLst>
              <a:gd name="adj" fmla="val 12821"/>
            </a:avLst>
          </a:prstGeom>
          <a:solidFill xmlns:a="http://schemas.openxmlformats.org/drawingml/2006/main">
            <a:srgbClr val="E6F2EC"/>
          </a:solidFill>
          <a:ln xmlns:a="http://schemas.openxmlformats.org/drawingml/2006/main" w="11430">
            <a:solidFill>
              <a:srgbClr val="B8D8C8"/>
            </a:solidFill>
            <a:prstDash val="solid"/>
          </a:ln>
        </p:spPr>
      </p:sp>
      <p:sp>
        <p:nvSpPr>
          <p:cNvPr id="30" name="">
            <a:extLst xmlns:a="http://schemas.openxmlformats.org/drawingml/2006/main">
              <a:ext uri="{FF2B5EF4-FFF2-40B4-BE49-F238E27FC236}">
                <a16:creationId xmlns:a16="http://schemas.microsoft.com/office/drawing/2014/main" id="{685D8B30-D85B-409F-BB1D-BB67F526F2AD}"/>
              </a:ext>
            </a:extLst>
          </p:cNvPr>
          <p:cNvSpPr>
            <a:spLocks xmlns:a="http://schemas.openxmlformats.org/drawingml/2006/main" noGrp="1"/>
          </p:cNvSpPr>
          <p:nvPr/>
        </p:nvSpPr>
        <p:spPr>
          <a:xfrm xmlns:a="http://schemas.openxmlformats.org/drawingml/2006/main">
            <a:off x="790575" y="81534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975" b="1" i="0">
                <a:solidFill>
                  <a:srgbClr val="034B2F"/>
                </a:solidFill>
                <a:latin typeface="Lato"/>
                <a:ea typeface="Lato"/>
                <a:cs typeface="Lato"/>
              </a:defRPr>
            </a:pPr>
            <a:r>
              <a:rPr sz="975" b="1" i="0">
                <a:solidFill>
                  <a:srgbClr val="034B2F"/>
                </a:solidFill>
                <a:latin typeface="Lato"/>
                <a:ea typeface="Lato"/>
                <a:cs typeface="Lato"/>
              </a:rPr>
              <a:t>What this does not mean</a:t>
            </a:r>
          </a:p>
        </p:txBody>
      </p:sp>
      <p:sp>
        <p:nvSpPr>
          <p:cNvPr id="31" name="">
            <a:extLst xmlns:a="http://schemas.openxmlformats.org/drawingml/2006/main">
              <a:ext uri="{FF2B5EF4-FFF2-40B4-BE49-F238E27FC236}">
                <a16:creationId xmlns:a16="http://schemas.microsoft.com/office/drawing/2014/main" id="{6E84A87C-C4B4-4056-8A27-ADFE3F8345D8}"/>
              </a:ext>
            </a:extLst>
          </p:cNvPr>
          <p:cNvSpPr>
            <a:spLocks xmlns:a="http://schemas.openxmlformats.org/drawingml/2006/main" noGrp="1"/>
          </p:cNvSpPr>
          <p:nvPr/>
        </p:nvSpPr>
        <p:spPr>
          <a:xfrm xmlns:a="http://schemas.openxmlformats.org/drawingml/2006/main">
            <a:off x="790575" y="8420100"/>
            <a:ext cx="619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7000"/>
              </a:lnSpc>
              <a:buNone/>
              <a:defRPr sz="900" b="0" i="0">
                <a:solidFill>
                  <a:srgbClr val="16211D"/>
                </a:solidFill>
                <a:latin typeface="Lato"/>
                <a:ea typeface="Lato"/>
                <a:cs typeface="Lato"/>
              </a:defRPr>
            </a:pPr>
            <a:r>
              <a:rPr sz="900" b="0" i="0">
                <a:solidFill>
                  <a:srgbClr val="16211D"/>
                </a:solidFill>
                <a:latin typeface="Lato"/>
                <a:ea typeface="Lato"/>
                <a:cs typeface="Lato"/>
              </a:rPr>
              <a:t>Every meal does not need to look separated on a plate. Culture, appetite, budget, and medical needs still matter.</a:t>
            </a:r>
          </a:p>
        </p:txBody>
      </p:sp>
    </p:spTree>
    <p:extLst>
      <p:ext uri="{BB962C8B-B14F-4D97-AF65-F5344CB8AC3E}">
        <p14:creationId xmlns:p14="http://schemas.microsoft.com/office/powerpoint/2010/main" val="1098648505"/>
      </p:ext>
    </p:extLst>
  </p:cSld>
</p:sld>
</file>

<file path=ppt/slides/slide6.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14a413eaef7243e8"/>
          <a:srcRect xmlns:a="http://schemas.openxmlformats.org/drawingml/2006/main" l="699" t="0" r="699" b="0"/>
          <a:stretch xmlns:a="http://schemas.openxmlformats.org/drawingml/2006/main">
            <a:fillRect l="0" t="0" r="0" b="0"/>
          </a:stretch>
        </p:blipFill>
        <p:spPr>
          <a:xfrm xmlns:a="http://schemas.openxmlformats.org/drawingml/2006/main">
            <a:off x="552450" y="285750"/>
            <a:ext cx="257175" cy="276225"/>
          </a:xfrm>
          <a:prstGeom xmlns:a="http://schemas.openxmlformats.org/drawingml/2006/main" prst="roundRect">
            <a:avLst>
              <a:gd name="adj" fmla="val 29630"/>
            </a:avLst>
          </a:prstGeom>
        </p:spPr>
      </p:pic>
      <p:sp>
        <p:nvSpPr>
          <p:cNvPr id="2" name="">
            <a:extLst xmlns:a="http://schemas.openxmlformats.org/drawingml/2006/main">
              <a:ext uri="{FF2B5EF4-FFF2-40B4-BE49-F238E27FC236}">
                <a16:creationId xmlns:a16="http://schemas.microsoft.com/office/drawing/2014/main" id="{ECD7BB4C-3D09-4344-A4BA-81EE6126025D}"/>
              </a:ext>
            </a:extLst>
          </p:cNvPr>
          <p:cNvSpPr>
            <a:spLocks xmlns:a="http://schemas.openxmlformats.org/drawingml/2006/main" noGrp="1"/>
          </p:cNvSpPr>
          <p:nvPr/>
        </p:nvSpPr>
        <p:spPr>
          <a:xfrm xmlns:a="http://schemas.openxmlformats.org/drawingml/2006/main">
            <a:off x="876300" y="3333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788" b="1" i="0">
                <a:solidFill>
                  <a:srgbClr val="034B2F"/>
                </a:solidFill>
                <a:latin typeface="Lora"/>
                <a:ea typeface="Lora"/>
                <a:cs typeface="Lora"/>
              </a:defRPr>
            </a:pPr>
            <a:r>
              <a:rPr sz="788" b="1" i="0">
                <a:solidFill>
                  <a:srgbClr val="034B2F"/>
                </a:solidFill>
                <a:latin typeface="Lora"/>
                <a:ea typeface="Lora"/>
                <a:cs typeface="Lora"/>
              </a:rPr>
              <a:t>The Mindful Plate</a:t>
            </a:r>
          </a:p>
        </p:txBody>
      </p:sp>
      <p:sp>
        <p:nvSpPr>
          <p:cNvPr id="3" name="">
            <a:extLst xmlns:a="http://schemas.openxmlformats.org/drawingml/2006/main">
              <a:ext uri="{FF2B5EF4-FFF2-40B4-BE49-F238E27FC236}">
                <a16:creationId xmlns:a16="http://schemas.microsoft.com/office/drawing/2014/main" id="{E1EA80A6-0846-4B6C-A36E-094CDEB721DA}"/>
              </a:ext>
            </a:extLst>
          </p:cNvPr>
          <p:cNvSpPr>
            <a:spLocks xmlns:a="http://schemas.openxmlformats.org/drawingml/2006/main" noGrp="1"/>
          </p:cNvSpPr>
          <p:nvPr/>
        </p:nvSpPr>
        <p:spPr>
          <a:xfrm xmlns:a="http://schemas.openxmlformats.org/drawingml/2006/main">
            <a:off x="876300" y="485775"/>
            <a:ext cx="2190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660" b="0" i="0">
                <a:solidFill>
                  <a:srgbClr val="5C6C67"/>
                </a:solidFill>
                <a:latin typeface="Lato"/>
                <a:ea typeface="Lato"/>
                <a:cs typeface="Lato"/>
              </a:defRPr>
            </a:pPr>
            <a:r>
              <a:rPr sz="660" b="0" i="0">
                <a:solidFill>
                  <a:srgbClr val="5C6C67"/>
                </a:solidFill>
                <a:latin typeface="Lato"/>
                <a:ea typeface="Lato"/>
                <a:cs typeface="Lato"/>
              </a:rPr>
              <a:t>Carbohydrates</a:t>
            </a:r>
          </a:p>
        </p:txBody>
      </p:sp>
      <p:sp>
        <p:nvSpPr>
          <p:cNvPr id="4" name="">
            <a:extLst xmlns:a="http://schemas.openxmlformats.org/drawingml/2006/main">
              <a:ext uri="{FF2B5EF4-FFF2-40B4-BE49-F238E27FC236}">
                <a16:creationId xmlns:a16="http://schemas.microsoft.com/office/drawing/2014/main" id="{B0D0408F-D0F6-4D44-9A72-459BE68B40D8}"/>
              </a:ext>
            </a:extLst>
          </p:cNvPr>
          <p:cNvSpPr>
            <a:spLocks xmlns:a="http://schemas.openxmlformats.org/drawingml/2006/main" noGrp="1"/>
          </p:cNvSpPr>
          <p:nvPr/>
        </p:nvSpPr>
        <p:spPr>
          <a:xfrm xmlns:a="http://schemas.openxmlformats.org/drawingml/2006/main">
            <a:off x="552450" y="714375"/>
            <a:ext cx="6667500" cy="0"/>
          </a:xfrm>
          <a:prstGeom xmlns:a="http://schemas.openxmlformats.org/drawingml/2006/main" prst="line">
            <a:avLst/>
          </a:prstGeom>
          <a:noFill xmlns:a="http://schemas.openxmlformats.org/drawingml/2006/main"/>
          <a:ln xmlns:a="http://schemas.openxmlformats.org/drawingml/2006/main" w="11430">
            <a:solidFill>
              <a:srgbClr val="D9E2DA"/>
            </a:solidFill>
            <a:prstDash val="solid"/>
          </a:ln>
        </p:spPr>
      </p:sp>
      <p:sp>
        <p:nvSpPr>
          <p:cNvPr id="5" name="">
            <a:extLst xmlns:a="http://schemas.openxmlformats.org/drawingml/2006/main">
              <a:ext uri="{FF2B5EF4-FFF2-40B4-BE49-F238E27FC236}">
                <a16:creationId xmlns:a16="http://schemas.microsoft.com/office/drawing/2014/main" id="{573506C9-89DB-4C43-B68A-A1E7CF3CF2AA}"/>
              </a:ext>
            </a:extLst>
          </p:cNvPr>
          <p:cNvSpPr>
            <a:spLocks xmlns:a="http://schemas.openxmlformats.org/drawingml/2006/main" noGrp="1"/>
          </p:cNvSpPr>
          <p:nvPr/>
        </p:nvSpPr>
        <p:spPr>
          <a:xfrm xmlns:a="http://schemas.openxmlformats.org/drawingml/2006/main">
            <a:off x="552450" y="9610725"/>
            <a:ext cx="6667500" cy="0"/>
          </a:xfrm>
          <a:prstGeom xmlns:a="http://schemas.openxmlformats.org/drawingml/2006/main" prst="line">
            <a:avLst/>
          </a:prstGeom>
          <a:noFill xmlns:a="http://schemas.openxmlformats.org/drawingml/2006/main"/>
          <a:ln xmlns:a="http://schemas.openxmlformats.org/drawingml/2006/main" w="11430">
            <a:solidFill>
              <a:srgbClr val="D9E2DA"/>
            </a:solidFill>
            <a:prstDash val="solid"/>
          </a:ln>
        </p:spPr>
      </p:sp>
      <p:sp>
        <p:nvSpPr>
          <p:cNvPr id="6" name="">
            <a:extLst xmlns:a="http://schemas.openxmlformats.org/drawingml/2006/main">
              <a:ext uri="{FF2B5EF4-FFF2-40B4-BE49-F238E27FC236}">
                <a16:creationId xmlns:a16="http://schemas.microsoft.com/office/drawing/2014/main" id="{039D45A9-5EF7-4652-9002-641009D3F5C6}"/>
              </a:ext>
            </a:extLst>
          </p:cNvPr>
          <p:cNvSpPr>
            <a:spLocks xmlns:a="http://schemas.openxmlformats.org/drawingml/2006/main" noGrp="1"/>
          </p:cNvSpPr>
          <p:nvPr/>
        </p:nvSpPr>
        <p:spPr>
          <a:xfrm xmlns:a="http://schemas.openxmlformats.org/drawingml/2006/main">
            <a:off x="552450" y="9715500"/>
            <a:ext cx="1762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660" b="0" i="0">
                <a:solidFill>
                  <a:srgbClr val="5C6C67"/>
                </a:solidFill>
                <a:latin typeface="Lato"/>
                <a:ea typeface="Lato"/>
                <a:cs typeface="Lato"/>
              </a:defRPr>
            </a:pPr>
            <a:r>
              <a:rPr sz="660" b="0" i="0">
                <a:solidFill>
                  <a:srgbClr val="5C6C67"/>
                </a:solidFill>
                <a:latin typeface="Lato"/>
                <a:ea typeface="Lato"/>
                <a:cs typeface="Lato"/>
              </a:rPr>
              <a:t>Mindful Diabetes Inc.</a:t>
            </a:r>
          </a:p>
        </p:txBody>
      </p:sp>
      <p:sp>
        <p:nvSpPr>
          <p:cNvPr id="7" name="">
            <a:extLst xmlns:a="http://schemas.openxmlformats.org/drawingml/2006/main">
              <a:ext uri="{FF2B5EF4-FFF2-40B4-BE49-F238E27FC236}">
                <a16:creationId xmlns:a16="http://schemas.microsoft.com/office/drawing/2014/main" id="{68335323-35EC-4C38-BCFA-C9A6E73B0536}"/>
              </a:ext>
            </a:extLst>
          </p:cNvPr>
          <p:cNvSpPr>
            <a:spLocks xmlns:a="http://schemas.openxmlformats.org/drawingml/2006/main" noGrp="1"/>
          </p:cNvSpPr>
          <p:nvPr/>
        </p:nvSpPr>
        <p:spPr>
          <a:xfrm xmlns:a="http://schemas.openxmlformats.org/drawingml/2006/main">
            <a:off x="3162300" y="9715500"/>
            <a:ext cx="14763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lnSpc>
                <a:spcPct val="116000"/>
              </a:lnSpc>
              <a:buNone/>
              <a:defRPr sz="660" b="0" i="0">
                <a:solidFill>
                  <a:srgbClr val="5C6C67"/>
                </a:solidFill>
                <a:latin typeface="Lato"/>
                <a:ea typeface="Lato"/>
                <a:cs typeface="Lato"/>
              </a:defRPr>
            </a:pPr>
            <a:r>
              <a:rPr sz="660" b="0" i="0">
                <a:solidFill>
                  <a:srgbClr val="5C6C67"/>
                </a:solidFill>
                <a:latin typeface="Lato"/>
                <a:ea typeface="Lato"/>
                <a:cs typeface="Lato"/>
              </a:rPr>
              <a:t>mindfuldiabetes.org</a:t>
            </a:r>
          </a:p>
        </p:txBody>
      </p:sp>
      <p:sp>
        <p:nvSpPr>
          <p:cNvPr id="8" name="">
            <a:extLst xmlns:a="http://schemas.openxmlformats.org/drawingml/2006/main">
              <a:ext uri="{FF2B5EF4-FFF2-40B4-BE49-F238E27FC236}">
                <a16:creationId xmlns:a16="http://schemas.microsoft.com/office/drawing/2014/main" id="{27F2239D-C17E-4FAE-9A07-8B56FDE36B1D}"/>
              </a:ext>
            </a:extLst>
          </p:cNvPr>
          <p:cNvSpPr>
            <a:spLocks xmlns:a="http://schemas.openxmlformats.org/drawingml/2006/main" noGrp="1"/>
          </p:cNvSpPr>
          <p:nvPr/>
        </p:nvSpPr>
        <p:spPr>
          <a:xfrm xmlns:a="http://schemas.openxmlformats.org/drawingml/2006/main">
            <a:off x="6886575" y="9715500"/>
            <a:ext cx="3333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r">
              <a:lnSpc>
                <a:spcPct val="116000"/>
              </a:lnSpc>
              <a:buNone/>
              <a:defRPr sz="660" b="0" i="0">
                <a:solidFill>
                  <a:srgbClr val="F26A2E"/>
                </a:solidFill>
                <a:latin typeface="Lato"/>
                <a:ea typeface="Lato"/>
                <a:cs typeface="Lato"/>
              </a:defRPr>
            </a:pPr>
            <a:r>
              <a:rPr sz="660" b="0" i="0">
                <a:solidFill>
                  <a:srgbClr val="F26A2E"/>
                </a:solidFill>
                <a:latin typeface="Lato"/>
                <a:ea typeface="Lato"/>
                <a:cs typeface="Lato"/>
              </a:rPr>
              <a:t>6</a:t>
            </a:r>
          </a:p>
        </p:txBody>
      </p:sp>
      <p:sp>
        <p:nvSpPr>
          <p:cNvPr id="9" name="">
            <a:extLst xmlns:a="http://schemas.openxmlformats.org/drawingml/2006/main">
              <a:ext uri="{FF2B5EF4-FFF2-40B4-BE49-F238E27FC236}">
                <a16:creationId xmlns:a16="http://schemas.microsoft.com/office/drawing/2014/main" id="{FC94B4D9-732E-450C-9023-B7343FC38D31}"/>
              </a:ext>
            </a:extLst>
          </p:cNvPr>
          <p:cNvSpPr>
            <a:spLocks xmlns:a="http://schemas.openxmlformats.org/drawingml/2006/main" noGrp="1"/>
          </p:cNvSpPr>
          <p:nvPr/>
        </p:nvSpPr>
        <p:spPr>
          <a:xfrm xmlns:a="http://schemas.openxmlformats.org/drawingml/2006/main">
            <a:off x="628650" y="790575"/>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900" b="1" i="0">
                <a:solidFill>
                  <a:srgbClr val="F26A2E"/>
                </a:solidFill>
                <a:latin typeface="Lato"/>
                <a:ea typeface="Lato"/>
                <a:cs typeface="Lato"/>
              </a:defRPr>
            </a:pPr>
            <a:r>
              <a:rPr sz="900" b="1" i="0">
                <a:solidFill>
                  <a:srgbClr val="F26A2E"/>
                </a:solidFill>
                <a:latin typeface="Lato"/>
                <a:ea typeface="Lato"/>
                <a:cs typeface="Lato"/>
              </a:rPr>
              <a:t>CARBOHYDRATES</a:t>
            </a:r>
          </a:p>
        </p:txBody>
      </p:sp>
      <p:sp>
        <p:nvSpPr>
          <p:cNvPr id="10" name="">
            <a:extLst xmlns:a="http://schemas.openxmlformats.org/drawingml/2006/main">
              <a:ext uri="{FF2B5EF4-FFF2-40B4-BE49-F238E27FC236}">
                <a16:creationId xmlns:a16="http://schemas.microsoft.com/office/drawing/2014/main" id="{6FAC3B3A-9EA9-412A-876C-C5BAA563DDF6}"/>
              </a:ext>
            </a:extLst>
          </p:cNvPr>
          <p:cNvSpPr>
            <a:spLocks xmlns:a="http://schemas.openxmlformats.org/drawingml/2006/main" noGrp="1"/>
          </p:cNvSpPr>
          <p:nvPr/>
        </p:nvSpPr>
        <p:spPr>
          <a:xfrm xmlns:a="http://schemas.openxmlformats.org/drawingml/2006/main">
            <a:off x="590550" y="1066800"/>
            <a:ext cx="619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03000"/>
              </a:lnSpc>
              <a:buNone/>
              <a:defRPr sz="2550" b="1" i="0">
                <a:solidFill>
                  <a:srgbClr val="192442"/>
                </a:solidFill>
                <a:latin typeface="Lora"/>
                <a:ea typeface="Lora"/>
                <a:cs typeface="Lora"/>
              </a:defRPr>
            </a:pPr>
            <a:r>
              <a:rPr sz="2550" b="1" i="0">
                <a:solidFill>
                  <a:srgbClr val="192442"/>
                </a:solidFill>
                <a:latin typeface="Lora"/>
                <a:ea typeface="Lora"/>
                <a:cs typeface="Lora"/>
              </a:rPr>
              <a:t>Carbs without confusion</a:t>
            </a:r>
          </a:p>
        </p:txBody>
      </p:sp>
      <p:sp>
        <p:nvSpPr>
          <p:cNvPr id="11" name="">
            <a:extLst xmlns:a="http://schemas.openxmlformats.org/drawingml/2006/main">
              <a:ext uri="{FF2B5EF4-FFF2-40B4-BE49-F238E27FC236}">
                <a16:creationId xmlns:a16="http://schemas.microsoft.com/office/drawing/2014/main" id="{5A661E0D-0598-4320-9F3D-C70BD7E5AB99}"/>
              </a:ext>
            </a:extLst>
          </p:cNvPr>
          <p:cNvSpPr>
            <a:spLocks xmlns:a="http://schemas.openxmlformats.org/drawingml/2006/main" noGrp="1"/>
          </p:cNvSpPr>
          <p:nvPr/>
        </p:nvSpPr>
        <p:spPr>
          <a:xfrm xmlns:a="http://schemas.openxmlformats.org/drawingml/2006/main">
            <a:off x="628650" y="1866900"/>
            <a:ext cx="6381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25000"/>
              </a:lnSpc>
              <a:buNone/>
              <a:defRPr sz="1125" b="0" i="0">
                <a:solidFill>
                  <a:srgbClr val="5C6C67"/>
                </a:solidFill>
                <a:latin typeface="Lato"/>
                <a:ea typeface="Lato"/>
                <a:cs typeface="Lato"/>
              </a:defRPr>
            </a:pPr>
            <a:r>
              <a:rPr sz="1125" b="0" i="0">
                <a:solidFill>
                  <a:srgbClr val="5C6C67"/>
                </a:solidFill>
                <a:latin typeface="Lato"/>
                <a:ea typeface="Lato"/>
                <a:cs typeface="Lato"/>
              </a:rPr>
              <a:t>Carbohydrates are not automatically forbidden. The type, amount, and what you eat with them matter.</a:t>
            </a:r>
          </a:p>
        </p:txBody>
      </p:sp>
      <p:sp>
        <p:nvSpPr>
          <p:cNvPr id="12" name="">
            <a:extLst xmlns:a="http://schemas.openxmlformats.org/drawingml/2006/main">
              <a:ext uri="{FF2B5EF4-FFF2-40B4-BE49-F238E27FC236}">
                <a16:creationId xmlns:a16="http://schemas.microsoft.com/office/drawing/2014/main" id="{CD7019E3-9B35-4B48-B3AD-E0B897140A8C}"/>
              </a:ext>
            </a:extLst>
          </p:cNvPr>
          <p:cNvSpPr>
            <a:spLocks xmlns:a="http://schemas.openxmlformats.org/drawingml/2006/main" noGrp="1"/>
          </p:cNvSpPr>
          <p:nvPr/>
        </p:nvSpPr>
        <p:spPr>
          <a:xfrm xmlns:a="http://schemas.openxmlformats.org/drawingml/2006/main">
            <a:off x="628650" y="2667000"/>
            <a:ext cx="3028950" cy="781050"/>
          </a:xfrm>
          <a:prstGeom xmlns:a="http://schemas.openxmlformats.org/drawingml/2006/main" prst="roundRect">
            <a:avLst>
              <a:gd name="adj" fmla="val 12195"/>
            </a:avLst>
          </a:prstGeom>
          <a:solidFill xmlns:a="http://schemas.openxmlformats.org/drawingml/2006/main">
            <a:srgbClr val="FFFFFF"/>
          </a:solidFill>
          <a:ln xmlns:a="http://schemas.openxmlformats.org/drawingml/2006/main" w="11430">
            <a:solidFill>
              <a:srgbClr val="D9E2DA"/>
            </a:solidFill>
            <a:prstDash val="solid"/>
          </a:ln>
        </p:spPr>
      </p:sp>
      <p:sp>
        <p:nvSpPr>
          <p:cNvPr id="13" name="">
            <a:extLst xmlns:a="http://schemas.openxmlformats.org/drawingml/2006/main">
              <a:ext uri="{FF2B5EF4-FFF2-40B4-BE49-F238E27FC236}">
                <a16:creationId xmlns:a16="http://schemas.microsoft.com/office/drawing/2014/main" id="{E19A6E42-BA40-4966-8B1A-FF92255E3F7C}"/>
              </a:ext>
            </a:extLst>
          </p:cNvPr>
          <p:cNvSpPr>
            <a:spLocks xmlns:a="http://schemas.openxmlformats.org/drawingml/2006/main" noGrp="1"/>
          </p:cNvSpPr>
          <p:nvPr/>
        </p:nvSpPr>
        <p:spPr>
          <a:xfrm xmlns:a="http://schemas.openxmlformats.org/drawingml/2006/main">
            <a:off x="781050" y="2857500"/>
            <a:ext cx="190500" cy="190500"/>
          </a:xfrm>
          <a:prstGeom xmlns:a="http://schemas.openxmlformats.org/drawingml/2006/main" prst="ellipse">
            <a:avLst/>
          </a:prstGeom>
          <a:solidFill xmlns:a="http://schemas.openxmlformats.org/drawingml/2006/main">
            <a:srgbClr val="EEF7FA"/>
          </a:solidFill>
          <a:ln xmlns:a="http://schemas.openxmlformats.org/drawingml/2006/main" w="11430">
            <a:solidFill>
              <a:srgbClr val="034B2F"/>
            </a:solidFill>
            <a:prstDash val="solid"/>
          </a:ln>
        </p:spPr>
      </p:sp>
      <p:sp>
        <p:nvSpPr>
          <p:cNvPr id="14" name="">
            <a:extLst xmlns:a="http://schemas.openxmlformats.org/drawingml/2006/main">
              <a:ext uri="{FF2B5EF4-FFF2-40B4-BE49-F238E27FC236}">
                <a16:creationId xmlns:a16="http://schemas.microsoft.com/office/drawing/2014/main" id="{8B557661-9D86-4F74-9A51-41A1178AF789}"/>
              </a:ext>
            </a:extLst>
          </p:cNvPr>
          <p:cNvSpPr>
            <a:spLocks xmlns:a="http://schemas.openxmlformats.org/drawingml/2006/main" noGrp="1"/>
          </p:cNvSpPr>
          <p:nvPr/>
        </p:nvSpPr>
        <p:spPr>
          <a:xfrm xmlns:a="http://schemas.openxmlformats.org/drawingml/2006/main">
            <a:off x="1085850" y="2819400"/>
            <a:ext cx="2419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1013" b="1" i="0">
                <a:solidFill>
                  <a:srgbClr val="192442"/>
                </a:solidFill>
                <a:latin typeface="Lato"/>
                <a:ea typeface="Lato"/>
                <a:cs typeface="Lato"/>
              </a:defRPr>
            </a:pPr>
            <a:r>
              <a:rPr sz="1013" b="1" i="0">
                <a:solidFill>
                  <a:srgbClr val="192442"/>
                </a:solidFill>
                <a:latin typeface="Lato"/>
                <a:ea typeface="Lato"/>
                <a:cs typeface="Lato"/>
              </a:rPr>
              <a:t>Grains</a:t>
            </a:r>
          </a:p>
        </p:txBody>
      </p:sp>
      <p:sp>
        <p:nvSpPr>
          <p:cNvPr id="15" name="">
            <a:extLst xmlns:a="http://schemas.openxmlformats.org/drawingml/2006/main">
              <a:ext uri="{FF2B5EF4-FFF2-40B4-BE49-F238E27FC236}">
                <a16:creationId xmlns:a16="http://schemas.microsoft.com/office/drawing/2014/main" id="{2C1F4B49-6BD9-4369-93F4-4C37B69790D8}"/>
              </a:ext>
            </a:extLst>
          </p:cNvPr>
          <p:cNvSpPr>
            <a:spLocks xmlns:a="http://schemas.openxmlformats.org/drawingml/2006/main" noGrp="1"/>
          </p:cNvSpPr>
          <p:nvPr/>
        </p:nvSpPr>
        <p:spPr>
          <a:xfrm xmlns:a="http://schemas.openxmlformats.org/drawingml/2006/main">
            <a:off x="1085850" y="3038475"/>
            <a:ext cx="2419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0000"/>
              </a:lnSpc>
              <a:buNone/>
              <a:defRPr sz="788" b="0" i="0">
                <a:solidFill>
                  <a:srgbClr val="5C6C67"/>
                </a:solidFill>
                <a:latin typeface="Lato"/>
                <a:ea typeface="Lato"/>
                <a:cs typeface="Lato"/>
              </a:defRPr>
            </a:pPr>
            <a:r>
              <a:rPr sz="788" b="0" i="0">
                <a:solidFill>
                  <a:srgbClr val="5C6C67"/>
                </a:solidFill>
                <a:latin typeface="Lato"/>
                <a:ea typeface="Lato"/>
                <a:cs typeface="Lato"/>
              </a:rPr>
              <a:t>rice, oats, bread, pasta, tortillas</a:t>
            </a:r>
          </a:p>
        </p:txBody>
      </p:sp>
      <p:sp>
        <p:nvSpPr>
          <p:cNvPr id="16" name="">
            <a:extLst xmlns:a="http://schemas.openxmlformats.org/drawingml/2006/main">
              <a:ext uri="{FF2B5EF4-FFF2-40B4-BE49-F238E27FC236}">
                <a16:creationId xmlns:a16="http://schemas.microsoft.com/office/drawing/2014/main" id="{5116119E-0C4F-4923-8A33-720755843845}"/>
              </a:ext>
            </a:extLst>
          </p:cNvPr>
          <p:cNvSpPr>
            <a:spLocks xmlns:a="http://schemas.openxmlformats.org/drawingml/2006/main" noGrp="1"/>
          </p:cNvSpPr>
          <p:nvPr/>
        </p:nvSpPr>
        <p:spPr>
          <a:xfrm xmlns:a="http://schemas.openxmlformats.org/drawingml/2006/main">
            <a:off x="3924300" y="2667000"/>
            <a:ext cx="3028950" cy="781050"/>
          </a:xfrm>
          <a:prstGeom xmlns:a="http://schemas.openxmlformats.org/drawingml/2006/main" prst="roundRect">
            <a:avLst>
              <a:gd name="adj" fmla="val 12195"/>
            </a:avLst>
          </a:prstGeom>
          <a:solidFill xmlns:a="http://schemas.openxmlformats.org/drawingml/2006/main">
            <a:srgbClr val="FFFFFF"/>
          </a:solidFill>
          <a:ln xmlns:a="http://schemas.openxmlformats.org/drawingml/2006/main" w="11430">
            <a:solidFill>
              <a:srgbClr val="D9E2DA"/>
            </a:solidFill>
            <a:prstDash val="solid"/>
          </a:ln>
        </p:spPr>
      </p:sp>
      <p:sp>
        <p:nvSpPr>
          <p:cNvPr id="17" name="">
            <a:extLst xmlns:a="http://schemas.openxmlformats.org/drawingml/2006/main">
              <a:ext uri="{FF2B5EF4-FFF2-40B4-BE49-F238E27FC236}">
                <a16:creationId xmlns:a16="http://schemas.microsoft.com/office/drawing/2014/main" id="{52C1664E-EDE7-47AC-A562-B760E95C4AF7}"/>
              </a:ext>
            </a:extLst>
          </p:cNvPr>
          <p:cNvSpPr>
            <a:spLocks xmlns:a="http://schemas.openxmlformats.org/drawingml/2006/main" noGrp="1"/>
          </p:cNvSpPr>
          <p:nvPr/>
        </p:nvSpPr>
        <p:spPr>
          <a:xfrm xmlns:a="http://schemas.openxmlformats.org/drawingml/2006/main">
            <a:off x="4076700" y="2857500"/>
            <a:ext cx="190500" cy="190500"/>
          </a:xfrm>
          <a:prstGeom xmlns:a="http://schemas.openxmlformats.org/drawingml/2006/main" prst="ellipse">
            <a:avLst/>
          </a:prstGeom>
          <a:solidFill xmlns:a="http://schemas.openxmlformats.org/drawingml/2006/main">
            <a:srgbClr val="E6F2EC"/>
          </a:solidFill>
          <a:ln xmlns:a="http://schemas.openxmlformats.org/drawingml/2006/main" w="11430">
            <a:solidFill>
              <a:srgbClr val="034B2F"/>
            </a:solidFill>
            <a:prstDash val="solid"/>
          </a:ln>
        </p:spPr>
      </p:sp>
      <p:sp>
        <p:nvSpPr>
          <p:cNvPr id="18" name="">
            <a:extLst xmlns:a="http://schemas.openxmlformats.org/drawingml/2006/main">
              <a:ext uri="{FF2B5EF4-FFF2-40B4-BE49-F238E27FC236}">
                <a16:creationId xmlns:a16="http://schemas.microsoft.com/office/drawing/2014/main" id="{81ED4F20-AE61-48DD-AAEF-5AC981A90252}"/>
              </a:ext>
            </a:extLst>
          </p:cNvPr>
          <p:cNvSpPr>
            <a:spLocks xmlns:a="http://schemas.openxmlformats.org/drawingml/2006/main" noGrp="1"/>
          </p:cNvSpPr>
          <p:nvPr/>
        </p:nvSpPr>
        <p:spPr>
          <a:xfrm xmlns:a="http://schemas.openxmlformats.org/drawingml/2006/main">
            <a:off x="4381500" y="2819400"/>
            <a:ext cx="2419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1013" b="1" i="0">
                <a:solidFill>
                  <a:srgbClr val="192442"/>
                </a:solidFill>
                <a:latin typeface="Lato"/>
                <a:ea typeface="Lato"/>
                <a:cs typeface="Lato"/>
              </a:defRPr>
            </a:pPr>
            <a:r>
              <a:rPr sz="1013" b="1" i="0">
                <a:solidFill>
                  <a:srgbClr val="192442"/>
                </a:solidFill>
                <a:latin typeface="Lato"/>
                <a:ea typeface="Lato"/>
                <a:cs typeface="Lato"/>
              </a:rPr>
              <a:t>Starchy vegetables</a:t>
            </a:r>
          </a:p>
        </p:txBody>
      </p:sp>
      <p:sp>
        <p:nvSpPr>
          <p:cNvPr id="19" name="">
            <a:extLst xmlns:a="http://schemas.openxmlformats.org/drawingml/2006/main">
              <a:ext uri="{FF2B5EF4-FFF2-40B4-BE49-F238E27FC236}">
                <a16:creationId xmlns:a16="http://schemas.microsoft.com/office/drawing/2014/main" id="{CAC8F5F2-21EF-42AB-91A4-EADF614D675C}"/>
              </a:ext>
            </a:extLst>
          </p:cNvPr>
          <p:cNvSpPr>
            <a:spLocks xmlns:a="http://schemas.openxmlformats.org/drawingml/2006/main" noGrp="1"/>
          </p:cNvSpPr>
          <p:nvPr/>
        </p:nvSpPr>
        <p:spPr>
          <a:xfrm xmlns:a="http://schemas.openxmlformats.org/drawingml/2006/main">
            <a:off x="4381500" y="3038475"/>
            <a:ext cx="2419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0000"/>
              </a:lnSpc>
              <a:buNone/>
              <a:defRPr sz="788" b="0" i="0">
                <a:solidFill>
                  <a:srgbClr val="5C6C67"/>
                </a:solidFill>
                <a:latin typeface="Lato"/>
                <a:ea typeface="Lato"/>
                <a:cs typeface="Lato"/>
              </a:defRPr>
            </a:pPr>
            <a:r>
              <a:rPr sz="788" b="0" i="0">
                <a:solidFill>
                  <a:srgbClr val="5C6C67"/>
                </a:solidFill>
                <a:latin typeface="Lato"/>
                <a:ea typeface="Lato"/>
                <a:cs typeface="Lato"/>
              </a:rPr>
              <a:t>potatoes, corn, peas, winter squash</a:t>
            </a:r>
          </a:p>
        </p:txBody>
      </p:sp>
      <p:sp>
        <p:nvSpPr>
          <p:cNvPr id="20" name="">
            <a:extLst xmlns:a="http://schemas.openxmlformats.org/drawingml/2006/main">
              <a:ext uri="{FF2B5EF4-FFF2-40B4-BE49-F238E27FC236}">
                <a16:creationId xmlns:a16="http://schemas.microsoft.com/office/drawing/2014/main" id="{E6AD19AF-BCD7-45E5-871B-0FC022D6F0E6}"/>
              </a:ext>
            </a:extLst>
          </p:cNvPr>
          <p:cNvSpPr>
            <a:spLocks xmlns:a="http://schemas.openxmlformats.org/drawingml/2006/main" noGrp="1"/>
          </p:cNvSpPr>
          <p:nvPr/>
        </p:nvSpPr>
        <p:spPr>
          <a:xfrm xmlns:a="http://schemas.openxmlformats.org/drawingml/2006/main">
            <a:off x="628650" y="3676650"/>
            <a:ext cx="3028950" cy="781050"/>
          </a:xfrm>
          <a:prstGeom xmlns:a="http://schemas.openxmlformats.org/drawingml/2006/main" prst="roundRect">
            <a:avLst>
              <a:gd name="adj" fmla="val 12195"/>
            </a:avLst>
          </a:prstGeom>
          <a:solidFill xmlns:a="http://schemas.openxmlformats.org/drawingml/2006/main">
            <a:srgbClr val="FFFFFF"/>
          </a:solidFill>
          <a:ln xmlns:a="http://schemas.openxmlformats.org/drawingml/2006/main" w="11430">
            <a:solidFill>
              <a:srgbClr val="D9E2DA"/>
            </a:solidFill>
            <a:prstDash val="solid"/>
          </a:ln>
        </p:spPr>
      </p:sp>
      <p:sp>
        <p:nvSpPr>
          <p:cNvPr id="21" name="">
            <a:extLst xmlns:a="http://schemas.openxmlformats.org/drawingml/2006/main">
              <a:ext uri="{FF2B5EF4-FFF2-40B4-BE49-F238E27FC236}">
                <a16:creationId xmlns:a16="http://schemas.microsoft.com/office/drawing/2014/main" id="{4EAF64D2-A212-430C-84D1-43C730CCA21C}"/>
              </a:ext>
            </a:extLst>
          </p:cNvPr>
          <p:cNvSpPr>
            <a:spLocks xmlns:a="http://schemas.openxmlformats.org/drawingml/2006/main" noGrp="1"/>
          </p:cNvSpPr>
          <p:nvPr/>
        </p:nvSpPr>
        <p:spPr>
          <a:xfrm xmlns:a="http://schemas.openxmlformats.org/drawingml/2006/main">
            <a:off x="781050" y="3867150"/>
            <a:ext cx="190500" cy="190500"/>
          </a:xfrm>
          <a:prstGeom xmlns:a="http://schemas.openxmlformats.org/drawingml/2006/main" prst="ellipse">
            <a:avLst/>
          </a:prstGeom>
          <a:solidFill xmlns:a="http://schemas.openxmlformats.org/drawingml/2006/main">
            <a:srgbClr val="FCE4D8"/>
          </a:solidFill>
          <a:ln xmlns:a="http://schemas.openxmlformats.org/drawingml/2006/main" w="11430">
            <a:solidFill>
              <a:srgbClr val="034B2F"/>
            </a:solidFill>
            <a:prstDash val="solid"/>
          </a:ln>
        </p:spPr>
      </p:sp>
      <p:sp>
        <p:nvSpPr>
          <p:cNvPr id="22" name="">
            <a:extLst xmlns:a="http://schemas.openxmlformats.org/drawingml/2006/main">
              <a:ext uri="{FF2B5EF4-FFF2-40B4-BE49-F238E27FC236}">
                <a16:creationId xmlns:a16="http://schemas.microsoft.com/office/drawing/2014/main" id="{7A27504D-C475-4A7B-94F6-C0CDE48F2F90}"/>
              </a:ext>
            </a:extLst>
          </p:cNvPr>
          <p:cNvSpPr>
            <a:spLocks xmlns:a="http://schemas.openxmlformats.org/drawingml/2006/main" noGrp="1"/>
          </p:cNvSpPr>
          <p:nvPr/>
        </p:nvSpPr>
        <p:spPr>
          <a:xfrm xmlns:a="http://schemas.openxmlformats.org/drawingml/2006/main">
            <a:off x="1085850" y="3829050"/>
            <a:ext cx="2419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1013" b="1" i="0">
                <a:solidFill>
                  <a:srgbClr val="192442"/>
                </a:solidFill>
                <a:latin typeface="Lato"/>
                <a:ea typeface="Lato"/>
                <a:cs typeface="Lato"/>
              </a:defRPr>
            </a:pPr>
            <a:r>
              <a:rPr sz="1013" b="1" i="0">
                <a:solidFill>
                  <a:srgbClr val="192442"/>
                </a:solidFill>
                <a:latin typeface="Lato"/>
                <a:ea typeface="Lato"/>
                <a:cs typeface="Lato"/>
              </a:rPr>
              <a:t>Fruit</a:t>
            </a:r>
          </a:p>
        </p:txBody>
      </p:sp>
      <p:sp>
        <p:nvSpPr>
          <p:cNvPr id="23" name="">
            <a:extLst xmlns:a="http://schemas.openxmlformats.org/drawingml/2006/main">
              <a:ext uri="{FF2B5EF4-FFF2-40B4-BE49-F238E27FC236}">
                <a16:creationId xmlns:a16="http://schemas.microsoft.com/office/drawing/2014/main" id="{326E87E6-0F30-4372-8A8A-2DEECD557B41}"/>
              </a:ext>
            </a:extLst>
          </p:cNvPr>
          <p:cNvSpPr>
            <a:spLocks xmlns:a="http://schemas.openxmlformats.org/drawingml/2006/main" noGrp="1"/>
          </p:cNvSpPr>
          <p:nvPr/>
        </p:nvSpPr>
        <p:spPr>
          <a:xfrm xmlns:a="http://schemas.openxmlformats.org/drawingml/2006/main">
            <a:off x="1085850" y="4048125"/>
            <a:ext cx="2419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0000"/>
              </a:lnSpc>
              <a:buNone/>
              <a:defRPr sz="788" b="0" i="0">
                <a:solidFill>
                  <a:srgbClr val="5C6C67"/>
                </a:solidFill>
                <a:latin typeface="Lato"/>
                <a:ea typeface="Lato"/>
                <a:cs typeface="Lato"/>
              </a:defRPr>
            </a:pPr>
            <a:r>
              <a:rPr sz="788" b="0" i="0">
                <a:solidFill>
                  <a:srgbClr val="5C6C67"/>
                </a:solidFill>
                <a:latin typeface="Lato"/>
                <a:ea typeface="Lato"/>
                <a:cs typeface="Lato"/>
              </a:rPr>
              <a:t>berries, apples, bananas, mango</a:t>
            </a:r>
          </a:p>
        </p:txBody>
      </p:sp>
      <p:sp>
        <p:nvSpPr>
          <p:cNvPr id="24" name="">
            <a:extLst xmlns:a="http://schemas.openxmlformats.org/drawingml/2006/main">
              <a:ext uri="{FF2B5EF4-FFF2-40B4-BE49-F238E27FC236}">
                <a16:creationId xmlns:a16="http://schemas.microsoft.com/office/drawing/2014/main" id="{CE313942-9374-405E-B94A-E938EB4587E5}"/>
              </a:ext>
            </a:extLst>
          </p:cNvPr>
          <p:cNvSpPr>
            <a:spLocks xmlns:a="http://schemas.openxmlformats.org/drawingml/2006/main" noGrp="1"/>
          </p:cNvSpPr>
          <p:nvPr/>
        </p:nvSpPr>
        <p:spPr>
          <a:xfrm xmlns:a="http://schemas.openxmlformats.org/drawingml/2006/main">
            <a:off x="3924300" y="3676650"/>
            <a:ext cx="3028950" cy="781050"/>
          </a:xfrm>
          <a:prstGeom xmlns:a="http://schemas.openxmlformats.org/drawingml/2006/main" prst="roundRect">
            <a:avLst>
              <a:gd name="adj" fmla="val 12195"/>
            </a:avLst>
          </a:prstGeom>
          <a:solidFill xmlns:a="http://schemas.openxmlformats.org/drawingml/2006/main">
            <a:srgbClr val="FFFFFF"/>
          </a:solidFill>
          <a:ln xmlns:a="http://schemas.openxmlformats.org/drawingml/2006/main" w="11430">
            <a:solidFill>
              <a:srgbClr val="D9E2DA"/>
            </a:solidFill>
            <a:prstDash val="solid"/>
          </a:ln>
        </p:spPr>
      </p:sp>
      <p:sp>
        <p:nvSpPr>
          <p:cNvPr id="25" name="">
            <a:extLst xmlns:a="http://schemas.openxmlformats.org/drawingml/2006/main">
              <a:ext uri="{FF2B5EF4-FFF2-40B4-BE49-F238E27FC236}">
                <a16:creationId xmlns:a16="http://schemas.microsoft.com/office/drawing/2014/main" id="{63DA4019-5DAD-474E-9736-D22693F6BB41}"/>
              </a:ext>
            </a:extLst>
          </p:cNvPr>
          <p:cNvSpPr>
            <a:spLocks xmlns:a="http://schemas.openxmlformats.org/drawingml/2006/main" noGrp="1"/>
          </p:cNvSpPr>
          <p:nvPr/>
        </p:nvSpPr>
        <p:spPr>
          <a:xfrm xmlns:a="http://schemas.openxmlformats.org/drawingml/2006/main">
            <a:off x="4076700" y="3867150"/>
            <a:ext cx="190500" cy="190500"/>
          </a:xfrm>
          <a:prstGeom xmlns:a="http://schemas.openxmlformats.org/drawingml/2006/main" prst="ellipse">
            <a:avLst/>
          </a:prstGeom>
          <a:solidFill xmlns:a="http://schemas.openxmlformats.org/drawingml/2006/main">
            <a:srgbClr val="EEF7FA"/>
          </a:solidFill>
          <a:ln xmlns:a="http://schemas.openxmlformats.org/drawingml/2006/main" w="11430">
            <a:solidFill>
              <a:srgbClr val="034B2F"/>
            </a:solidFill>
            <a:prstDash val="solid"/>
          </a:ln>
        </p:spPr>
      </p:sp>
      <p:sp>
        <p:nvSpPr>
          <p:cNvPr id="26" name="">
            <a:extLst xmlns:a="http://schemas.openxmlformats.org/drawingml/2006/main">
              <a:ext uri="{FF2B5EF4-FFF2-40B4-BE49-F238E27FC236}">
                <a16:creationId xmlns:a16="http://schemas.microsoft.com/office/drawing/2014/main" id="{DEFB291E-9BD9-4074-BBF2-F70F201091B4}"/>
              </a:ext>
            </a:extLst>
          </p:cNvPr>
          <p:cNvSpPr>
            <a:spLocks xmlns:a="http://schemas.openxmlformats.org/drawingml/2006/main" noGrp="1"/>
          </p:cNvSpPr>
          <p:nvPr/>
        </p:nvSpPr>
        <p:spPr>
          <a:xfrm xmlns:a="http://schemas.openxmlformats.org/drawingml/2006/main">
            <a:off x="4381500" y="3829050"/>
            <a:ext cx="2419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1013" b="1" i="0">
                <a:solidFill>
                  <a:srgbClr val="192442"/>
                </a:solidFill>
                <a:latin typeface="Lato"/>
                <a:ea typeface="Lato"/>
                <a:cs typeface="Lato"/>
              </a:defRPr>
            </a:pPr>
            <a:r>
              <a:rPr sz="1013" b="1" i="0">
                <a:solidFill>
                  <a:srgbClr val="192442"/>
                </a:solidFill>
                <a:latin typeface="Lato"/>
                <a:ea typeface="Lato"/>
                <a:cs typeface="Lato"/>
              </a:rPr>
              <a:t>Milk and yogurt</a:t>
            </a:r>
          </a:p>
        </p:txBody>
      </p:sp>
      <p:sp>
        <p:nvSpPr>
          <p:cNvPr id="27" name="">
            <a:extLst xmlns:a="http://schemas.openxmlformats.org/drawingml/2006/main">
              <a:ext uri="{FF2B5EF4-FFF2-40B4-BE49-F238E27FC236}">
                <a16:creationId xmlns:a16="http://schemas.microsoft.com/office/drawing/2014/main" id="{58CCB2C0-1B30-488B-AD33-9A4082B131A9}"/>
              </a:ext>
            </a:extLst>
          </p:cNvPr>
          <p:cNvSpPr>
            <a:spLocks xmlns:a="http://schemas.openxmlformats.org/drawingml/2006/main" noGrp="1"/>
          </p:cNvSpPr>
          <p:nvPr/>
        </p:nvSpPr>
        <p:spPr>
          <a:xfrm xmlns:a="http://schemas.openxmlformats.org/drawingml/2006/main">
            <a:off x="4381500" y="4048125"/>
            <a:ext cx="2419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0000"/>
              </a:lnSpc>
              <a:buNone/>
              <a:defRPr sz="788" b="0" i="0">
                <a:solidFill>
                  <a:srgbClr val="5C6C67"/>
                </a:solidFill>
                <a:latin typeface="Lato"/>
                <a:ea typeface="Lato"/>
                <a:cs typeface="Lato"/>
              </a:defRPr>
            </a:pPr>
            <a:r>
              <a:rPr sz="788" b="0" i="0">
                <a:solidFill>
                  <a:srgbClr val="5C6C67"/>
                </a:solidFill>
                <a:latin typeface="Lato"/>
                <a:ea typeface="Lato"/>
                <a:cs typeface="Lato"/>
              </a:rPr>
              <a:t>plain milk, yogurt, kefir</a:t>
            </a:r>
          </a:p>
        </p:txBody>
      </p:sp>
      <p:sp>
        <p:nvSpPr>
          <p:cNvPr id="28" name="">
            <a:extLst xmlns:a="http://schemas.openxmlformats.org/drawingml/2006/main">
              <a:ext uri="{FF2B5EF4-FFF2-40B4-BE49-F238E27FC236}">
                <a16:creationId xmlns:a16="http://schemas.microsoft.com/office/drawing/2014/main" id="{CE76DA97-6622-4668-8983-B5FE0573FB96}"/>
              </a:ext>
            </a:extLst>
          </p:cNvPr>
          <p:cNvSpPr>
            <a:spLocks xmlns:a="http://schemas.openxmlformats.org/drawingml/2006/main" noGrp="1"/>
          </p:cNvSpPr>
          <p:nvPr/>
        </p:nvSpPr>
        <p:spPr>
          <a:xfrm xmlns:a="http://schemas.openxmlformats.org/drawingml/2006/main">
            <a:off x="628650" y="4686300"/>
            <a:ext cx="3028950" cy="781050"/>
          </a:xfrm>
          <a:prstGeom xmlns:a="http://schemas.openxmlformats.org/drawingml/2006/main" prst="roundRect">
            <a:avLst>
              <a:gd name="adj" fmla="val 12195"/>
            </a:avLst>
          </a:prstGeom>
          <a:solidFill xmlns:a="http://schemas.openxmlformats.org/drawingml/2006/main">
            <a:srgbClr val="FFFFFF"/>
          </a:solidFill>
          <a:ln xmlns:a="http://schemas.openxmlformats.org/drawingml/2006/main" w="11430">
            <a:solidFill>
              <a:srgbClr val="D9E2DA"/>
            </a:solidFill>
            <a:prstDash val="solid"/>
          </a:ln>
        </p:spPr>
      </p:sp>
      <p:sp>
        <p:nvSpPr>
          <p:cNvPr id="29" name="">
            <a:extLst xmlns:a="http://schemas.openxmlformats.org/drawingml/2006/main">
              <a:ext uri="{FF2B5EF4-FFF2-40B4-BE49-F238E27FC236}">
                <a16:creationId xmlns:a16="http://schemas.microsoft.com/office/drawing/2014/main" id="{A2B8B8FC-2727-4D49-9183-EFDE6212F720}"/>
              </a:ext>
            </a:extLst>
          </p:cNvPr>
          <p:cNvSpPr>
            <a:spLocks xmlns:a="http://schemas.openxmlformats.org/drawingml/2006/main" noGrp="1"/>
          </p:cNvSpPr>
          <p:nvPr/>
        </p:nvSpPr>
        <p:spPr>
          <a:xfrm xmlns:a="http://schemas.openxmlformats.org/drawingml/2006/main">
            <a:off x="781050" y="4876800"/>
            <a:ext cx="190500" cy="190500"/>
          </a:xfrm>
          <a:prstGeom xmlns:a="http://schemas.openxmlformats.org/drawingml/2006/main" prst="ellipse">
            <a:avLst/>
          </a:prstGeom>
          <a:solidFill xmlns:a="http://schemas.openxmlformats.org/drawingml/2006/main">
            <a:srgbClr val="E6F2EC"/>
          </a:solidFill>
          <a:ln xmlns:a="http://schemas.openxmlformats.org/drawingml/2006/main" w="11430">
            <a:solidFill>
              <a:srgbClr val="034B2F"/>
            </a:solidFill>
            <a:prstDash val="solid"/>
          </a:ln>
        </p:spPr>
      </p:sp>
      <p:sp>
        <p:nvSpPr>
          <p:cNvPr id="30" name="">
            <a:extLst xmlns:a="http://schemas.openxmlformats.org/drawingml/2006/main">
              <a:ext uri="{FF2B5EF4-FFF2-40B4-BE49-F238E27FC236}">
                <a16:creationId xmlns:a16="http://schemas.microsoft.com/office/drawing/2014/main" id="{286B3ABC-1F01-4B21-A479-0630C450B9A6}"/>
              </a:ext>
            </a:extLst>
          </p:cNvPr>
          <p:cNvSpPr>
            <a:spLocks xmlns:a="http://schemas.openxmlformats.org/drawingml/2006/main" noGrp="1"/>
          </p:cNvSpPr>
          <p:nvPr/>
        </p:nvSpPr>
        <p:spPr>
          <a:xfrm xmlns:a="http://schemas.openxmlformats.org/drawingml/2006/main">
            <a:off x="1085850" y="4838700"/>
            <a:ext cx="2419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1013" b="1" i="0">
                <a:solidFill>
                  <a:srgbClr val="192442"/>
                </a:solidFill>
                <a:latin typeface="Lato"/>
                <a:ea typeface="Lato"/>
                <a:cs typeface="Lato"/>
              </a:defRPr>
            </a:pPr>
            <a:r>
              <a:rPr sz="1013" b="1" i="0">
                <a:solidFill>
                  <a:srgbClr val="192442"/>
                </a:solidFill>
                <a:latin typeface="Lato"/>
                <a:ea typeface="Lato"/>
                <a:cs typeface="Lato"/>
              </a:rPr>
              <a:t>Beans and lentils</a:t>
            </a:r>
          </a:p>
        </p:txBody>
      </p:sp>
      <p:sp>
        <p:nvSpPr>
          <p:cNvPr id="31" name="">
            <a:extLst xmlns:a="http://schemas.openxmlformats.org/drawingml/2006/main">
              <a:ext uri="{FF2B5EF4-FFF2-40B4-BE49-F238E27FC236}">
                <a16:creationId xmlns:a16="http://schemas.microsoft.com/office/drawing/2014/main" id="{6143332F-AADD-4772-8DBB-F041899AA3D0}"/>
              </a:ext>
            </a:extLst>
          </p:cNvPr>
          <p:cNvSpPr>
            <a:spLocks xmlns:a="http://schemas.openxmlformats.org/drawingml/2006/main" noGrp="1"/>
          </p:cNvSpPr>
          <p:nvPr/>
        </p:nvSpPr>
        <p:spPr>
          <a:xfrm xmlns:a="http://schemas.openxmlformats.org/drawingml/2006/main">
            <a:off x="1085850" y="5057775"/>
            <a:ext cx="2419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0000"/>
              </a:lnSpc>
              <a:buNone/>
              <a:defRPr sz="788" b="0" i="0">
                <a:solidFill>
                  <a:srgbClr val="5C6C67"/>
                </a:solidFill>
                <a:latin typeface="Lato"/>
                <a:ea typeface="Lato"/>
                <a:cs typeface="Lato"/>
              </a:defRPr>
            </a:pPr>
            <a:r>
              <a:rPr sz="788" b="0" i="0">
                <a:solidFill>
                  <a:srgbClr val="5C6C67"/>
                </a:solidFill>
                <a:latin typeface="Lato"/>
                <a:ea typeface="Lato"/>
                <a:cs typeface="Lato"/>
              </a:rPr>
              <a:t>black beans, chickpeas, dal, lentils</a:t>
            </a:r>
          </a:p>
        </p:txBody>
      </p:sp>
      <p:sp>
        <p:nvSpPr>
          <p:cNvPr id="32" name="">
            <a:extLst xmlns:a="http://schemas.openxmlformats.org/drawingml/2006/main">
              <a:ext uri="{FF2B5EF4-FFF2-40B4-BE49-F238E27FC236}">
                <a16:creationId xmlns:a16="http://schemas.microsoft.com/office/drawing/2014/main" id="{693FFFDA-C9E7-4FEC-954B-FEBB924EF6B6}"/>
              </a:ext>
            </a:extLst>
          </p:cNvPr>
          <p:cNvSpPr>
            <a:spLocks xmlns:a="http://schemas.openxmlformats.org/drawingml/2006/main" noGrp="1"/>
          </p:cNvSpPr>
          <p:nvPr/>
        </p:nvSpPr>
        <p:spPr>
          <a:xfrm xmlns:a="http://schemas.openxmlformats.org/drawingml/2006/main">
            <a:off x="3924300" y="4686300"/>
            <a:ext cx="3028950" cy="781050"/>
          </a:xfrm>
          <a:prstGeom xmlns:a="http://schemas.openxmlformats.org/drawingml/2006/main" prst="roundRect">
            <a:avLst>
              <a:gd name="adj" fmla="val 12195"/>
            </a:avLst>
          </a:prstGeom>
          <a:solidFill xmlns:a="http://schemas.openxmlformats.org/drawingml/2006/main">
            <a:srgbClr val="FFFFFF"/>
          </a:solidFill>
          <a:ln xmlns:a="http://schemas.openxmlformats.org/drawingml/2006/main" w="11430">
            <a:solidFill>
              <a:srgbClr val="D9E2DA"/>
            </a:solidFill>
            <a:prstDash val="solid"/>
          </a:ln>
        </p:spPr>
      </p:sp>
      <p:sp>
        <p:nvSpPr>
          <p:cNvPr id="33" name="">
            <a:extLst xmlns:a="http://schemas.openxmlformats.org/drawingml/2006/main">
              <a:ext uri="{FF2B5EF4-FFF2-40B4-BE49-F238E27FC236}">
                <a16:creationId xmlns:a16="http://schemas.microsoft.com/office/drawing/2014/main" id="{B1EDFE02-4BE6-4741-BC5A-D23C5647436E}"/>
              </a:ext>
            </a:extLst>
          </p:cNvPr>
          <p:cNvSpPr>
            <a:spLocks xmlns:a="http://schemas.openxmlformats.org/drawingml/2006/main" noGrp="1"/>
          </p:cNvSpPr>
          <p:nvPr/>
        </p:nvSpPr>
        <p:spPr>
          <a:xfrm xmlns:a="http://schemas.openxmlformats.org/drawingml/2006/main">
            <a:off x="4076700" y="4876800"/>
            <a:ext cx="190500" cy="190500"/>
          </a:xfrm>
          <a:prstGeom xmlns:a="http://schemas.openxmlformats.org/drawingml/2006/main" prst="ellipse">
            <a:avLst/>
          </a:prstGeom>
          <a:solidFill xmlns:a="http://schemas.openxmlformats.org/drawingml/2006/main">
            <a:srgbClr val="FCE4D8"/>
          </a:solidFill>
          <a:ln xmlns:a="http://schemas.openxmlformats.org/drawingml/2006/main" w="11430">
            <a:solidFill>
              <a:srgbClr val="034B2F"/>
            </a:solidFill>
            <a:prstDash val="solid"/>
          </a:ln>
        </p:spPr>
      </p:sp>
      <p:sp>
        <p:nvSpPr>
          <p:cNvPr id="34" name="">
            <a:extLst xmlns:a="http://schemas.openxmlformats.org/drawingml/2006/main">
              <a:ext uri="{FF2B5EF4-FFF2-40B4-BE49-F238E27FC236}">
                <a16:creationId xmlns:a16="http://schemas.microsoft.com/office/drawing/2014/main" id="{03354646-86FF-481D-8EE1-3B499CCECEBD}"/>
              </a:ext>
            </a:extLst>
          </p:cNvPr>
          <p:cNvSpPr>
            <a:spLocks xmlns:a="http://schemas.openxmlformats.org/drawingml/2006/main" noGrp="1"/>
          </p:cNvSpPr>
          <p:nvPr/>
        </p:nvSpPr>
        <p:spPr>
          <a:xfrm xmlns:a="http://schemas.openxmlformats.org/drawingml/2006/main">
            <a:off x="4381500" y="4838700"/>
            <a:ext cx="2419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1013" b="1" i="0">
                <a:solidFill>
                  <a:srgbClr val="192442"/>
                </a:solidFill>
                <a:latin typeface="Lato"/>
                <a:ea typeface="Lato"/>
                <a:cs typeface="Lato"/>
              </a:defRPr>
            </a:pPr>
            <a:r>
              <a:rPr sz="1013" b="1" i="0">
                <a:solidFill>
                  <a:srgbClr val="192442"/>
                </a:solidFill>
                <a:latin typeface="Lato"/>
                <a:ea typeface="Lato"/>
                <a:cs typeface="Lato"/>
              </a:rPr>
              <a:t>Sweets and drinks</a:t>
            </a:r>
          </a:p>
        </p:txBody>
      </p:sp>
      <p:sp>
        <p:nvSpPr>
          <p:cNvPr id="35" name="">
            <a:extLst xmlns:a="http://schemas.openxmlformats.org/drawingml/2006/main">
              <a:ext uri="{FF2B5EF4-FFF2-40B4-BE49-F238E27FC236}">
                <a16:creationId xmlns:a16="http://schemas.microsoft.com/office/drawing/2014/main" id="{3F9A908A-C8BB-40B8-A694-102749C7EE70}"/>
              </a:ext>
            </a:extLst>
          </p:cNvPr>
          <p:cNvSpPr>
            <a:spLocks xmlns:a="http://schemas.openxmlformats.org/drawingml/2006/main" noGrp="1"/>
          </p:cNvSpPr>
          <p:nvPr/>
        </p:nvSpPr>
        <p:spPr>
          <a:xfrm xmlns:a="http://schemas.openxmlformats.org/drawingml/2006/main">
            <a:off x="4381500" y="5057775"/>
            <a:ext cx="2419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0000"/>
              </a:lnSpc>
              <a:buNone/>
              <a:defRPr sz="788" b="0" i="0">
                <a:solidFill>
                  <a:srgbClr val="5C6C67"/>
                </a:solidFill>
                <a:latin typeface="Lato"/>
                <a:ea typeface="Lato"/>
                <a:cs typeface="Lato"/>
              </a:defRPr>
            </a:pPr>
            <a:r>
              <a:rPr sz="788" b="0" i="0">
                <a:solidFill>
                  <a:srgbClr val="5C6C67"/>
                </a:solidFill>
                <a:latin typeface="Lato"/>
                <a:ea typeface="Lato"/>
                <a:cs typeface="Lato"/>
              </a:rPr>
              <a:t>desserts, soda, sweet tea, juice</a:t>
            </a:r>
          </a:p>
        </p:txBody>
      </p:sp>
      <p:sp>
        <p:nvSpPr>
          <p:cNvPr id="36" name="">
            <a:extLst xmlns:a="http://schemas.openxmlformats.org/drawingml/2006/main">
              <a:ext uri="{FF2B5EF4-FFF2-40B4-BE49-F238E27FC236}">
                <a16:creationId xmlns:a16="http://schemas.microsoft.com/office/drawing/2014/main" id="{5D96E947-0362-4AA8-B0F7-B343021CD23B}"/>
              </a:ext>
            </a:extLst>
          </p:cNvPr>
          <p:cNvSpPr>
            <a:spLocks xmlns:a="http://schemas.openxmlformats.org/drawingml/2006/main" noGrp="1"/>
          </p:cNvSpPr>
          <p:nvPr/>
        </p:nvSpPr>
        <p:spPr>
          <a:xfrm xmlns:a="http://schemas.openxmlformats.org/drawingml/2006/main">
            <a:off x="762000" y="7820025"/>
            <a:ext cx="95250" cy="95250"/>
          </a:xfrm>
          <a:prstGeom xmlns:a="http://schemas.openxmlformats.org/drawingml/2006/main" prst="ellipse">
            <a:avLst/>
          </a:prstGeom>
          <a:solidFill xmlns:a="http://schemas.openxmlformats.org/drawingml/2006/main">
            <a:srgbClr val="F26A2E"/>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D3285297-5E2F-4883-B871-A90FB53C7252}"/>
              </a:ext>
            </a:extLst>
          </p:cNvPr>
          <p:cNvSpPr>
            <a:spLocks xmlns:a="http://schemas.openxmlformats.org/drawingml/2006/main" noGrp="1"/>
          </p:cNvSpPr>
          <p:nvPr/>
        </p:nvSpPr>
        <p:spPr>
          <a:xfrm xmlns:a="http://schemas.openxmlformats.org/drawingml/2006/main">
            <a:off x="971550" y="7772400"/>
            <a:ext cx="569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8000"/>
              </a:lnSpc>
              <a:buNone/>
              <a:defRPr sz="1013" b="0" i="0">
                <a:solidFill>
                  <a:srgbClr val="16211D"/>
                </a:solidFill>
                <a:latin typeface="Lato"/>
                <a:ea typeface="Lato"/>
                <a:cs typeface="Lato"/>
              </a:defRPr>
            </a:pPr>
            <a:r>
              <a:rPr sz="1013" b="0" i="0">
                <a:solidFill>
                  <a:srgbClr val="16211D"/>
                </a:solidFill>
                <a:latin typeface="Lato"/>
                <a:ea typeface="Lato"/>
                <a:cs typeface="Lato"/>
              </a:rPr>
              <a:t>Pair carbohydrate foods with protein, fiber-rich foods, vegetables, and satisfying flavor when possible.</a:t>
            </a:r>
          </a:p>
        </p:txBody>
      </p:sp>
      <p:sp>
        <p:nvSpPr>
          <p:cNvPr id="38" name="">
            <a:extLst xmlns:a="http://schemas.openxmlformats.org/drawingml/2006/main">
              <a:ext uri="{FF2B5EF4-FFF2-40B4-BE49-F238E27FC236}">
                <a16:creationId xmlns:a16="http://schemas.microsoft.com/office/drawing/2014/main" id="{6C856CDE-0438-46A6-B4F1-F452FA2EC4DB}"/>
              </a:ext>
            </a:extLst>
          </p:cNvPr>
          <p:cNvSpPr>
            <a:spLocks xmlns:a="http://schemas.openxmlformats.org/drawingml/2006/main" noGrp="1"/>
          </p:cNvSpPr>
          <p:nvPr/>
        </p:nvSpPr>
        <p:spPr>
          <a:xfrm xmlns:a="http://schemas.openxmlformats.org/drawingml/2006/main">
            <a:off x="762000" y="8201025"/>
            <a:ext cx="95250" cy="95250"/>
          </a:xfrm>
          <a:prstGeom xmlns:a="http://schemas.openxmlformats.org/drawingml/2006/main" prst="ellipse">
            <a:avLst/>
          </a:prstGeom>
          <a:solidFill xmlns:a="http://schemas.openxmlformats.org/drawingml/2006/main">
            <a:srgbClr val="F26A2E"/>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F93B7804-FD0D-45D8-A28E-8F81DDAE33B6}"/>
              </a:ext>
            </a:extLst>
          </p:cNvPr>
          <p:cNvSpPr>
            <a:spLocks xmlns:a="http://schemas.openxmlformats.org/drawingml/2006/main" noGrp="1"/>
          </p:cNvSpPr>
          <p:nvPr/>
        </p:nvSpPr>
        <p:spPr>
          <a:xfrm xmlns:a="http://schemas.openxmlformats.org/drawingml/2006/main">
            <a:off x="971550" y="8153400"/>
            <a:ext cx="569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8000"/>
              </a:lnSpc>
              <a:buNone/>
              <a:defRPr sz="1013" b="0" i="0">
                <a:solidFill>
                  <a:srgbClr val="16211D"/>
                </a:solidFill>
                <a:latin typeface="Lato"/>
                <a:ea typeface="Lato"/>
                <a:cs typeface="Lato"/>
              </a:defRPr>
            </a:pPr>
            <a:r>
              <a:rPr sz="1013" b="0" i="0">
                <a:solidFill>
                  <a:srgbClr val="16211D"/>
                </a:solidFill>
                <a:latin typeface="Lato"/>
                <a:ea typeface="Lato"/>
                <a:cs typeface="Lato"/>
              </a:rPr>
              <a:t>Total carbohydrate and added sugar can both be useful label checks.</a:t>
            </a:r>
          </a:p>
        </p:txBody>
      </p:sp>
      <p:sp>
        <p:nvSpPr>
          <p:cNvPr id="40" name="">
            <a:extLst xmlns:a="http://schemas.openxmlformats.org/drawingml/2006/main">
              <a:ext uri="{FF2B5EF4-FFF2-40B4-BE49-F238E27FC236}">
                <a16:creationId xmlns:a16="http://schemas.microsoft.com/office/drawing/2014/main" id="{E6A37494-3259-4BD9-B826-40815FC2ED7A}"/>
              </a:ext>
            </a:extLst>
          </p:cNvPr>
          <p:cNvSpPr>
            <a:spLocks xmlns:a="http://schemas.openxmlformats.org/drawingml/2006/main" noGrp="1"/>
          </p:cNvSpPr>
          <p:nvPr/>
        </p:nvSpPr>
        <p:spPr>
          <a:xfrm xmlns:a="http://schemas.openxmlformats.org/drawingml/2006/main">
            <a:off x="628650" y="8620125"/>
            <a:ext cx="6515100" cy="590550"/>
          </a:xfrm>
          <a:prstGeom xmlns:a="http://schemas.openxmlformats.org/drawingml/2006/main" prst="roundRect">
            <a:avLst>
              <a:gd name="adj" fmla="val 16129"/>
            </a:avLst>
          </a:prstGeom>
          <a:solidFill xmlns:a="http://schemas.openxmlformats.org/drawingml/2006/main">
            <a:srgbClr val="E6F2EC"/>
          </a:solidFill>
          <a:ln xmlns:a="http://schemas.openxmlformats.org/drawingml/2006/main" w="11430">
            <a:solidFill>
              <a:srgbClr val="B8D8C8"/>
            </a:solidFill>
            <a:prstDash val="solid"/>
          </a:ln>
        </p:spPr>
      </p:sp>
      <p:sp>
        <p:nvSpPr>
          <p:cNvPr id="41" name="">
            <a:extLst xmlns:a="http://schemas.openxmlformats.org/drawingml/2006/main">
              <a:ext uri="{FF2B5EF4-FFF2-40B4-BE49-F238E27FC236}">
                <a16:creationId xmlns:a16="http://schemas.microsoft.com/office/drawing/2014/main" id="{370376BA-77B1-4C61-A8A2-F60581109F0D}"/>
              </a:ext>
            </a:extLst>
          </p:cNvPr>
          <p:cNvSpPr>
            <a:spLocks xmlns:a="http://schemas.openxmlformats.org/drawingml/2006/main" noGrp="1"/>
          </p:cNvSpPr>
          <p:nvPr/>
        </p:nvSpPr>
        <p:spPr>
          <a:xfrm xmlns:a="http://schemas.openxmlformats.org/drawingml/2006/main">
            <a:off x="790575" y="8753475"/>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975" b="1" i="0">
                <a:solidFill>
                  <a:srgbClr val="034B2F"/>
                </a:solidFill>
                <a:latin typeface="Lato"/>
                <a:ea typeface="Lato"/>
                <a:cs typeface="Lato"/>
              </a:defRPr>
            </a:pPr>
            <a:r>
              <a:rPr sz="975" b="1" i="0">
                <a:solidFill>
                  <a:srgbClr val="034B2F"/>
                </a:solidFill>
                <a:latin typeface="Lato"/>
                <a:ea typeface="Lato"/>
                <a:cs typeface="Lato"/>
              </a:rPr>
              <a:t>Try this</a:t>
            </a:r>
          </a:p>
        </p:txBody>
      </p:sp>
      <p:sp>
        <p:nvSpPr>
          <p:cNvPr id="42" name="">
            <a:extLst xmlns:a="http://schemas.openxmlformats.org/drawingml/2006/main">
              <a:ext uri="{FF2B5EF4-FFF2-40B4-BE49-F238E27FC236}">
                <a16:creationId xmlns:a16="http://schemas.microsoft.com/office/drawing/2014/main" id="{1F925319-76DB-4CA9-9CAE-D8946FD09F8F}"/>
              </a:ext>
            </a:extLst>
          </p:cNvPr>
          <p:cNvSpPr>
            <a:spLocks xmlns:a="http://schemas.openxmlformats.org/drawingml/2006/main" noGrp="1"/>
          </p:cNvSpPr>
          <p:nvPr/>
        </p:nvSpPr>
        <p:spPr>
          <a:xfrm xmlns:a="http://schemas.openxmlformats.org/drawingml/2006/main">
            <a:off x="790575" y="9020175"/>
            <a:ext cx="6191250" cy="95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7000"/>
              </a:lnSpc>
              <a:buNone/>
              <a:defRPr sz="900" b="0" i="0">
                <a:solidFill>
                  <a:srgbClr val="16211D"/>
                </a:solidFill>
                <a:latin typeface="Lato"/>
                <a:ea typeface="Lato"/>
                <a:cs typeface="Lato"/>
              </a:defRPr>
            </a:pPr>
            <a:r>
              <a:rPr sz="900" b="0" i="0">
                <a:solidFill>
                  <a:srgbClr val="16211D"/>
                </a:solidFill>
                <a:latin typeface="Lato"/>
                <a:ea typeface="Lato"/>
                <a:cs typeface="Lato"/>
              </a:rPr>
              <a:t>Choose one carbohydrate you eat often. Keep the food, but experiment with portion and pairing.</a:t>
            </a:r>
          </a:p>
        </p:txBody>
      </p:sp>
    </p:spTree>
    <p:extLst>
      <p:ext uri="{BB962C8B-B14F-4D97-AF65-F5344CB8AC3E}">
        <p14:creationId xmlns:p14="http://schemas.microsoft.com/office/powerpoint/2010/main" val="1909848136"/>
      </p:ext>
    </p:extLst>
  </p:cSld>
</p:sld>
</file>

<file path=ppt/slides/slide7.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965cc50a3aaf4882"/>
          <a:srcRect xmlns:a="http://schemas.openxmlformats.org/drawingml/2006/main" l="699" t="0" r="699" b="0"/>
          <a:stretch xmlns:a="http://schemas.openxmlformats.org/drawingml/2006/main">
            <a:fillRect l="0" t="0" r="0" b="0"/>
          </a:stretch>
        </p:blipFill>
        <p:spPr>
          <a:xfrm xmlns:a="http://schemas.openxmlformats.org/drawingml/2006/main">
            <a:off x="552450" y="285750"/>
            <a:ext cx="257175" cy="276225"/>
          </a:xfrm>
          <a:prstGeom xmlns:a="http://schemas.openxmlformats.org/drawingml/2006/main" prst="roundRect">
            <a:avLst>
              <a:gd name="adj" fmla="val 29630"/>
            </a:avLst>
          </a:prstGeom>
        </p:spPr>
      </p:pic>
      <p:sp>
        <p:nvSpPr>
          <p:cNvPr id="2" name="">
            <a:extLst xmlns:a="http://schemas.openxmlformats.org/drawingml/2006/main">
              <a:ext uri="{FF2B5EF4-FFF2-40B4-BE49-F238E27FC236}">
                <a16:creationId xmlns:a16="http://schemas.microsoft.com/office/drawing/2014/main" id="{36288A40-AF49-4ADC-9944-3DE38A385163}"/>
              </a:ext>
            </a:extLst>
          </p:cNvPr>
          <p:cNvSpPr>
            <a:spLocks xmlns:a="http://schemas.openxmlformats.org/drawingml/2006/main" noGrp="1"/>
          </p:cNvSpPr>
          <p:nvPr/>
        </p:nvSpPr>
        <p:spPr>
          <a:xfrm xmlns:a="http://schemas.openxmlformats.org/drawingml/2006/main">
            <a:off x="876300" y="3333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788" b="1" i="0">
                <a:solidFill>
                  <a:srgbClr val="034B2F"/>
                </a:solidFill>
                <a:latin typeface="Lora"/>
                <a:ea typeface="Lora"/>
                <a:cs typeface="Lora"/>
              </a:defRPr>
            </a:pPr>
            <a:r>
              <a:rPr sz="788" b="1" i="0">
                <a:solidFill>
                  <a:srgbClr val="034B2F"/>
                </a:solidFill>
                <a:latin typeface="Lora"/>
                <a:ea typeface="Lora"/>
                <a:cs typeface="Lora"/>
              </a:rPr>
              <a:t>The Mindful Plate</a:t>
            </a:r>
          </a:p>
        </p:txBody>
      </p:sp>
      <p:sp>
        <p:nvSpPr>
          <p:cNvPr id="3" name="">
            <a:extLst xmlns:a="http://schemas.openxmlformats.org/drawingml/2006/main">
              <a:ext uri="{FF2B5EF4-FFF2-40B4-BE49-F238E27FC236}">
                <a16:creationId xmlns:a16="http://schemas.microsoft.com/office/drawing/2014/main" id="{2DCD497B-DFBB-4F99-B42F-ACBB329F2A36}"/>
              </a:ext>
            </a:extLst>
          </p:cNvPr>
          <p:cNvSpPr>
            <a:spLocks xmlns:a="http://schemas.openxmlformats.org/drawingml/2006/main" noGrp="1"/>
          </p:cNvSpPr>
          <p:nvPr/>
        </p:nvSpPr>
        <p:spPr>
          <a:xfrm xmlns:a="http://schemas.openxmlformats.org/drawingml/2006/main">
            <a:off x="876300" y="485775"/>
            <a:ext cx="2190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660" b="0" i="0">
                <a:solidFill>
                  <a:srgbClr val="5C6C67"/>
                </a:solidFill>
                <a:latin typeface="Lato"/>
                <a:ea typeface="Lato"/>
                <a:cs typeface="Lato"/>
              </a:defRPr>
            </a:pPr>
            <a:r>
              <a:rPr sz="660" b="0" i="0">
                <a:solidFill>
                  <a:srgbClr val="5C6C67"/>
                </a:solidFill>
                <a:latin typeface="Lato"/>
                <a:ea typeface="Lato"/>
                <a:cs typeface="Lato"/>
              </a:rPr>
              <a:t>Protein</a:t>
            </a:r>
          </a:p>
        </p:txBody>
      </p:sp>
      <p:sp>
        <p:nvSpPr>
          <p:cNvPr id="4" name="">
            <a:extLst xmlns:a="http://schemas.openxmlformats.org/drawingml/2006/main">
              <a:ext uri="{FF2B5EF4-FFF2-40B4-BE49-F238E27FC236}">
                <a16:creationId xmlns:a16="http://schemas.microsoft.com/office/drawing/2014/main" id="{57A51C0F-01C4-42B2-BB86-9F7D12BB9012}"/>
              </a:ext>
            </a:extLst>
          </p:cNvPr>
          <p:cNvSpPr>
            <a:spLocks xmlns:a="http://schemas.openxmlformats.org/drawingml/2006/main" noGrp="1"/>
          </p:cNvSpPr>
          <p:nvPr/>
        </p:nvSpPr>
        <p:spPr>
          <a:xfrm xmlns:a="http://schemas.openxmlformats.org/drawingml/2006/main">
            <a:off x="552450" y="714375"/>
            <a:ext cx="6667500" cy="0"/>
          </a:xfrm>
          <a:prstGeom xmlns:a="http://schemas.openxmlformats.org/drawingml/2006/main" prst="line">
            <a:avLst/>
          </a:prstGeom>
          <a:noFill xmlns:a="http://schemas.openxmlformats.org/drawingml/2006/main"/>
          <a:ln xmlns:a="http://schemas.openxmlformats.org/drawingml/2006/main" w="11430">
            <a:solidFill>
              <a:srgbClr val="D9E2DA"/>
            </a:solidFill>
            <a:prstDash val="solid"/>
          </a:ln>
        </p:spPr>
      </p:sp>
      <p:sp>
        <p:nvSpPr>
          <p:cNvPr id="5" name="">
            <a:extLst xmlns:a="http://schemas.openxmlformats.org/drawingml/2006/main">
              <a:ext uri="{FF2B5EF4-FFF2-40B4-BE49-F238E27FC236}">
                <a16:creationId xmlns:a16="http://schemas.microsoft.com/office/drawing/2014/main" id="{AEA89275-B4B4-4966-8E29-C5B68D6D5362}"/>
              </a:ext>
            </a:extLst>
          </p:cNvPr>
          <p:cNvSpPr>
            <a:spLocks xmlns:a="http://schemas.openxmlformats.org/drawingml/2006/main" noGrp="1"/>
          </p:cNvSpPr>
          <p:nvPr/>
        </p:nvSpPr>
        <p:spPr>
          <a:xfrm xmlns:a="http://schemas.openxmlformats.org/drawingml/2006/main">
            <a:off x="552450" y="9610725"/>
            <a:ext cx="6667500" cy="0"/>
          </a:xfrm>
          <a:prstGeom xmlns:a="http://schemas.openxmlformats.org/drawingml/2006/main" prst="line">
            <a:avLst/>
          </a:prstGeom>
          <a:noFill xmlns:a="http://schemas.openxmlformats.org/drawingml/2006/main"/>
          <a:ln xmlns:a="http://schemas.openxmlformats.org/drawingml/2006/main" w="11430">
            <a:solidFill>
              <a:srgbClr val="D9E2DA"/>
            </a:solidFill>
            <a:prstDash val="solid"/>
          </a:ln>
        </p:spPr>
      </p:sp>
      <p:sp>
        <p:nvSpPr>
          <p:cNvPr id="6" name="">
            <a:extLst xmlns:a="http://schemas.openxmlformats.org/drawingml/2006/main">
              <a:ext uri="{FF2B5EF4-FFF2-40B4-BE49-F238E27FC236}">
                <a16:creationId xmlns:a16="http://schemas.microsoft.com/office/drawing/2014/main" id="{ADCAAA06-29DB-46A9-932C-FFCBD22B497D}"/>
              </a:ext>
            </a:extLst>
          </p:cNvPr>
          <p:cNvSpPr>
            <a:spLocks xmlns:a="http://schemas.openxmlformats.org/drawingml/2006/main" noGrp="1"/>
          </p:cNvSpPr>
          <p:nvPr/>
        </p:nvSpPr>
        <p:spPr>
          <a:xfrm xmlns:a="http://schemas.openxmlformats.org/drawingml/2006/main">
            <a:off x="552450" y="9715500"/>
            <a:ext cx="1762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660" b="0" i="0">
                <a:solidFill>
                  <a:srgbClr val="5C6C67"/>
                </a:solidFill>
                <a:latin typeface="Lato"/>
                <a:ea typeface="Lato"/>
                <a:cs typeface="Lato"/>
              </a:defRPr>
            </a:pPr>
            <a:r>
              <a:rPr sz="660" b="0" i="0">
                <a:solidFill>
                  <a:srgbClr val="5C6C67"/>
                </a:solidFill>
                <a:latin typeface="Lato"/>
                <a:ea typeface="Lato"/>
                <a:cs typeface="Lato"/>
              </a:rPr>
              <a:t>Mindful Diabetes Inc.</a:t>
            </a:r>
          </a:p>
        </p:txBody>
      </p:sp>
      <p:sp>
        <p:nvSpPr>
          <p:cNvPr id="7" name="">
            <a:extLst xmlns:a="http://schemas.openxmlformats.org/drawingml/2006/main">
              <a:ext uri="{FF2B5EF4-FFF2-40B4-BE49-F238E27FC236}">
                <a16:creationId xmlns:a16="http://schemas.microsoft.com/office/drawing/2014/main" id="{C8D6FDA9-05EF-42CF-A2D7-83F07304A5E2}"/>
              </a:ext>
            </a:extLst>
          </p:cNvPr>
          <p:cNvSpPr>
            <a:spLocks xmlns:a="http://schemas.openxmlformats.org/drawingml/2006/main" noGrp="1"/>
          </p:cNvSpPr>
          <p:nvPr/>
        </p:nvSpPr>
        <p:spPr>
          <a:xfrm xmlns:a="http://schemas.openxmlformats.org/drawingml/2006/main">
            <a:off x="3162300" y="9715500"/>
            <a:ext cx="14763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lnSpc>
                <a:spcPct val="116000"/>
              </a:lnSpc>
              <a:buNone/>
              <a:defRPr sz="660" b="0" i="0">
                <a:solidFill>
                  <a:srgbClr val="5C6C67"/>
                </a:solidFill>
                <a:latin typeface="Lato"/>
                <a:ea typeface="Lato"/>
                <a:cs typeface="Lato"/>
              </a:defRPr>
            </a:pPr>
            <a:r>
              <a:rPr sz="660" b="0" i="0">
                <a:solidFill>
                  <a:srgbClr val="5C6C67"/>
                </a:solidFill>
                <a:latin typeface="Lato"/>
                <a:ea typeface="Lato"/>
                <a:cs typeface="Lato"/>
              </a:rPr>
              <a:t>mindfuldiabetes.org</a:t>
            </a:r>
          </a:p>
        </p:txBody>
      </p:sp>
      <p:sp>
        <p:nvSpPr>
          <p:cNvPr id="8" name="">
            <a:extLst xmlns:a="http://schemas.openxmlformats.org/drawingml/2006/main">
              <a:ext uri="{FF2B5EF4-FFF2-40B4-BE49-F238E27FC236}">
                <a16:creationId xmlns:a16="http://schemas.microsoft.com/office/drawing/2014/main" id="{DFBE54A8-E3C5-4CB9-93FC-2BFB0C21E48B}"/>
              </a:ext>
            </a:extLst>
          </p:cNvPr>
          <p:cNvSpPr>
            <a:spLocks xmlns:a="http://schemas.openxmlformats.org/drawingml/2006/main" noGrp="1"/>
          </p:cNvSpPr>
          <p:nvPr/>
        </p:nvSpPr>
        <p:spPr>
          <a:xfrm xmlns:a="http://schemas.openxmlformats.org/drawingml/2006/main">
            <a:off x="6886575" y="9715500"/>
            <a:ext cx="3333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r">
              <a:lnSpc>
                <a:spcPct val="116000"/>
              </a:lnSpc>
              <a:buNone/>
              <a:defRPr sz="660" b="0" i="0">
                <a:solidFill>
                  <a:srgbClr val="F26A2E"/>
                </a:solidFill>
                <a:latin typeface="Lato"/>
                <a:ea typeface="Lato"/>
                <a:cs typeface="Lato"/>
              </a:defRPr>
            </a:pPr>
            <a:r>
              <a:rPr sz="660" b="0" i="0">
                <a:solidFill>
                  <a:srgbClr val="F26A2E"/>
                </a:solidFill>
                <a:latin typeface="Lato"/>
                <a:ea typeface="Lato"/>
                <a:cs typeface="Lato"/>
              </a:rPr>
              <a:t>7</a:t>
            </a:r>
          </a:p>
        </p:txBody>
      </p:sp>
      <p:sp>
        <p:nvSpPr>
          <p:cNvPr id="9" name="">
            <a:extLst xmlns:a="http://schemas.openxmlformats.org/drawingml/2006/main">
              <a:ext uri="{FF2B5EF4-FFF2-40B4-BE49-F238E27FC236}">
                <a16:creationId xmlns:a16="http://schemas.microsoft.com/office/drawing/2014/main" id="{D9F9C86E-E6F1-469C-B282-9883A834855C}"/>
              </a:ext>
            </a:extLst>
          </p:cNvPr>
          <p:cNvSpPr>
            <a:spLocks xmlns:a="http://schemas.openxmlformats.org/drawingml/2006/main" noGrp="1"/>
          </p:cNvSpPr>
          <p:nvPr/>
        </p:nvSpPr>
        <p:spPr>
          <a:xfrm xmlns:a="http://schemas.openxmlformats.org/drawingml/2006/main">
            <a:off x="628650" y="790575"/>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900" b="1" i="0">
                <a:solidFill>
                  <a:srgbClr val="F26A2E"/>
                </a:solidFill>
                <a:latin typeface="Lato"/>
                <a:ea typeface="Lato"/>
                <a:cs typeface="Lato"/>
              </a:defRPr>
            </a:pPr>
            <a:r>
              <a:rPr sz="900" b="1" i="0">
                <a:solidFill>
                  <a:srgbClr val="F26A2E"/>
                </a:solidFill>
                <a:latin typeface="Lato"/>
                <a:ea typeface="Lato"/>
                <a:cs typeface="Lato"/>
              </a:rPr>
              <a:t>PROTEIN</a:t>
            </a:r>
          </a:p>
        </p:txBody>
      </p:sp>
      <p:sp>
        <p:nvSpPr>
          <p:cNvPr id="10" name="">
            <a:extLst xmlns:a="http://schemas.openxmlformats.org/drawingml/2006/main">
              <a:ext uri="{FF2B5EF4-FFF2-40B4-BE49-F238E27FC236}">
                <a16:creationId xmlns:a16="http://schemas.microsoft.com/office/drawing/2014/main" id="{F0390CC6-5704-447A-8680-22EA1A2F80EA}"/>
              </a:ext>
            </a:extLst>
          </p:cNvPr>
          <p:cNvSpPr>
            <a:spLocks xmlns:a="http://schemas.openxmlformats.org/drawingml/2006/main" noGrp="1"/>
          </p:cNvSpPr>
          <p:nvPr/>
        </p:nvSpPr>
        <p:spPr>
          <a:xfrm xmlns:a="http://schemas.openxmlformats.org/drawingml/2006/main">
            <a:off x="590550" y="1066800"/>
            <a:ext cx="619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03000"/>
              </a:lnSpc>
              <a:buNone/>
              <a:defRPr sz="2550" b="1" i="0">
                <a:solidFill>
                  <a:srgbClr val="192442"/>
                </a:solidFill>
                <a:latin typeface="Lora"/>
                <a:ea typeface="Lora"/>
                <a:cs typeface="Lora"/>
              </a:defRPr>
            </a:pPr>
            <a:r>
              <a:rPr sz="2550" b="1" i="0">
                <a:solidFill>
                  <a:srgbClr val="192442"/>
                </a:solidFill>
                <a:latin typeface="Lora"/>
                <a:ea typeface="Lora"/>
                <a:cs typeface="Lora"/>
              </a:rPr>
              <a:t>Protein helps a meal hold together</a:t>
            </a:r>
          </a:p>
        </p:txBody>
      </p:sp>
      <p:sp>
        <p:nvSpPr>
          <p:cNvPr id="11" name="">
            <a:extLst xmlns:a="http://schemas.openxmlformats.org/drawingml/2006/main">
              <a:ext uri="{FF2B5EF4-FFF2-40B4-BE49-F238E27FC236}">
                <a16:creationId xmlns:a16="http://schemas.microsoft.com/office/drawing/2014/main" id="{D640E92D-4687-4625-ADED-0486914F4878}"/>
              </a:ext>
            </a:extLst>
          </p:cNvPr>
          <p:cNvSpPr>
            <a:spLocks xmlns:a="http://schemas.openxmlformats.org/drawingml/2006/main" noGrp="1"/>
          </p:cNvSpPr>
          <p:nvPr/>
        </p:nvSpPr>
        <p:spPr>
          <a:xfrm xmlns:a="http://schemas.openxmlformats.org/drawingml/2006/main">
            <a:off x="628650" y="1866900"/>
            <a:ext cx="6381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25000"/>
              </a:lnSpc>
              <a:buNone/>
              <a:defRPr sz="1125" b="0" i="0">
                <a:solidFill>
                  <a:srgbClr val="5C6C67"/>
                </a:solidFill>
                <a:latin typeface="Lato"/>
                <a:ea typeface="Lato"/>
                <a:cs typeface="Lato"/>
              </a:defRPr>
            </a:pPr>
            <a:r>
              <a:rPr sz="1125" b="0" i="0">
                <a:solidFill>
                  <a:srgbClr val="5C6C67"/>
                </a:solidFill>
                <a:latin typeface="Lato"/>
                <a:ea typeface="Lato"/>
                <a:cs typeface="Lato"/>
              </a:rPr>
              <a:t>Protein foods can support fullness and help make a meal feel more steady. They may come from animal or plant sources, and budget options count.</a:t>
            </a:r>
          </a:p>
        </p:txBody>
      </p:sp>
      <p:sp>
        <p:nvSpPr>
          <p:cNvPr id="12" name="">
            <a:extLst xmlns:a="http://schemas.openxmlformats.org/drawingml/2006/main">
              <a:ext uri="{FF2B5EF4-FFF2-40B4-BE49-F238E27FC236}">
                <a16:creationId xmlns:a16="http://schemas.microsoft.com/office/drawing/2014/main" id="{54E0BE34-A7E2-4513-B4FC-FB55FFA5D296}"/>
              </a:ext>
            </a:extLst>
          </p:cNvPr>
          <p:cNvSpPr>
            <a:spLocks xmlns:a="http://schemas.openxmlformats.org/drawingml/2006/main" noGrp="1"/>
          </p:cNvSpPr>
          <p:nvPr/>
        </p:nvSpPr>
        <p:spPr>
          <a:xfrm xmlns:a="http://schemas.openxmlformats.org/drawingml/2006/main">
            <a:off x="628650" y="2667000"/>
            <a:ext cx="3028950" cy="876300"/>
          </a:xfrm>
          <a:prstGeom xmlns:a="http://schemas.openxmlformats.org/drawingml/2006/main" prst="roundRect">
            <a:avLst>
              <a:gd name="adj" fmla="val 10870"/>
            </a:avLst>
          </a:prstGeom>
          <a:solidFill xmlns:a="http://schemas.openxmlformats.org/drawingml/2006/main">
            <a:srgbClr val="FFFFFF"/>
          </a:solidFill>
          <a:ln xmlns:a="http://schemas.openxmlformats.org/drawingml/2006/main" w="11430">
            <a:solidFill>
              <a:srgbClr val="D9E2DA"/>
            </a:solidFill>
            <a:prstDash val="solid"/>
          </a:ln>
        </p:spPr>
      </p:sp>
      <p:sp>
        <p:nvSpPr>
          <p:cNvPr id="13" name="">
            <a:extLst xmlns:a="http://schemas.openxmlformats.org/drawingml/2006/main">
              <a:ext uri="{FF2B5EF4-FFF2-40B4-BE49-F238E27FC236}">
                <a16:creationId xmlns:a16="http://schemas.microsoft.com/office/drawing/2014/main" id="{923A2246-1757-4CE4-82E5-3BFAA50F1D84}"/>
              </a:ext>
            </a:extLst>
          </p:cNvPr>
          <p:cNvSpPr>
            <a:spLocks xmlns:a="http://schemas.openxmlformats.org/drawingml/2006/main" noGrp="1"/>
          </p:cNvSpPr>
          <p:nvPr/>
        </p:nvSpPr>
        <p:spPr>
          <a:xfrm xmlns:a="http://schemas.openxmlformats.org/drawingml/2006/main">
            <a:off x="781050" y="2857500"/>
            <a:ext cx="190500" cy="190500"/>
          </a:xfrm>
          <a:prstGeom xmlns:a="http://schemas.openxmlformats.org/drawingml/2006/main" prst="ellipse">
            <a:avLst/>
          </a:prstGeom>
          <a:solidFill xmlns:a="http://schemas.openxmlformats.org/drawingml/2006/main">
            <a:srgbClr val="EEF7FA"/>
          </a:solidFill>
          <a:ln xmlns:a="http://schemas.openxmlformats.org/drawingml/2006/main" w="11430">
            <a:solidFill>
              <a:srgbClr val="034B2F"/>
            </a:solidFill>
            <a:prstDash val="solid"/>
          </a:ln>
        </p:spPr>
      </p:sp>
      <p:sp>
        <p:nvSpPr>
          <p:cNvPr id="14" name="">
            <a:extLst xmlns:a="http://schemas.openxmlformats.org/drawingml/2006/main">
              <a:ext uri="{FF2B5EF4-FFF2-40B4-BE49-F238E27FC236}">
                <a16:creationId xmlns:a16="http://schemas.microsoft.com/office/drawing/2014/main" id="{401EED1B-AEB2-4F50-9D43-FF05B519C37D}"/>
              </a:ext>
            </a:extLst>
          </p:cNvPr>
          <p:cNvSpPr>
            <a:spLocks xmlns:a="http://schemas.openxmlformats.org/drawingml/2006/main" noGrp="1"/>
          </p:cNvSpPr>
          <p:nvPr/>
        </p:nvSpPr>
        <p:spPr>
          <a:xfrm xmlns:a="http://schemas.openxmlformats.org/drawingml/2006/main">
            <a:off x="1085850" y="2819400"/>
            <a:ext cx="2419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1013" b="1" i="0">
                <a:solidFill>
                  <a:srgbClr val="192442"/>
                </a:solidFill>
                <a:latin typeface="Lato"/>
                <a:ea typeface="Lato"/>
                <a:cs typeface="Lato"/>
              </a:defRPr>
            </a:pPr>
            <a:r>
              <a:rPr sz="1013" b="1" i="0">
                <a:solidFill>
                  <a:srgbClr val="192442"/>
                </a:solidFill>
                <a:latin typeface="Lato"/>
                <a:ea typeface="Lato"/>
                <a:cs typeface="Lato"/>
              </a:rPr>
              <a:t>Eggs or fish</a:t>
            </a:r>
          </a:p>
        </p:txBody>
      </p:sp>
      <p:sp>
        <p:nvSpPr>
          <p:cNvPr id="15" name="">
            <a:extLst xmlns:a="http://schemas.openxmlformats.org/drawingml/2006/main">
              <a:ext uri="{FF2B5EF4-FFF2-40B4-BE49-F238E27FC236}">
                <a16:creationId xmlns:a16="http://schemas.microsoft.com/office/drawing/2014/main" id="{E9DB2F4F-0FAE-436F-980A-8F704F85A4B1}"/>
              </a:ext>
            </a:extLst>
          </p:cNvPr>
          <p:cNvSpPr>
            <a:spLocks xmlns:a="http://schemas.openxmlformats.org/drawingml/2006/main" noGrp="1"/>
          </p:cNvSpPr>
          <p:nvPr/>
        </p:nvSpPr>
        <p:spPr>
          <a:xfrm xmlns:a="http://schemas.openxmlformats.org/drawingml/2006/main">
            <a:off x="1085850" y="3038475"/>
            <a:ext cx="2419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0000"/>
              </a:lnSpc>
              <a:buNone/>
              <a:defRPr sz="788" b="0" i="0">
                <a:solidFill>
                  <a:srgbClr val="5C6C67"/>
                </a:solidFill>
                <a:latin typeface="Lato"/>
                <a:ea typeface="Lato"/>
                <a:cs typeface="Lato"/>
              </a:defRPr>
            </a:pPr>
            <a:r>
              <a:rPr sz="788" b="0" i="0">
                <a:solidFill>
                  <a:srgbClr val="5C6C67"/>
                </a:solidFill>
                <a:latin typeface="Lato"/>
                <a:ea typeface="Lato"/>
                <a:cs typeface="Lato"/>
              </a:rPr>
              <a:t>eggs, tuna, salmon, sardines</a:t>
            </a:r>
          </a:p>
        </p:txBody>
      </p:sp>
      <p:sp>
        <p:nvSpPr>
          <p:cNvPr id="16" name="">
            <a:extLst xmlns:a="http://schemas.openxmlformats.org/drawingml/2006/main">
              <a:ext uri="{FF2B5EF4-FFF2-40B4-BE49-F238E27FC236}">
                <a16:creationId xmlns:a16="http://schemas.microsoft.com/office/drawing/2014/main" id="{9BA9A1AF-E9D5-4E4B-B17A-3556AA088C00}"/>
              </a:ext>
            </a:extLst>
          </p:cNvPr>
          <p:cNvSpPr>
            <a:spLocks xmlns:a="http://schemas.openxmlformats.org/drawingml/2006/main" noGrp="1"/>
          </p:cNvSpPr>
          <p:nvPr/>
        </p:nvSpPr>
        <p:spPr>
          <a:xfrm xmlns:a="http://schemas.openxmlformats.org/drawingml/2006/main">
            <a:off x="3924300" y="2667000"/>
            <a:ext cx="3028950" cy="876300"/>
          </a:xfrm>
          <a:prstGeom xmlns:a="http://schemas.openxmlformats.org/drawingml/2006/main" prst="roundRect">
            <a:avLst>
              <a:gd name="adj" fmla="val 10870"/>
            </a:avLst>
          </a:prstGeom>
          <a:solidFill xmlns:a="http://schemas.openxmlformats.org/drawingml/2006/main">
            <a:srgbClr val="FFFFFF"/>
          </a:solidFill>
          <a:ln xmlns:a="http://schemas.openxmlformats.org/drawingml/2006/main" w="11430">
            <a:solidFill>
              <a:srgbClr val="D9E2DA"/>
            </a:solidFill>
            <a:prstDash val="solid"/>
          </a:ln>
        </p:spPr>
      </p:sp>
      <p:sp>
        <p:nvSpPr>
          <p:cNvPr id="17" name="">
            <a:extLst xmlns:a="http://schemas.openxmlformats.org/drawingml/2006/main">
              <a:ext uri="{FF2B5EF4-FFF2-40B4-BE49-F238E27FC236}">
                <a16:creationId xmlns:a16="http://schemas.microsoft.com/office/drawing/2014/main" id="{A023363F-3DEF-4609-B8C2-8472F5F9AE0C}"/>
              </a:ext>
            </a:extLst>
          </p:cNvPr>
          <p:cNvSpPr>
            <a:spLocks xmlns:a="http://schemas.openxmlformats.org/drawingml/2006/main" noGrp="1"/>
          </p:cNvSpPr>
          <p:nvPr/>
        </p:nvSpPr>
        <p:spPr>
          <a:xfrm xmlns:a="http://schemas.openxmlformats.org/drawingml/2006/main">
            <a:off x="4076700" y="2857500"/>
            <a:ext cx="190500" cy="190500"/>
          </a:xfrm>
          <a:prstGeom xmlns:a="http://schemas.openxmlformats.org/drawingml/2006/main" prst="ellipse">
            <a:avLst/>
          </a:prstGeom>
          <a:solidFill xmlns:a="http://schemas.openxmlformats.org/drawingml/2006/main">
            <a:srgbClr val="E6F2EC"/>
          </a:solidFill>
          <a:ln xmlns:a="http://schemas.openxmlformats.org/drawingml/2006/main" w="11430">
            <a:solidFill>
              <a:srgbClr val="034B2F"/>
            </a:solidFill>
            <a:prstDash val="solid"/>
          </a:ln>
        </p:spPr>
      </p:sp>
      <p:sp>
        <p:nvSpPr>
          <p:cNvPr id="18" name="">
            <a:extLst xmlns:a="http://schemas.openxmlformats.org/drawingml/2006/main">
              <a:ext uri="{FF2B5EF4-FFF2-40B4-BE49-F238E27FC236}">
                <a16:creationId xmlns:a16="http://schemas.microsoft.com/office/drawing/2014/main" id="{E3398FA6-DA4C-4F03-9939-E313FA0A1C24}"/>
              </a:ext>
            </a:extLst>
          </p:cNvPr>
          <p:cNvSpPr>
            <a:spLocks xmlns:a="http://schemas.openxmlformats.org/drawingml/2006/main" noGrp="1"/>
          </p:cNvSpPr>
          <p:nvPr/>
        </p:nvSpPr>
        <p:spPr>
          <a:xfrm xmlns:a="http://schemas.openxmlformats.org/drawingml/2006/main">
            <a:off x="4381500" y="2819400"/>
            <a:ext cx="2419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1013" b="1" i="0">
                <a:solidFill>
                  <a:srgbClr val="192442"/>
                </a:solidFill>
                <a:latin typeface="Lato"/>
                <a:ea typeface="Lato"/>
                <a:cs typeface="Lato"/>
              </a:defRPr>
            </a:pPr>
            <a:r>
              <a:rPr sz="1013" b="1" i="0">
                <a:solidFill>
                  <a:srgbClr val="192442"/>
                </a:solidFill>
                <a:latin typeface="Lato"/>
                <a:ea typeface="Lato"/>
                <a:cs typeface="Lato"/>
              </a:rPr>
              <a:t>Poultry or lean meat</a:t>
            </a:r>
          </a:p>
        </p:txBody>
      </p:sp>
      <p:sp>
        <p:nvSpPr>
          <p:cNvPr id="19" name="">
            <a:extLst xmlns:a="http://schemas.openxmlformats.org/drawingml/2006/main">
              <a:ext uri="{FF2B5EF4-FFF2-40B4-BE49-F238E27FC236}">
                <a16:creationId xmlns:a16="http://schemas.microsoft.com/office/drawing/2014/main" id="{1A1D75E5-425A-4987-BA24-445AB850A470}"/>
              </a:ext>
            </a:extLst>
          </p:cNvPr>
          <p:cNvSpPr>
            <a:spLocks xmlns:a="http://schemas.openxmlformats.org/drawingml/2006/main" noGrp="1"/>
          </p:cNvSpPr>
          <p:nvPr/>
        </p:nvSpPr>
        <p:spPr>
          <a:xfrm xmlns:a="http://schemas.openxmlformats.org/drawingml/2006/main">
            <a:off x="4381500" y="3038475"/>
            <a:ext cx="2419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0000"/>
              </a:lnSpc>
              <a:buNone/>
              <a:defRPr sz="788" b="0" i="0">
                <a:solidFill>
                  <a:srgbClr val="5C6C67"/>
                </a:solidFill>
                <a:latin typeface="Lato"/>
                <a:ea typeface="Lato"/>
                <a:cs typeface="Lato"/>
              </a:defRPr>
            </a:pPr>
            <a:r>
              <a:rPr sz="788" b="0" i="0">
                <a:solidFill>
                  <a:srgbClr val="5C6C67"/>
                </a:solidFill>
                <a:latin typeface="Lato"/>
                <a:ea typeface="Lato"/>
                <a:cs typeface="Lato"/>
              </a:rPr>
              <a:t>chicken, turkey, lean beef</a:t>
            </a:r>
          </a:p>
        </p:txBody>
      </p:sp>
      <p:sp>
        <p:nvSpPr>
          <p:cNvPr id="20" name="">
            <a:extLst xmlns:a="http://schemas.openxmlformats.org/drawingml/2006/main">
              <a:ext uri="{FF2B5EF4-FFF2-40B4-BE49-F238E27FC236}">
                <a16:creationId xmlns:a16="http://schemas.microsoft.com/office/drawing/2014/main" id="{163E6CF9-B327-476C-BE50-3515337F03DA}"/>
              </a:ext>
            </a:extLst>
          </p:cNvPr>
          <p:cNvSpPr>
            <a:spLocks xmlns:a="http://schemas.openxmlformats.org/drawingml/2006/main" noGrp="1"/>
          </p:cNvSpPr>
          <p:nvPr/>
        </p:nvSpPr>
        <p:spPr>
          <a:xfrm xmlns:a="http://schemas.openxmlformats.org/drawingml/2006/main">
            <a:off x="628650" y="3752850"/>
            <a:ext cx="3028950" cy="876300"/>
          </a:xfrm>
          <a:prstGeom xmlns:a="http://schemas.openxmlformats.org/drawingml/2006/main" prst="roundRect">
            <a:avLst>
              <a:gd name="adj" fmla="val 10870"/>
            </a:avLst>
          </a:prstGeom>
          <a:solidFill xmlns:a="http://schemas.openxmlformats.org/drawingml/2006/main">
            <a:srgbClr val="FFFFFF"/>
          </a:solidFill>
          <a:ln xmlns:a="http://schemas.openxmlformats.org/drawingml/2006/main" w="11430">
            <a:solidFill>
              <a:srgbClr val="D9E2DA"/>
            </a:solidFill>
            <a:prstDash val="solid"/>
          </a:ln>
        </p:spPr>
      </p:sp>
      <p:sp>
        <p:nvSpPr>
          <p:cNvPr id="21" name="">
            <a:extLst xmlns:a="http://schemas.openxmlformats.org/drawingml/2006/main">
              <a:ext uri="{FF2B5EF4-FFF2-40B4-BE49-F238E27FC236}">
                <a16:creationId xmlns:a16="http://schemas.microsoft.com/office/drawing/2014/main" id="{F8D9DE33-2431-4CA0-87DF-AACC4AE80E3A}"/>
              </a:ext>
            </a:extLst>
          </p:cNvPr>
          <p:cNvSpPr>
            <a:spLocks xmlns:a="http://schemas.openxmlformats.org/drawingml/2006/main" noGrp="1"/>
          </p:cNvSpPr>
          <p:nvPr/>
        </p:nvSpPr>
        <p:spPr>
          <a:xfrm xmlns:a="http://schemas.openxmlformats.org/drawingml/2006/main">
            <a:off x="781050" y="3943350"/>
            <a:ext cx="190500" cy="190500"/>
          </a:xfrm>
          <a:prstGeom xmlns:a="http://schemas.openxmlformats.org/drawingml/2006/main" prst="ellipse">
            <a:avLst/>
          </a:prstGeom>
          <a:solidFill xmlns:a="http://schemas.openxmlformats.org/drawingml/2006/main">
            <a:srgbClr val="E6F2EC"/>
          </a:solidFill>
          <a:ln xmlns:a="http://schemas.openxmlformats.org/drawingml/2006/main" w="11430">
            <a:solidFill>
              <a:srgbClr val="034B2F"/>
            </a:solidFill>
            <a:prstDash val="solid"/>
          </a:ln>
        </p:spPr>
      </p:sp>
      <p:sp>
        <p:nvSpPr>
          <p:cNvPr id="22" name="">
            <a:extLst xmlns:a="http://schemas.openxmlformats.org/drawingml/2006/main">
              <a:ext uri="{FF2B5EF4-FFF2-40B4-BE49-F238E27FC236}">
                <a16:creationId xmlns:a16="http://schemas.microsoft.com/office/drawing/2014/main" id="{BE36667D-540F-4A31-9614-A7AC5FB88BB4}"/>
              </a:ext>
            </a:extLst>
          </p:cNvPr>
          <p:cNvSpPr>
            <a:spLocks xmlns:a="http://schemas.openxmlformats.org/drawingml/2006/main" noGrp="1"/>
          </p:cNvSpPr>
          <p:nvPr/>
        </p:nvSpPr>
        <p:spPr>
          <a:xfrm xmlns:a="http://schemas.openxmlformats.org/drawingml/2006/main">
            <a:off x="1085850" y="3905250"/>
            <a:ext cx="2419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1013" b="1" i="0">
                <a:solidFill>
                  <a:srgbClr val="192442"/>
                </a:solidFill>
                <a:latin typeface="Lato"/>
                <a:ea typeface="Lato"/>
                <a:cs typeface="Lato"/>
              </a:defRPr>
            </a:pPr>
            <a:r>
              <a:rPr sz="1013" b="1" i="0">
                <a:solidFill>
                  <a:srgbClr val="192442"/>
                </a:solidFill>
                <a:latin typeface="Lato"/>
                <a:ea typeface="Lato"/>
                <a:cs typeface="Lato"/>
              </a:rPr>
              <a:t>Tofu or tempeh</a:t>
            </a:r>
          </a:p>
        </p:txBody>
      </p:sp>
      <p:sp>
        <p:nvSpPr>
          <p:cNvPr id="23" name="">
            <a:extLst xmlns:a="http://schemas.openxmlformats.org/drawingml/2006/main">
              <a:ext uri="{FF2B5EF4-FFF2-40B4-BE49-F238E27FC236}">
                <a16:creationId xmlns:a16="http://schemas.microsoft.com/office/drawing/2014/main" id="{239D312E-00BB-4754-9294-3A93BAC10961}"/>
              </a:ext>
            </a:extLst>
          </p:cNvPr>
          <p:cNvSpPr>
            <a:spLocks xmlns:a="http://schemas.openxmlformats.org/drawingml/2006/main" noGrp="1"/>
          </p:cNvSpPr>
          <p:nvPr/>
        </p:nvSpPr>
        <p:spPr>
          <a:xfrm xmlns:a="http://schemas.openxmlformats.org/drawingml/2006/main">
            <a:off x="1085850" y="4124325"/>
            <a:ext cx="2419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0000"/>
              </a:lnSpc>
              <a:buNone/>
              <a:defRPr sz="788" b="0" i="0">
                <a:solidFill>
                  <a:srgbClr val="5C6C67"/>
                </a:solidFill>
                <a:latin typeface="Lato"/>
                <a:ea typeface="Lato"/>
                <a:cs typeface="Lato"/>
              </a:defRPr>
            </a:pPr>
            <a:r>
              <a:rPr sz="788" b="0" i="0">
                <a:solidFill>
                  <a:srgbClr val="5C6C67"/>
                </a:solidFill>
                <a:latin typeface="Lato"/>
                <a:ea typeface="Lato"/>
                <a:cs typeface="Lato"/>
              </a:rPr>
              <a:t>soy options, edamame</a:t>
            </a:r>
          </a:p>
        </p:txBody>
      </p:sp>
      <p:sp>
        <p:nvSpPr>
          <p:cNvPr id="24" name="">
            <a:extLst xmlns:a="http://schemas.openxmlformats.org/drawingml/2006/main">
              <a:ext uri="{FF2B5EF4-FFF2-40B4-BE49-F238E27FC236}">
                <a16:creationId xmlns:a16="http://schemas.microsoft.com/office/drawing/2014/main" id="{073961E7-F003-4EE7-BC88-1E8EE8B482C3}"/>
              </a:ext>
            </a:extLst>
          </p:cNvPr>
          <p:cNvSpPr>
            <a:spLocks xmlns:a="http://schemas.openxmlformats.org/drawingml/2006/main" noGrp="1"/>
          </p:cNvSpPr>
          <p:nvPr/>
        </p:nvSpPr>
        <p:spPr>
          <a:xfrm xmlns:a="http://schemas.openxmlformats.org/drawingml/2006/main">
            <a:off x="3924300" y="3752850"/>
            <a:ext cx="3028950" cy="876300"/>
          </a:xfrm>
          <a:prstGeom xmlns:a="http://schemas.openxmlformats.org/drawingml/2006/main" prst="roundRect">
            <a:avLst>
              <a:gd name="adj" fmla="val 10870"/>
            </a:avLst>
          </a:prstGeom>
          <a:solidFill xmlns:a="http://schemas.openxmlformats.org/drawingml/2006/main">
            <a:srgbClr val="FFFFFF"/>
          </a:solidFill>
          <a:ln xmlns:a="http://schemas.openxmlformats.org/drawingml/2006/main" w="11430">
            <a:solidFill>
              <a:srgbClr val="D9E2DA"/>
            </a:solidFill>
            <a:prstDash val="solid"/>
          </a:ln>
        </p:spPr>
      </p:sp>
      <p:sp>
        <p:nvSpPr>
          <p:cNvPr id="25" name="">
            <a:extLst xmlns:a="http://schemas.openxmlformats.org/drawingml/2006/main">
              <a:ext uri="{FF2B5EF4-FFF2-40B4-BE49-F238E27FC236}">
                <a16:creationId xmlns:a16="http://schemas.microsoft.com/office/drawing/2014/main" id="{A9948166-C03C-4230-A945-68C8AD83E1A2}"/>
              </a:ext>
            </a:extLst>
          </p:cNvPr>
          <p:cNvSpPr>
            <a:spLocks xmlns:a="http://schemas.openxmlformats.org/drawingml/2006/main" noGrp="1"/>
          </p:cNvSpPr>
          <p:nvPr/>
        </p:nvSpPr>
        <p:spPr>
          <a:xfrm xmlns:a="http://schemas.openxmlformats.org/drawingml/2006/main">
            <a:off x="4076700" y="3943350"/>
            <a:ext cx="190500" cy="190500"/>
          </a:xfrm>
          <a:prstGeom xmlns:a="http://schemas.openxmlformats.org/drawingml/2006/main" prst="ellipse">
            <a:avLst/>
          </a:prstGeom>
          <a:solidFill xmlns:a="http://schemas.openxmlformats.org/drawingml/2006/main">
            <a:srgbClr val="FCE4D8"/>
          </a:solidFill>
          <a:ln xmlns:a="http://schemas.openxmlformats.org/drawingml/2006/main" w="11430">
            <a:solidFill>
              <a:srgbClr val="034B2F"/>
            </a:solidFill>
            <a:prstDash val="solid"/>
          </a:ln>
        </p:spPr>
      </p:sp>
      <p:sp>
        <p:nvSpPr>
          <p:cNvPr id="26" name="">
            <a:extLst xmlns:a="http://schemas.openxmlformats.org/drawingml/2006/main">
              <a:ext uri="{FF2B5EF4-FFF2-40B4-BE49-F238E27FC236}">
                <a16:creationId xmlns:a16="http://schemas.microsoft.com/office/drawing/2014/main" id="{9DA2FF99-B48E-4970-8886-355FEA91BD71}"/>
              </a:ext>
            </a:extLst>
          </p:cNvPr>
          <p:cNvSpPr>
            <a:spLocks xmlns:a="http://schemas.openxmlformats.org/drawingml/2006/main" noGrp="1"/>
          </p:cNvSpPr>
          <p:nvPr/>
        </p:nvSpPr>
        <p:spPr>
          <a:xfrm xmlns:a="http://schemas.openxmlformats.org/drawingml/2006/main">
            <a:off x="4381500" y="3905250"/>
            <a:ext cx="2419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1013" b="1" i="0">
                <a:solidFill>
                  <a:srgbClr val="192442"/>
                </a:solidFill>
                <a:latin typeface="Lato"/>
                <a:ea typeface="Lato"/>
                <a:cs typeface="Lato"/>
              </a:defRPr>
            </a:pPr>
            <a:r>
              <a:rPr sz="1013" b="1" i="0">
                <a:solidFill>
                  <a:srgbClr val="192442"/>
                </a:solidFill>
                <a:latin typeface="Lato"/>
                <a:ea typeface="Lato"/>
                <a:cs typeface="Lato"/>
              </a:rPr>
              <a:t>Beans or lentils</a:t>
            </a:r>
          </a:p>
        </p:txBody>
      </p:sp>
      <p:sp>
        <p:nvSpPr>
          <p:cNvPr id="27" name="">
            <a:extLst xmlns:a="http://schemas.openxmlformats.org/drawingml/2006/main">
              <a:ext uri="{FF2B5EF4-FFF2-40B4-BE49-F238E27FC236}">
                <a16:creationId xmlns:a16="http://schemas.microsoft.com/office/drawing/2014/main" id="{AD998AE4-D992-4C88-B32A-3F206874C62B}"/>
              </a:ext>
            </a:extLst>
          </p:cNvPr>
          <p:cNvSpPr>
            <a:spLocks xmlns:a="http://schemas.openxmlformats.org/drawingml/2006/main" noGrp="1"/>
          </p:cNvSpPr>
          <p:nvPr/>
        </p:nvSpPr>
        <p:spPr>
          <a:xfrm xmlns:a="http://schemas.openxmlformats.org/drawingml/2006/main">
            <a:off x="4381500" y="4124325"/>
            <a:ext cx="2419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0000"/>
              </a:lnSpc>
              <a:buNone/>
              <a:defRPr sz="788" b="0" i="0">
                <a:solidFill>
                  <a:srgbClr val="5C6C67"/>
                </a:solidFill>
                <a:latin typeface="Lato"/>
                <a:ea typeface="Lato"/>
                <a:cs typeface="Lato"/>
              </a:defRPr>
            </a:pPr>
            <a:r>
              <a:rPr sz="788" b="0" i="0">
                <a:solidFill>
                  <a:srgbClr val="5C6C67"/>
                </a:solidFill>
                <a:latin typeface="Lato"/>
                <a:ea typeface="Lato"/>
                <a:cs typeface="Lato"/>
              </a:rPr>
              <a:t>also contain carbohydrate</a:t>
            </a:r>
          </a:p>
        </p:txBody>
      </p:sp>
      <p:sp>
        <p:nvSpPr>
          <p:cNvPr id="28" name="">
            <a:extLst xmlns:a="http://schemas.openxmlformats.org/drawingml/2006/main">
              <a:ext uri="{FF2B5EF4-FFF2-40B4-BE49-F238E27FC236}">
                <a16:creationId xmlns:a16="http://schemas.microsoft.com/office/drawing/2014/main" id="{E54DBDE2-A335-4889-AC3E-A315D93E7DC7}"/>
              </a:ext>
            </a:extLst>
          </p:cNvPr>
          <p:cNvSpPr>
            <a:spLocks xmlns:a="http://schemas.openxmlformats.org/drawingml/2006/main" noGrp="1"/>
          </p:cNvSpPr>
          <p:nvPr/>
        </p:nvSpPr>
        <p:spPr>
          <a:xfrm xmlns:a="http://schemas.openxmlformats.org/drawingml/2006/main">
            <a:off x="628650" y="4838700"/>
            <a:ext cx="3028950" cy="876300"/>
          </a:xfrm>
          <a:prstGeom xmlns:a="http://schemas.openxmlformats.org/drawingml/2006/main" prst="roundRect">
            <a:avLst>
              <a:gd name="adj" fmla="val 10870"/>
            </a:avLst>
          </a:prstGeom>
          <a:solidFill xmlns:a="http://schemas.openxmlformats.org/drawingml/2006/main">
            <a:srgbClr val="FFFFFF"/>
          </a:solidFill>
          <a:ln xmlns:a="http://schemas.openxmlformats.org/drawingml/2006/main" w="11430">
            <a:solidFill>
              <a:srgbClr val="D9E2DA"/>
            </a:solidFill>
            <a:prstDash val="solid"/>
          </a:ln>
        </p:spPr>
      </p:sp>
      <p:sp>
        <p:nvSpPr>
          <p:cNvPr id="29" name="">
            <a:extLst xmlns:a="http://schemas.openxmlformats.org/drawingml/2006/main">
              <a:ext uri="{FF2B5EF4-FFF2-40B4-BE49-F238E27FC236}">
                <a16:creationId xmlns:a16="http://schemas.microsoft.com/office/drawing/2014/main" id="{0F726D7C-39A9-4ADC-ACFE-ECF39E2AA998}"/>
              </a:ext>
            </a:extLst>
          </p:cNvPr>
          <p:cNvSpPr>
            <a:spLocks xmlns:a="http://schemas.openxmlformats.org/drawingml/2006/main" noGrp="1"/>
          </p:cNvSpPr>
          <p:nvPr/>
        </p:nvSpPr>
        <p:spPr>
          <a:xfrm xmlns:a="http://schemas.openxmlformats.org/drawingml/2006/main">
            <a:off x="781050" y="5029200"/>
            <a:ext cx="190500" cy="190500"/>
          </a:xfrm>
          <a:prstGeom xmlns:a="http://schemas.openxmlformats.org/drawingml/2006/main" prst="ellipse">
            <a:avLst/>
          </a:prstGeom>
          <a:solidFill xmlns:a="http://schemas.openxmlformats.org/drawingml/2006/main">
            <a:srgbClr val="EEF7FA"/>
          </a:solidFill>
          <a:ln xmlns:a="http://schemas.openxmlformats.org/drawingml/2006/main" w="11430">
            <a:solidFill>
              <a:srgbClr val="034B2F"/>
            </a:solidFill>
            <a:prstDash val="solid"/>
          </a:ln>
        </p:spPr>
      </p:sp>
      <p:sp>
        <p:nvSpPr>
          <p:cNvPr id="30" name="">
            <a:extLst xmlns:a="http://schemas.openxmlformats.org/drawingml/2006/main">
              <a:ext uri="{FF2B5EF4-FFF2-40B4-BE49-F238E27FC236}">
                <a16:creationId xmlns:a16="http://schemas.microsoft.com/office/drawing/2014/main" id="{7DADE934-E231-415F-921B-81B808838CA9}"/>
              </a:ext>
            </a:extLst>
          </p:cNvPr>
          <p:cNvSpPr>
            <a:spLocks xmlns:a="http://schemas.openxmlformats.org/drawingml/2006/main" noGrp="1"/>
          </p:cNvSpPr>
          <p:nvPr/>
        </p:nvSpPr>
        <p:spPr>
          <a:xfrm xmlns:a="http://schemas.openxmlformats.org/drawingml/2006/main">
            <a:off x="1085850" y="4991100"/>
            <a:ext cx="2419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1013" b="1" i="0">
                <a:solidFill>
                  <a:srgbClr val="192442"/>
                </a:solidFill>
                <a:latin typeface="Lato"/>
                <a:ea typeface="Lato"/>
                <a:cs typeface="Lato"/>
              </a:defRPr>
            </a:pPr>
            <a:r>
              <a:rPr sz="1013" b="1" i="0">
                <a:solidFill>
                  <a:srgbClr val="192442"/>
                </a:solidFill>
                <a:latin typeface="Lato"/>
                <a:ea typeface="Lato"/>
                <a:cs typeface="Lato"/>
              </a:rPr>
              <a:t>Plain yogurt</a:t>
            </a:r>
          </a:p>
        </p:txBody>
      </p:sp>
      <p:sp>
        <p:nvSpPr>
          <p:cNvPr id="31" name="">
            <a:extLst xmlns:a="http://schemas.openxmlformats.org/drawingml/2006/main">
              <a:ext uri="{FF2B5EF4-FFF2-40B4-BE49-F238E27FC236}">
                <a16:creationId xmlns:a16="http://schemas.microsoft.com/office/drawing/2014/main" id="{88DE805A-4DE7-4E6C-85E3-A9E1B263CC27}"/>
              </a:ext>
            </a:extLst>
          </p:cNvPr>
          <p:cNvSpPr>
            <a:spLocks xmlns:a="http://schemas.openxmlformats.org/drawingml/2006/main" noGrp="1"/>
          </p:cNvSpPr>
          <p:nvPr/>
        </p:nvSpPr>
        <p:spPr>
          <a:xfrm xmlns:a="http://schemas.openxmlformats.org/drawingml/2006/main">
            <a:off x="1085850" y="5210175"/>
            <a:ext cx="2419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0000"/>
              </a:lnSpc>
              <a:buNone/>
              <a:defRPr sz="788" b="0" i="0">
                <a:solidFill>
                  <a:srgbClr val="5C6C67"/>
                </a:solidFill>
                <a:latin typeface="Lato"/>
                <a:ea typeface="Lato"/>
                <a:cs typeface="Lato"/>
              </a:defRPr>
            </a:pPr>
            <a:r>
              <a:rPr sz="788" b="0" i="0">
                <a:solidFill>
                  <a:srgbClr val="5C6C67"/>
                </a:solidFill>
                <a:latin typeface="Lato"/>
                <a:ea typeface="Lato"/>
                <a:cs typeface="Lato"/>
              </a:rPr>
              <a:t>Greek yogurt, cottage cheese</a:t>
            </a:r>
          </a:p>
        </p:txBody>
      </p:sp>
      <p:sp>
        <p:nvSpPr>
          <p:cNvPr id="32" name="">
            <a:extLst xmlns:a="http://schemas.openxmlformats.org/drawingml/2006/main">
              <a:ext uri="{FF2B5EF4-FFF2-40B4-BE49-F238E27FC236}">
                <a16:creationId xmlns:a16="http://schemas.microsoft.com/office/drawing/2014/main" id="{17F64102-46BC-43EC-AD51-E0ECB8C1AAF8}"/>
              </a:ext>
            </a:extLst>
          </p:cNvPr>
          <p:cNvSpPr>
            <a:spLocks xmlns:a="http://schemas.openxmlformats.org/drawingml/2006/main" noGrp="1"/>
          </p:cNvSpPr>
          <p:nvPr/>
        </p:nvSpPr>
        <p:spPr>
          <a:xfrm xmlns:a="http://schemas.openxmlformats.org/drawingml/2006/main">
            <a:off x="3924300" y="4838700"/>
            <a:ext cx="3028950" cy="876300"/>
          </a:xfrm>
          <a:prstGeom xmlns:a="http://schemas.openxmlformats.org/drawingml/2006/main" prst="roundRect">
            <a:avLst>
              <a:gd name="adj" fmla="val 10870"/>
            </a:avLst>
          </a:prstGeom>
          <a:solidFill xmlns:a="http://schemas.openxmlformats.org/drawingml/2006/main">
            <a:srgbClr val="FFFFFF"/>
          </a:solidFill>
          <a:ln xmlns:a="http://schemas.openxmlformats.org/drawingml/2006/main" w="11430">
            <a:solidFill>
              <a:srgbClr val="D9E2DA"/>
            </a:solidFill>
            <a:prstDash val="solid"/>
          </a:ln>
        </p:spPr>
      </p:sp>
      <p:sp>
        <p:nvSpPr>
          <p:cNvPr id="33" name="">
            <a:extLst xmlns:a="http://schemas.openxmlformats.org/drawingml/2006/main">
              <a:ext uri="{FF2B5EF4-FFF2-40B4-BE49-F238E27FC236}">
                <a16:creationId xmlns:a16="http://schemas.microsoft.com/office/drawing/2014/main" id="{DEE87563-C41E-4B34-99DE-B3D1EFA10021}"/>
              </a:ext>
            </a:extLst>
          </p:cNvPr>
          <p:cNvSpPr>
            <a:spLocks xmlns:a="http://schemas.openxmlformats.org/drawingml/2006/main" noGrp="1"/>
          </p:cNvSpPr>
          <p:nvPr/>
        </p:nvSpPr>
        <p:spPr>
          <a:xfrm xmlns:a="http://schemas.openxmlformats.org/drawingml/2006/main">
            <a:off x="4076700" y="5029200"/>
            <a:ext cx="190500" cy="190500"/>
          </a:xfrm>
          <a:prstGeom xmlns:a="http://schemas.openxmlformats.org/drawingml/2006/main" prst="ellipse">
            <a:avLst/>
          </a:prstGeom>
          <a:solidFill xmlns:a="http://schemas.openxmlformats.org/drawingml/2006/main">
            <a:srgbClr val="E6F2EC"/>
          </a:solidFill>
          <a:ln xmlns:a="http://schemas.openxmlformats.org/drawingml/2006/main" w="11430">
            <a:solidFill>
              <a:srgbClr val="034B2F"/>
            </a:solidFill>
            <a:prstDash val="solid"/>
          </a:ln>
        </p:spPr>
      </p:sp>
      <p:sp>
        <p:nvSpPr>
          <p:cNvPr id="34" name="">
            <a:extLst xmlns:a="http://schemas.openxmlformats.org/drawingml/2006/main">
              <a:ext uri="{FF2B5EF4-FFF2-40B4-BE49-F238E27FC236}">
                <a16:creationId xmlns:a16="http://schemas.microsoft.com/office/drawing/2014/main" id="{C27C70DC-6C49-49AC-849C-A2160C219A41}"/>
              </a:ext>
            </a:extLst>
          </p:cNvPr>
          <p:cNvSpPr>
            <a:spLocks xmlns:a="http://schemas.openxmlformats.org/drawingml/2006/main" noGrp="1"/>
          </p:cNvSpPr>
          <p:nvPr/>
        </p:nvSpPr>
        <p:spPr>
          <a:xfrm xmlns:a="http://schemas.openxmlformats.org/drawingml/2006/main">
            <a:off x="4381500" y="4991100"/>
            <a:ext cx="2419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1013" b="1" i="0">
                <a:solidFill>
                  <a:srgbClr val="192442"/>
                </a:solidFill>
                <a:latin typeface="Lato"/>
                <a:ea typeface="Lato"/>
                <a:cs typeface="Lato"/>
              </a:defRPr>
            </a:pPr>
            <a:r>
              <a:rPr sz="1013" b="1" i="0">
                <a:solidFill>
                  <a:srgbClr val="192442"/>
                </a:solidFill>
                <a:latin typeface="Lato"/>
                <a:ea typeface="Lato"/>
                <a:cs typeface="Lato"/>
              </a:rPr>
              <a:t>Nuts and seeds</a:t>
            </a:r>
          </a:p>
        </p:txBody>
      </p:sp>
      <p:sp>
        <p:nvSpPr>
          <p:cNvPr id="35" name="">
            <a:extLst xmlns:a="http://schemas.openxmlformats.org/drawingml/2006/main">
              <a:ext uri="{FF2B5EF4-FFF2-40B4-BE49-F238E27FC236}">
                <a16:creationId xmlns:a16="http://schemas.microsoft.com/office/drawing/2014/main" id="{61C27862-0251-4A0B-992B-5536D47E9C1D}"/>
              </a:ext>
            </a:extLst>
          </p:cNvPr>
          <p:cNvSpPr>
            <a:spLocks xmlns:a="http://schemas.openxmlformats.org/drawingml/2006/main" noGrp="1"/>
          </p:cNvSpPr>
          <p:nvPr/>
        </p:nvSpPr>
        <p:spPr>
          <a:xfrm xmlns:a="http://schemas.openxmlformats.org/drawingml/2006/main">
            <a:off x="4381500" y="5210175"/>
            <a:ext cx="2419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0000"/>
              </a:lnSpc>
              <a:buNone/>
              <a:defRPr sz="788" b="0" i="0">
                <a:solidFill>
                  <a:srgbClr val="5C6C67"/>
                </a:solidFill>
                <a:latin typeface="Lato"/>
                <a:ea typeface="Lato"/>
                <a:cs typeface="Lato"/>
              </a:defRPr>
            </a:pPr>
            <a:r>
              <a:rPr sz="788" b="0" i="0">
                <a:solidFill>
                  <a:srgbClr val="5C6C67"/>
                </a:solidFill>
                <a:latin typeface="Lato"/>
                <a:ea typeface="Lato"/>
                <a:cs typeface="Lato"/>
              </a:rPr>
              <a:t>satisfying add-ins</a:t>
            </a:r>
          </a:p>
        </p:txBody>
      </p:sp>
      <p:sp>
        <p:nvSpPr>
          <p:cNvPr id="36" name="">
            <a:extLst xmlns:a="http://schemas.openxmlformats.org/drawingml/2006/main">
              <a:ext uri="{FF2B5EF4-FFF2-40B4-BE49-F238E27FC236}">
                <a16:creationId xmlns:a16="http://schemas.microsoft.com/office/drawing/2014/main" id="{677A4CA4-E193-4A99-92E7-DB00A43EC80C}"/>
              </a:ext>
            </a:extLst>
          </p:cNvPr>
          <p:cNvSpPr>
            <a:spLocks xmlns:a="http://schemas.openxmlformats.org/drawingml/2006/main" noGrp="1"/>
          </p:cNvSpPr>
          <p:nvPr/>
        </p:nvSpPr>
        <p:spPr>
          <a:xfrm xmlns:a="http://schemas.openxmlformats.org/drawingml/2006/main">
            <a:off x="742950" y="7391400"/>
            <a:ext cx="600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20000"/>
              </a:lnSpc>
              <a:buNone/>
              <a:defRPr sz="1013" b="0" i="0">
                <a:solidFill>
                  <a:srgbClr val="16211D"/>
                </a:solidFill>
                <a:latin typeface="Lato"/>
                <a:ea typeface="Lato"/>
                <a:cs typeface="Lato"/>
              </a:defRPr>
            </a:pPr>
            <a:r>
              <a:rPr sz="1013" b="0" i="0">
                <a:solidFill>
                  <a:srgbClr val="16211D"/>
                </a:solidFill>
                <a:latin typeface="Lato"/>
                <a:ea typeface="Lato"/>
                <a:cs typeface="Lato"/>
              </a:rPr>
              <a:t>Beans and lentils are both protein and carbohydrate foods. That does not make them wrong; it just means portion and pairing are useful.</a:t>
            </a:r>
          </a:p>
        </p:txBody>
      </p:sp>
      <p:sp>
        <p:nvSpPr>
          <p:cNvPr id="37" name="">
            <a:extLst xmlns:a="http://schemas.openxmlformats.org/drawingml/2006/main">
              <a:ext uri="{FF2B5EF4-FFF2-40B4-BE49-F238E27FC236}">
                <a16:creationId xmlns:a16="http://schemas.microsoft.com/office/drawing/2014/main" id="{8AEADAA7-6C8A-4E37-B8AD-56B3BC45D8EF}"/>
              </a:ext>
            </a:extLst>
          </p:cNvPr>
          <p:cNvSpPr>
            <a:spLocks xmlns:a="http://schemas.openxmlformats.org/drawingml/2006/main" noGrp="1"/>
          </p:cNvSpPr>
          <p:nvPr/>
        </p:nvSpPr>
        <p:spPr>
          <a:xfrm xmlns:a="http://schemas.openxmlformats.org/drawingml/2006/main">
            <a:off x="628650" y="8334375"/>
            <a:ext cx="6515100" cy="666750"/>
          </a:xfrm>
          <a:prstGeom xmlns:a="http://schemas.openxmlformats.org/drawingml/2006/main" prst="roundRect">
            <a:avLst>
              <a:gd name="adj" fmla="val 14286"/>
            </a:avLst>
          </a:prstGeom>
          <a:solidFill xmlns:a="http://schemas.openxmlformats.org/drawingml/2006/main">
            <a:srgbClr val="E6F2EC"/>
          </a:solidFill>
          <a:ln xmlns:a="http://schemas.openxmlformats.org/drawingml/2006/main" w="11430">
            <a:solidFill>
              <a:srgbClr val="B8D8C8"/>
            </a:solidFill>
            <a:prstDash val="solid"/>
          </a:ln>
        </p:spPr>
      </p:sp>
      <p:sp>
        <p:nvSpPr>
          <p:cNvPr id="38" name="">
            <a:extLst xmlns:a="http://schemas.openxmlformats.org/drawingml/2006/main">
              <a:ext uri="{FF2B5EF4-FFF2-40B4-BE49-F238E27FC236}">
                <a16:creationId xmlns:a16="http://schemas.microsoft.com/office/drawing/2014/main" id="{21A5A1EE-C15F-497C-973D-B7F2465942B6}"/>
              </a:ext>
            </a:extLst>
          </p:cNvPr>
          <p:cNvSpPr>
            <a:spLocks xmlns:a="http://schemas.openxmlformats.org/drawingml/2006/main" noGrp="1"/>
          </p:cNvSpPr>
          <p:nvPr/>
        </p:nvSpPr>
        <p:spPr>
          <a:xfrm xmlns:a="http://schemas.openxmlformats.org/drawingml/2006/main">
            <a:off x="790575" y="8467725"/>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975" b="1" i="0">
                <a:solidFill>
                  <a:srgbClr val="034B2F"/>
                </a:solidFill>
                <a:latin typeface="Lato"/>
                <a:ea typeface="Lato"/>
                <a:cs typeface="Lato"/>
              </a:defRPr>
            </a:pPr>
            <a:r>
              <a:rPr sz="975" b="1" i="0">
                <a:solidFill>
                  <a:srgbClr val="034B2F"/>
                </a:solidFill>
                <a:latin typeface="Lato"/>
                <a:ea typeface="Lato"/>
                <a:cs typeface="Lato"/>
              </a:rPr>
              <a:t>Budget note</a:t>
            </a:r>
          </a:p>
        </p:txBody>
      </p:sp>
      <p:sp>
        <p:nvSpPr>
          <p:cNvPr id="39" name="">
            <a:extLst xmlns:a="http://schemas.openxmlformats.org/drawingml/2006/main">
              <a:ext uri="{FF2B5EF4-FFF2-40B4-BE49-F238E27FC236}">
                <a16:creationId xmlns:a16="http://schemas.microsoft.com/office/drawing/2014/main" id="{76250FD9-2529-429F-8FB7-7BDADF7148F8}"/>
              </a:ext>
            </a:extLst>
          </p:cNvPr>
          <p:cNvSpPr>
            <a:spLocks xmlns:a="http://schemas.openxmlformats.org/drawingml/2006/main" noGrp="1"/>
          </p:cNvSpPr>
          <p:nvPr/>
        </p:nvSpPr>
        <p:spPr>
          <a:xfrm xmlns:a="http://schemas.openxmlformats.org/drawingml/2006/main">
            <a:off x="790575" y="8734425"/>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7000"/>
              </a:lnSpc>
              <a:buNone/>
              <a:defRPr sz="900" b="0" i="0">
                <a:solidFill>
                  <a:srgbClr val="16211D"/>
                </a:solidFill>
                <a:latin typeface="Lato"/>
                <a:ea typeface="Lato"/>
                <a:cs typeface="Lato"/>
              </a:defRPr>
            </a:pPr>
            <a:r>
              <a:rPr sz="900" b="0" i="0">
                <a:solidFill>
                  <a:srgbClr val="16211D"/>
                </a:solidFill>
                <a:latin typeface="Lato"/>
                <a:ea typeface="Lato"/>
                <a:cs typeface="Lato"/>
              </a:rPr>
              <a:t>Canned tuna, eggs, beans, lentils, tofu, and plain yogurt can be practical lower-cost protein anchors.</a:t>
            </a:r>
          </a:p>
        </p:txBody>
      </p:sp>
    </p:spTree>
    <p:extLst>
      <p:ext uri="{BB962C8B-B14F-4D97-AF65-F5344CB8AC3E}">
        <p14:creationId xmlns:p14="http://schemas.microsoft.com/office/powerpoint/2010/main" val="824617730"/>
      </p:ext>
    </p:extLst>
  </p:cSld>
</p:sld>
</file>

<file path=ppt/slides/slide8.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4e8760c2afcb4f7f"/>
          <a:srcRect xmlns:a="http://schemas.openxmlformats.org/drawingml/2006/main" l="699" t="0" r="699" b="0"/>
          <a:stretch xmlns:a="http://schemas.openxmlformats.org/drawingml/2006/main">
            <a:fillRect l="0" t="0" r="0" b="0"/>
          </a:stretch>
        </p:blipFill>
        <p:spPr>
          <a:xfrm xmlns:a="http://schemas.openxmlformats.org/drawingml/2006/main">
            <a:off x="552450" y="285750"/>
            <a:ext cx="257175" cy="276225"/>
          </a:xfrm>
          <a:prstGeom xmlns:a="http://schemas.openxmlformats.org/drawingml/2006/main" prst="roundRect">
            <a:avLst>
              <a:gd name="adj" fmla="val 29630"/>
            </a:avLst>
          </a:prstGeom>
        </p:spPr>
      </p:pic>
      <p:sp>
        <p:nvSpPr>
          <p:cNvPr id="2" name="">
            <a:extLst xmlns:a="http://schemas.openxmlformats.org/drawingml/2006/main">
              <a:ext uri="{FF2B5EF4-FFF2-40B4-BE49-F238E27FC236}">
                <a16:creationId xmlns:a16="http://schemas.microsoft.com/office/drawing/2014/main" id="{4104F70B-C74A-4BAE-A4C3-1C6F649F84F1}"/>
              </a:ext>
            </a:extLst>
          </p:cNvPr>
          <p:cNvSpPr>
            <a:spLocks xmlns:a="http://schemas.openxmlformats.org/drawingml/2006/main" noGrp="1"/>
          </p:cNvSpPr>
          <p:nvPr/>
        </p:nvSpPr>
        <p:spPr>
          <a:xfrm xmlns:a="http://schemas.openxmlformats.org/drawingml/2006/main">
            <a:off x="876300" y="3333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788" b="1" i="0">
                <a:solidFill>
                  <a:srgbClr val="034B2F"/>
                </a:solidFill>
                <a:latin typeface="Lora"/>
                <a:ea typeface="Lora"/>
                <a:cs typeface="Lora"/>
              </a:defRPr>
            </a:pPr>
            <a:r>
              <a:rPr sz="788" b="1" i="0">
                <a:solidFill>
                  <a:srgbClr val="034B2F"/>
                </a:solidFill>
                <a:latin typeface="Lora"/>
                <a:ea typeface="Lora"/>
                <a:cs typeface="Lora"/>
              </a:rPr>
              <a:t>The Mindful Plate</a:t>
            </a:r>
          </a:p>
        </p:txBody>
      </p:sp>
      <p:sp>
        <p:nvSpPr>
          <p:cNvPr id="3" name="">
            <a:extLst xmlns:a="http://schemas.openxmlformats.org/drawingml/2006/main">
              <a:ext uri="{FF2B5EF4-FFF2-40B4-BE49-F238E27FC236}">
                <a16:creationId xmlns:a16="http://schemas.microsoft.com/office/drawing/2014/main" id="{EE0F1325-3FC8-4F07-9404-E3E71FF972E8}"/>
              </a:ext>
            </a:extLst>
          </p:cNvPr>
          <p:cNvSpPr>
            <a:spLocks xmlns:a="http://schemas.openxmlformats.org/drawingml/2006/main" noGrp="1"/>
          </p:cNvSpPr>
          <p:nvPr/>
        </p:nvSpPr>
        <p:spPr>
          <a:xfrm xmlns:a="http://schemas.openxmlformats.org/drawingml/2006/main">
            <a:off x="876300" y="485775"/>
            <a:ext cx="2190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660" b="0" i="0">
                <a:solidFill>
                  <a:srgbClr val="5C6C67"/>
                </a:solidFill>
                <a:latin typeface="Lato"/>
                <a:ea typeface="Lato"/>
                <a:cs typeface="Lato"/>
              </a:defRPr>
            </a:pPr>
            <a:r>
              <a:rPr sz="660" b="0" i="0">
                <a:solidFill>
                  <a:srgbClr val="5C6C67"/>
                </a:solidFill>
                <a:latin typeface="Lato"/>
                <a:ea typeface="Lato"/>
                <a:cs typeface="Lato"/>
              </a:rPr>
              <a:t>Fiber</a:t>
            </a:r>
          </a:p>
        </p:txBody>
      </p:sp>
      <p:sp>
        <p:nvSpPr>
          <p:cNvPr id="4" name="">
            <a:extLst xmlns:a="http://schemas.openxmlformats.org/drawingml/2006/main">
              <a:ext uri="{FF2B5EF4-FFF2-40B4-BE49-F238E27FC236}">
                <a16:creationId xmlns:a16="http://schemas.microsoft.com/office/drawing/2014/main" id="{FE4B2883-BBE9-4C61-997B-E5362494C7F7}"/>
              </a:ext>
            </a:extLst>
          </p:cNvPr>
          <p:cNvSpPr>
            <a:spLocks xmlns:a="http://schemas.openxmlformats.org/drawingml/2006/main" noGrp="1"/>
          </p:cNvSpPr>
          <p:nvPr/>
        </p:nvSpPr>
        <p:spPr>
          <a:xfrm xmlns:a="http://schemas.openxmlformats.org/drawingml/2006/main">
            <a:off x="552450" y="714375"/>
            <a:ext cx="6667500" cy="0"/>
          </a:xfrm>
          <a:prstGeom xmlns:a="http://schemas.openxmlformats.org/drawingml/2006/main" prst="line">
            <a:avLst/>
          </a:prstGeom>
          <a:noFill xmlns:a="http://schemas.openxmlformats.org/drawingml/2006/main"/>
          <a:ln xmlns:a="http://schemas.openxmlformats.org/drawingml/2006/main" w="11430">
            <a:solidFill>
              <a:srgbClr val="D9E2DA"/>
            </a:solidFill>
            <a:prstDash val="solid"/>
          </a:ln>
        </p:spPr>
      </p:sp>
      <p:sp>
        <p:nvSpPr>
          <p:cNvPr id="5" name="">
            <a:extLst xmlns:a="http://schemas.openxmlformats.org/drawingml/2006/main">
              <a:ext uri="{FF2B5EF4-FFF2-40B4-BE49-F238E27FC236}">
                <a16:creationId xmlns:a16="http://schemas.microsoft.com/office/drawing/2014/main" id="{BEFDF219-0FD0-4C6B-A542-38310BB1EDB8}"/>
              </a:ext>
            </a:extLst>
          </p:cNvPr>
          <p:cNvSpPr>
            <a:spLocks xmlns:a="http://schemas.openxmlformats.org/drawingml/2006/main" noGrp="1"/>
          </p:cNvSpPr>
          <p:nvPr/>
        </p:nvSpPr>
        <p:spPr>
          <a:xfrm xmlns:a="http://schemas.openxmlformats.org/drawingml/2006/main">
            <a:off x="552450" y="9610725"/>
            <a:ext cx="6667500" cy="0"/>
          </a:xfrm>
          <a:prstGeom xmlns:a="http://schemas.openxmlformats.org/drawingml/2006/main" prst="line">
            <a:avLst/>
          </a:prstGeom>
          <a:noFill xmlns:a="http://schemas.openxmlformats.org/drawingml/2006/main"/>
          <a:ln xmlns:a="http://schemas.openxmlformats.org/drawingml/2006/main" w="11430">
            <a:solidFill>
              <a:srgbClr val="D9E2DA"/>
            </a:solidFill>
            <a:prstDash val="solid"/>
          </a:ln>
        </p:spPr>
      </p:sp>
      <p:sp>
        <p:nvSpPr>
          <p:cNvPr id="6" name="">
            <a:extLst xmlns:a="http://schemas.openxmlformats.org/drawingml/2006/main">
              <a:ext uri="{FF2B5EF4-FFF2-40B4-BE49-F238E27FC236}">
                <a16:creationId xmlns:a16="http://schemas.microsoft.com/office/drawing/2014/main" id="{1E39312C-4E43-412F-9891-EC4454BDCF4A}"/>
              </a:ext>
            </a:extLst>
          </p:cNvPr>
          <p:cNvSpPr>
            <a:spLocks xmlns:a="http://schemas.openxmlformats.org/drawingml/2006/main" noGrp="1"/>
          </p:cNvSpPr>
          <p:nvPr/>
        </p:nvSpPr>
        <p:spPr>
          <a:xfrm xmlns:a="http://schemas.openxmlformats.org/drawingml/2006/main">
            <a:off x="552450" y="9715500"/>
            <a:ext cx="1762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660" b="0" i="0">
                <a:solidFill>
                  <a:srgbClr val="5C6C67"/>
                </a:solidFill>
                <a:latin typeface="Lato"/>
                <a:ea typeface="Lato"/>
                <a:cs typeface="Lato"/>
              </a:defRPr>
            </a:pPr>
            <a:r>
              <a:rPr sz="660" b="0" i="0">
                <a:solidFill>
                  <a:srgbClr val="5C6C67"/>
                </a:solidFill>
                <a:latin typeface="Lato"/>
                <a:ea typeface="Lato"/>
                <a:cs typeface="Lato"/>
              </a:rPr>
              <a:t>Mindful Diabetes Inc.</a:t>
            </a:r>
          </a:p>
        </p:txBody>
      </p:sp>
      <p:sp>
        <p:nvSpPr>
          <p:cNvPr id="7" name="">
            <a:extLst xmlns:a="http://schemas.openxmlformats.org/drawingml/2006/main">
              <a:ext uri="{FF2B5EF4-FFF2-40B4-BE49-F238E27FC236}">
                <a16:creationId xmlns:a16="http://schemas.microsoft.com/office/drawing/2014/main" id="{F104FE01-82D4-4A72-B86D-F5994FDF366E}"/>
              </a:ext>
            </a:extLst>
          </p:cNvPr>
          <p:cNvSpPr>
            <a:spLocks xmlns:a="http://schemas.openxmlformats.org/drawingml/2006/main" noGrp="1"/>
          </p:cNvSpPr>
          <p:nvPr/>
        </p:nvSpPr>
        <p:spPr>
          <a:xfrm xmlns:a="http://schemas.openxmlformats.org/drawingml/2006/main">
            <a:off x="3162300" y="9715500"/>
            <a:ext cx="14763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lnSpc>
                <a:spcPct val="116000"/>
              </a:lnSpc>
              <a:buNone/>
              <a:defRPr sz="660" b="0" i="0">
                <a:solidFill>
                  <a:srgbClr val="5C6C67"/>
                </a:solidFill>
                <a:latin typeface="Lato"/>
                <a:ea typeface="Lato"/>
                <a:cs typeface="Lato"/>
              </a:defRPr>
            </a:pPr>
            <a:r>
              <a:rPr sz="660" b="0" i="0">
                <a:solidFill>
                  <a:srgbClr val="5C6C67"/>
                </a:solidFill>
                <a:latin typeface="Lato"/>
                <a:ea typeface="Lato"/>
                <a:cs typeface="Lato"/>
              </a:rPr>
              <a:t>mindfuldiabetes.org</a:t>
            </a:r>
          </a:p>
        </p:txBody>
      </p:sp>
      <p:sp>
        <p:nvSpPr>
          <p:cNvPr id="8" name="">
            <a:extLst xmlns:a="http://schemas.openxmlformats.org/drawingml/2006/main">
              <a:ext uri="{FF2B5EF4-FFF2-40B4-BE49-F238E27FC236}">
                <a16:creationId xmlns:a16="http://schemas.microsoft.com/office/drawing/2014/main" id="{98F77608-63EF-4C95-A316-307D3C5FA97E}"/>
              </a:ext>
            </a:extLst>
          </p:cNvPr>
          <p:cNvSpPr>
            <a:spLocks xmlns:a="http://schemas.openxmlformats.org/drawingml/2006/main" noGrp="1"/>
          </p:cNvSpPr>
          <p:nvPr/>
        </p:nvSpPr>
        <p:spPr>
          <a:xfrm xmlns:a="http://schemas.openxmlformats.org/drawingml/2006/main">
            <a:off x="6886575" y="9715500"/>
            <a:ext cx="3333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r">
              <a:lnSpc>
                <a:spcPct val="116000"/>
              </a:lnSpc>
              <a:buNone/>
              <a:defRPr sz="660" b="0" i="0">
                <a:solidFill>
                  <a:srgbClr val="F26A2E"/>
                </a:solidFill>
                <a:latin typeface="Lato"/>
                <a:ea typeface="Lato"/>
                <a:cs typeface="Lato"/>
              </a:defRPr>
            </a:pPr>
            <a:r>
              <a:rPr sz="660" b="0" i="0">
                <a:solidFill>
                  <a:srgbClr val="F26A2E"/>
                </a:solidFill>
                <a:latin typeface="Lato"/>
                <a:ea typeface="Lato"/>
                <a:cs typeface="Lato"/>
              </a:rPr>
              <a:t>8</a:t>
            </a:r>
          </a:p>
        </p:txBody>
      </p:sp>
      <p:sp>
        <p:nvSpPr>
          <p:cNvPr id="9" name="">
            <a:extLst xmlns:a="http://schemas.openxmlformats.org/drawingml/2006/main">
              <a:ext uri="{FF2B5EF4-FFF2-40B4-BE49-F238E27FC236}">
                <a16:creationId xmlns:a16="http://schemas.microsoft.com/office/drawing/2014/main" id="{9043EC55-F91E-48A1-8F04-4A1553D1B8DA}"/>
              </a:ext>
            </a:extLst>
          </p:cNvPr>
          <p:cNvSpPr>
            <a:spLocks xmlns:a="http://schemas.openxmlformats.org/drawingml/2006/main" noGrp="1"/>
          </p:cNvSpPr>
          <p:nvPr/>
        </p:nvSpPr>
        <p:spPr>
          <a:xfrm xmlns:a="http://schemas.openxmlformats.org/drawingml/2006/main">
            <a:off x="628650" y="790575"/>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900" b="1" i="0">
                <a:solidFill>
                  <a:srgbClr val="F26A2E"/>
                </a:solidFill>
                <a:latin typeface="Lato"/>
                <a:ea typeface="Lato"/>
                <a:cs typeface="Lato"/>
              </a:defRPr>
            </a:pPr>
            <a:r>
              <a:rPr sz="900" b="1" i="0">
                <a:solidFill>
                  <a:srgbClr val="F26A2E"/>
                </a:solidFill>
                <a:latin typeface="Lato"/>
                <a:ea typeface="Lato"/>
                <a:cs typeface="Lato"/>
              </a:rPr>
              <a:t>FIBER</a:t>
            </a:r>
          </a:p>
        </p:txBody>
      </p:sp>
      <p:sp>
        <p:nvSpPr>
          <p:cNvPr id="10" name="">
            <a:extLst xmlns:a="http://schemas.openxmlformats.org/drawingml/2006/main">
              <a:ext uri="{FF2B5EF4-FFF2-40B4-BE49-F238E27FC236}">
                <a16:creationId xmlns:a16="http://schemas.microsoft.com/office/drawing/2014/main" id="{6E85B7EA-40CB-4D67-BB9A-20DE685D5AFD}"/>
              </a:ext>
            </a:extLst>
          </p:cNvPr>
          <p:cNvSpPr>
            <a:spLocks xmlns:a="http://schemas.openxmlformats.org/drawingml/2006/main" noGrp="1"/>
          </p:cNvSpPr>
          <p:nvPr/>
        </p:nvSpPr>
        <p:spPr>
          <a:xfrm xmlns:a="http://schemas.openxmlformats.org/drawingml/2006/main">
            <a:off x="590550" y="1066800"/>
            <a:ext cx="619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03000"/>
              </a:lnSpc>
              <a:buNone/>
              <a:defRPr sz="2550" b="1" i="0">
                <a:solidFill>
                  <a:srgbClr val="192442"/>
                </a:solidFill>
                <a:latin typeface="Lora"/>
                <a:ea typeface="Lora"/>
                <a:cs typeface="Lora"/>
              </a:defRPr>
            </a:pPr>
            <a:r>
              <a:rPr sz="2550" b="1" i="0">
                <a:solidFill>
                  <a:srgbClr val="192442"/>
                </a:solidFill>
                <a:latin typeface="Lora"/>
                <a:ea typeface="Lora"/>
                <a:cs typeface="Lora"/>
              </a:rPr>
              <a:t>Fiber is quiet but useful</a:t>
            </a:r>
          </a:p>
        </p:txBody>
      </p:sp>
      <p:sp>
        <p:nvSpPr>
          <p:cNvPr id="11" name="">
            <a:extLst xmlns:a="http://schemas.openxmlformats.org/drawingml/2006/main">
              <a:ext uri="{FF2B5EF4-FFF2-40B4-BE49-F238E27FC236}">
                <a16:creationId xmlns:a16="http://schemas.microsoft.com/office/drawing/2014/main" id="{E1CDB13B-38D7-4C14-9967-8C9D58D39CA1}"/>
              </a:ext>
            </a:extLst>
          </p:cNvPr>
          <p:cNvSpPr>
            <a:spLocks xmlns:a="http://schemas.openxmlformats.org/drawingml/2006/main" noGrp="1"/>
          </p:cNvSpPr>
          <p:nvPr/>
        </p:nvSpPr>
        <p:spPr>
          <a:xfrm xmlns:a="http://schemas.openxmlformats.org/drawingml/2006/main">
            <a:off x="628650" y="1866900"/>
            <a:ext cx="6381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25000"/>
              </a:lnSpc>
              <a:buNone/>
              <a:defRPr sz="1125" b="0" i="0">
                <a:solidFill>
                  <a:srgbClr val="5C6C67"/>
                </a:solidFill>
                <a:latin typeface="Lato"/>
                <a:ea typeface="Lato"/>
                <a:cs typeface="Lato"/>
              </a:defRPr>
            </a:pPr>
            <a:r>
              <a:rPr sz="1125" b="0" i="0">
                <a:solidFill>
                  <a:srgbClr val="5C6C67"/>
                </a:solidFill>
                <a:latin typeface="Lato"/>
                <a:ea typeface="Lato"/>
                <a:cs typeface="Lato"/>
              </a:rPr>
              <a:t>Fiber is a type of carbohydrate the body does not fully digest. Many fiber-rich foods can support fullness, bowel regularity, cholesterol patterns, and steadier meals.</a:t>
            </a:r>
          </a:p>
        </p:txBody>
      </p:sp>
      <p:sp>
        <p:nvSpPr>
          <p:cNvPr id="12" name="">
            <a:extLst xmlns:a="http://schemas.openxmlformats.org/drawingml/2006/main">
              <a:ext uri="{FF2B5EF4-FFF2-40B4-BE49-F238E27FC236}">
                <a16:creationId xmlns:a16="http://schemas.microsoft.com/office/drawing/2014/main" id="{F0523853-2E4C-4C7F-AD9E-58C76B2544BF}"/>
              </a:ext>
            </a:extLst>
          </p:cNvPr>
          <p:cNvSpPr>
            <a:spLocks xmlns:a="http://schemas.openxmlformats.org/drawingml/2006/main" noGrp="1"/>
          </p:cNvSpPr>
          <p:nvPr/>
        </p:nvSpPr>
        <p:spPr>
          <a:xfrm xmlns:a="http://schemas.openxmlformats.org/drawingml/2006/main">
            <a:off x="762000" y="2781300"/>
            <a:ext cx="3048000" cy="476250"/>
          </a:xfrm>
          <a:prstGeom xmlns:a="http://schemas.openxmlformats.org/drawingml/2006/main" prst="roundRect">
            <a:avLst>
              <a:gd name="adj" fmla="val 16000"/>
            </a:avLst>
          </a:prstGeom>
          <a:solidFill xmlns:a="http://schemas.openxmlformats.org/drawingml/2006/main">
            <a:srgbClr val="E6F2EC"/>
          </a:solidFill>
          <a:ln xmlns:a="http://schemas.openxmlformats.org/drawingml/2006/main" w="11430">
            <a:solidFill>
              <a:srgbClr val="C8DAD2"/>
            </a:solidFill>
            <a:prstDash val="solid"/>
          </a:ln>
        </p:spPr>
      </p:sp>
      <p:sp>
        <p:nvSpPr>
          <p:cNvPr id="13" name="">
            <a:extLst xmlns:a="http://schemas.openxmlformats.org/drawingml/2006/main">
              <a:ext uri="{FF2B5EF4-FFF2-40B4-BE49-F238E27FC236}">
                <a16:creationId xmlns:a16="http://schemas.microsoft.com/office/drawing/2014/main" id="{E14BF427-3103-485A-8D13-E278E9C48FAA}"/>
              </a:ext>
            </a:extLst>
          </p:cNvPr>
          <p:cNvSpPr>
            <a:spLocks xmlns:a="http://schemas.openxmlformats.org/drawingml/2006/main" noGrp="1"/>
          </p:cNvSpPr>
          <p:nvPr/>
        </p:nvSpPr>
        <p:spPr>
          <a:xfrm xmlns:a="http://schemas.openxmlformats.org/drawingml/2006/main">
            <a:off x="1000125" y="2914650"/>
            <a:ext cx="2571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1050" b="1" i="0">
                <a:solidFill>
                  <a:srgbClr val="192442"/>
                </a:solidFill>
                <a:latin typeface="Lato"/>
                <a:ea typeface="Lato"/>
                <a:cs typeface="Lato"/>
              </a:defRPr>
            </a:pPr>
            <a:r>
              <a:rPr sz="1050" b="1" i="0">
                <a:solidFill>
                  <a:srgbClr val="192442"/>
                </a:solidFill>
                <a:latin typeface="Lato"/>
                <a:ea typeface="Lato"/>
                <a:cs typeface="Lato"/>
              </a:rPr>
              <a:t>Add one vegetable</a:t>
            </a:r>
          </a:p>
        </p:txBody>
      </p:sp>
      <p:sp>
        <p:nvSpPr>
          <p:cNvPr id="14" name="">
            <a:extLst xmlns:a="http://schemas.openxmlformats.org/drawingml/2006/main">
              <a:ext uri="{FF2B5EF4-FFF2-40B4-BE49-F238E27FC236}">
                <a16:creationId xmlns:a16="http://schemas.microsoft.com/office/drawing/2014/main" id="{57CAC4F0-6B77-48EF-A095-FD87C7C5338C}"/>
              </a:ext>
            </a:extLst>
          </p:cNvPr>
          <p:cNvSpPr>
            <a:spLocks xmlns:a="http://schemas.openxmlformats.org/drawingml/2006/main" noGrp="1"/>
          </p:cNvSpPr>
          <p:nvPr/>
        </p:nvSpPr>
        <p:spPr>
          <a:xfrm xmlns:a="http://schemas.openxmlformats.org/drawingml/2006/main">
            <a:off x="1028700" y="3600450"/>
            <a:ext cx="3048000" cy="476250"/>
          </a:xfrm>
          <a:prstGeom xmlns:a="http://schemas.openxmlformats.org/drawingml/2006/main" prst="roundRect">
            <a:avLst>
              <a:gd name="adj" fmla="val 16000"/>
            </a:avLst>
          </a:prstGeom>
          <a:solidFill xmlns:a="http://schemas.openxmlformats.org/drawingml/2006/main">
            <a:srgbClr val="EEF7FA"/>
          </a:solidFill>
          <a:ln xmlns:a="http://schemas.openxmlformats.org/drawingml/2006/main" w="11430">
            <a:solidFill>
              <a:srgbClr val="C8DAD2"/>
            </a:solidFill>
            <a:prstDash val="solid"/>
          </a:ln>
        </p:spPr>
      </p:sp>
      <p:sp>
        <p:nvSpPr>
          <p:cNvPr id="15" name="">
            <a:extLst xmlns:a="http://schemas.openxmlformats.org/drawingml/2006/main">
              <a:ext uri="{FF2B5EF4-FFF2-40B4-BE49-F238E27FC236}">
                <a16:creationId xmlns:a16="http://schemas.microsoft.com/office/drawing/2014/main" id="{B070B06A-B425-4E62-9C3E-8A2A5977A326}"/>
              </a:ext>
            </a:extLst>
          </p:cNvPr>
          <p:cNvSpPr>
            <a:spLocks xmlns:a="http://schemas.openxmlformats.org/drawingml/2006/main" noGrp="1"/>
          </p:cNvSpPr>
          <p:nvPr/>
        </p:nvSpPr>
        <p:spPr>
          <a:xfrm xmlns:a="http://schemas.openxmlformats.org/drawingml/2006/main">
            <a:off x="1266825" y="3733800"/>
            <a:ext cx="2571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1050" b="1" i="0">
                <a:solidFill>
                  <a:srgbClr val="192442"/>
                </a:solidFill>
                <a:latin typeface="Lato"/>
                <a:ea typeface="Lato"/>
                <a:cs typeface="Lato"/>
              </a:defRPr>
            </a:pPr>
            <a:r>
              <a:rPr sz="1050" b="1" i="0">
                <a:solidFill>
                  <a:srgbClr val="192442"/>
                </a:solidFill>
                <a:latin typeface="Lato"/>
                <a:ea typeface="Lato"/>
                <a:cs typeface="Lato"/>
              </a:rPr>
              <a:t>Add beans or lentils</a:t>
            </a:r>
          </a:p>
        </p:txBody>
      </p:sp>
      <p:sp>
        <p:nvSpPr>
          <p:cNvPr id="16" name="">
            <a:extLst xmlns:a="http://schemas.openxmlformats.org/drawingml/2006/main">
              <a:ext uri="{FF2B5EF4-FFF2-40B4-BE49-F238E27FC236}">
                <a16:creationId xmlns:a16="http://schemas.microsoft.com/office/drawing/2014/main" id="{AE49A012-939E-4E85-A3E2-02BD06797FEC}"/>
              </a:ext>
            </a:extLst>
          </p:cNvPr>
          <p:cNvSpPr>
            <a:spLocks xmlns:a="http://schemas.openxmlformats.org/drawingml/2006/main" noGrp="1"/>
          </p:cNvSpPr>
          <p:nvPr/>
        </p:nvSpPr>
        <p:spPr>
          <a:xfrm xmlns:a="http://schemas.openxmlformats.org/drawingml/2006/main">
            <a:off x="1295400" y="4419600"/>
            <a:ext cx="3048000" cy="476250"/>
          </a:xfrm>
          <a:prstGeom xmlns:a="http://schemas.openxmlformats.org/drawingml/2006/main" prst="roundRect">
            <a:avLst>
              <a:gd name="adj" fmla="val 16000"/>
            </a:avLst>
          </a:prstGeom>
          <a:solidFill xmlns:a="http://schemas.openxmlformats.org/drawingml/2006/main">
            <a:srgbClr val="E6F2EC"/>
          </a:solidFill>
          <a:ln xmlns:a="http://schemas.openxmlformats.org/drawingml/2006/main" w="11430">
            <a:solidFill>
              <a:srgbClr val="C8DAD2"/>
            </a:solidFill>
            <a:prstDash val="solid"/>
          </a:ln>
        </p:spPr>
      </p:sp>
      <p:sp>
        <p:nvSpPr>
          <p:cNvPr id="17" name="">
            <a:extLst xmlns:a="http://schemas.openxmlformats.org/drawingml/2006/main">
              <a:ext uri="{FF2B5EF4-FFF2-40B4-BE49-F238E27FC236}">
                <a16:creationId xmlns:a16="http://schemas.microsoft.com/office/drawing/2014/main" id="{C0D83F7D-31F7-452A-B22E-84E8744A5B49}"/>
              </a:ext>
            </a:extLst>
          </p:cNvPr>
          <p:cNvSpPr>
            <a:spLocks xmlns:a="http://schemas.openxmlformats.org/drawingml/2006/main" noGrp="1"/>
          </p:cNvSpPr>
          <p:nvPr/>
        </p:nvSpPr>
        <p:spPr>
          <a:xfrm xmlns:a="http://schemas.openxmlformats.org/drawingml/2006/main">
            <a:off x="1533525" y="4552950"/>
            <a:ext cx="2571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1050" b="1" i="0">
                <a:solidFill>
                  <a:srgbClr val="192442"/>
                </a:solidFill>
                <a:latin typeface="Lato"/>
                <a:ea typeface="Lato"/>
                <a:cs typeface="Lato"/>
              </a:defRPr>
            </a:pPr>
            <a:r>
              <a:rPr sz="1050" b="1" i="0">
                <a:solidFill>
                  <a:srgbClr val="192442"/>
                </a:solidFill>
                <a:latin typeface="Lato"/>
                <a:ea typeface="Lato"/>
                <a:cs typeface="Lato"/>
              </a:rPr>
              <a:t>Choose oats or whole grains</a:t>
            </a:r>
          </a:p>
        </p:txBody>
      </p:sp>
      <p:sp>
        <p:nvSpPr>
          <p:cNvPr id="18" name="">
            <a:extLst xmlns:a="http://schemas.openxmlformats.org/drawingml/2006/main">
              <a:ext uri="{FF2B5EF4-FFF2-40B4-BE49-F238E27FC236}">
                <a16:creationId xmlns:a16="http://schemas.microsoft.com/office/drawing/2014/main" id="{094CB561-6859-4F1A-9883-34A00D7F79EE}"/>
              </a:ext>
            </a:extLst>
          </p:cNvPr>
          <p:cNvSpPr>
            <a:spLocks xmlns:a="http://schemas.openxmlformats.org/drawingml/2006/main" noGrp="1"/>
          </p:cNvSpPr>
          <p:nvPr/>
        </p:nvSpPr>
        <p:spPr>
          <a:xfrm xmlns:a="http://schemas.openxmlformats.org/drawingml/2006/main">
            <a:off x="1562100" y="5238750"/>
            <a:ext cx="3048000" cy="476250"/>
          </a:xfrm>
          <a:prstGeom xmlns:a="http://schemas.openxmlformats.org/drawingml/2006/main" prst="roundRect">
            <a:avLst>
              <a:gd name="adj" fmla="val 16000"/>
            </a:avLst>
          </a:prstGeom>
          <a:solidFill xmlns:a="http://schemas.openxmlformats.org/drawingml/2006/main">
            <a:srgbClr val="EEF7FA"/>
          </a:solidFill>
          <a:ln xmlns:a="http://schemas.openxmlformats.org/drawingml/2006/main" w="11430">
            <a:solidFill>
              <a:srgbClr val="C8DAD2"/>
            </a:solidFill>
            <a:prstDash val="solid"/>
          </a:ln>
        </p:spPr>
      </p:sp>
      <p:sp>
        <p:nvSpPr>
          <p:cNvPr id="19" name="">
            <a:extLst xmlns:a="http://schemas.openxmlformats.org/drawingml/2006/main">
              <a:ext uri="{FF2B5EF4-FFF2-40B4-BE49-F238E27FC236}">
                <a16:creationId xmlns:a16="http://schemas.microsoft.com/office/drawing/2014/main" id="{5CEC5E4B-155F-4358-850D-372459137EFF}"/>
              </a:ext>
            </a:extLst>
          </p:cNvPr>
          <p:cNvSpPr>
            <a:spLocks xmlns:a="http://schemas.openxmlformats.org/drawingml/2006/main" noGrp="1"/>
          </p:cNvSpPr>
          <p:nvPr/>
        </p:nvSpPr>
        <p:spPr>
          <a:xfrm xmlns:a="http://schemas.openxmlformats.org/drawingml/2006/main">
            <a:off x="1800225" y="5372100"/>
            <a:ext cx="2571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1050" b="1" i="0">
                <a:solidFill>
                  <a:srgbClr val="192442"/>
                </a:solidFill>
                <a:latin typeface="Lato"/>
                <a:ea typeface="Lato"/>
                <a:cs typeface="Lato"/>
              </a:defRPr>
            </a:pPr>
            <a:r>
              <a:rPr sz="1050" b="1" i="0">
                <a:solidFill>
                  <a:srgbClr val="192442"/>
                </a:solidFill>
                <a:latin typeface="Lato"/>
                <a:ea typeface="Lato"/>
                <a:cs typeface="Lato"/>
              </a:rPr>
              <a:t>Add berries, nuts, or seeds</a:t>
            </a:r>
          </a:p>
        </p:txBody>
      </p:sp>
      <p:sp>
        <p:nvSpPr>
          <p:cNvPr id="20" name="">
            <a:extLst xmlns:a="http://schemas.openxmlformats.org/drawingml/2006/main">
              <a:ext uri="{FF2B5EF4-FFF2-40B4-BE49-F238E27FC236}">
                <a16:creationId xmlns:a16="http://schemas.microsoft.com/office/drawing/2014/main" id="{CDEA8024-5444-4EAA-9EB7-BCF38617A3CE}"/>
              </a:ext>
            </a:extLst>
          </p:cNvPr>
          <p:cNvSpPr>
            <a:spLocks xmlns:a="http://schemas.openxmlformats.org/drawingml/2006/main" noGrp="1"/>
          </p:cNvSpPr>
          <p:nvPr/>
        </p:nvSpPr>
        <p:spPr>
          <a:xfrm xmlns:a="http://schemas.openxmlformats.org/drawingml/2006/main">
            <a:off x="1828800" y="6057900"/>
            <a:ext cx="3048000" cy="476250"/>
          </a:xfrm>
          <a:prstGeom xmlns:a="http://schemas.openxmlformats.org/drawingml/2006/main" prst="roundRect">
            <a:avLst>
              <a:gd name="adj" fmla="val 16000"/>
            </a:avLst>
          </a:prstGeom>
          <a:solidFill xmlns:a="http://schemas.openxmlformats.org/drawingml/2006/main">
            <a:srgbClr val="FCE4D8"/>
          </a:solidFill>
          <a:ln xmlns:a="http://schemas.openxmlformats.org/drawingml/2006/main" w="11430">
            <a:solidFill>
              <a:srgbClr val="C8DAD2"/>
            </a:solidFill>
            <a:prstDash val="solid"/>
          </a:ln>
        </p:spPr>
      </p:sp>
      <p:sp>
        <p:nvSpPr>
          <p:cNvPr id="21" name="">
            <a:extLst xmlns:a="http://schemas.openxmlformats.org/drawingml/2006/main">
              <a:ext uri="{FF2B5EF4-FFF2-40B4-BE49-F238E27FC236}">
                <a16:creationId xmlns:a16="http://schemas.microsoft.com/office/drawing/2014/main" id="{7BE53787-DF65-4A17-BB9A-C7B56FE38852}"/>
              </a:ext>
            </a:extLst>
          </p:cNvPr>
          <p:cNvSpPr>
            <a:spLocks xmlns:a="http://schemas.openxmlformats.org/drawingml/2006/main" noGrp="1"/>
          </p:cNvSpPr>
          <p:nvPr/>
        </p:nvSpPr>
        <p:spPr>
          <a:xfrm xmlns:a="http://schemas.openxmlformats.org/drawingml/2006/main">
            <a:off x="2066925" y="6191250"/>
            <a:ext cx="2571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1050" b="1" i="0">
                <a:solidFill>
                  <a:srgbClr val="192442"/>
                </a:solidFill>
                <a:latin typeface="Lato"/>
                <a:ea typeface="Lato"/>
                <a:cs typeface="Lato"/>
              </a:defRPr>
            </a:pPr>
            <a:r>
              <a:rPr sz="1050" b="1" i="0">
                <a:solidFill>
                  <a:srgbClr val="192442"/>
                </a:solidFill>
                <a:latin typeface="Lato"/>
                <a:ea typeface="Lato"/>
                <a:cs typeface="Lato"/>
              </a:rPr>
              <a:t>Drink fluids and notice comfort</a:t>
            </a:r>
          </a:p>
        </p:txBody>
      </p:sp>
      <p:sp>
        <p:nvSpPr>
          <p:cNvPr id="22" name="">
            <a:extLst xmlns:a="http://schemas.openxmlformats.org/drawingml/2006/main">
              <a:ext uri="{FF2B5EF4-FFF2-40B4-BE49-F238E27FC236}">
                <a16:creationId xmlns:a16="http://schemas.microsoft.com/office/drawing/2014/main" id="{9060C939-5A1B-47B1-A9EC-AE6DBB23FD21}"/>
              </a:ext>
            </a:extLst>
          </p:cNvPr>
          <p:cNvSpPr>
            <a:spLocks xmlns:a="http://schemas.openxmlformats.org/drawingml/2006/main" noGrp="1"/>
          </p:cNvSpPr>
          <p:nvPr/>
        </p:nvSpPr>
        <p:spPr>
          <a:xfrm xmlns:a="http://schemas.openxmlformats.org/drawingml/2006/main">
            <a:off x="4305300" y="2952750"/>
            <a:ext cx="2381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20000"/>
              </a:lnSpc>
              <a:buNone/>
              <a:defRPr sz="1125" b="0" i="0">
                <a:solidFill>
                  <a:srgbClr val="16211D"/>
                </a:solidFill>
                <a:latin typeface="Lato"/>
                <a:ea typeface="Lato"/>
                <a:cs typeface="Lato"/>
              </a:defRPr>
            </a:pPr>
            <a:r>
              <a:rPr sz="1125" b="0" i="0">
                <a:solidFill>
                  <a:srgbClr val="16211D"/>
                </a:solidFill>
                <a:latin typeface="Lato"/>
                <a:ea typeface="Lato"/>
                <a:cs typeface="Lato"/>
              </a:rPr>
              <a:t>The FDA Daily Value for fiber is 28 grams per day based on a 2,000-calorie diet, but individual needs vary.</a:t>
            </a:r>
          </a:p>
        </p:txBody>
      </p:sp>
      <p:sp>
        <p:nvSpPr>
          <p:cNvPr id="23" name="">
            <a:extLst xmlns:a="http://schemas.openxmlformats.org/drawingml/2006/main">
              <a:ext uri="{FF2B5EF4-FFF2-40B4-BE49-F238E27FC236}">
                <a16:creationId xmlns:a16="http://schemas.microsoft.com/office/drawing/2014/main" id="{80C8448B-B8E0-41DC-B651-F8A9DCD720C0}"/>
              </a:ext>
            </a:extLst>
          </p:cNvPr>
          <p:cNvSpPr>
            <a:spLocks xmlns:a="http://schemas.openxmlformats.org/drawingml/2006/main" noGrp="1"/>
          </p:cNvSpPr>
          <p:nvPr/>
        </p:nvSpPr>
        <p:spPr>
          <a:xfrm xmlns:a="http://schemas.openxmlformats.org/drawingml/2006/main">
            <a:off x="4343400" y="4257675"/>
            <a:ext cx="95250" cy="95250"/>
          </a:xfrm>
          <a:prstGeom xmlns:a="http://schemas.openxmlformats.org/drawingml/2006/main" prst="ellipse">
            <a:avLst/>
          </a:prstGeom>
          <a:solidFill xmlns:a="http://schemas.openxmlformats.org/drawingml/2006/main">
            <a:srgbClr val="F26A2E"/>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621FC7FF-3908-4596-B01D-6FDAD2997C6E}"/>
              </a:ext>
            </a:extLst>
          </p:cNvPr>
          <p:cNvSpPr>
            <a:spLocks xmlns:a="http://schemas.openxmlformats.org/drawingml/2006/main" noGrp="1"/>
          </p:cNvSpPr>
          <p:nvPr/>
        </p:nvSpPr>
        <p:spPr>
          <a:xfrm xmlns:a="http://schemas.openxmlformats.org/drawingml/2006/main">
            <a:off x="4552950" y="4210050"/>
            <a:ext cx="2362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8000"/>
              </a:lnSpc>
              <a:buNone/>
              <a:defRPr sz="1013" b="0" i="0">
                <a:solidFill>
                  <a:srgbClr val="16211D"/>
                </a:solidFill>
                <a:latin typeface="Lato"/>
                <a:ea typeface="Lato"/>
                <a:cs typeface="Lato"/>
              </a:defRPr>
            </a:pPr>
            <a:r>
              <a:rPr sz="1013" b="0" i="0">
                <a:solidFill>
                  <a:srgbClr val="16211D"/>
                </a:solidFill>
                <a:latin typeface="Lato"/>
                <a:ea typeface="Lato"/>
                <a:cs typeface="Lato"/>
              </a:rPr>
              <a:t>Add fiber gradually and drink fluids.</a:t>
            </a:r>
          </a:p>
        </p:txBody>
      </p:sp>
      <p:sp>
        <p:nvSpPr>
          <p:cNvPr id="25" name="">
            <a:extLst xmlns:a="http://schemas.openxmlformats.org/drawingml/2006/main">
              <a:ext uri="{FF2B5EF4-FFF2-40B4-BE49-F238E27FC236}">
                <a16:creationId xmlns:a16="http://schemas.microsoft.com/office/drawing/2014/main" id="{E5E2E677-98FB-4D3A-9045-5DDD9D37AA22}"/>
              </a:ext>
            </a:extLst>
          </p:cNvPr>
          <p:cNvSpPr>
            <a:spLocks xmlns:a="http://schemas.openxmlformats.org/drawingml/2006/main" noGrp="1"/>
          </p:cNvSpPr>
          <p:nvPr/>
        </p:nvSpPr>
        <p:spPr>
          <a:xfrm xmlns:a="http://schemas.openxmlformats.org/drawingml/2006/main">
            <a:off x="4343400" y="4848225"/>
            <a:ext cx="95250" cy="95250"/>
          </a:xfrm>
          <a:prstGeom xmlns:a="http://schemas.openxmlformats.org/drawingml/2006/main" prst="ellipse">
            <a:avLst/>
          </a:prstGeom>
          <a:solidFill xmlns:a="http://schemas.openxmlformats.org/drawingml/2006/main">
            <a:srgbClr val="F26A2E"/>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D2D4900D-E2A7-47A4-BEE5-52E6DB6BD56D}"/>
              </a:ext>
            </a:extLst>
          </p:cNvPr>
          <p:cNvSpPr>
            <a:spLocks xmlns:a="http://schemas.openxmlformats.org/drawingml/2006/main" noGrp="1"/>
          </p:cNvSpPr>
          <p:nvPr/>
        </p:nvSpPr>
        <p:spPr>
          <a:xfrm xmlns:a="http://schemas.openxmlformats.org/drawingml/2006/main">
            <a:off x="4552950" y="4800600"/>
            <a:ext cx="2362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8000"/>
              </a:lnSpc>
              <a:buNone/>
              <a:defRPr sz="1013" b="0" i="0">
                <a:solidFill>
                  <a:srgbClr val="16211D"/>
                </a:solidFill>
                <a:latin typeface="Lato"/>
                <a:ea typeface="Lato"/>
                <a:cs typeface="Lato"/>
              </a:defRPr>
            </a:pPr>
            <a:r>
              <a:rPr sz="1013" b="0" i="0">
                <a:solidFill>
                  <a:srgbClr val="16211D"/>
                </a:solidFill>
                <a:latin typeface="Lato"/>
                <a:ea typeface="Lato"/>
                <a:cs typeface="Lato"/>
              </a:rPr>
              <a:t>Ask for guidance if fiber worsens symptoms or you have a digestive or kidney condition.</a:t>
            </a:r>
          </a:p>
        </p:txBody>
      </p:sp>
      <p:sp>
        <p:nvSpPr>
          <p:cNvPr id="27" name="">
            <a:extLst xmlns:a="http://schemas.openxmlformats.org/drawingml/2006/main">
              <a:ext uri="{FF2B5EF4-FFF2-40B4-BE49-F238E27FC236}">
                <a16:creationId xmlns:a16="http://schemas.microsoft.com/office/drawing/2014/main" id="{638F9EE3-9240-4A30-B59F-E82F9726170A}"/>
              </a:ext>
            </a:extLst>
          </p:cNvPr>
          <p:cNvSpPr>
            <a:spLocks xmlns:a="http://schemas.openxmlformats.org/drawingml/2006/main" noGrp="1"/>
          </p:cNvSpPr>
          <p:nvPr/>
        </p:nvSpPr>
        <p:spPr>
          <a:xfrm xmlns:a="http://schemas.openxmlformats.org/drawingml/2006/main">
            <a:off x="628650" y="8229600"/>
            <a:ext cx="6515100" cy="628650"/>
          </a:xfrm>
          <a:prstGeom xmlns:a="http://schemas.openxmlformats.org/drawingml/2006/main" prst="roundRect">
            <a:avLst>
              <a:gd name="adj" fmla="val 15152"/>
            </a:avLst>
          </a:prstGeom>
          <a:solidFill xmlns:a="http://schemas.openxmlformats.org/drawingml/2006/main">
            <a:srgbClr val="E6F2EC"/>
          </a:solidFill>
          <a:ln xmlns:a="http://schemas.openxmlformats.org/drawingml/2006/main" w="11430">
            <a:solidFill>
              <a:srgbClr val="B8D8C8"/>
            </a:solidFill>
            <a:prstDash val="solid"/>
          </a:ln>
        </p:spPr>
      </p:sp>
      <p:sp>
        <p:nvSpPr>
          <p:cNvPr id="28" name="">
            <a:extLst xmlns:a="http://schemas.openxmlformats.org/drawingml/2006/main">
              <a:ext uri="{FF2B5EF4-FFF2-40B4-BE49-F238E27FC236}">
                <a16:creationId xmlns:a16="http://schemas.microsoft.com/office/drawing/2014/main" id="{021BB0F5-6782-4AA4-BA85-938404DCCB36}"/>
              </a:ext>
            </a:extLst>
          </p:cNvPr>
          <p:cNvSpPr>
            <a:spLocks xmlns:a="http://schemas.openxmlformats.org/drawingml/2006/main" noGrp="1"/>
          </p:cNvSpPr>
          <p:nvPr/>
        </p:nvSpPr>
        <p:spPr>
          <a:xfrm xmlns:a="http://schemas.openxmlformats.org/drawingml/2006/main">
            <a:off x="790575" y="83629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975" b="1" i="0">
                <a:solidFill>
                  <a:srgbClr val="034B2F"/>
                </a:solidFill>
                <a:latin typeface="Lato"/>
                <a:ea typeface="Lato"/>
                <a:cs typeface="Lato"/>
              </a:defRPr>
            </a:pPr>
            <a:r>
              <a:rPr sz="975" b="1" i="0">
                <a:solidFill>
                  <a:srgbClr val="034B2F"/>
                </a:solidFill>
                <a:latin typeface="Lato"/>
                <a:ea typeface="Lato"/>
                <a:cs typeface="Lato"/>
              </a:rPr>
              <a:t>Gentle pace</a:t>
            </a:r>
          </a:p>
        </p:txBody>
      </p:sp>
      <p:sp>
        <p:nvSpPr>
          <p:cNvPr id="29" name="">
            <a:extLst xmlns:a="http://schemas.openxmlformats.org/drawingml/2006/main">
              <a:ext uri="{FF2B5EF4-FFF2-40B4-BE49-F238E27FC236}">
                <a16:creationId xmlns:a16="http://schemas.microsoft.com/office/drawing/2014/main" id="{66EEB3AE-F249-409E-BD8E-1678BF047908}"/>
              </a:ext>
            </a:extLst>
          </p:cNvPr>
          <p:cNvSpPr>
            <a:spLocks xmlns:a="http://schemas.openxmlformats.org/drawingml/2006/main" noGrp="1"/>
          </p:cNvSpPr>
          <p:nvPr/>
        </p:nvSpPr>
        <p:spPr>
          <a:xfrm xmlns:a="http://schemas.openxmlformats.org/drawingml/2006/main">
            <a:off x="790575" y="8629650"/>
            <a:ext cx="61912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7000"/>
              </a:lnSpc>
              <a:buNone/>
              <a:defRPr sz="900" b="0" i="0">
                <a:solidFill>
                  <a:srgbClr val="16211D"/>
                </a:solidFill>
                <a:latin typeface="Lato"/>
                <a:ea typeface="Lato"/>
                <a:cs typeface="Lato"/>
              </a:defRPr>
            </a:pPr>
            <a:r>
              <a:rPr sz="900" b="0" i="0">
                <a:solidFill>
                  <a:srgbClr val="16211D"/>
                </a:solidFill>
                <a:latin typeface="Lato"/>
                <a:ea typeface="Lato"/>
                <a:cs typeface="Lato"/>
              </a:rPr>
              <a:t>A sudden jump in fiber can feel uncomfortable. Add one food at a time.</a:t>
            </a:r>
          </a:p>
        </p:txBody>
      </p:sp>
    </p:spTree>
    <p:extLst>
      <p:ext uri="{BB962C8B-B14F-4D97-AF65-F5344CB8AC3E}">
        <p14:creationId xmlns:p14="http://schemas.microsoft.com/office/powerpoint/2010/main" val="151727763"/>
      </p:ext>
    </p:extLst>
  </p:cSld>
</p:sld>
</file>

<file path=ppt/slides/slide9.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0c2c6b9347ae4826"/>
          <a:srcRect xmlns:a="http://schemas.openxmlformats.org/drawingml/2006/main" l="699" t="0" r="699" b="0"/>
          <a:stretch xmlns:a="http://schemas.openxmlformats.org/drawingml/2006/main">
            <a:fillRect l="0" t="0" r="0" b="0"/>
          </a:stretch>
        </p:blipFill>
        <p:spPr>
          <a:xfrm xmlns:a="http://schemas.openxmlformats.org/drawingml/2006/main">
            <a:off x="552450" y="285750"/>
            <a:ext cx="257175" cy="276225"/>
          </a:xfrm>
          <a:prstGeom xmlns:a="http://schemas.openxmlformats.org/drawingml/2006/main" prst="roundRect">
            <a:avLst>
              <a:gd name="adj" fmla="val 29630"/>
            </a:avLst>
          </a:prstGeom>
        </p:spPr>
      </p:pic>
      <p:sp>
        <p:nvSpPr>
          <p:cNvPr id="2" name="">
            <a:extLst xmlns:a="http://schemas.openxmlformats.org/drawingml/2006/main">
              <a:ext uri="{FF2B5EF4-FFF2-40B4-BE49-F238E27FC236}">
                <a16:creationId xmlns:a16="http://schemas.microsoft.com/office/drawing/2014/main" id="{90F981FF-C987-4DF3-A3E5-002135AFFD2D}"/>
              </a:ext>
            </a:extLst>
          </p:cNvPr>
          <p:cNvSpPr>
            <a:spLocks xmlns:a="http://schemas.openxmlformats.org/drawingml/2006/main" noGrp="1"/>
          </p:cNvSpPr>
          <p:nvPr/>
        </p:nvSpPr>
        <p:spPr>
          <a:xfrm xmlns:a="http://schemas.openxmlformats.org/drawingml/2006/main">
            <a:off x="876300" y="3333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788" b="1" i="0">
                <a:solidFill>
                  <a:srgbClr val="034B2F"/>
                </a:solidFill>
                <a:latin typeface="Lora"/>
                <a:ea typeface="Lora"/>
                <a:cs typeface="Lora"/>
              </a:defRPr>
            </a:pPr>
            <a:r>
              <a:rPr sz="788" b="1" i="0">
                <a:solidFill>
                  <a:srgbClr val="034B2F"/>
                </a:solidFill>
                <a:latin typeface="Lora"/>
                <a:ea typeface="Lora"/>
                <a:cs typeface="Lora"/>
              </a:rPr>
              <a:t>The Mindful Plate</a:t>
            </a:r>
          </a:p>
        </p:txBody>
      </p:sp>
      <p:sp>
        <p:nvSpPr>
          <p:cNvPr id="3" name="">
            <a:extLst xmlns:a="http://schemas.openxmlformats.org/drawingml/2006/main">
              <a:ext uri="{FF2B5EF4-FFF2-40B4-BE49-F238E27FC236}">
                <a16:creationId xmlns:a16="http://schemas.microsoft.com/office/drawing/2014/main" id="{8E7EE31E-4F6E-4C08-A590-C74B388C7970}"/>
              </a:ext>
            </a:extLst>
          </p:cNvPr>
          <p:cNvSpPr>
            <a:spLocks xmlns:a="http://schemas.openxmlformats.org/drawingml/2006/main" noGrp="1"/>
          </p:cNvSpPr>
          <p:nvPr/>
        </p:nvSpPr>
        <p:spPr>
          <a:xfrm xmlns:a="http://schemas.openxmlformats.org/drawingml/2006/main">
            <a:off x="876300" y="485775"/>
            <a:ext cx="2190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660" b="0" i="0">
                <a:solidFill>
                  <a:srgbClr val="5C6C67"/>
                </a:solidFill>
                <a:latin typeface="Lato"/>
                <a:ea typeface="Lato"/>
                <a:cs typeface="Lato"/>
              </a:defRPr>
            </a:pPr>
            <a:r>
              <a:rPr sz="660" b="0" i="0">
                <a:solidFill>
                  <a:srgbClr val="5C6C67"/>
                </a:solidFill>
                <a:latin typeface="Lato"/>
                <a:ea typeface="Lato"/>
                <a:cs typeface="Lato"/>
              </a:rPr>
              <a:t>Dietary fat</a:t>
            </a:r>
          </a:p>
        </p:txBody>
      </p:sp>
      <p:sp>
        <p:nvSpPr>
          <p:cNvPr id="4" name="">
            <a:extLst xmlns:a="http://schemas.openxmlformats.org/drawingml/2006/main">
              <a:ext uri="{FF2B5EF4-FFF2-40B4-BE49-F238E27FC236}">
                <a16:creationId xmlns:a16="http://schemas.microsoft.com/office/drawing/2014/main" id="{0FDAA57E-FA06-4F74-8300-EFBEC18A970A}"/>
              </a:ext>
            </a:extLst>
          </p:cNvPr>
          <p:cNvSpPr>
            <a:spLocks xmlns:a="http://schemas.openxmlformats.org/drawingml/2006/main" noGrp="1"/>
          </p:cNvSpPr>
          <p:nvPr/>
        </p:nvSpPr>
        <p:spPr>
          <a:xfrm xmlns:a="http://schemas.openxmlformats.org/drawingml/2006/main">
            <a:off x="552450" y="714375"/>
            <a:ext cx="6667500" cy="0"/>
          </a:xfrm>
          <a:prstGeom xmlns:a="http://schemas.openxmlformats.org/drawingml/2006/main" prst="line">
            <a:avLst/>
          </a:prstGeom>
          <a:noFill xmlns:a="http://schemas.openxmlformats.org/drawingml/2006/main"/>
          <a:ln xmlns:a="http://schemas.openxmlformats.org/drawingml/2006/main" w="11430">
            <a:solidFill>
              <a:srgbClr val="D9E2DA"/>
            </a:solidFill>
            <a:prstDash val="solid"/>
          </a:ln>
        </p:spPr>
      </p:sp>
      <p:sp>
        <p:nvSpPr>
          <p:cNvPr id="5" name="">
            <a:extLst xmlns:a="http://schemas.openxmlformats.org/drawingml/2006/main">
              <a:ext uri="{FF2B5EF4-FFF2-40B4-BE49-F238E27FC236}">
                <a16:creationId xmlns:a16="http://schemas.microsoft.com/office/drawing/2014/main" id="{E1B48AB0-422E-4280-9FC3-2ECF2684B32C}"/>
              </a:ext>
            </a:extLst>
          </p:cNvPr>
          <p:cNvSpPr>
            <a:spLocks xmlns:a="http://schemas.openxmlformats.org/drawingml/2006/main" noGrp="1"/>
          </p:cNvSpPr>
          <p:nvPr/>
        </p:nvSpPr>
        <p:spPr>
          <a:xfrm xmlns:a="http://schemas.openxmlformats.org/drawingml/2006/main">
            <a:off x="552450" y="9610725"/>
            <a:ext cx="6667500" cy="0"/>
          </a:xfrm>
          <a:prstGeom xmlns:a="http://schemas.openxmlformats.org/drawingml/2006/main" prst="line">
            <a:avLst/>
          </a:prstGeom>
          <a:noFill xmlns:a="http://schemas.openxmlformats.org/drawingml/2006/main"/>
          <a:ln xmlns:a="http://schemas.openxmlformats.org/drawingml/2006/main" w="11430">
            <a:solidFill>
              <a:srgbClr val="D9E2DA"/>
            </a:solidFill>
            <a:prstDash val="solid"/>
          </a:ln>
        </p:spPr>
      </p:sp>
      <p:sp>
        <p:nvSpPr>
          <p:cNvPr id="6" name="">
            <a:extLst xmlns:a="http://schemas.openxmlformats.org/drawingml/2006/main">
              <a:ext uri="{FF2B5EF4-FFF2-40B4-BE49-F238E27FC236}">
                <a16:creationId xmlns:a16="http://schemas.microsoft.com/office/drawing/2014/main" id="{5CB0D92C-D8E7-4046-909A-502B65BAFA27}"/>
              </a:ext>
            </a:extLst>
          </p:cNvPr>
          <p:cNvSpPr>
            <a:spLocks xmlns:a="http://schemas.openxmlformats.org/drawingml/2006/main" noGrp="1"/>
          </p:cNvSpPr>
          <p:nvPr/>
        </p:nvSpPr>
        <p:spPr>
          <a:xfrm xmlns:a="http://schemas.openxmlformats.org/drawingml/2006/main">
            <a:off x="552450" y="9715500"/>
            <a:ext cx="1762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660" b="0" i="0">
                <a:solidFill>
                  <a:srgbClr val="5C6C67"/>
                </a:solidFill>
                <a:latin typeface="Lato"/>
                <a:ea typeface="Lato"/>
                <a:cs typeface="Lato"/>
              </a:defRPr>
            </a:pPr>
            <a:r>
              <a:rPr sz="660" b="0" i="0">
                <a:solidFill>
                  <a:srgbClr val="5C6C67"/>
                </a:solidFill>
                <a:latin typeface="Lato"/>
                <a:ea typeface="Lato"/>
                <a:cs typeface="Lato"/>
              </a:rPr>
              <a:t>Mindful Diabetes Inc.</a:t>
            </a:r>
          </a:p>
        </p:txBody>
      </p:sp>
      <p:sp>
        <p:nvSpPr>
          <p:cNvPr id="7" name="">
            <a:extLst xmlns:a="http://schemas.openxmlformats.org/drawingml/2006/main">
              <a:ext uri="{FF2B5EF4-FFF2-40B4-BE49-F238E27FC236}">
                <a16:creationId xmlns:a16="http://schemas.microsoft.com/office/drawing/2014/main" id="{F6904F36-01BD-4322-8831-FED9A6B5D8F2}"/>
              </a:ext>
            </a:extLst>
          </p:cNvPr>
          <p:cNvSpPr>
            <a:spLocks xmlns:a="http://schemas.openxmlformats.org/drawingml/2006/main" noGrp="1"/>
          </p:cNvSpPr>
          <p:nvPr/>
        </p:nvSpPr>
        <p:spPr>
          <a:xfrm xmlns:a="http://schemas.openxmlformats.org/drawingml/2006/main">
            <a:off x="3162300" y="9715500"/>
            <a:ext cx="14763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lnSpc>
                <a:spcPct val="116000"/>
              </a:lnSpc>
              <a:buNone/>
              <a:defRPr sz="660" b="0" i="0">
                <a:solidFill>
                  <a:srgbClr val="5C6C67"/>
                </a:solidFill>
                <a:latin typeface="Lato"/>
                <a:ea typeface="Lato"/>
                <a:cs typeface="Lato"/>
              </a:defRPr>
            </a:pPr>
            <a:r>
              <a:rPr sz="660" b="0" i="0">
                <a:solidFill>
                  <a:srgbClr val="5C6C67"/>
                </a:solidFill>
                <a:latin typeface="Lato"/>
                <a:ea typeface="Lato"/>
                <a:cs typeface="Lato"/>
              </a:rPr>
              <a:t>mindfuldiabetes.org</a:t>
            </a:r>
          </a:p>
        </p:txBody>
      </p:sp>
      <p:sp>
        <p:nvSpPr>
          <p:cNvPr id="8" name="">
            <a:extLst xmlns:a="http://schemas.openxmlformats.org/drawingml/2006/main">
              <a:ext uri="{FF2B5EF4-FFF2-40B4-BE49-F238E27FC236}">
                <a16:creationId xmlns:a16="http://schemas.microsoft.com/office/drawing/2014/main" id="{F9A00DD6-7DD1-4B35-B844-EB2734C1D76D}"/>
              </a:ext>
            </a:extLst>
          </p:cNvPr>
          <p:cNvSpPr>
            <a:spLocks xmlns:a="http://schemas.openxmlformats.org/drawingml/2006/main" noGrp="1"/>
          </p:cNvSpPr>
          <p:nvPr/>
        </p:nvSpPr>
        <p:spPr>
          <a:xfrm xmlns:a="http://schemas.openxmlformats.org/drawingml/2006/main">
            <a:off x="6886575" y="9715500"/>
            <a:ext cx="3333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r">
              <a:lnSpc>
                <a:spcPct val="116000"/>
              </a:lnSpc>
              <a:buNone/>
              <a:defRPr sz="660" b="0" i="0">
                <a:solidFill>
                  <a:srgbClr val="F26A2E"/>
                </a:solidFill>
                <a:latin typeface="Lato"/>
                <a:ea typeface="Lato"/>
                <a:cs typeface="Lato"/>
              </a:defRPr>
            </a:pPr>
            <a:r>
              <a:rPr sz="660" b="0" i="0">
                <a:solidFill>
                  <a:srgbClr val="F26A2E"/>
                </a:solidFill>
                <a:latin typeface="Lato"/>
                <a:ea typeface="Lato"/>
                <a:cs typeface="Lato"/>
              </a:rPr>
              <a:t>9</a:t>
            </a:r>
          </a:p>
        </p:txBody>
      </p:sp>
      <p:sp>
        <p:nvSpPr>
          <p:cNvPr id="9" name="">
            <a:extLst xmlns:a="http://schemas.openxmlformats.org/drawingml/2006/main">
              <a:ext uri="{FF2B5EF4-FFF2-40B4-BE49-F238E27FC236}">
                <a16:creationId xmlns:a16="http://schemas.microsoft.com/office/drawing/2014/main" id="{E85F1DDF-A589-446D-961E-A23E8194AAE4}"/>
              </a:ext>
            </a:extLst>
          </p:cNvPr>
          <p:cNvSpPr>
            <a:spLocks xmlns:a="http://schemas.openxmlformats.org/drawingml/2006/main" noGrp="1"/>
          </p:cNvSpPr>
          <p:nvPr/>
        </p:nvSpPr>
        <p:spPr>
          <a:xfrm xmlns:a="http://schemas.openxmlformats.org/drawingml/2006/main">
            <a:off x="628650" y="790575"/>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900" b="1" i="0">
                <a:solidFill>
                  <a:srgbClr val="F26A2E"/>
                </a:solidFill>
                <a:latin typeface="Lato"/>
                <a:ea typeface="Lato"/>
                <a:cs typeface="Lato"/>
              </a:defRPr>
            </a:pPr>
            <a:r>
              <a:rPr sz="900" b="1" i="0">
                <a:solidFill>
                  <a:srgbClr val="F26A2E"/>
                </a:solidFill>
                <a:latin typeface="Lato"/>
                <a:ea typeface="Lato"/>
                <a:cs typeface="Lato"/>
              </a:rPr>
              <a:t>DIETARY FAT</a:t>
            </a:r>
          </a:p>
        </p:txBody>
      </p:sp>
      <p:sp>
        <p:nvSpPr>
          <p:cNvPr id="10" name="">
            <a:extLst xmlns:a="http://schemas.openxmlformats.org/drawingml/2006/main">
              <a:ext uri="{FF2B5EF4-FFF2-40B4-BE49-F238E27FC236}">
                <a16:creationId xmlns:a16="http://schemas.microsoft.com/office/drawing/2014/main" id="{5C8E64C9-B61A-4C20-8BAF-2180B9993774}"/>
              </a:ext>
            </a:extLst>
          </p:cNvPr>
          <p:cNvSpPr>
            <a:spLocks xmlns:a="http://schemas.openxmlformats.org/drawingml/2006/main" noGrp="1"/>
          </p:cNvSpPr>
          <p:nvPr/>
        </p:nvSpPr>
        <p:spPr>
          <a:xfrm xmlns:a="http://schemas.openxmlformats.org/drawingml/2006/main">
            <a:off x="590550" y="1066800"/>
            <a:ext cx="619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03000"/>
              </a:lnSpc>
              <a:buNone/>
              <a:defRPr sz="2550" b="1" i="0">
                <a:solidFill>
                  <a:srgbClr val="192442"/>
                </a:solidFill>
                <a:latin typeface="Lora"/>
                <a:ea typeface="Lora"/>
                <a:cs typeface="Lora"/>
              </a:defRPr>
            </a:pPr>
            <a:r>
              <a:rPr sz="2550" b="1" i="0">
                <a:solidFill>
                  <a:srgbClr val="192442"/>
                </a:solidFill>
                <a:latin typeface="Lora"/>
                <a:ea typeface="Lora"/>
                <a:cs typeface="Lora"/>
              </a:rPr>
              <a:t>Fat adds flavor, texture, and staying power</a:t>
            </a:r>
          </a:p>
        </p:txBody>
      </p:sp>
      <p:sp>
        <p:nvSpPr>
          <p:cNvPr id="11" name="">
            <a:extLst xmlns:a="http://schemas.openxmlformats.org/drawingml/2006/main">
              <a:ext uri="{FF2B5EF4-FFF2-40B4-BE49-F238E27FC236}">
                <a16:creationId xmlns:a16="http://schemas.microsoft.com/office/drawing/2014/main" id="{5C35CE2D-7290-4EA2-83CD-B8035B19594E}"/>
              </a:ext>
            </a:extLst>
          </p:cNvPr>
          <p:cNvSpPr>
            <a:spLocks xmlns:a="http://schemas.openxmlformats.org/drawingml/2006/main" noGrp="1"/>
          </p:cNvSpPr>
          <p:nvPr/>
        </p:nvSpPr>
        <p:spPr>
          <a:xfrm xmlns:a="http://schemas.openxmlformats.org/drawingml/2006/main">
            <a:off x="628650" y="1866900"/>
            <a:ext cx="6381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25000"/>
              </a:lnSpc>
              <a:buNone/>
              <a:defRPr sz="1125" b="0" i="0">
                <a:solidFill>
                  <a:srgbClr val="5C6C67"/>
                </a:solidFill>
                <a:latin typeface="Lato"/>
                <a:ea typeface="Lato"/>
                <a:cs typeface="Lato"/>
              </a:defRPr>
            </a:pPr>
            <a:r>
              <a:rPr sz="1125" b="0" i="0">
                <a:solidFill>
                  <a:srgbClr val="5C6C67"/>
                </a:solidFill>
                <a:latin typeface="Lato"/>
                <a:ea typeface="Lato"/>
                <a:cs typeface="Lato"/>
              </a:rPr>
              <a:t>Dietary fat is an essential nutrient. The type and food source matter.</a:t>
            </a:r>
          </a:p>
        </p:txBody>
      </p:sp>
      <p:sp>
        <p:nvSpPr>
          <p:cNvPr id="12" name="">
            <a:extLst xmlns:a="http://schemas.openxmlformats.org/drawingml/2006/main">
              <a:ext uri="{FF2B5EF4-FFF2-40B4-BE49-F238E27FC236}">
                <a16:creationId xmlns:a16="http://schemas.microsoft.com/office/drawing/2014/main" id="{E1B15671-B56F-4295-8DE3-0B45B49BB0A3}"/>
              </a:ext>
            </a:extLst>
          </p:cNvPr>
          <p:cNvSpPr>
            <a:spLocks xmlns:a="http://schemas.openxmlformats.org/drawingml/2006/main" noGrp="1"/>
          </p:cNvSpPr>
          <p:nvPr/>
        </p:nvSpPr>
        <p:spPr>
          <a:xfrm xmlns:a="http://schemas.openxmlformats.org/drawingml/2006/main">
            <a:off x="628650" y="2762250"/>
            <a:ext cx="3028950" cy="2857500"/>
          </a:xfrm>
          <a:prstGeom xmlns:a="http://schemas.openxmlformats.org/drawingml/2006/main" prst="roundRect">
            <a:avLst>
              <a:gd name="adj" fmla="val 4667"/>
            </a:avLst>
          </a:prstGeom>
          <a:solidFill xmlns:a="http://schemas.openxmlformats.org/drawingml/2006/main">
            <a:srgbClr val="E6F2EC"/>
          </a:solidFill>
          <a:ln xmlns:a="http://schemas.openxmlformats.org/drawingml/2006/main" w="11430">
            <a:solidFill>
              <a:srgbClr val="B8D8C8"/>
            </a:solidFill>
            <a:prstDash val="solid"/>
          </a:ln>
        </p:spPr>
      </p:sp>
      <p:sp>
        <p:nvSpPr>
          <p:cNvPr id="13" name="">
            <a:extLst xmlns:a="http://schemas.openxmlformats.org/drawingml/2006/main">
              <a:ext uri="{FF2B5EF4-FFF2-40B4-BE49-F238E27FC236}">
                <a16:creationId xmlns:a16="http://schemas.microsoft.com/office/drawing/2014/main" id="{7903CAE3-D364-4AA1-8790-CDAB35D3CAAD}"/>
              </a:ext>
            </a:extLst>
          </p:cNvPr>
          <p:cNvSpPr>
            <a:spLocks xmlns:a="http://schemas.openxmlformats.org/drawingml/2006/main" noGrp="1"/>
          </p:cNvSpPr>
          <p:nvPr/>
        </p:nvSpPr>
        <p:spPr>
          <a:xfrm xmlns:a="http://schemas.openxmlformats.org/drawingml/2006/main">
            <a:off x="4114800" y="2762250"/>
            <a:ext cx="3028950" cy="2857500"/>
          </a:xfrm>
          <a:prstGeom xmlns:a="http://schemas.openxmlformats.org/drawingml/2006/main" prst="roundRect">
            <a:avLst>
              <a:gd name="adj" fmla="val 4667"/>
            </a:avLst>
          </a:prstGeom>
          <a:solidFill xmlns:a="http://schemas.openxmlformats.org/drawingml/2006/main">
            <a:srgbClr val="FCE4D8"/>
          </a:solidFill>
          <a:ln xmlns:a="http://schemas.openxmlformats.org/drawingml/2006/main" w="11430">
            <a:solidFill>
              <a:srgbClr val="F3B499"/>
            </a:solidFill>
            <a:prstDash val="solid"/>
          </a:ln>
        </p:spPr>
      </p:sp>
      <p:sp>
        <p:nvSpPr>
          <p:cNvPr id="14" name="">
            <a:extLst xmlns:a="http://schemas.openxmlformats.org/drawingml/2006/main">
              <a:ext uri="{FF2B5EF4-FFF2-40B4-BE49-F238E27FC236}">
                <a16:creationId xmlns:a16="http://schemas.microsoft.com/office/drawing/2014/main" id="{777B3C56-18C3-4A76-89B7-FBB587FB2B45}"/>
              </a:ext>
            </a:extLst>
          </p:cNvPr>
          <p:cNvSpPr>
            <a:spLocks xmlns:a="http://schemas.openxmlformats.org/drawingml/2006/main" noGrp="1"/>
          </p:cNvSpPr>
          <p:nvPr/>
        </p:nvSpPr>
        <p:spPr>
          <a:xfrm xmlns:a="http://schemas.openxmlformats.org/drawingml/2006/main">
            <a:off x="895350" y="30861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1350" b="1" i="0">
                <a:solidFill>
                  <a:srgbClr val="034B2F"/>
                </a:solidFill>
                <a:latin typeface="Lora"/>
                <a:ea typeface="Lora"/>
                <a:cs typeface="Lora"/>
              </a:defRPr>
            </a:pPr>
            <a:r>
              <a:rPr sz="1350" b="1" i="0">
                <a:solidFill>
                  <a:srgbClr val="034B2F"/>
                </a:solidFill>
                <a:latin typeface="Lora"/>
                <a:ea typeface="Lora"/>
                <a:cs typeface="Lora"/>
              </a:rPr>
              <a:t>Choose more often</a:t>
            </a:r>
          </a:p>
        </p:txBody>
      </p:sp>
      <p:sp>
        <p:nvSpPr>
          <p:cNvPr id="15" name="">
            <a:extLst xmlns:a="http://schemas.openxmlformats.org/drawingml/2006/main">
              <a:ext uri="{FF2B5EF4-FFF2-40B4-BE49-F238E27FC236}">
                <a16:creationId xmlns:a16="http://schemas.microsoft.com/office/drawing/2014/main" id="{C0D76101-B66E-4B74-86ED-E896AD14911F}"/>
              </a:ext>
            </a:extLst>
          </p:cNvPr>
          <p:cNvSpPr>
            <a:spLocks xmlns:a="http://schemas.openxmlformats.org/drawingml/2006/main" noGrp="1"/>
          </p:cNvSpPr>
          <p:nvPr/>
        </p:nvSpPr>
        <p:spPr>
          <a:xfrm xmlns:a="http://schemas.openxmlformats.org/drawingml/2006/main">
            <a:off x="952500" y="3609975"/>
            <a:ext cx="95250" cy="95250"/>
          </a:xfrm>
          <a:prstGeom xmlns:a="http://schemas.openxmlformats.org/drawingml/2006/main" prst="ellipse">
            <a:avLst/>
          </a:prstGeom>
          <a:solidFill xmlns:a="http://schemas.openxmlformats.org/drawingml/2006/main">
            <a:srgbClr val="034B2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586D390-9BC7-415F-995F-FEEAD1AA3703}"/>
              </a:ext>
            </a:extLst>
          </p:cNvPr>
          <p:cNvSpPr>
            <a:spLocks xmlns:a="http://schemas.openxmlformats.org/drawingml/2006/main" noGrp="1"/>
          </p:cNvSpPr>
          <p:nvPr/>
        </p:nvSpPr>
        <p:spPr>
          <a:xfrm xmlns:a="http://schemas.openxmlformats.org/drawingml/2006/main">
            <a:off x="1162050" y="3562350"/>
            <a:ext cx="2076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8000"/>
              </a:lnSpc>
              <a:buNone/>
              <a:defRPr sz="1013" b="0" i="0">
                <a:solidFill>
                  <a:srgbClr val="16211D"/>
                </a:solidFill>
                <a:latin typeface="Lato"/>
                <a:ea typeface="Lato"/>
                <a:cs typeface="Lato"/>
              </a:defRPr>
            </a:pPr>
            <a:r>
              <a:rPr sz="1013" b="0" i="0">
                <a:solidFill>
                  <a:srgbClr val="16211D"/>
                </a:solidFill>
                <a:latin typeface="Lato"/>
                <a:ea typeface="Lato"/>
                <a:cs typeface="Lato"/>
              </a:rPr>
              <a:t>Avocado</a:t>
            </a:r>
          </a:p>
        </p:txBody>
      </p:sp>
      <p:sp>
        <p:nvSpPr>
          <p:cNvPr id="17" name="">
            <a:extLst xmlns:a="http://schemas.openxmlformats.org/drawingml/2006/main">
              <a:ext uri="{FF2B5EF4-FFF2-40B4-BE49-F238E27FC236}">
                <a16:creationId xmlns:a16="http://schemas.microsoft.com/office/drawing/2014/main" id="{1AAD5617-BE38-4C1A-8721-D27CD9079C0B}"/>
              </a:ext>
            </a:extLst>
          </p:cNvPr>
          <p:cNvSpPr>
            <a:spLocks xmlns:a="http://schemas.openxmlformats.org/drawingml/2006/main" noGrp="1"/>
          </p:cNvSpPr>
          <p:nvPr/>
        </p:nvSpPr>
        <p:spPr>
          <a:xfrm xmlns:a="http://schemas.openxmlformats.org/drawingml/2006/main">
            <a:off x="952500" y="3971925"/>
            <a:ext cx="95250" cy="95250"/>
          </a:xfrm>
          <a:prstGeom xmlns:a="http://schemas.openxmlformats.org/drawingml/2006/main" prst="ellipse">
            <a:avLst/>
          </a:prstGeom>
          <a:solidFill xmlns:a="http://schemas.openxmlformats.org/drawingml/2006/main">
            <a:srgbClr val="034B2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2F58924-697B-473B-9955-69E885F95297}"/>
              </a:ext>
            </a:extLst>
          </p:cNvPr>
          <p:cNvSpPr>
            <a:spLocks xmlns:a="http://schemas.openxmlformats.org/drawingml/2006/main" noGrp="1"/>
          </p:cNvSpPr>
          <p:nvPr/>
        </p:nvSpPr>
        <p:spPr>
          <a:xfrm xmlns:a="http://schemas.openxmlformats.org/drawingml/2006/main">
            <a:off x="1162050" y="3924300"/>
            <a:ext cx="2076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8000"/>
              </a:lnSpc>
              <a:buNone/>
              <a:defRPr sz="1013" b="0" i="0">
                <a:solidFill>
                  <a:srgbClr val="16211D"/>
                </a:solidFill>
                <a:latin typeface="Lato"/>
                <a:ea typeface="Lato"/>
                <a:cs typeface="Lato"/>
              </a:defRPr>
            </a:pPr>
            <a:r>
              <a:rPr sz="1013" b="0" i="0">
                <a:solidFill>
                  <a:srgbClr val="16211D"/>
                </a:solidFill>
                <a:latin typeface="Lato"/>
                <a:ea typeface="Lato"/>
                <a:cs typeface="Lato"/>
              </a:rPr>
              <a:t>Nuts and seeds</a:t>
            </a:r>
          </a:p>
        </p:txBody>
      </p:sp>
      <p:sp>
        <p:nvSpPr>
          <p:cNvPr id="19" name="">
            <a:extLst xmlns:a="http://schemas.openxmlformats.org/drawingml/2006/main">
              <a:ext uri="{FF2B5EF4-FFF2-40B4-BE49-F238E27FC236}">
                <a16:creationId xmlns:a16="http://schemas.microsoft.com/office/drawing/2014/main" id="{DAA45788-8F6C-4D29-A7B0-69286D1FBCA7}"/>
              </a:ext>
            </a:extLst>
          </p:cNvPr>
          <p:cNvSpPr>
            <a:spLocks xmlns:a="http://schemas.openxmlformats.org/drawingml/2006/main" noGrp="1"/>
          </p:cNvSpPr>
          <p:nvPr/>
        </p:nvSpPr>
        <p:spPr>
          <a:xfrm xmlns:a="http://schemas.openxmlformats.org/drawingml/2006/main">
            <a:off x="952500" y="4333875"/>
            <a:ext cx="95250" cy="95250"/>
          </a:xfrm>
          <a:prstGeom xmlns:a="http://schemas.openxmlformats.org/drawingml/2006/main" prst="ellipse">
            <a:avLst/>
          </a:prstGeom>
          <a:solidFill xmlns:a="http://schemas.openxmlformats.org/drawingml/2006/main">
            <a:srgbClr val="034B2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761557C-A8B9-4CC1-81FE-7603D7E97ABB}"/>
              </a:ext>
            </a:extLst>
          </p:cNvPr>
          <p:cNvSpPr>
            <a:spLocks xmlns:a="http://schemas.openxmlformats.org/drawingml/2006/main" noGrp="1"/>
          </p:cNvSpPr>
          <p:nvPr/>
        </p:nvSpPr>
        <p:spPr>
          <a:xfrm xmlns:a="http://schemas.openxmlformats.org/drawingml/2006/main">
            <a:off x="1162050" y="4286250"/>
            <a:ext cx="2076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8000"/>
              </a:lnSpc>
              <a:buNone/>
              <a:defRPr sz="1013" b="0" i="0">
                <a:solidFill>
                  <a:srgbClr val="16211D"/>
                </a:solidFill>
                <a:latin typeface="Lato"/>
                <a:ea typeface="Lato"/>
                <a:cs typeface="Lato"/>
              </a:defRPr>
            </a:pPr>
            <a:r>
              <a:rPr sz="1013" b="0" i="0">
                <a:solidFill>
                  <a:srgbClr val="16211D"/>
                </a:solidFill>
                <a:latin typeface="Lato"/>
                <a:ea typeface="Lato"/>
                <a:cs typeface="Lato"/>
              </a:rPr>
              <a:t>Olive or canola oil</a:t>
            </a:r>
          </a:p>
        </p:txBody>
      </p:sp>
      <p:sp>
        <p:nvSpPr>
          <p:cNvPr id="21" name="">
            <a:extLst xmlns:a="http://schemas.openxmlformats.org/drawingml/2006/main">
              <a:ext uri="{FF2B5EF4-FFF2-40B4-BE49-F238E27FC236}">
                <a16:creationId xmlns:a16="http://schemas.microsoft.com/office/drawing/2014/main" id="{651E4E1B-7D26-4EDB-A23D-FB73EC5D4659}"/>
              </a:ext>
            </a:extLst>
          </p:cNvPr>
          <p:cNvSpPr>
            <a:spLocks xmlns:a="http://schemas.openxmlformats.org/drawingml/2006/main" noGrp="1"/>
          </p:cNvSpPr>
          <p:nvPr/>
        </p:nvSpPr>
        <p:spPr>
          <a:xfrm xmlns:a="http://schemas.openxmlformats.org/drawingml/2006/main">
            <a:off x="952500" y="4695825"/>
            <a:ext cx="95250" cy="95250"/>
          </a:xfrm>
          <a:prstGeom xmlns:a="http://schemas.openxmlformats.org/drawingml/2006/main" prst="ellipse">
            <a:avLst/>
          </a:prstGeom>
          <a:solidFill xmlns:a="http://schemas.openxmlformats.org/drawingml/2006/main">
            <a:srgbClr val="034B2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179B6F34-CB96-4755-B889-0DAD32B9AAC3}"/>
              </a:ext>
            </a:extLst>
          </p:cNvPr>
          <p:cNvSpPr>
            <a:spLocks xmlns:a="http://schemas.openxmlformats.org/drawingml/2006/main" noGrp="1"/>
          </p:cNvSpPr>
          <p:nvPr/>
        </p:nvSpPr>
        <p:spPr>
          <a:xfrm xmlns:a="http://schemas.openxmlformats.org/drawingml/2006/main">
            <a:off x="1162050" y="4648200"/>
            <a:ext cx="2076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8000"/>
              </a:lnSpc>
              <a:buNone/>
              <a:defRPr sz="1013" b="0" i="0">
                <a:solidFill>
                  <a:srgbClr val="16211D"/>
                </a:solidFill>
                <a:latin typeface="Lato"/>
                <a:ea typeface="Lato"/>
                <a:cs typeface="Lato"/>
              </a:defRPr>
            </a:pPr>
            <a:r>
              <a:rPr sz="1013" b="0" i="0">
                <a:solidFill>
                  <a:srgbClr val="16211D"/>
                </a:solidFill>
                <a:latin typeface="Lato"/>
                <a:ea typeface="Lato"/>
                <a:cs typeface="Lato"/>
              </a:rPr>
              <a:t>Fish such as salmon or sardines</a:t>
            </a:r>
          </a:p>
        </p:txBody>
      </p:sp>
      <p:sp>
        <p:nvSpPr>
          <p:cNvPr id="23" name="">
            <a:extLst xmlns:a="http://schemas.openxmlformats.org/drawingml/2006/main">
              <a:ext uri="{FF2B5EF4-FFF2-40B4-BE49-F238E27FC236}">
                <a16:creationId xmlns:a16="http://schemas.microsoft.com/office/drawing/2014/main" id="{1AB58415-C826-404A-8B9C-0AB6DF78BDF0}"/>
              </a:ext>
            </a:extLst>
          </p:cNvPr>
          <p:cNvSpPr>
            <a:spLocks xmlns:a="http://schemas.openxmlformats.org/drawingml/2006/main" noGrp="1"/>
          </p:cNvSpPr>
          <p:nvPr/>
        </p:nvSpPr>
        <p:spPr>
          <a:xfrm xmlns:a="http://schemas.openxmlformats.org/drawingml/2006/main">
            <a:off x="4381500" y="30861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1350" b="1" i="0">
                <a:solidFill>
                  <a:srgbClr val="8F3519"/>
                </a:solidFill>
                <a:latin typeface="Lora"/>
                <a:ea typeface="Lora"/>
                <a:cs typeface="Lora"/>
              </a:defRPr>
            </a:pPr>
            <a:r>
              <a:rPr sz="1350" b="1" i="0">
                <a:solidFill>
                  <a:srgbClr val="8F3519"/>
                </a:solidFill>
                <a:latin typeface="Lora"/>
                <a:ea typeface="Lora"/>
                <a:cs typeface="Lora"/>
              </a:rPr>
              <a:t>Choose less often</a:t>
            </a:r>
          </a:p>
        </p:txBody>
      </p:sp>
      <p:sp>
        <p:nvSpPr>
          <p:cNvPr id="24" name="">
            <a:extLst xmlns:a="http://schemas.openxmlformats.org/drawingml/2006/main">
              <a:ext uri="{FF2B5EF4-FFF2-40B4-BE49-F238E27FC236}">
                <a16:creationId xmlns:a16="http://schemas.microsoft.com/office/drawing/2014/main" id="{61413D3C-6340-4D5A-ABB0-DCE03A6A4822}"/>
              </a:ext>
            </a:extLst>
          </p:cNvPr>
          <p:cNvSpPr>
            <a:spLocks xmlns:a="http://schemas.openxmlformats.org/drawingml/2006/main" noGrp="1"/>
          </p:cNvSpPr>
          <p:nvPr/>
        </p:nvSpPr>
        <p:spPr>
          <a:xfrm xmlns:a="http://schemas.openxmlformats.org/drawingml/2006/main">
            <a:off x="4438650" y="3609975"/>
            <a:ext cx="95250" cy="95250"/>
          </a:xfrm>
          <a:prstGeom xmlns:a="http://schemas.openxmlformats.org/drawingml/2006/main" prst="ellipse">
            <a:avLst/>
          </a:prstGeom>
          <a:solidFill xmlns:a="http://schemas.openxmlformats.org/drawingml/2006/main">
            <a:srgbClr val="F26A2E"/>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ED97AB14-0C93-464D-A280-D482964A32BB}"/>
              </a:ext>
            </a:extLst>
          </p:cNvPr>
          <p:cNvSpPr>
            <a:spLocks xmlns:a="http://schemas.openxmlformats.org/drawingml/2006/main" noGrp="1"/>
          </p:cNvSpPr>
          <p:nvPr/>
        </p:nvSpPr>
        <p:spPr>
          <a:xfrm xmlns:a="http://schemas.openxmlformats.org/drawingml/2006/main">
            <a:off x="4648200" y="3562350"/>
            <a:ext cx="2076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8000"/>
              </a:lnSpc>
              <a:buNone/>
              <a:defRPr sz="1013" b="0" i="0">
                <a:solidFill>
                  <a:srgbClr val="16211D"/>
                </a:solidFill>
                <a:latin typeface="Lato"/>
                <a:ea typeface="Lato"/>
                <a:cs typeface="Lato"/>
              </a:defRPr>
            </a:pPr>
            <a:r>
              <a:rPr sz="1013" b="0" i="0">
                <a:solidFill>
                  <a:srgbClr val="16211D"/>
                </a:solidFill>
                <a:latin typeface="Lato"/>
                <a:ea typeface="Lato"/>
                <a:cs typeface="Lato"/>
              </a:rPr>
              <a:t>Butter and cream</a:t>
            </a:r>
          </a:p>
        </p:txBody>
      </p:sp>
      <p:sp>
        <p:nvSpPr>
          <p:cNvPr id="26" name="">
            <a:extLst xmlns:a="http://schemas.openxmlformats.org/drawingml/2006/main">
              <a:ext uri="{FF2B5EF4-FFF2-40B4-BE49-F238E27FC236}">
                <a16:creationId xmlns:a16="http://schemas.microsoft.com/office/drawing/2014/main" id="{BD01A95E-8A82-41A8-91A6-39E9A5E218AD}"/>
              </a:ext>
            </a:extLst>
          </p:cNvPr>
          <p:cNvSpPr>
            <a:spLocks xmlns:a="http://schemas.openxmlformats.org/drawingml/2006/main" noGrp="1"/>
          </p:cNvSpPr>
          <p:nvPr/>
        </p:nvSpPr>
        <p:spPr>
          <a:xfrm xmlns:a="http://schemas.openxmlformats.org/drawingml/2006/main">
            <a:off x="4438650" y="3971925"/>
            <a:ext cx="95250" cy="95250"/>
          </a:xfrm>
          <a:prstGeom xmlns:a="http://schemas.openxmlformats.org/drawingml/2006/main" prst="ellipse">
            <a:avLst/>
          </a:prstGeom>
          <a:solidFill xmlns:a="http://schemas.openxmlformats.org/drawingml/2006/main">
            <a:srgbClr val="F26A2E"/>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CEC5ABE8-1094-4AE6-8A78-361E07C49C89}"/>
              </a:ext>
            </a:extLst>
          </p:cNvPr>
          <p:cNvSpPr>
            <a:spLocks xmlns:a="http://schemas.openxmlformats.org/drawingml/2006/main" noGrp="1"/>
          </p:cNvSpPr>
          <p:nvPr/>
        </p:nvSpPr>
        <p:spPr>
          <a:xfrm xmlns:a="http://schemas.openxmlformats.org/drawingml/2006/main">
            <a:off x="4648200" y="3924300"/>
            <a:ext cx="2076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8000"/>
              </a:lnSpc>
              <a:buNone/>
              <a:defRPr sz="1013" b="0" i="0">
                <a:solidFill>
                  <a:srgbClr val="16211D"/>
                </a:solidFill>
                <a:latin typeface="Lato"/>
                <a:ea typeface="Lato"/>
                <a:cs typeface="Lato"/>
              </a:defRPr>
            </a:pPr>
            <a:r>
              <a:rPr sz="1013" b="0" i="0">
                <a:solidFill>
                  <a:srgbClr val="16211D"/>
                </a:solidFill>
                <a:latin typeface="Lato"/>
                <a:ea typeface="Lato"/>
                <a:cs typeface="Lato"/>
              </a:rPr>
              <a:t>Processed meats</a:t>
            </a:r>
          </a:p>
        </p:txBody>
      </p:sp>
      <p:sp>
        <p:nvSpPr>
          <p:cNvPr id="28" name="">
            <a:extLst xmlns:a="http://schemas.openxmlformats.org/drawingml/2006/main">
              <a:ext uri="{FF2B5EF4-FFF2-40B4-BE49-F238E27FC236}">
                <a16:creationId xmlns:a16="http://schemas.microsoft.com/office/drawing/2014/main" id="{26BD994F-436C-476E-A730-3BF60E0161A2}"/>
              </a:ext>
            </a:extLst>
          </p:cNvPr>
          <p:cNvSpPr>
            <a:spLocks xmlns:a="http://schemas.openxmlformats.org/drawingml/2006/main" noGrp="1"/>
          </p:cNvSpPr>
          <p:nvPr/>
        </p:nvSpPr>
        <p:spPr>
          <a:xfrm xmlns:a="http://schemas.openxmlformats.org/drawingml/2006/main">
            <a:off x="4438650" y="4333875"/>
            <a:ext cx="95250" cy="95250"/>
          </a:xfrm>
          <a:prstGeom xmlns:a="http://schemas.openxmlformats.org/drawingml/2006/main" prst="ellipse">
            <a:avLst/>
          </a:prstGeom>
          <a:solidFill xmlns:a="http://schemas.openxmlformats.org/drawingml/2006/main">
            <a:srgbClr val="F26A2E"/>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7EC551E5-4E92-4343-A213-D702A8C36266}"/>
              </a:ext>
            </a:extLst>
          </p:cNvPr>
          <p:cNvSpPr>
            <a:spLocks xmlns:a="http://schemas.openxmlformats.org/drawingml/2006/main" noGrp="1"/>
          </p:cNvSpPr>
          <p:nvPr/>
        </p:nvSpPr>
        <p:spPr>
          <a:xfrm xmlns:a="http://schemas.openxmlformats.org/drawingml/2006/main">
            <a:off x="4648200" y="4286250"/>
            <a:ext cx="2076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8000"/>
              </a:lnSpc>
              <a:buNone/>
              <a:defRPr sz="1013" b="0" i="0">
                <a:solidFill>
                  <a:srgbClr val="16211D"/>
                </a:solidFill>
                <a:latin typeface="Lato"/>
                <a:ea typeface="Lato"/>
                <a:cs typeface="Lato"/>
              </a:defRPr>
            </a:pPr>
            <a:r>
              <a:rPr sz="1013" b="0" i="0">
                <a:solidFill>
                  <a:srgbClr val="16211D"/>
                </a:solidFill>
                <a:latin typeface="Lato"/>
                <a:ea typeface="Lato"/>
                <a:cs typeface="Lato"/>
              </a:rPr>
              <a:t>Deep-fried foods</a:t>
            </a:r>
          </a:p>
        </p:txBody>
      </p:sp>
      <p:sp>
        <p:nvSpPr>
          <p:cNvPr id="30" name="">
            <a:extLst xmlns:a="http://schemas.openxmlformats.org/drawingml/2006/main">
              <a:ext uri="{FF2B5EF4-FFF2-40B4-BE49-F238E27FC236}">
                <a16:creationId xmlns:a16="http://schemas.microsoft.com/office/drawing/2014/main" id="{3E6978C0-78BD-47C3-94D0-0598FE4EFA15}"/>
              </a:ext>
            </a:extLst>
          </p:cNvPr>
          <p:cNvSpPr>
            <a:spLocks xmlns:a="http://schemas.openxmlformats.org/drawingml/2006/main" noGrp="1"/>
          </p:cNvSpPr>
          <p:nvPr/>
        </p:nvSpPr>
        <p:spPr>
          <a:xfrm xmlns:a="http://schemas.openxmlformats.org/drawingml/2006/main">
            <a:off x="4438650" y="4695825"/>
            <a:ext cx="95250" cy="95250"/>
          </a:xfrm>
          <a:prstGeom xmlns:a="http://schemas.openxmlformats.org/drawingml/2006/main" prst="ellipse">
            <a:avLst/>
          </a:prstGeom>
          <a:solidFill xmlns:a="http://schemas.openxmlformats.org/drawingml/2006/main">
            <a:srgbClr val="F26A2E"/>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EF969576-62C1-4806-A627-109F23018133}"/>
              </a:ext>
            </a:extLst>
          </p:cNvPr>
          <p:cNvSpPr>
            <a:spLocks xmlns:a="http://schemas.openxmlformats.org/drawingml/2006/main" noGrp="1"/>
          </p:cNvSpPr>
          <p:nvPr/>
        </p:nvSpPr>
        <p:spPr>
          <a:xfrm xmlns:a="http://schemas.openxmlformats.org/drawingml/2006/main">
            <a:off x="4648200" y="4648200"/>
            <a:ext cx="2076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8000"/>
              </a:lnSpc>
              <a:buNone/>
              <a:defRPr sz="1013" b="0" i="0">
                <a:solidFill>
                  <a:srgbClr val="16211D"/>
                </a:solidFill>
                <a:latin typeface="Lato"/>
                <a:ea typeface="Lato"/>
                <a:cs typeface="Lato"/>
              </a:defRPr>
            </a:pPr>
            <a:r>
              <a:rPr sz="1013" b="0" i="0">
                <a:solidFill>
                  <a:srgbClr val="16211D"/>
                </a:solidFill>
                <a:latin typeface="Lato"/>
                <a:ea typeface="Lato"/>
                <a:cs typeface="Lato"/>
              </a:rPr>
              <a:t>Foods with trans fat</a:t>
            </a:r>
          </a:p>
        </p:txBody>
      </p:sp>
      <p:sp>
        <p:nvSpPr>
          <p:cNvPr id="32" name="">
            <a:extLst xmlns:a="http://schemas.openxmlformats.org/drawingml/2006/main">
              <a:ext uri="{FF2B5EF4-FFF2-40B4-BE49-F238E27FC236}">
                <a16:creationId xmlns:a16="http://schemas.microsoft.com/office/drawing/2014/main" id="{B95897BD-21FA-4BC1-85E2-524D93275048}"/>
              </a:ext>
            </a:extLst>
          </p:cNvPr>
          <p:cNvSpPr>
            <a:spLocks xmlns:a="http://schemas.openxmlformats.org/drawingml/2006/main" noGrp="1"/>
          </p:cNvSpPr>
          <p:nvPr/>
        </p:nvSpPr>
        <p:spPr>
          <a:xfrm xmlns:a="http://schemas.openxmlformats.org/drawingml/2006/main">
            <a:off x="800100" y="6229350"/>
            <a:ext cx="6096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22000"/>
              </a:lnSpc>
              <a:buNone/>
              <a:defRPr sz="1035" b="0" i="0">
                <a:solidFill>
                  <a:srgbClr val="16211D"/>
                </a:solidFill>
                <a:latin typeface="Lato"/>
                <a:ea typeface="Lato"/>
                <a:cs typeface="Lato"/>
              </a:defRPr>
            </a:pPr>
            <a:r>
              <a:rPr sz="1035" b="0" i="0">
                <a:solidFill>
                  <a:srgbClr val="16211D"/>
                </a:solidFill>
                <a:latin typeface="Lato"/>
                <a:ea typeface="Lato"/>
                <a:cs typeface="Lato"/>
              </a:rPr>
              <a:t>A heart-health pattern usually emphasizes unsaturated fats from nuts, seeds, avocado, fish, and non-tropical liquid plant oils while limiting saturated fat and avoiding trans fat.</a:t>
            </a:r>
          </a:p>
        </p:txBody>
      </p:sp>
      <p:sp>
        <p:nvSpPr>
          <p:cNvPr id="33" name="">
            <a:extLst xmlns:a="http://schemas.openxmlformats.org/drawingml/2006/main">
              <a:ext uri="{FF2B5EF4-FFF2-40B4-BE49-F238E27FC236}">
                <a16:creationId xmlns:a16="http://schemas.microsoft.com/office/drawing/2014/main" id="{63F28656-75E9-4A75-AAA4-293DCF4B630C}"/>
              </a:ext>
            </a:extLst>
          </p:cNvPr>
          <p:cNvSpPr>
            <a:spLocks xmlns:a="http://schemas.openxmlformats.org/drawingml/2006/main" noGrp="1"/>
          </p:cNvSpPr>
          <p:nvPr/>
        </p:nvSpPr>
        <p:spPr>
          <a:xfrm xmlns:a="http://schemas.openxmlformats.org/drawingml/2006/main">
            <a:off x="628650" y="8143875"/>
            <a:ext cx="6515100" cy="666750"/>
          </a:xfrm>
          <a:prstGeom xmlns:a="http://schemas.openxmlformats.org/drawingml/2006/main" prst="roundRect">
            <a:avLst>
              <a:gd name="adj" fmla="val 14286"/>
            </a:avLst>
          </a:prstGeom>
          <a:solidFill xmlns:a="http://schemas.openxmlformats.org/drawingml/2006/main">
            <a:srgbClr val="E6F2EC"/>
          </a:solidFill>
          <a:ln xmlns:a="http://schemas.openxmlformats.org/drawingml/2006/main" w="11430">
            <a:solidFill>
              <a:srgbClr val="B8D8C8"/>
            </a:solidFill>
            <a:prstDash val="solid"/>
          </a:ln>
        </p:spPr>
      </p:sp>
      <p:sp>
        <p:nvSpPr>
          <p:cNvPr id="34" name="">
            <a:extLst xmlns:a="http://schemas.openxmlformats.org/drawingml/2006/main">
              <a:ext uri="{FF2B5EF4-FFF2-40B4-BE49-F238E27FC236}">
                <a16:creationId xmlns:a16="http://schemas.microsoft.com/office/drawing/2014/main" id="{E7C87FB1-E712-4C81-A996-CC3F00E7CEF1}"/>
              </a:ext>
            </a:extLst>
          </p:cNvPr>
          <p:cNvSpPr>
            <a:spLocks xmlns:a="http://schemas.openxmlformats.org/drawingml/2006/main" noGrp="1"/>
          </p:cNvSpPr>
          <p:nvPr/>
        </p:nvSpPr>
        <p:spPr>
          <a:xfrm xmlns:a="http://schemas.openxmlformats.org/drawingml/2006/main">
            <a:off x="790575" y="8277225"/>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975" b="1" i="0">
                <a:solidFill>
                  <a:srgbClr val="034B2F"/>
                </a:solidFill>
                <a:latin typeface="Lato"/>
                <a:ea typeface="Lato"/>
                <a:cs typeface="Lato"/>
              </a:defRPr>
            </a:pPr>
            <a:r>
              <a:rPr sz="975" b="1" i="0">
                <a:solidFill>
                  <a:srgbClr val="034B2F"/>
                </a:solidFill>
                <a:latin typeface="Lato"/>
                <a:ea typeface="Lato"/>
                <a:cs typeface="Lato"/>
              </a:rPr>
              <a:t>More detail</a:t>
            </a:r>
          </a:p>
        </p:txBody>
      </p:sp>
      <p:sp>
        <p:nvSpPr>
          <p:cNvPr id="35" name="">
            <a:extLst xmlns:a="http://schemas.openxmlformats.org/drawingml/2006/main">
              <a:ext uri="{FF2B5EF4-FFF2-40B4-BE49-F238E27FC236}">
                <a16:creationId xmlns:a16="http://schemas.microsoft.com/office/drawing/2014/main" id="{A8DFE414-D17B-4236-8DEA-7909B1B397F4}"/>
              </a:ext>
            </a:extLst>
          </p:cNvPr>
          <p:cNvSpPr>
            <a:spLocks xmlns:a="http://schemas.openxmlformats.org/drawingml/2006/main" noGrp="1"/>
          </p:cNvSpPr>
          <p:nvPr/>
        </p:nvSpPr>
        <p:spPr>
          <a:xfrm xmlns:a="http://schemas.openxmlformats.org/drawingml/2006/main">
            <a:off x="790575" y="8543925"/>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7000"/>
              </a:lnSpc>
              <a:buNone/>
              <a:defRPr sz="900" b="0" i="0">
                <a:solidFill>
                  <a:srgbClr val="16211D"/>
                </a:solidFill>
                <a:latin typeface="Lato"/>
                <a:ea typeface="Lato"/>
                <a:cs typeface="Lato"/>
              </a:defRPr>
            </a:pPr>
            <a:r>
              <a:rPr sz="900" b="0" i="0">
                <a:solidFill>
                  <a:srgbClr val="16211D"/>
                </a:solidFill>
                <a:latin typeface="Lato"/>
                <a:ea typeface="Lato"/>
                <a:cs typeface="Lato"/>
              </a:rPr>
              <a:t>Use the Fats Without Fear guide for saturated, unsaturated, and trans fats in plain language.</a:t>
            </a:r>
          </a:p>
        </p:txBody>
      </p:sp>
    </p:spTree>
    <p:extLst>
      <p:ext uri="{BB962C8B-B14F-4D97-AF65-F5344CB8AC3E}">
        <p14:creationId xmlns:p14="http://schemas.microsoft.com/office/powerpoint/2010/main" val="360300634"/>
      </p:ext>
    </p:extLst>
  </p:cSld>
</p:sld>
</file>

<file path=ppt/slides/slide10.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69e20b38500546c3"/>
          <a:srcRect xmlns:a="http://schemas.openxmlformats.org/drawingml/2006/main" l="699" t="0" r="699" b="0"/>
          <a:stretch xmlns:a="http://schemas.openxmlformats.org/drawingml/2006/main">
            <a:fillRect l="0" t="0" r="0" b="0"/>
          </a:stretch>
        </p:blipFill>
        <p:spPr>
          <a:xfrm xmlns:a="http://schemas.openxmlformats.org/drawingml/2006/main">
            <a:off x="552450" y="285750"/>
            <a:ext cx="257175" cy="276225"/>
          </a:xfrm>
          <a:prstGeom xmlns:a="http://schemas.openxmlformats.org/drawingml/2006/main" prst="roundRect">
            <a:avLst>
              <a:gd name="adj" fmla="val 29630"/>
            </a:avLst>
          </a:prstGeom>
        </p:spPr>
      </p:pic>
      <p:sp>
        <p:nvSpPr>
          <p:cNvPr id="2" name="">
            <a:extLst xmlns:a="http://schemas.openxmlformats.org/drawingml/2006/main">
              <a:ext uri="{FF2B5EF4-FFF2-40B4-BE49-F238E27FC236}">
                <a16:creationId xmlns:a16="http://schemas.microsoft.com/office/drawing/2014/main" id="{95A60B5E-D71F-4C61-83A1-9201F421D66F}"/>
              </a:ext>
            </a:extLst>
          </p:cNvPr>
          <p:cNvSpPr>
            <a:spLocks xmlns:a="http://schemas.openxmlformats.org/drawingml/2006/main" noGrp="1"/>
          </p:cNvSpPr>
          <p:nvPr/>
        </p:nvSpPr>
        <p:spPr>
          <a:xfrm xmlns:a="http://schemas.openxmlformats.org/drawingml/2006/main">
            <a:off x="876300" y="3333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788" b="1" i="0">
                <a:solidFill>
                  <a:srgbClr val="034B2F"/>
                </a:solidFill>
                <a:latin typeface="Lora"/>
                <a:ea typeface="Lora"/>
                <a:cs typeface="Lora"/>
              </a:defRPr>
            </a:pPr>
            <a:r>
              <a:rPr sz="788" b="1" i="0">
                <a:solidFill>
                  <a:srgbClr val="034B2F"/>
                </a:solidFill>
                <a:latin typeface="Lora"/>
                <a:ea typeface="Lora"/>
                <a:cs typeface="Lora"/>
              </a:rPr>
              <a:t>The Mindful Plate</a:t>
            </a:r>
          </a:p>
        </p:txBody>
      </p:sp>
      <p:sp>
        <p:nvSpPr>
          <p:cNvPr id="3" name="">
            <a:extLst xmlns:a="http://schemas.openxmlformats.org/drawingml/2006/main">
              <a:ext uri="{FF2B5EF4-FFF2-40B4-BE49-F238E27FC236}">
                <a16:creationId xmlns:a16="http://schemas.microsoft.com/office/drawing/2014/main" id="{E9A12343-EE38-4CEA-910E-1EB5D94A1D28}"/>
              </a:ext>
            </a:extLst>
          </p:cNvPr>
          <p:cNvSpPr>
            <a:spLocks xmlns:a="http://schemas.openxmlformats.org/drawingml/2006/main" noGrp="1"/>
          </p:cNvSpPr>
          <p:nvPr/>
        </p:nvSpPr>
        <p:spPr>
          <a:xfrm xmlns:a="http://schemas.openxmlformats.org/drawingml/2006/main">
            <a:off x="876300" y="485775"/>
            <a:ext cx="2190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660" b="0" i="0">
                <a:solidFill>
                  <a:srgbClr val="5C6C67"/>
                </a:solidFill>
                <a:latin typeface="Lato"/>
                <a:ea typeface="Lato"/>
                <a:cs typeface="Lato"/>
              </a:defRPr>
            </a:pPr>
            <a:r>
              <a:rPr sz="660" b="0" i="0">
                <a:solidFill>
                  <a:srgbClr val="5C6C67"/>
                </a:solidFill>
                <a:latin typeface="Lato"/>
                <a:ea typeface="Lato"/>
                <a:cs typeface="Lato"/>
              </a:rPr>
              <a:t>Breakfasts</a:t>
            </a:r>
          </a:p>
        </p:txBody>
      </p:sp>
      <p:sp>
        <p:nvSpPr>
          <p:cNvPr id="4" name="">
            <a:extLst xmlns:a="http://schemas.openxmlformats.org/drawingml/2006/main">
              <a:ext uri="{FF2B5EF4-FFF2-40B4-BE49-F238E27FC236}">
                <a16:creationId xmlns:a16="http://schemas.microsoft.com/office/drawing/2014/main" id="{B50FE239-B718-4F85-89F6-90A175AD475F}"/>
              </a:ext>
            </a:extLst>
          </p:cNvPr>
          <p:cNvSpPr>
            <a:spLocks xmlns:a="http://schemas.openxmlformats.org/drawingml/2006/main" noGrp="1"/>
          </p:cNvSpPr>
          <p:nvPr/>
        </p:nvSpPr>
        <p:spPr>
          <a:xfrm xmlns:a="http://schemas.openxmlformats.org/drawingml/2006/main">
            <a:off x="552450" y="714375"/>
            <a:ext cx="6667500" cy="0"/>
          </a:xfrm>
          <a:prstGeom xmlns:a="http://schemas.openxmlformats.org/drawingml/2006/main" prst="line">
            <a:avLst/>
          </a:prstGeom>
          <a:noFill xmlns:a="http://schemas.openxmlformats.org/drawingml/2006/main"/>
          <a:ln xmlns:a="http://schemas.openxmlformats.org/drawingml/2006/main" w="11430">
            <a:solidFill>
              <a:srgbClr val="D9E2DA"/>
            </a:solidFill>
            <a:prstDash val="solid"/>
          </a:ln>
        </p:spPr>
      </p:sp>
      <p:sp>
        <p:nvSpPr>
          <p:cNvPr id="5" name="">
            <a:extLst xmlns:a="http://schemas.openxmlformats.org/drawingml/2006/main">
              <a:ext uri="{FF2B5EF4-FFF2-40B4-BE49-F238E27FC236}">
                <a16:creationId xmlns:a16="http://schemas.microsoft.com/office/drawing/2014/main" id="{92B57863-1F90-4CC2-B32B-635D19635B3C}"/>
              </a:ext>
            </a:extLst>
          </p:cNvPr>
          <p:cNvSpPr>
            <a:spLocks xmlns:a="http://schemas.openxmlformats.org/drawingml/2006/main" noGrp="1"/>
          </p:cNvSpPr>
          <p:nvPr/>
        </p:nvSpPr>
        <p:spPr>
          <a:xfrm xmlns:a="http://schemas.openxmlformats.org/drawingml/2006/main">
            <a:off x="552450" y="9610725"/>
            <a:ext cx="6667500" cy="0"/>
          </a:xfrm>
          <a:prstGeom xmlns:a="http://schemas.openxmlformats.org/drawingml/2006/main" prst="line">
            <a:avLst/>
          </a:prstGeom>
          <a:noFill xmlns:a="http://schemas.openxmlformats.org/drawingml/2006/main"/>
          <a:ln xmlns:a="http://schemas.openxmlformats.org/drawingml/2006/main" w="11430">
            <a:solidFill>
              <a:srgbClr val="D9E2DA"/>
            </a:solidFill>
            <a:prstDash val="solid"/>
          </a:ln>
        </p:spPr>
      </p:sp>
      <p:sp>
        <p:nvSpPr>
          <p:cNvPr id="6" name="">
            <a:extLst xmlns:a="http://schemas.openxmlformats.org/drawingml/2006/main">
              <a:ext uri="{FF2B5EF4-FFF2-40B4-BE49-F238E27FC236}">
                <a16:creationId xmlns:a16="http://schemas.microsoft.com/office/drawing/2014/main" id="{6941D6CC-06FF-4BFF-BA4A-77F46F8CA99E}"/>
              </a:ext>
            </a:extLst>
          </p:cNvPr>
          <p:cNvSpPr>
            <a:spLocks xmlns:a="http://schemas.openxmlformats.org/drawingml/2006/main" noGrp="1"/>
          </p:cNvSpPr>
          <p:nvPr/>
        </p:nvSpPr>
        <p:spPr>
          <a:xfrm xmlns:a="http://schemas.openxmlformats.org/drawingml/2006/main">
            <a:off x="552450" y="9715500"/>
            <a:ext cx="1762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660" b="0" i="0">
                <a:solidFill>
                  <a:srgbClr val="5C6C67"/>
                </a:solidFill>
                <a:latin typeface="Lato"/>
                <a:ea typeface="Lato"/>
                <a:cs typeface="Lato"/>
              </a:defRPr>
            </a:pPr>
            <a:r>
              <a:rPr sz="660" b="0" i="0">
                <a:solidFill>
                  <a:srgbClr val="5C6C67"/>
                </a:solidFill>
                <a:latin typeface="Lato"/>
                <a:ea typeface="Lato"/>
                <a:cs typeface="Lato"/>
              </a:rPr>
              <a:t>Mindful Diabetes Inc.</a:t>
            </a:r>
          </a:p>
        </p:txBody>
      </p:sp>
      <p:sp>
        <p:nvSpPr>
          <p:cNvPr id="7" name="">
            <a:extLst xmlns:a="http://schemas.openxmlformats.org/drawingml/2006/main">
              <a:ext uri="{FF2B5EF4-FFF2-40B4-BE49-F238E27FC236}">
                <a16:creationId xmlns:a16="http://schemas.microsoft.com/office/drawing/2014/main" id="{F590F511-8DF2-497F-9E40-DB44124A804F}"/>
              </a:ext>
            </a:extLst>
          </p:cNvPr>
          <p:cNvSpPr>
            <a:spLocks xmlns:a="http://schemas.openxmlformats.org/drawingml/2006/main" noGrp="1"/>
          </p:cNvSpPr>
          <p:nvPr/>
        </p:nvSpPr>
        <p:spPr>
          <a:xfrm xmlns:a="http://schemas.openxmlformats.org/drawingml/2006/main">
            <a:off x="3162300" y="9715500"/>
            <a:ext cx="14763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lnSpc>
                <a:spcPct val="116000"/>
              </a:lnSpc>
              <a:buNone/>
              <a:defRPr sz="660" b="0" i="0">
                <a:solidFill>
                  <a:srgbClr val="5C6C67"/>
                </a:solidFill>
                <a:latin typeface="Lato"/>
                <a:ea typeface="Lato"/>
                <a:cs typeface="Lato"/>
              </a:defRPr>
            </a:pPr>
            <a:r>
              <a:rPr sz="660" b="0" i="0">
                <a:solidFill>
                  <a:srgbClr val="5C6C67"/>
                </a:solidFill>
                <a:latin typeface="Lato"/>
                <a:ea typeface="Lato"/>
                <a:cs typeface="Lato"/>
              </a:rPr>
              <a:t>mindfuldiabetes.org</a:t>
            </a:r>
          </a:p>
        </p:txBody>
      </p:sp>
      <p:sp>
        <p:nvSpPr>
          <p:cNvPr id="8" name="">
            <a:extLst xmlns:a="http://schemas.openxmlformats.org/drawingml/2006/main">
              <a:ext uri="{FF2B5EF4-FFF2-40B4-BE49-F238E27FC236}">
                <a16:creationId xmlns:a16="http://schemas.microsoft.com/office/drawing/2014/main" id="{0474D1F9-184B-4AAC-BBB3-C7FB7F9EB232}"/>
              </a:ext>
            </a:extLst>
          </p:cNvPr>
          <p:cNvSpPr>
            <a:spLocks xmlns:a="http://schemas.openxmlformats.org/drawingml/2006/main" noGrp="1"/>
          </p:cNvSpPr>
          <p:nvPr/>
        </p:nvSpPr>
        <p:spPr>
          <a:xfrm xmlns:a="http://schemas.openxmlformats.org/drawingml/2006/main">
            <a:off x="6886575" y="9715500"/>
            <a:ext cx="3333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r">
              <a:lnSpc>
                <a:spcPct val="116000"/>
              </a:lnSpc>
              <a:buNone/>
              <a:defRPr sz="660" b="0" i="0">
                <a:solidFill>
                  <a:srgbClr val="F26A2E"/>
                </a:solidFill>
                <a:latin typeface="Lato"/>
                <a:ea typeface="Lato"/>
                <a:cs typeface="Lato"/>
              </a:defRPr>
            </a:pPr>
            <a:r>
              <a:rPr sz="660" b="0" i="0">
                <a:solidFill>
                  <a:srgbClr val="F26A2E"/>
                </a:solidFill>
                <a:latin typeface="Lato"/>
                <a:ea typeface="Lato"/>
                <a:cs typeface="Lato"/>
              </a:rPr>
              <a:t>10</a:t>
            </a:r>
          </a:p>
        </p:txBody>
      </p:sp>
      <p:sp>
        <p:nvSpPr>
          <p:cNvPr id="9" name="">
            <a:extLst xmlns:a="http://schemas.openxmlformats.org/drawingml/2006/main">
              <a:ext uri="{FF2B5EF4-FFF2-40B4-BE49-F238E27FC236}">
                <a16:creationId xmlns:a16="http://schemas.microsoft.com/office/drawing/2014/main" id="{9949709F-968D-4B6D-8252-4401ED0FDC20}"/>
              </a:ext>
            </a:extLst>
          </p:cNvPr>
          <p:cNvSpPr>
            <a:spLocks xmlns:a="http://schemas.openxmlformats.org/drawingml/2006/main" noGrp="1"/>
          </p:cNvSpPr>
          <p:nvPr/>
        </p:nvSpPr>
        <p:spPr>
          <a:xfrm xmlns:a="http://schemas.openxmlformats.org/drawingml/2006/main">
            <a:off x="628650" y="790575"/>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900" b="1" i="0">
                <a:solidFill>
                  <a:srgbClr val="F26A2E"/>
                </a:solidFill>
                <a:latin typeface="Lato"/>
                <a:ea typeface="Lato"/>
                <a:cs typeface="Lato"/>
              </a:defRPr>
            </a:pPr>
            <a:r>
              <a:rPr sz="900" b="1" i="0">
                <a:solidFill>
                  <a:srgbClr val="F26A2E"/>
                </a:solidFill>
                <a:latin typeface="Lato"/>
                <a:ea typeface="Lato"/>
                <a:cs typeface="Lato"/>
              </a:rPr>
              <a:t>BREAKFASTS</a:t>
            </a:r>
          </a:p>
        </p:txBody>
      </p:sp>
      <p:sp>
        <p:nvSpPr>
          <p:cNvPr id="10" name="">
            <a:extLst xmlns:a="http://schemas.openxmlformats.org/drawingml/2006/main">
              <a:ext uri="{FF2B5EF4-FFF2-40B4-BE49-F238E27FC236}">
                <a16:creationId xmlns:a16="http://schemas.microsoft.com/office/drawing/2014/main" id="{AA410213-77F3-4A63-990F-7CF4A4DD686D}"/>
              </a:ext>
            </a:extLst>
          </p:cNvPr>
          <p:cNvSpPr>
            <a:spLocks xmlns:a="http://schemas.openxmlformats.org/drawingml/2006/main" noGrp="1"/>
          </p:cNvSpPr>
          <p:nvPr/>
        </p:nvSpPr>
        <p:spPr>
          <a:xfrm xmlns:a="http://schemas.openxmlformats.org/drawingml/2006/main">
            <a:off x="590550" y="1066800"/>
            <a:ext cx="619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03000"/>
              </a:lnSpc>
              <a:buNone/>
              <a:defRPr sz="2550" b="1" i="0">
                <a:solidFill>
                  <a:srgbClr val="192442"/>
                </a:solidFill>
                <a:latin typeface="Lora"/>
                <a:ea typeface="Lora"/>
                <a:cs typeface="Lora"/>
              </a:defRPr>
            </a:pPr>
            <a:r>
              <a:rPr sz="2550" b="1" i="0">
                <a:solidFill>
                  <a:srgbClr val="192442"/>
                </a:solidFill>
                <a:latin typeface="Lora"/>
                <a:ea typeface="Lora"/>
                <a:cs typeface="Lora"/>
              </a:rPr>
              <a:t>Breakfasts, if breakfast fits your day</a:t>
            </a:r>
          </a:p>
        </p:txBody>
      </p:sp>
      <p:sp>
        <p:nvSpPr>
          <p:cNvPr id="11" name="">
            <a:extLst xmlns:a="http://schemas.openxmlformats.org/drawingml/2006/main">
              <a:ext uri="{FF2B5EF4-FFF2-40B4-BE49-F238E27FC236}">
                <a16:creationId xmlns:a16="http://schemas.microsoft.com/office/drawing/2014/main" id="{C30084F7-A79A-45B1-BCCC-066D1B93E6FB}"/>
              </a:ext>
            </a:extLst>
          </p:cNvPr>
          <p:cNvSpPr>
            <a:spLocks xmlns:a="http://schemas.openxmlformats.org/drawingml/2006/main" noGrp="1"/>
          </p:cNvSpPr>
          <p:nvPr/>
        </p:nvSpPr>
        <p:spPr>
          <a:xfrm xmlns:a="http://schemas.openxmlformats.org/drawingml/2006/main">
            <a:off x="628650" y="1866900"/>
            <a:ext cx="6381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25000"/>
              </a:lnSpc>
              <a:buNone/>
              <a:defRPr sz="1125" b="0" i="0">
                <a:solidFill>
                  <a:srgbClr val="5C6C67"/>
                </a:solidFill>
                <a:latin typeface="Lato"/>
                <a:ea typeface="Lato"/>
                <a:cs typeface="Lato"/>
              </a:defRPr>
            </a:pPr>
            <a:r>
              <a:rPr sz="1125" b="0" i="0">
                <a:solidFill>
                  <a:srgbClr val="5C6C67"/>
                </a:solidFill>
                <a:latin typeface="Lato"/>
                <a:ea typeface="Lato"/>
                <a:cs typeface="Lato"/>
              </a:rPr>
              <a:t>Not everyone wants or needs breakfast. If you do eat it, breakfast can be a useful place to add protein, fiber, and a lower-sugar drink.</a:t>
            </a:r>
          </a:p>
        </p:txBody>
      </p:sp>
      <p:sp>
        <p:nvSpPr>
          <p:cNvPr id="12" name="">
            <a:extLst xmlns:a="http://schemas.openxmlformats.org/drawingml/2006/main">
              <a:ext uri="{FF2B5EF4-FFF2-40B4-BE49-F238E27FC236}">
                <a16:creationId xmlns:a16="http://schemas.microsoft.com/office/drawing/2014/main" id="{F4D53064-BA9F-4077-8335-17C0AD2EA250}"/>
              </a:ext>
            </a:extLst>
          </p:cNvPr>
          <p:cNvSpPr>
            <a:spLocks xmlns:a="http://schemas.openxmlformats.org/drawingml/2006/main" noGrp="1"/>
          </p:cNvSpPr>
          <p:nvPr/>
        </p:nvSpPr>
        <p:spPr>
          <a:xfrm xmlns:a="http://schemas.openxmlformats.org/drawingml/2006/main">
            <a:off x="628650" y="2914650"/>
            <a:ext cx="3028950" cy="1200150"/>
          </a:xfrm>
          <a:prstGeom xmlns:a="http://schemas.openxmlformats.org/drawingml/2006/main" prst="roundRect">
            <a:avLst>
              <a:gd name="adj" fmla="val 7937"/>
            </a:avLst>
          </a:prstGeom>
          <a:solidFill xmlns:a="http://schemas.openxmlformats.org/drawingml/2006/main">
            <a:srgbClr val="FFFFFF"/>
          </a:solidFill>
          <a:ln xmlns:a="http://schemas.openxmlformats.org/drawingml/2006/main" w="11430">
            <a:solidFill>
              <a:srgbClr val="D9E2DA"/>
            </a:solidFill>
            <a:prstDash val="solid"/>
          </a:ln>
        </p:spPr>
      </p:sp>
      <p:sp>
        <p:nvSpPr>
          <p:cNvPr id="13" name="">
            <a:extLst xmlns:a="http://schemas.openxmlformats.org/drawingml/2006/main">
              <a:ext uri="{FF2B5EF4-FFF2-40B4-BE49-F238E27FC236}">
                <a16:creationId xmlns:a16="http://schemas.microsoft.com/office/drawing/2014/main" id="{B36384DA-F09E-4645-AAD6-E6CE3491AEEC}"/>
              </a:ext>
            </a:extLst>
          </p:cNvPr>
          <p:cNvSpPr>
            <a:spLocks xmlns:a="http://schemas.openxmlformats.org/drawingml/2006/main" noGrp="1"/>
          </p:cNvSpPr>
          <p:nvPr/>
        </p:nvSpPr>
        <p:spPr>
          <a:xfrm xmlns:a="http://schemas.openxmlformats.org/drawingml/2006/main">
            <a:off x="781050" y="3105150"/>
            <a:ext cx="190500" cy="190500"/>
          </a:xfrm>
          <a:prstGeom xmlns:a="http://schemas.openxmlformats.org/drawingml/2006/main" prst="ellipse">
            <a:avLst/>
          </a:prstGeom>
          <a:solidFill xmlns:a="http://schemas.openxmlformats.org/drawingml/2006/main">
            <a:srgbClr val="EEF7FA"/>
          </a:solidFill>
          <a:ln xmlns:a="http://schemas.openxmlformats.org/drawingml/2006/main" w="11430">
            <a:solidFill>
              <a:srgbClr val="034B2F"/>
            </a:solidFill>
            <a:prstDash val="solid"/>
          </a:ln>
        </p:spPr>
      </p:sp>
      <p:sp>
        <p:nvSpPr>
          <p:cNvPr id="14" name="">
            <a:extLst xmlns:a="http://schemas.openxmlformats.org/drawingml/2006/main">
              <a:ext uri="{FF2B5EF4-FFF2-40B4-BE49-F238E27FC236}">
                <a16:creationId xmlns:a16="http://schemas.microsoft.com/office/drawing/2014/main" id="{9D1E115B-53ED-411F-8965-7CC741E1F115}"/>
              </a:ext>
            </a:extLst>
          </p:cNvPr>
          <p:cNvSpPr>
            <a:spLocks xmlns:a="http://schemas.openxmlformats.org/drawingml/2006/main" noGrp="1"/>
          </p:cNvSpPr>
          <p:nvPr/>
        </p:nvSpPr>
        <p:spPr>
          <a:xfrm xmlns:a="http://schemas.openxmlformats.org/drawingml/2006/main">
            <a:off x="1085850" y="3067050"/>
            <a:ext cx="2419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1013" b="1" i="0">
                <a:solidFill>
                  <a:srgbClr val="192442"/>
                </a:solidFill>
                <a:latin typeface="Lato"/>
                <a:ea typeface="Lato"/>
                <a:cs typeface="Lato"/>
              </a:defRPr>
            </a:pPr>
            <a:r>
              <a:rPr sz="1013" b="1" i="0">
                <a:solidFill>
                  <a:srgbClr val="192442"/>
                </a:solidFill>
                <a:latin typeface="Lato"/>
                <a:ea typeface="Lato"/>
                <a:cs typeface="Lato"/>
              </a:rPr>
              <a:t>Eggs + toast + vegetables</a:t>
            </a:r>
          </a:p>
        </p:txBody>
      </p:sp>
      <p:sp>
        <p:nvSpPr>
          <p:cNvPr id="15" name="">
            <a:extLst xmlns:a="http://schemas.openxmlformats.org/drawingml/2006/main">
              <a:ext uri="{FF2B5EF4-FFF2-40B4-BE49-F238E27FC236}">
                <a16:creationId xmlns:a16="http://schemas.microsoft.com/office/drawing/2014/main" id="{84336F47-15EE-4F4C-AB57-48351F1D57C6}"/>
              </a:ext>
            </a:extLst>
          </p:cNvPr>
          <p:cNvSpPr>
            <a:spLocks xmlns:a="http://schemas.openxmlformats.org/drawingml/2006/main" noGrp="1"/>
          </p:cNvSpPr>
          <p:nvPr/>
        </p:nvSpPr>
        <p:spPr>
          <a:xfrm xmlns:a="http://schemas.openxmlformats.org/drawingml/2006/main">
            <a:off x="1085850" y="3286125"/>
            <a:ext cx="2419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0000"/>
              </a:lnSpc>
              <a:buNone/>
              <a:defRPr sz="788" b="0" i="0">
                <a:solidFill>
                  <a:srgbClr val="5C6C67"/>
                </a:solidFill>
                <a:latin typeface="Lato"/>
                <a:ea typeface="Lato"/>
                <a:cs typeface="Lato"/>
              </a:defRPr>
            </a:pPr>
            <a:r>
              <a:rPr sz="788" b="0" i="0">
                <a:solidFill>
                  <a:srgbClr val="5C6C67"/>
                </a:solidFill>
                <a:latin typeface="Lato"/>
                <a:ea typeface="Lato"/>
                <a:cs typeface="Lato"/>
              </a:rPr>
              <a:t>protein, fiber, color, lower-sugar drink</a:t>
            </a:r>
          </a:p>
        </p:txBody>
      </p:sp>
      <p:sp>
        <p:nvSpPr>
          <p:cNvPr id="16" name="">
            <a:extLst xmlns:a="http://schemas.openxmlformats.org/drawingml/2006/main">
              <a:ext uri="{FF2B5EF4-FFF2-40B4-BE49-F238E27FC236}">
                <a16:creationId xmlns:a16="http://schemas.microsoft.com/office/drawing/2014/main" id="{1BCE0B81-B38C-4B37-AA3B-A3712ABC2DFE}"/>
              </a:ext>
            </a:extLst>
          </p:cNvPr>
          <p:cNvSpPr>
            <a:spLocks xmlns:a="http://schemas.openxmlformats.org/drawingml/2006/main" noGrp="1"/>
          </p:cNvSpPr>
          <p:nvPr/>
        </p:nvSpPr>
        <p:spPr>
          <a:xfrm xmlns:a="http://schemas.openxmlformats.org/drawingml/2006/main">
            <a:off x="3924300" y="2914650"/>
            <a:ext cx="3028950" cy="1200150"/>
          </a:xfrm>
          <a:prstGeom xmlns:a="http://schemas.openxmlformats.org/drawingml/2006/main" prst="roundRect">
            <a:avLst>
              <a:gd name="adj" fmla="val 7937"/>
            </a:avLst>
          </a:prstGeom>
          <a:solidFill xmlns:a="http://schemas.openxmlformats.org/drawingml/2006/main">
            <a:srgbClr val="FFFFFF"/>
          </a:solidFill>
          <a:ln xmlns:a="http://schemas.openxmlformats.org/drawingml/2006/main" w="11430">
            <a:solidFill>
              <a:srgbClr val="D9E2DA"/>
            </a:solidFill>
            <a:prstDash val="solid"/>
          </a:ln>
        </p:spPr>
      </p:sp>
      <p:sp>
        <p:nvSpPr>
          <p:cNvPr id="17" name="">
            <a:extLst xmlns:a="http://schemas.openxmlformats.org/drawingml/2006/main">
              <a:ext uri="{FF2B5EF4-FFF2-40B4-BE49-F238E27FC236}">
                <a16:creationId xmlns:a16="http://schemas.microsoft.com/office/drawing/2014/main" id="{D1E7E8F9-2A09-4E3F-9614-74EE2C4A8D8F}"/>
              </a:ext>
            </a:extLst>
          </p:cNvPr>
          <p:cNvSpPr>
            <a:spLocks xmlns:a="http://schemas.openxmlformats.org/drawingml/2006/main" noGrp="1"/>
          </p:cNvSpPr>
          <p:nvPr/>
        </p:nvSpPr>
        <p:spPr>
          <a:xfrm xmlns:a="http://schemas.openxmlformats.org/drawingml/2006/main">
            <a:off x="4076700" y="3105150"/>
            <a:ext cx="190500" cy="190500"/>
          </a:xfrm>
          <a:prstGeom xmlns:a="http://schemas.openxmlformats.org/drawingml/2006/main" prst="ellipse">
            <a:avLst/>
          </a:prstGeom>
          <a:solidFill xmlns:a="http://schemas.openxmlformats.org/drawingml/2006/main">
            <a:srgbClr val="E6F2EC"/>
          </a:solidFill>
          <a:ln xmlns:a="http://schemas.openxmlformats.org/drawingml/2006/main" w="11430">
            <a:solidFill>
              <a:srgbClr val="034B2F"/>
            </a:solidFill>
            <a:prstDash val="solid"/>
          </a:ln>
        </p:spPr>
      </p:sp>
      <p:sp>
        <p:nvSpPr>
          <p:cNvPr id="18" name="">
            <a:extLst xmlns:a="http://schemas.openxmlformats.org/drawingml/2006/main">
              <a:ext uri="{FF2B5EF4-FFF2-40B4-BE49-F238E27FC236}">
                <a16:creationId xmlns:a16="http://schemas.microsoft.com/office/drawing/2014/main" id="{4ECEF9DF-EFF8-4299-B58A-B2827FC78040}"/>
              </a:ext>
            </a:extLst>
          </p:cNvPr>
          <p:cNvSpPr>
            <a:spLocks xmlns:a="http://schemas.openxmlformats.org/drawingml/2006/main" noGrp="1"/>
          </p:cNvSpPr>
          <p:nvPr/>
        </p:nvSpPr>
        <p:spPr>
          <a:xfrm xmlns:a="http://schemas.openxmlformats.org/drawingml/2006/main">
            <a:off x="4381500" y="3067050"/>
            <a:ext cx="2419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1013" b="1" i="0">
                <a:solidFill>
                  <a:srgbClr val="192442"/>
                </a:solidFill>
                <a:latin typeface="Lato"/>
                <a:ea typeface="Lato"/>
                <a:cs typeface="Lato"/>
              </a:defRPr>
            </a:pPr>
            <a:r>
              <a:rPr sz="1013" b="1" i="0">
                <a:solidFill>
                  <a:srgbClr val="192442"/>
                </a:solidFill>
                <a:latin typeface="Lato"/>
                <a:ea typeface="Lato"/>
                <a:cs typeface="Lato"/>
              </a:rPr>
              <a:t>Yogurt bowl</a:t>
            </a:r>
          </a:p>
        </p:txBody>
      </p:sp>
      <p:sp>
        <p:nvSpPr>
          <p:cNvPr id="19" name="">
            <a:extLst xmlns:a="http://schemas.openxmlformats.org/drawingml/2006/main">
              <a:ext uri="{FF2B5EF4-FFF2-40B4-BE49-F238E27FC236}">
                <a16:creationId xmlns:a16="http://schemas.microsoft.com/office/drawing/2014/main" id="{DAA075FF-758A-4D78-8CCA-5A6E7EF7461B}"/>
              </a:ext>
            </a:extLst>
          </p:cNvPr>
          <p:cNvSpPr>
            <a:spLocks xmlns:a="http://schemas.openxmlformats.org/drawingml/2006/main" noGrp="1"/>
          </p:cNvSpPr>
          <p:nvPr/>
        </p:nvSpPr>
        <p:spPr>
          <a:xfrm xmlns:a="http://schemas.openxmlformats.org/drawingml/2006/main">
            <a:off x="4381500" y="3286125"/>
            <a:ext cx="2419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0000"/>
              </a:lnSpc>
              <a:buNone/>
              <a:defRPr sz="788" b="0" i="0">
                <a:solidFill>
                  <a:srgbClr val="5C6C67"/>
                </a:solidFill>
                <a:latin typeface="Lato"/>
                <a:ea typeface="Lato"/>
                <a:cs typeface="Lato"/>
              </a:defRPr>
            </a:pPr>
            <a:r>
              <a:rPr sz="788" b="0" i="0">
                <a:solidFill>
                  <a:srgbClr val="5C6C67"/>
                </a:solidFill>
                <a:latin typeface="Lato"/>
                <a:ea typeface="Lato"/>
                <a:cs typeface="Lato"/>
              </a:rPr>
              <a:t>plain yogurt, berries, nuts, oats</a:t>
            </a:r>
          </a:p>
        </p:txBody>
      </p:sp>
      <p:sp>
        <p:nvSpPr>
          <p:cNvPr id="20" name="">
            <a:extLst xmlns:a="http://schemas.openxmlformats.org/drawingml/2006/main">
              <a:ext uri="{FF2B5EF4-FFF2-40B4-BE49-F238E27FC236}">
                <a16:creationId xmlns:a16="http://schemas.microsoft.com/office/drawing/2014/main" id="{1FC0E133-EACA-49E4-8EFE-63029EBC4CDB}"/>
              </a:ext>
            </a:extLst>
          </p:cNvPr>
          <p:cNvSpPr>
            <a:spLocks xmlns:a="http://schemas.openxmlformats.org/drawingml/2006/main" noGrp="1"/>
          </p:cNvSpPr>
          <p:nvPr/>
        </p:nvSpPr>
        <p:spPr>
          <a:xfrm xmlns:a="http://schemas.openxmlformats.org/drawingml/2006/main">
            <a:off x="628650" y="4400550"/>
            <a:ext cx="3028950" cy="1200150"/>
          </a:xfrm>
          <a:prstGeom xmlns:a="http://schemas.openxmlformats.org/drawingml/2006/main" prst="roundRect">
            <a:avLst>
              <a:gd name="adj" fmla="val 7937"/>
            </a:avLst>
          </a:prstGeom>
          <a:solidFill xmlns:a="http://schemas.openxmlformats.org/drawingml/2006/main">
            <a:srgbClr val="FFFFFF"/>
          </a:solidFill>
          <a:ln xmlns:a="http://schemas.openxmlformats.org/drawingml/2006/main" w="11430">
            <a:solidFill>
              <a:srgbClr val="D9E2DA"/>
            </a:solidFill>
            <a:prstDash val="solid"/>
          </a:ln>
        </p:spPr>
      </p:sp>
      <p:sp>
        <p:nvSpPr>
          <p:cNvPr id="21" name="">
            <a:extLst xmlns:a="http://schemas.openxmlformats.org/drawingml/2006/main">
              <a:ext uri="{FF2B5EF4-FFF2-40B4-BE49-F238E27FC236}">
                <a16:creationId xmlns:a16="http://schemas.microsoft.com/office/drawing/2014/main" id="{A8F3C95B-A72C-4D21-A086-1C325F91F51E}"/>
              </a:ext>
            </a:extLst>
          </p:cNvPr>
          <p:cNvSpPr>
            <a:spLocks xmlns:a="http://schemas.openxmlformats.org/drawingml/2006/main" noGrp="1"/>
          </p:cNvSpPr>
          <p:nvPr/>
        </p:nvSpPr>
        <p:spPr>
          <a:xfrm xmlns:a="http://schemas.openxmlformats.org/drawingml/2006/main">
            <a:off x="781050" y="4591050"/>
            <a:ext cx="190500" cy="190500"/>
          </a:xfrm>
          <a:prstGeom xmlns:a="http://schemas.openxmlformats.org/drawingml/2006/main" prst="ellipse">
            <a:avLst/>
          </a:prstGeom>
          <a:solidFill xmlns:a="http://schemas.openxmlformats.org/drawingml/2006/main">
            <a:srgbClr val="FCE4D8"/>
          </a:solidFill>
          <a:ln xmlns:a="http://schemas.openxmlformats.org/drawingml/2006/main" w="11430">
            <a:solidFill>
              <a:srgbClr val="034B2F"/>
            </a:solidFill>
            <a:prstDash val="solid"/>
          </a:ln>
        </p:spPr>
      </p:sp>
      <p:sp>
        <p:nvSpPr>
          <p:cNvPr id="22" name="">
            <a:extLst xmlns:a="http://schemas.openxmlformats.org/drawingml/2006/main">
              <a:ext uri="{FF2B5EF4-FFF2-40B4-BE49-F238E27FC236}">
                <a16:creationId xmlns:a16="http://schemas.microsoft.com/office/drawing/2014/main" id="{DDF44B92-CB80-4E21-BDBB-6A03CEE8A8AE}"/>
              </a:ext>
            </a:extLst>
          </p:cNvPr>
          <p:cNvSpPr>
            <a:spLocks xmlns:a="http://schemas.openxmlformats.org/drawingml/2006/main" noGrp="1"/>
          </p:cNvSpPr>
          <p:nvPr/>
        </p:nvSpPr>
        <p:spPr>
          <a:xfrm xmlns:a="http://schemas.openxmlformats.org/drawingml/2006/main">
            <a:off x="1085850" y="4552950"/>
            <a:ext cx="2419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1013" b="1" i="0">
                <a:solidFill>
                  <a:srgbClr val="192442"/>
                </a:solidFill>
                <a:latin typeface="Lato"/>
                <a:ea typeface="Lato"/>
                <a:cs typeface="Lato"/>
              </a:defRPr>
            </a:pPr>
            <a:r>
              <a:rPr sz="1013" b="1" i="0">
                <a:solidFill>
                  <a:srgbClr val="192442"/>
                </a:solidFill>
                <a:latin typeface="Lato"/>
                <a:ea typeface="Lato"/>
                <a:cs typeface="Lato"/>
              </a:rPr>
              <a:t>Oatmeal</a:t>
            </a:r>
          </a:p>
        </p:txBody>
      </p:sp>
      <p:sp>
        <p:nvSpPr>
          <p:cNvPr id="23" name="">
            <a:extLst xmlns:a="http://schemas.openxmlformats.org/drawingml/2006/main">
              <a:ext uri="{FF2B5EF4-FFF2-40B4-BE49-F238E27FC236}">
                <a16:creationId xmlns:a16="http://schemas.microsoft.com/office/drawing/2014/main" id="{7C42E135-101A-419C-BBFB-494EBE02EAA1}"/>
              </a:ext>
            </a:extLst>
          </p:cNvPr>
          <p:cNvSpPr>
            <a:spLocks xmlns:a="http://schemas.openxmlformats.org/drawingml/2006/main" noGrp="1"/>
          </p:cNvSpPr>
          <p:nvPr/>
        </p:nvSpPr>
        <p:spPr>
          <a:xfrm xmlns:a="http://schemas.openxmlformats.org/drawingml/2006/main">
            <a:off x="1085850" y="4772025"/>
            <a:ext cx="2419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0000"/>
              </a:lnSpc>
              <a:buNone/>
              <a:defRPr sz="788" b="0" i="0">
                <a:solidFill>
                  <a:srgbClr val="5C6C67"/>
                </a:solidFill>
                <a:latin typeface="Lato"/>
                <a:ea typeface="Lato"/>
                <a:cs typeface="Lato"/>
              </a:defRPr>
            </a:pPr>
            <a:r>
              <a:rPr sz="788" b="0" i="0">
                <a:solidFill>
                  <a:srgbClr val="5C6C67"/>
                </a:solidFill>
                <a:latin typeface="Lato"/>
                <a:ea typeface="Lato"/>
                <a:cs typeface="Lato"/>
              </a:rPr>
              <a:t>oats, fruit, chia, nut butter</a:t>
            </a:r>
          </a:p>
        </p:txBody>
      </p:sp>
      <p:sp>
        <p:nvSpPr>
          <p:cNvPr id="24" name="">
            <a:extLst xmlns:a="http://schemas.openxmlformats.org/drawingml/2006/main">
              <a:ext uri="{FF2B5EF4-FFF2-40B4-BE49-F238E27FC236}">
                <a16:creationId xmlns:a16="http://schemas.microsoft.com/office/drawing/2014/main" id="{1FC73BCB-7057-4686-B92A-27DAEC64109A}"/>
              </a:ext>
            </a:extLst>
          </p:cNvPr>
          <p:cNvSpPr>
            <a:spLocks xmlns:a="http://schemas.openxmlformats.org/drawingml/2006/main" noGrp="1"/>
          </p:cNvSpPr>
          <p:nvPr/>
        </p:nvSpPr>
        <p:spPr>
          <a:xfrm xmlns:a="http://schemas.openxmlformats.org/drawingml/2006/main">
            <a:off x="3924300" y="4400550"/>
            <a:ext cx="3028950" cy="1200150"/>
          </a:xfrm>
          <a:prstGeom xmlns:a="http://schemas.openxmlformats.org/drawingml/2006/main" prst="roundRect">
            <a:avLst>
              <a:gd name="adj" fmla="val 7937"/>
            </a:avLst>
          </a:prstGeom>
          <a:solidFill xmlns:a="http://schemas.openxmlformats.org/drawingml/2006/main">
            <a:srgbClr val="FFFFFF"/>
          </a:solidFill>
          <a:ln xmlns:a="http://schemas.openxmlformats.org/drawingml/2006/main" w="11430">
            <a:solidFill>
              <a:srgbClr val="D9E2DA"/>
            </a:solidFill>
            <a:prstDash val="solid"/>
          </a:ln>
        </p:spPr>
      </p:sp>
      <p:sp>
        <p:nvSpPr>
          <p:cNvPr id="25" name="">
            <a:extLst xmlns:a="http://schemas.openxmlformats.org/drawingml/2006/main">
              <a:ext uri="{FF2B5EF4-FFF2-40B4-BE49-F238E27FC236}">
                <a16:creationId xmlns:a16="http://schemas.microsoft.com/office/drawing/2014/main" id="{FDE90E51-B57B-42A4-8687-28B96180E73D}"/>
              </a:ext>
            </a:extLst>
          </p:cNvPr>
          <p:cNvSpPr>
            <a:spLocks xmlns:a="http://schemas.openxmlformats.org/drawingml/2006/main" noGrp="1"/>
          </p:cNvSpPr>
          <p:nvPr/>
        </p:nvSpPr>
        <p:spPr>
          <a:xfrm xmlns:a="http://schemas.openxmlformats.org/drawingml/2006/main">
            <a:off x="4076700" y="4591050"/>
            <a:ext cx="190500" cy="190500"/>
          </a:xfrm>
          <a:prstGeom xmlns:a="http://schemas.openxmlformats.org/drawingml/2006/main" prst="ellipse">
            <a:avLst/>
          </a:prstGeom>
          <a:solidFill xmlns:a="http://schemas.openxmlformats.org/drawingml/2006/main">
            <a:srgbClr val="E6F2EC"/>
          </a:solidFill>
          <a:ln xmlns:a="http://schemas.openxmlformats.org/drawingml/2006/main" w="11430">
            <a:solidFill>
              <a:srgbClr val="034B2F"/>
            </a:solidFill>
            <a:prstDash val="solid"/>
          </a:ln>
        </p:spPr>
      </p:sp>
      <p:sp>
        <p:nvSpPr>
          <p:cNvPr id="26" name="">
            <a:extLst xmlns:a="http://schemas.openxmlformats.org/drawingml/2006/main">
              <a:ext uri="{FF2B5EF4-FFF2-40B4-BE49-F238E27FC236}">
                <a16:creationId xmlns:a16="http://schemas.microsoft.com/office/drawing/2014/main" id="{D5466AB2-E8CF-4354-9DC4-CF80A431D34C}"/>
              </a:ext>
            </a:extLst>
          </p:cNvPr>
          <p:cNvSpPr>
            <a:spLocks xmlns:a="http://schemas.openxmlformats.org/drawingml/2006/main" noGrp="1"/>
          </p:cNvSpPr>
          <p:nvPr/>
        </p:nvSpPr>
        <p:spPr>
          <a:xfrm xmlns:a="http://schemas.openxmlformats.org/drawingml/2006/main">
            <a:off x="4381500" y="4552950"/>
            <a:ext cx="2419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1013" b="1" i="0">
                <a:solidFill>
                  <a:srgbClr val="192442"/>
                </a:solidFill>
                <a:latin typeface="Lato"/>
                <a:ea typeface="Lato"/>
                <a:cs typeface="Lato"/>
              </a:defRPr>
            </a:pPr>
            <a:r>
              <a:rPr sz="1013" b="1" i="0">
                <a:solidFill>
                  <a:srgbClr val="192442"/>
                </a:solidFill>
                <a:latin typeface="Lato"/>
                <a:ea typeface="Lato"/>
                <a:cs typeface="Lato"/>
              </a:rPr>
              <a:t>Beans + tortilla</a:t>
            </a:r>
          </a:p>
        </p:txBody>
      </p:sp>
      <p:sp>
        <p:nvSpPr>
          <p:cNvPr id="27" name="">
            <a:extLst xmlns:a="http://schemas.openxmlformats.org/drawingml/2006/main">
              <a:ext uri="{FF2B5EF4-FFF2-40B4-BE49-F238E27FC236}">
                <a16:creationId xmlns:a16="http://schemas.microsoft.com/office/drawing/2014/main" id="{A49D55EE-9C34-415C-BCC5-1F7B02BEC428}"/>
              </a:ext>
            </a:extLst>
          </p:cNvPr>
          <p:cNvSpPr>
            <a:spLocks xmlns:a="http://schemas.openxmlformats.org/drawingml/2006/main" noGrp="1"/>
          </p:cNvSpPr>
          <p:nvPr/>
        </p:nvSpPr>
        <p:spPr>
          <a:xfrm xmlns:a="http://schemas.openxmlformats.org/drawingml/2006/main">
            <a:off x="4381500" y="4772025"/>
            <a:ext cx="2419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0000"/>
              </a:lnSpc>
              <a:buNone/>
              <a:defRPr sz="788" b="0" i="0">
                <a:solidFill>
                  <a:srgbClr val="5C6C67"/>
                </a:solidFill>
                <a:latin typeface="Lato"/>
                <a:ea typeface="Lato"/>
                <a:cs typeface="Lato"/>
              </a:defRPr>
            </a:pPr>
            <a:r>
              <a:rPr sz="788" b="0" i="0">
                <a:solidFill>
                  <a:srgbClr val="5C6C67"/>
                </a:solidFill>
                <a:latin typeface="Lato"/>
                <a:ea typeface="Lato"/>
                <a:cs typeface="Lato"/>
              </a:rPr>
              <a:t>beans, egg or tofu, salsa, corn tortilla</a:t>
            </a:r>
          </a:p>
        </p:txBody>
      </p:sp>
      <p:sp>
        <p:nvSpPr>
          <p:cNvPr id="28" name="">
            <a:extLst xmlns:a="http://schemas.openxmlformats.org/drawingml/2006/main">
              <a:ext uri="{FF2B5EF4-FFF2-40B4-BE49-F238E27FC236}">
                <a16:creationId xmlns:a16="http://schemas.microsoft.com/office/drawing/2014/main" id="{CDE799B3-BFA9-4267-AA3A-4038088BE911}"/>
              </a:ext>
            </a:extLst>
          </p:cNvPr>
          <p:cNvSpPr>
            <a:spLocks xmlns:a="http://schemas.openxmlformats.org/drawingml/2006/main" noGrp="1"/>
          </p:cNvSpPr>
          <p:nvPr/>
        </p:nvSpPr>
        <p:spPr>
          <a:xfrm xmlns:a="http://schemas.openxmlformats.org/drawingml/2006/main">
            <a:off x="742950" y="7886700"/>
            <a:ext cx="600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20000"/>
              </a:lnSpc>
              <a:buNone/>
              <a:defRPr sz="1013" b="0" i="0">
                <a:solidFill>
                  <a:srgbClr val="16211D"/>
                </a:solidFill>
                <a:latin typeface="Lato"/>
                <a:ea typeface="Lato"/>
                <a:cs typeface="Lato"/>
              </a:defRPr>
            </a:pPr>
            <a:r>
              <a:rPr sz="1013" b="0" i="0">
                <a:solidFill>
                  <a:srgbClr val="16211D"/>
                </a:solidFill>
                <a:latin typeface="Lato"/>
                <a:ea typeface="Lato"/>
                <a:cs typeface="Lato"/>
              </a:rPr>
              <a:t>A rushed morning can still count. Keep one shelf-stable backup, one fruit, and one protein option available when you can.</a:t>
            </a:r>
          </a:p>
        </p:txBody>
      </p:sp>
      <p:sp>
        <p:nvSpPr>
          <p:cNvPr id="29" name="">
            <a:extLst xmlns:a="http://schemas.openxmlformats.org/drawingml/2006/main">
              <a:ext uri="{FF2B5EF4-FFF2-40B4-BE49-F238E27FC236}">
                <a16:creationId xmlns:a16="http://schemas.microsoft.com/office/drawing/2014/main" id="{B68464E8-6E4F-4439-8141-45404DDE501C}"/>
              </a:ext>
            </a:extLst>
          </p:cNvPr>
          <p:cNvSpPr>
            <a:spLocks xmlns:a="http://schemas.openxmlformats.org/drawingml/2006/main" noGrp="1"/>
          </p:cNvSpPr>
          <p:nvPr/>
        </p:nvSpPr>
        <p:spPr>
          <a:xfrm xmlns:a="http://schemas.openxmlformats.org/drawingml/2006/main">
            <a:off x="628650" y="8524875"/>
            <a:ext cx="6515100" cy="609600"/>
          </a:xfrm>
          <a:prstGeom xmlns:a="http://schemas.openxmlformats.org/drawingml/2006/main" prst="roundRect">
            <a:avLst>
              <a:gd name="adj" fmla="val 15625"/>
            </a:avLst>
          </a:prstGeom>
          <a:solidFill xmlns:a="http://schemas.openxmlformats.org/drawingml/2006/main">
            <a:srgbClr val="E6F2EC"/>
          </a:solidFill>
          <a:ln xmlns:a="http://schemas.openxmlformats.org/drawingml/2006/main" w="11430">
            <a:solidFill>
              <a:srgbClr val="B8D8C8"/>
            </a:solidFill>
            <a:prstDash val="solid"/>
          </a:ln>
        </p:spPr>
      </p:sp>
      <p:sp>
        <p:nvSpPr>
          <p:cNvPr id="30" name="">
            <a:extLst xmlns:a="http://schemas.openxmlformats.org/drawingml/2006/main">
              <a:ext uri="{FF2B5EF4-FFF2-40B4-BE49-F238E27FC236}">
                <a16:creationId xmlns:a16="http://schemas.microsoft.com/office/drawing/2014/main" id="{45891A25-CE5E-4D44-AFB7-06B4F1BD34BF}"/>
              </a:ext>
            </a:extLst>
          </p:cNvPr>
          <p:cNvSpPr>
            <a:spLocks xmlns:a="http://schemas.openxmlformats.org/drawingml/2006/main" noGrp="1"/>
          </p:cNvSpPr>
          <p:nvPr/>
        </p:nvSpPr>
        <p:spPr>
          <a:xfrm xmlns:a="http://schemas.openxmlformats.org/drawingml/2006/main">
            <a:off x="790575" y="8658225"/>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975" b="1" i="0">
                <a:solidFill>
                  <a:srgbClr val="034B2F"/>
                </a:solidFill>
                <a:latin typeface="Lato"/>
                <a:ea typeface="Lato"/>
                <a:cs typeface="Lato"/>
              </a:defRPr>
            </a:pPr>
            <a:r>
              <a:rPr sz="975" b="1" i="0">
                <a:solidFill>
                  <a:srgbClr val="034B2F"/>
                </a:solidFill>
                <a:latin typeface="Lato"/>
                <a:ea typeface="Lato"/>
                <a:cs typeface="Lato"/>
              </a:rPr>
              <a:t>Budget-friendly swaps</a:t>
            </a:r>
          </a:p>
        </p:txBody>
      </p:sp>
      <p:sp>
        <p:nvSpPr>
          <p:cNvPr id="31" name="">
            <a:extLst xmlns:a="http://schemas.openxmlformats.org/drawingml/2006/main">
              <a:ext uri="{FF2B5EF4-FFF2-40B4-BE49-F238E27FC236}">
                <a16:creationId xmlns:a16="http://schemas.microsoft.com/office/drawing/2014/main" id="{E4BB900B-F070-48E7-9C75-62E98E349B7B}"/>
              </a:ext>
            </a:extLst>
          </p:cNvPr>
          <p:cNvSpPr>
            <a:spLocks xmlns:a="http://schemas.openxmlformats.org/drawingml/2006/main" noGrp="1"/>
          </p:cNvSpPr>
          <p:nvPr/>
        </p:nvSpPr>
        <p:spPr>
          <a:xfrm xmlns:a="http://schemas.openxmlformats.org/drawingml/2006/main">
            <a:off x="790575" y="8924925"/>
            <a:ext cx="619125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7000"/>
              </a:lnSpc>
              <a:buNone/>
              <a:defRPr sz="900" b="0" i="0">
                <a:solidFill>
                  <a:srgbClr val="16211D"/>
                </a:solidFill>
                <a:latin typeface="Lato"/>
                <a:ea typeface="Lato"/>
                <a:cs typeface="Lato"/>
              </a:defRPr>
            </a:pPr>
            <a:r>
              <a:rPr sz="900" b="0" i="0">
                <a:solidFill>
                  <a:srgbClr val="16211D"/>
                </a:solidFill>
                <a:latin typeface="Lato"/>
                <a:ea typeface="Lato"/>
                <a:cs typeface="Lato"/>
              </a:rPr>
              <a:t>Use store-brand oats, peanut butter, frozen berries, eggs, beans, tofu, or plain yogurt.</a:t>
            </a:r>
          </a:p>
        </p:txBody>
      </p:sp>
    </p:spTree>
    <p:extLst>
      <p:ext uri="{BB962C8B-B14F-4D97-AF65-F5344CB8AC3E}">
        <p14:creationId xmlns:p14="http://schemas.microsoft.com/office/powerpoint/2010/main" val="1959117264"/>
      </p:ext>
    </p:extLst>
  </p:cSld>
</p:sld>
</file>

<file path=ppt/slides/slide11.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41180a228e7e4e41"/>
          <a:srcRect xmlns:a="http://schemas.openxmlformats.org/drawingml/2006/main" l="699" t="0" r="699" b="0"/>
          <a:stretch xmlns:a="http://schemas.openxmlformats.org/drawingml/2006/main">
            <a:fillRect l="0" t="0" r="0" b="0"/>
          </a:stretch>
        </p:blipFill>
        <p:spPr>
          <a:xfrm xmlns:a="http://schemas.openxmlformats.org/drawingml/2006/main">
            <a:off x="552450" y="285750"/>
            <a:ext cx="257175" cy="276225"/>
          </a:xfrm>
          <a:prstGeom xmlns:a="http://schemas.openxmlformats.org/drawingml/2006/main" prst="roundRect">
            <a:avLst>
              <a:gd name="adj" fmla="val 29630"/>
            </a:avLst>
          </a:prstGeom>
        </p:spPr>
      </p:pic>
      <p:sp>
        <p:nvSpPr>
          <p:cNvPr id="2" name="">
            <a:extLst xmlns:a="http://schemas.openxmlformats.org/drawingml/2006/main">
              <a:ext uri="{FF2B5EF4-FFF2-40B4-BE49-F238E27FC236}">
                <a16:creationId xmlns:a16="http://schemas.microsoft.com/office/drawing/2014/main" id="{B2E8A0F6-7937-40A9-A47D-32159EBF9C64}"/>
              </a:ext>
            </a:extLst>
          </p:cNvPr>
          <p:cNvSpPr>
            <a:spLocks xmlns:a="http://schemas.openxmlformats.org/drawingml/2006/main" noGrp="1"/>
          </p:cNvSpPr>
          <p:nvPr/>
        </p:nvSpPr>
        <p:spPr>
          <a:xfrm xmlns:a="http://schemas.openxmlformats.org/drawingml/2006/main">
            <a:off x="876300" y="3333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788" b="1" i="0">
                <a:solidFill>
                  <a:srgbClr val="034B2F"/>
                </a:solidFill>
                <a:latin typeface="Lora"/>
                <a:ea typeface="Lora"/>
                <a:cs typeface="Lora"/>
              </a:defRPr>
            </a:pPr>
            <a:r>
              <a:rPr sz="788" b="1" i="0">
                <a:solidFill>
                  <a:srgbClr val="034B2F"/>
                </a:solidFill>
                <a:latin typeface="Lora"/>
                <a:ea typeface="Lora"/>
                <a:cs typeface="Lora"/>
              </a:rPr>
              <a:t>The Mindful Plate</a:t>
            </a:r>
          </a:p>
        </p:txBody>
      </p:sp>
      <p:sp>
        <p:nvSpPr>
          <p:cNvPr id="3" name="">
            <a:extLst xmlns:a="http://schemas.openxmlformats.org/drawingml/2006/main">
              <a:ext uri="{FF2B5EF4-FFF2-40B4-BE49-F238E27FC236}">
                <a16:creationId xmlns:a16="http://schemas.microsoft.com/office/drawing/2014/main" id="{DB338EFA-7423-47C5-AB10-B9EA5D460413}"/>
              </a:ext>
            </a:extLst>
          </p:cNvPr>
          <p:cNvSpPr>
            <a:spLocks xmlns:a="http://schemas.openxmlformats.org/drawingml/2006/main" noGrp="1"/>
          </p:cNvSpPr>
          <p:nvPr/>
        </p:nvSpPr>
        <p:spPr>
          <a:xfrm xmlns:a="http://schemas.openxmlformats.org/drawingml/2006/main">
            <a:off x="876300" y="485775"/>
            <a:ext cx="2190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660" b="0" i="0">
                <a:solidFill>
                  <a:srgbClr val="5C6C67"/>
                </a:solidFill>
                <a:latin typeface="Lato"/>
                <a:ea typeface="Lato"/>
                <a:cs typeface="Lato"/>
              </a:defRPr>
            </a:pPr>
            <a:r>
              <a:rPr sz="660" b="0" i="0">
                <a:solidFill>
                  <a:srgbClr val="5C6C67"/>
                </a:solidFill>
                <a:latin typeface="Lato"/>
                <a:ea typeface="Lato"/>
                <a:cs typeface="Lato"/>
              </a:rPr>
              <a:t>Lunches</a:t>
            </a:r>
          </a:p>
        </p:txBody>
      </p:sp>
      <p:sp>
        <p:nvSpPr>
          <p:cNvPr id="4" name="">
            <a:extLst xmlns:a="http://schemas.openxmlformats.org/drawingml/2006/main">
              <a:ext uri="{FF2B5EF4-FFF2-40B4-BE49-F238E27FC236}">
                <a16:creationId xmlns:a16="http://schemas.microsoft.com/office/drawing/2014/main" id="{74461317-6D61-4B20-A632-DE1C9181C061}"/>
              </a:ext>
            </a:extLst>
          </p:cNvPr>
          <p:cNvSpPr>
            <a:spLocks xmlns:a="http://schemas.openxmlformats.org/drawingml/2006/main" noGrp="1"/>
          </p:cNvSpPr>
          <p:nvPr/>
        </p:nvSpPr>
        <p:spPr>
          <a:xfrm xmlns:a="http://schemas.openxmlformats.org/drawingml/2006/main">
            <a:off x="552450" y="714375"/>
            <a:ext cx="6667500" cy="0"/>
          </a:xfrm>
          <a:prstGeom xmlns:a="http://schemas.openxmlformats.org/drawingml/2006/main" prst="line">
            <a:avLst/>
          </a:prstGeom>
          <a:noFill xmlns:a="http://schemas.openxmlformats.org/drawingml/2006/main"/>
          <a:ln xmlns:a="http://schemas.openxmlformats.org/drawingml/2006/main" w="11430">
            <a:solidFill>
              <a:srgbClr val="D9E2DA"/>
            </a:solidFill>
            <a:prstDash val="solid"/>
          </a:ln>
        </p:spPr>
      </p:sp>
      <p:sp>
        <p:nvSpPr>
          <p:cNvPr id="5" name="">
            <a:extLst xmlns:a="http://schemas.openxmlformats.org/drawingml/2006/main">
              <a:ext uri="{FF2B5EF4-FFF2-40B4-BE49-F238E27FC236}">
                <a16:creationId xmlns:a16="http://schemas.microsoft.com/office/drawing/2014/main" id="{E1E2D15A-B20C-466F-B2F8-B8C31A3D80EF}"/>
              </a:ext>
            </a:extLst>
          </p:cNvPr>
          <p:cNvSpPr>
            <a:spLocks xmlns:a="http://schemas.openxmlformats.org/drawingml/2006/main" noGrp="1"/>
          </p:cNvSpPr>
          <p:nvPr/>
        </p:nvSpPr>
        <p:spPr>
          <a:xfrm xmlns:a="http://schemas.openxmlformats.org/drawingml/2006/main">
            <a:off x="552450" y="9610725"/>
            <a:ext cx="6667500" cy="0"/>
          </a:xfrm>
          <a:prstGeom xmlns:a="http://schemas.openxmlformats.org/drawingml/2006/main" prst="line">
            <a:avLst/>
          </a:prstGeom>
          <a:noFill xmlns:a="http://schemas.openxmlformats.org/drawingml/2006/main"/>
          <a:ln xmlns:a="http://schemas.openxmlformats.org/drawingml/2006/main" w="11430">
            <a:solidFill>
              <a:srgbClr val="D9E2DA"/>
            </a:solidFill>
            <a:prstDash val="solid"/>
          </a:ln>
        </p:spPr>
      </p:sp>
      <p:sp>
        <p:nvSpPr>
          <p:cNvPr id="6" name="">
            <a:extLst xmlns:a="http://schemas.openxmlformats.org/drawingml/2006/main">
              <a:ext uri="{FF2B5EF4-FFF2-40B4-BE49-F238E27FC236}">
                <a16:creationId xmlns:a16="http://schemas.microsoft.com/office/drawing/2014/main" id="{7FA5A445-05D1-4FC4-8B03-2E4C19B6860A}"/>
              </a:ext>
            </a:extLst>
          </p:cNvPr>
          <p:cNvSpPr>
            <a:spLocks xmlns:a="http://schemas.openxmlformats.org/drawingml/2006/main" noGrp="1"/>
          </p:cNvSpPr>
          <p:nvPr/>
        </p:nvSpPr>
        <p:spPr>
          <a:xfrm xmlns:a="http://schemas.openxmlformats.org/drawingml/2006/main">
            <a:off x="552450" y="9715500"/>
            <a:ext cx="1762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660" b="0" i="0">
                <a:solidFill>
                  <a:srgbClr val="5C6C67"/>
                </a:solidFill>
                <a:latin typeface="Lato"/>
                <a:ea typeface="Lato"/>
                <a:cs typeface="Lato"/>
              </a:defRPr>
            </a:pPr>
            <a:r>
              <a:rPr sz="660" b="0" i="0">
                <a:solidFill>
                  <a:srgbClr val="5C6C67"/>
                </a:solidFill>
                <a:latin typeface="Lato"/>
                <a:ea typeface="Lato"/>
                <a:cs typeface="Lato"/>
              </a:rPr>
              <a:t>Mindful Diabetes Inc.</a:t>
            </a:r>
          </a:p>
        </p:txBody>
      </p:sp>
      <p:sp>
        <p:nvSpPr>
          <p:cNvPr id="7" name="">
            <a:extLst xmlns:a="http://schemas.openxmlformats.org/drawingml/2006/main">
              <a:ext uri="{FF2B5EF4-FFF2-40B4-BE49-F238E27FC236}">
                <a16:creationId xmlns:a16="http://schemas.microsoft.com/office/drawing/2014/main" id="{B8C4B698-5C36-4FF7-ADE6-E2A63643E686}"/>
              </a:ext>
            </a:extLst>
          </p:cNvPr>
          <p:cNvSpPr>
            <a:spLocks xmlns:a="http://schemas.openxmlformats.org/drawingml/2006/main" noGrp="1"/>
          </p:cNvSpPr>
          <p:nvPr/>
        </p:nvSpPr>
        <p:spPr>
          <a:xfrm xmlns:a="http://schemas.openxmlformats.org/drawingml/2006/main">
            <a:off x="3162300" y="9715500"/>
            <a:ext cx="14763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lnSpc>
                <a:spcPct val="116000"/>
              </a:lnSpc>
              <a:buNone/>
              <a:defRPr sz="660" b="0" i="0">
                <a:solidFill>
                  <a:srgbClr val="5C6C67"/>
                </a:solidFill>
                <a:latin typeface="Lato"/>
                <a:ea typeface="Lato"/>
                <a:cs typeface="Lato"/>
              </a:defRPr>
            </a:pPr>
            <a:r>
              <a:rPr sz="660" b="0" i="0">
                <a:solidFill>
                  <a:srgbClr val="5C6C67"/>
                </a:solidFill>
                <a:latin typeface="Lato"/>
                <a:ea typeface="Lato"/>
                <a:cs typeface="Lato"/>
              </a:rPr>
              <a:t>mindfuldiabetes.org</a:t>
            </a:r>
          </a:p>
        </p:txBody>
      </p:sp>
      <p:sp>
        <p:nvSpPr>
          <p:cNvPr id="8" name="">
            <a:extLst xmlns:a="http://schemas.openxmlformats.org/drawingml/2006/main">
              <a:ext uri="{FF2B5EF4-FFF2-40B4-BE49-F238E27FC236}">
                <a16:creationId xmlns:a16="http://schemas.microsoft.com/office/drawing/2014/main" id="{ED972FD0-3A77-4618-91CE-77AE9A2E46C8}"/>
              </a:ext>
            </a:extLst>
          </p:cNvPr>
          <p:cNvSpPr>
            <a:spLocks xmlns:a="http://schemas.openxmlformats.org/drawingml/2006/main" noGrp="1"/>
          </p:cNvSpPr>
          <p:nvPr/>
        </p:nvSpPr>
        <p:spPr>
          <a:xfrm xmlns:a="http://schemas.openxmlformats.org/drawingml/2006/main">
            <a:off x="6886575" y="9715500"/>
            <a:ext cx="3333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r">
              <a:lnSpc>
                <a:spcPct val="116000"/>
              </a:lnSpc>
              <a:buNone/>
              <a:defRPr sz="660" b="0" i="0">
                <a:solidFill>
                  <a:srgbClr val="F26A2E"/>
                </a:solidFill>
                <a:latin typeface="Lato"/>
                <a:ea typeface="Lato"/>
                <a:cs typeface="Lato"/>
              </a:defRPr>
            </a:pPr>
            <a:r>
              <a:rPr sz="660" b="0" i="0">
                <a:solidFill>
                  <a:srgbClr val="F26A2E"/>
                </a:solidFill>
                <a:latin typeface="Lato"/>
                <a:ea typeface="Lato"/>
                <a:cs typeface="Lato"/>
              </a:rPr>
              <a:t>11</a:t>
            </a:r>
          </a:p>
        </p:txBody>
      </p:sp>
      <p:sp>
        <p:nvSpPr>
          <p:cNvPr id="9" name="">
            <a:extLst xmlns:a="http://schemas.openxmlformats.org/drawingml/2006/main">
              <a:ext uri="{FF2B5EF4-FFF2-40B4-BE49-F238E27FC236}">
                <a16:creationId xmlns:a16="http://schemas.microsoft.com/office/drawing/2014/main" id="{76416454-56F5-4DDF-9994-3CEBB36A9271}"/>
              </a:ext>
            </a:extLst>
          </p:cNvPr>
          <p:cNvSpPr>
            <a:spLocks xmlns:a="http://schemas.openxmlformats.org/drawingml/2006/main" noGrp="1"/>
          </p:cNvSpPr>
          <p:nvPr/>
        </p:nvSpPr>
        <p:spPr>
          <a:xfrm xmlns:a="http://schemas.openxmlformats.org/drawingml/2006/main">
            <a:off x="628650" y="790575"/>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900" b="1" i="0">
                <a:solidFill>
                  <a:srgbClr val="F26A2E"/>
                </a:solidFill>
                <a:latin typeface="Lato"/>
                <a:ea typeface="Lato"/>
                <a:cs typeface="Lato"/>
              </a:defRPr>
            </a:pPr>
            <a:r>
              <a:rPr sz="900" b="1" i="0">
                <a:solidFill>
                  <a:srgbClr val="F26A2E"/>
                </a:solidFill>
                <a:latin typeface="Lato"/>
                <a:ea typeface="Lato"/>
                <a:cs typeface="Lato"/>
              </a:rPr>
              <a:t>LUNCHES</a:t>
            </a:r>
          </a:p>
        </p:txBody>
      </p:sp>
      <p:sp>
        <p:nvSpPr>
          <p:cNvPr id="10" name="">
            <a:extLst xmlns:a="http://schemas.openxmlformats.org/drawingml/2006/main">
              <a:ext uri="{FF2B5EF4-FFF2-40B4-BE49-F238E27FC236}">
                <a16:creationId xmlns:a16="http://schemas.microsoft.com/office/drawing/2014/main" id="{2F455529-64AE-4D44-9181-C0165BC606E2}"/>
              </a:ext>
            </a:extLst>
          </p:cNvPr>
          <p:cNvSpPr>
            <a:spLocks xmlns:a="http://schemas.openxmlformats.org/drawingml/2006/main" noGrp="1"/>
          </p:cNvSpPr>
          <p:nvPr/>
        </p:nvSpPr>
        <p:spPr>
          <a:xfrm xmlns:a="http://schemas.openxmlformats.org/drawingml/2006/main">
            <a:off x="590550" y="1066800"/>
            <a:ext cx="619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03000"/>
              </a:lnSpc>
              <a:buNone/>
              <a:defRPr sz="2550" b="1" i="0">
                <a:solidFill>
                  <a:srgbClr val="192442"/>
                </a:solidFill>
                <a:latin typeface="Lora"/>
                <a:ea typeface="Lora"/>
                <a:cs typeface="Lora"/>
              </a:defRPr>
            </a:pPr>
            <a:r>
              <a:rPr sz="2550" b="1" i="0">
                <a:solidFill>
                  <a:srgbClr val="192442"/>
                </a:solidFill>
                <a:latin typeface="Lora"/>
                <a:ea typeface="Lora"/>
                <a:cs typeface="Lora"/>
              </a:rPr>
              <a:t>Lunches that do not require a fresh start</a:t>
            </a:r>
          </a:p>
        </p:txBody>
      </p:sp>
      <p:sp>
        <p:nvSpPr>
          <p:cNvPr id="11" name="">
            <a:extLst xmlns:a="http://schemas.openxmlformats.org/drawingml/2006/main">
              <a:ext uri="{FF2B5EF4-FFF2-40B4-BE49-F238E27FC236}">
                <a16:creationId xmlns:a16="http://schemas.microsoft.com/office/drawing/2014/main" id="{64296B6A-8764-4D31-9F85-3D8B3ADDE7E2}"/>
              </a:ext>
            </a:extLst>
          </p:cNvPr>
          <p:cNvSpPr>
            <a:spLocks xmlns:a="http://schemas.openxmlformats.org/drawingml/2006/main" noGrp="1"/>
          </p:cNvSpPr>
          <p:nvPr/>
        </p:nvSpPr>
        <p:spPr>
          <a:xfrm xmlns:a="http://schemas.openxmlformats.org/drawingml/2006/main">
            <a:off x="628650" y="1866900"/>
            <a:ext cx="6381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25000"/>
              </a:lnSpc>
              <a:buNone/>
              <a:defRPr sz="1125" b="0" i="0">
                <a:solidFill>
                  <a:srgbClr val="5C6C67"/>
                </a:solidFill>
                <a:latin typeface="Lato"/>
                <a:ea typeface="Lato"/>
                <a:cs typeface="Lato"/>
              </a:defRPr>
            </a:pPr>
            <a:r>
              <a:rPr sz="1125" b="0" i="0">
                <a:solidFill>
                  <a:srgbClr val="5C6C67"/>
                </a:solidFill>
                <a:latin typeface="Lato"/>
                <a:ea typeface="Lato"/>
                <a:cs typeface="Lato"/>
              </a:rPr>
              <a:t>Lunch often happens between work, caregiving, school, appointments, errands, or breaks. It does not need to be a recipe.</a:t>
            </a:r>
          </a:p>
        </p:txBody>
      </p:sp>
      <p:sp>
        <p:nvSpPr>
          <p:cNvPr id="12" name="">
            <a:extLst xmlns:a="http://schemas.openxmlformats.org/drawingml/2006/main">
              <a:ext uri="{FF2B5EF4-FFF2-40B4-BE49-F238E27FC236}">
                <a16:creationId xmlns:a16="http://schemas.microsoft.com/office/drawing/2014/main" id="{589AF016-6453-4B8F-B106-D4C112DBEF2E}"/>
              </a:ext>
            </a:extLst>
          </p:cNvPr>
          <p:cNvSpPr>
            <a:spLocks xmlns:a="http://schemas.openxmlformats.org/drawingml/2006/main" noGrp="1"/>
          </p:cNvSpPr>
          <p:nvPr/>
        </p:nvSpPr>
        <p:spPr>
          <a:xfrm xmlns:a="http://schemas.openxmlformats.org/drawingml/2006/main">
            <a:off x="628650" y="2724150"/>
            <a:ext cx="6515100" cy="7620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11430">
            <a:solidFill>
              <a:srgbClr val="D9E2DA"/>
            </a:solidFill>
            <a:prstDash val="solid"/>
          </a:ln>
        </p:spPr>
      </p:sp>
      <p:sp>
        <p:nvSpPr>
          <p:cNvPr id="13" name="">
            <a:extLst xmlns:a="http://schemas.openxmlformats.org/drawingml/2006/main">
              <a:ext uri="{FF2B5EF4-FFF2-40B4-BE49-F238E27FC236}">
                <a16:creationId xmlns:a16="http://schemas.microsoft.com/office/drawing/2014/main" id="{21292EC7-AD1D-4D91-BDC7-7F9584AD5CC0}"/>
              </a:ext>
            </a:extLst>
          </p:cNvPr>
          <p:cNvSpPr>
            <a:spLocks xmlns:a="http://schemas.openxmlformats.org/drawingml/2006/main" noGrp="1"/>
          </p:cNvSpPr>
          <p:nvPr/>
        </p:nvSpPr>
        <p:spPr>
          <a:xfrm xmlns:a="http://schemas.openxmlformats.org/drawingml/2006/main">
            <a:off x="781050" y="2914650"/>
            <a:ext cx="190500" cy="190500"/>
          </a:xfrm>
          <a:prstGeom xmlns:a="http://schemas.openxmlformats.org/drawingml/2006/main" prst="ellipse">
            <a:avLst/>
          </a:prstGeom>
          <a:solidFill xmlns:a="http://schemas.openxmlformats.org/drawingml/2006/main">
            <a:srgbClr val="E6F2EC"/>
          </a:solidFill>
          <a:ln xmlns:a="http://schemas.openxmlformats.org/drawingml/2006/main" w="11430">
            <a:solidFill>
              <a:srgbClr val="034B2F"/>
            </a:solidFill>
            <a:prstDash val="solid"/>
          </a:ln>
        </p:spPr>
      </p:sp>
      <p:sp>
        <p:nvSpPr>
          <p:cNvPr id="14" name="">
            <a:extLst xmlns:a="http://schemas.openxmlformats.org/drawingml/2006/main">
              <a:ext uri="{FF2B5EF4-FFF2-40B4-BE49-F238E27FC236}">
                <a16:creationId xmlns:a16="http://schemas.microsoft.com/office/drawing/2014/main" id="{3689AC42-BFF3-44EB-A467-7D4671D1A91C}"/>
              </a:ext>
            </a:extLst>
          </p:cNvPr>
          <p:cNvSpPr>
            <a:spLocks xmlns:a="http://schemas.openxmlformats.org/drawingml/2006/main" noGrp="1"/>
          </p:cNvSpPr>
          <p:nvPr/>
        </p:nvSpPr>
        <p:spPr>
          <a:xfrm xmlns:a="http://schemas.openxmlformats.org/drawingml/2006/main">
            <a:off x="1085850" y="2876550"/>
            <a:ext cx="590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1013" b="1" i="0">
                <a:solidFill>
                  <a:srgbClr val="192442"/>
                </a:solidFill>
                <a:latin typeface="Lato"/>
                <a:ea typeface="Lato"/>
                <a:cs typeface="Lato"/>
              </a:defRPr>
            </a:pPr>
            <a:r>
              <a:rPr sz="1013" b="1" i="0">
                <a:solidFill>
                  <a:srgbClr val="192442"/>
                </a:solidFill>
                <a:latin typeface="Lato"/>
                <a:ea typeface="Lato"/>
                <a:cs typeface="Lato"/>
              </a:rPr>
              <a:t>Balanced leftovers bowl</a:t>
            </a:r>
          </a:p>
        </p:txBody>
      </p:sp>
      <p:sp>
        <p:nvSpPr>
          <p:cNvPr id="15" name="">
            <a:extLst xmlns:a="http://schemas.openxmlformats.org/drawingml/2006/main">
              <a:ext uri="{FF2B5EF4-FFF2-40B4-BE49-F238E27FC236}">
                <a16:creationId xmlns:a16="http://schemas.microsoft.com/office/drawing/2014/main" id="{3E9982D4-2E95-499D-ABE7-2239EB563E3C}"/>
              </a:ext>
            </a:extLst>
          </p:cNvPr>
          <p:cNvSpPr>
            <a:spLocks xmlns:a="http://schemas.openxmlformats.org/drawingml/2006/main" noGrp="1"/>
          </p:cNvSpPr>
          <p:nvPr/>
        </p:nvSpPr>
        <p:spPr>
          <a:xfrm xmlns:a="http://schemas.openxmlformats.org/drawingml/2006/main">
            <a:off x="1085850" y="3095625"/>
            <a:ext cx="590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0000"/>
              </a:lnSpc>
              <a:buNone/>
              <a:defRPr sz="788" b="0" i="0">
                <a:solidFill>
                  <a:srgbClr val="5C6C67"/>
                </a:solidFill>
                <a:latin typeface="Lato"/>
                <a:ea typeface="Lato"/>
                <a:cs typeface="Lato"/>
              </a:defRPr>
            </a:pPr>
            <a:r>
              <a:rPr sz="788" b="0" i="0">
                <a:solidFill>
                  <a:srgbClr val="5C6C67"/>
                </a:solidFill>
                <a:latin typeface="Lato"/>
                <a:ea typeface="Lato"/>
                <a:cs typeface="Lato"/>
              </a:rPr>
              <a:t>greens, beans, rice, tofu, salsa</a:t>
            </a:r>
          </a:p>
        </p:txBody>
      </p:sp>
      <p:sp>
        <p:nvSpPr>
          <p:cNvPr id="16" name="">
            <a:extLst xmlns:a="http://schemas.openxmlformats.org/drawingml/2006/main">
              <a:ext uri="{FF2B5EF4-FFF2-40B4-BE49-F238E27FC236}">
                <a16:creationId xmlns:a16="http://schemas.microsoft.com/office/drawing/2014/main" id="{E1785281-3E2D-4EB9-99ED-1845D24594CC}"/>
              </a:ext>
            </a:extLst>
          </p:cNvPr>
          <p:cNvSpPr>
            <a:spLocks xmlns:a="http://schemas.openxmlformats.org/drawingml/2006/main" noGrp="1"/>
          </p:cNvSpPr>
          <p:nvPr/>
        </p:nvSpPr>
        <p:spPr>
          <a:xfrm xmlns:a="http://schemas.openxmlformats.org/drawingml/2006/main">
            <a:off x="628650" y="3657600"/>
            <a:ext cx="6515100" cy="7620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11430">
            <a:solidFill>
              <a:srgbClr val="D9E2DA"/>
            </a:solidFill>
            <a:prstDash val="solid"/>
          </a:ln>
        </p:spPr>
      </p:sp>
      <p:sp>
        <p:nvSpPr>
          <p:cNvPr id="17" name="">
            <a:extLst xmlns:a="http://schemas.openxmlformats.org/drawingml/2006/main">
              <a:ext uri="{FF2B5EF4-FFF2-40B4-BE49-F238E27FC236}">
                <a16:creationId xmlns:a16="http://schemas.microsoft.com/office/drawing/2014/main" id="{EE2B3610-BB72-41E4-BCE3-F4CE74D06B8B}"/>
              </a:ext>
            </a:extLst>
          </p:cNvPr>
          <p:cNvSpPr>
            <a:spLocks xmlns:a="http://schemas.openxmlformats.org/drawingml/2006/main" noGrp="1"/>
          </p:cNvSpPr>
          <p:nvPr/>
        </p:nvSpPr>
        <p:spPr>
          <a:xfrm xmlns:a="http://schemas.openxmlformats.org/drawingml/2006/main">
            <a:off x="781050" y="3848100"/>
            <a:ext cx="190500" cy="190500"/>
          </a:xfrm>
          <a:prstGeom xmlns:a="http://schemas.openxmlformats.org/drawingml/2006/main" prst="ellipse">
            <a:avLst/>
          </a:prstGeom>
          <a:solidFill xmlns:a="http://schemas.openxmlformats.org/drawingml/2006/main">
            <a:srgbClr val="EEF7FA"/>
          </a:solidFill>
          <a:ln xmlns:a="http://schemas.openxmlformats.org/drawingml/2006/main" w="11430">
            <a:solidFill>
              <a:srgbClr val="034B2F"/>
            </a:solidFill>
            <a:prstDash val="solid"/>
          </a:ln>
        </p:spPr>
      </p:sp>
      <p:sp>
        <p:nvSpPr>
          <p:cNvPr id="18" name="">
            <a:extLst xmlns:a="http://schemas.openxmlformats.org/drawingml/2006/main">
              <a:ext uri="{FF2B5EF4-FFF2-40B4-BE49-F238E27FC236}">
                <a16:creationId xmlns:a16="http://schemas.microsoft.com/office/drawing/2014/main" id="{3078FD78-1D8D-4C36-9ABF-FBA98534C6DF}"/>
              </a:ext>
            </a:extLst>
          </p:cNvPr>
          <p:cNvSpPr>
            <a:spLocks xmlns:a="http://schemas.openxmlformats.org/drawingml/2006/main" noGrp="1"/>
          </p:cNvSpPr>
          <p:nvPr/>
        </p:nvSpPr>
        <p:spPr>
          <a:xfrm xmlns:a="http://schemas.openxmlformats.org/drawingml/2006/main">
            <a:off x="1085850" y="3810000"/>
            <a:ext cx="590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1013" b="1" i="0">
                <a:solidFill>
                  <a:srgbClr val="192442"/>
                </a:solidFill>
                <a:latin typeface="Lato"/>
                <a:ea typeface="Lato"/>
                <a:cs typeface="Lato"/>
              </a:defRPr>
            </a:pPr>
            <a:r>
              <a:rPr sz="1013" b="1" i="0">
                <a:solidFill>
                  <a:srgbClr val="192442"/>
                </a:solidFill>
                <a:latin typeface="Lato"/>
                <a:ea typeface="Lato"/>
                <a:cs typeface="Lato"/>
              </a:rPr>
              <a:t>Sandwich</a:t>
            </a:r>
          </a:p>
        </p:txBody>
      </p:sp>
      <p:sp>
        <p:nvSpPr>
          <p:cNvPr id="19" name="">
            <a:extLst xmlns:a="http://schemas.openxmlformats.org/drawingml/2006/main">
              <a:ext uri="{FF2B5EF4-FFF2-40B4-BE49-F238E27FC236}">
                <a16:creationId xmlns:a16="http://schemas.microsoft.com/office/drawing/2014/main" id="{D0C08BCA-BE95-4293-8BBD-090F18EC2463}"/>
              </a:ext>
            </a:extLst>
          </p:cNvPr>
          <p:cNvSpPr>
            <a:spLocks xmlns:a="http://schemas.openxmlformats.org/drawingml/2006/main" noGrp="1"/>
          </p:cNvSpPr>
          <p:nvPr/>
        </p:nvSpPr>
        <p:spPr>
          <a:xfrm xmlns:a="http://schemas.openxmlformats.org/drawingml/2006/main">
            <a:off x="1085850" y="4029075"/>
            <a:ext cx="590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0000"/>
              </a:lnSpc>
              <a:buNone/>
              <a:defRPr sz="788" b="0" i="0">
                <a:solidFill>
                  <a:srgbClr val="5C6C67"/>
                </a:solidFill>
                <a:latin typeface="Lato"/>
                <a:ea typeface="Lato"/>
                <a:cs typeface="Lato"/>
              </a:defRPr>
            </a:pPr>
            <a:r>
              <a:rPr sz="788" b="0" i="0">
                <a:solidFill>
                  <a:srgbClr val="5C6C67"/>
                </a:solidFill>
                <a:latin typeface="Lato"/>
                <a:ea typeface="Lato"/>
                <a:cs typeface="Lato"/>
              </a:rPr>
              <a:t>whole-grain bread, hummus or turkey, vegetables</a:t>
            </a:r>
          </a:p>
        </p:txBody>
      </p:sp>
      <p:sp>
        <p:nvSpPr>
          <p:cNvPr id="20" name="">
            <a:extLst xmlns:a="http://schemas.openxmlformats.org/drawingml/2006/main">
              <a:ext uri="{FF2B5EF4-FFF2-40B4-BE49-F238E27FC236}">
                <a16:creationId xmlns:a16="http://schemas.microsoft.com/office/drawing/2014/main" id="{6845FD7A-1F92-4D8E-B264-FACC067E0751}"/>
              </a:ext>
            </a:extLst>
          </p:cNvPr>
          <p:cNvSpPr>
            <a:spLocks xmlns:a="http://schemas.openxmlformats.org/drawingml/2006/main" noGrp="1"/>
          </p:cNvSpPr>
          <p:nvPr/>
        </p:nvSpPr>
        <p:spPr>
          <a:xfrm xmlns:a="http://schemas.openxmlformats.org/drawingml/2006/main">
            <a:off x="628650" y="4591050"/>
            <a:ext cx="6515100" cy="7620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11430">
            <a:solidFill>
              <a:srgbClr val="D9E2DA"/>
            </a:solidFill>
            <a:prstDash val="solid"/>
          </a:ln>
        </p:spPr>
      </p:sp>
      <p:sp>
        <p:nvSpPr>
          <p:cNvPr id="21" name="">
            <a:extLst xmlns:a="http://schemas.openxmlformats.org/drawingml/2006/main">
              <a:ext uri="{FF2B5EF4-FFF2-40B4-BE49-F238E27FC236}">
                <a16:creationId xmlns:a16="http://schemas.microsoft.com/office/drawing/2014/main" id="{AF7452BA-CEA0-4341-994C-92CD454BA539}"/>
              </a:ext>
            </a:extLst>
          </p:cNvPr>
          <p:cNvSpPr>
            <a:spLocks xmlns:a="http://schemas.openxmlformats.org/drawingml/2006/main" noGrp="1"/>
          </p:cNvSpPr>
          <p:nvPr/>
        </p:nvSpPr>
        <p:spPr>
          <a:xfrm xmlns:a="http://schemas.openxmlformats.org/drawingml/2006/main">
            <a:off x="781050" y="4781550"/>
            <a:ext cx="190500" cy="190500"/>
          </a:xfrm>
          <a:prstGeom xmlns:a="http://schemas.openxmlformats.org/drawingml/2006/main" prst="ellipse">
            <a:avLst/>
          </a:prstGeom>
          <a:solidFill xmlns:a="http://schemas.openxmlformats.org/drawingml/2006/main">
            <a:srgbClr val="FCE4D8"/>
          </a:solidFill>
          <a:ln xmlns:a="http://schemas.openxmlformats.org/drawingml/2006/main" w="11430">
            <a:solidFill>
              <a:srgbClr val="034B2F"/>
            </a:solidFill>
            <a:prstDash val="solid"/>
          </a:ln>
        </p:spPr>
      </p:sp>
      <p:sp>
        <p:nvSpPr>
          <p:cNvPr id="22" name="">
            <a:extLst xmlns:a="http://schemas.openxmlformats.org/drawingml/2006/main">
              <a:ext uri="{FF2B5EF4-FFF2-40B4-BE49-F238E27FC236}">
                <a16:creationId xmlns:a16="http://schemas.microsoft.com/office/drawing/2014/main" id="{AC784727-E27B-41FD-A4B3-4A62D4DDF935}"/>
              </a:ext>
            </a:extLst>
          </p:cNvPr>
          <p:cNvSpPr>
            <a:spLocks xmlns:a="http://schemas.openxmlformats.org/drawingml/2006/main" noGrp="1"/>
          </p:cNvSpPr>
          <p:nvPr/>
        </p:nvSpPr>
        <p:spPr>
          <a:xfrm xmlns:a="http://schemas.openxmlformats.org/drawingml/2006/main">
            <a:off x="1085850" y="4743450"/>
            <a:ext cx="590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1013" b="1" i="0">
                <a:solidFill>
                  <a:srgbClr val="192442"/>
                </a:solidFill>
                <a:latin typeface="Lato"/>
                <a:ea typeface="Lato"/>
                <a:cs typeface="Lato"/>
              </a:defRPr>
            </a:pPr>
            <a:r>
              <a:rPr sz="1013" b="1" i="0">
                <a:solidFill>
                  <a:srgbClr val="192442"/>
                </a:solidFill>
                <a:latin typeface="Lato"/>
                <a:ea typeface="Lato"/>
                <a:cs typeface="Lato"/>
              </a:rPr>
              <a:t>Soup</a:t>
            </a:r>
          </a:p>
        </p:txBody>
      </p:sp>
      <p:sp>
        <p:nvSpPr>
          <p:cNvPr id="23" name="">
            <a:extLst xmlns:a="http://schemas.openxmlformats.org/drawingml/2006/main">
              <a:ext uri="{FF2B5EF4-FFF2-40B4-BE49-F238E27FC236}">
                <a16:creationId xmlns:a16="http://schemas.microsoft.com/office/drawing/2014/main" id="{7334FDC6-3E2F-4B1F-A682-71A540CF6385}"/>
              </a:ext>
            </a:extLst>
          </p:cNvPr>
          <p:cNvSpPr>
            <a:spLocks xmlns:a="http://schemas.openxmlformats.org/drawingml/2006/main" noGrp="1"/>
          </p:cNvSpPr>
          <p:nvPr/>
        </p:nvSpPr>
        <p:spPr>
          <a:xfrm xmlns:a="http://schemas.openxmlformats.org/drawingml/2006/main">
            <a:off x="1085850" y="4962525"/>
            <a:ext cx="590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0000"/>
              </a:lnSpc>
              <a:buNone/>
              <a:defRPr sz="788" b="0" i="0">
                <a:solidFill>
                  <a:srgbClr val="5C6C67"/>
                </a:solidFill>
                <a:latin typeface="Lato"/>
                <a:ea typeface="Lato"/>
                <a:cs typeface="Lato"/>
              </a:defRPr>
            </a:pPr>
            <a:r>
              <a:rPr sz="788" b="0" i="0">
                <a:solidFill>
                  <a:srgbClr val="5C6C67"/>
                </a:solidFill>
                <a:latin typeface="Lato"/>
                <a:ea typeface="Lato"/>
                <a:cs typeface="Lato"/>
              </a:rPr>
              <a:t>lentil soup, vegetables, fruit</a:t>
            </a:r>
          </a:p>
        </p:txBody>
      </p:sp>
      <p:sp>
        <p:nvSpPr>
          <p:cNvPr id="24" name="">
            <a:extLst xmlns:a="http://schemas.openxmlformats.org/drawingml/2006/main">
              <a:ext uri="{FF2B5EF4-FFF2-40B4-BE49-F238E27FC236}">
                <a16:creationId xmlns:a16="http://schemas.microsoft.com/office/drawing/2014/main" id="{4117A4B6-8C49-4DEB-AC7F-F42C69324563}"/>
              </a:ext>
            </a:extLst>
          </p:cNvPr>
          <p:cNvSpPr>
            <a:spLocks xmlns:a="http://schemas.openxmlformats.org/drawingml/2006/main" noGrp="1"/>
          </p:cNvSpPr>
          <p:nvPr/>
        </p:nvSpPr>
        <p:spPr>
          <a:xfrm xmlns:a="http://schemas.openxmlformats.org/drawingml/2006/main">
            <a:off x="628650" y="5524500"/>
            <a:ext cx="6515100" cy="7620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11430">
            <a:solidFill>
              <a:srgbClr val="D9E2DA"/>
            </a:solidFill>
            <a:prstDash val="solid"/>
          </a:ln>
        </p:spPr>
      </p:sp>
      <p:sp>
        <p:nvSpPr>
          <p:cNvPr id="25" name="">
            <a:extLst xmlns:a="http://schemas.openxmlformats.org/drawingml/2006/main">
              <a:ext uri="{FF2B5EF4-FFF2-40B4-BE49-F238E27FC236}">
                <a16:creationId xmlns:a16="http://schemas.microsoft.com/office/drawing/2014/main" id="{A165EED6-E342-49BA-8ECB-F2807652C257}"/>
              </a:ext>
            </a:extLst>
          </p:cNvPr>
          <p:cNvSpPr>
            <a:spLocks xmlns:a="http://schemas.openxmlformats.org/drawingml/2006/main" noGrp="1"/>
          </p:cNvSpPr>
          <p:nvPr/>
        </p:nvSpPr>
        <p:spPr>
          <a:xfrm xmlns:a="http://schemas.openxmlformats.org/drawingml/2006/main">
            <a:off x="781050" y="5715000"/>
            <a:ext cx="190500" cy="190500"/>
          </a:xfrm>
          <a:prstGeom xmlns:a="http://schemas.openxmlformats.org/drawingml/2006/main" prst="ellipse">
            <a:avLst/>
          </a:prstGeom>
          <a:solidFill xmlns:a="http://schemas.openxmlformats.org/drawingml/2006/main">
            <a:srgbClr val="E6F2EC"/>
          </a:solidFill>
          <a:ln xmlns:a="http://schemas.openxmlformats.org/drawingml/2006/main" w="11430">
            <a:solidFill>
              <a:srgbClr val="034B2F"/>
            </a:solidFill>
            <a:prstDash val="solid"/>
          </a:ln>
        </p:spPr>
      </p:sp>
      <p:sp>
        <p:nvSpPr>
          <p:cNvPr id="26" name="">
            <a:extLst xmlns:a="http://schemas.openxmlformats.org/drawingml/2006/main">
              <a:ext uri="{FF2B5EF4-FFF2-40B4-BE49-F238E27FC236}">
                <a16:creationId xmlns:a16="http://schemas.microsoft.com/office/drawing/2014/main" id="{0951C4C5-726D-44BF-809E-B1F2E096B3B9}"/>
              </a:ext>
            </a:extLst>
          </p:cNvPr>
          <p:cNvSpPr>
            <a:spLocks xmlns:a="http://schemas.openxmlformats.org/drawingml/2006/main" noGrp="1"/>
          </p:cNvSpPr>
          <p:nvPr/>
        </p:nvSpPr>
        <p:spPr>
          <a:xfrm xmlns:a="http://schemas.openxmlformats.org/drawingml/2006/main">
            <a:off x="1085850" y="5676900"/>
            <a:ext cx="590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1013" b="1" i="0">
                <a:solidFill>
                  <a:srgbClr val="192442"/>
                </a:solidFill>
                <a:latin typeface="Lato"/>
                <a:ea typeface="Lato"/>
                <a:cs typeface="Lato"/>
              </a:defRPr>
            </a:pPr>
            <a:r>
              <a:rPr sz="1013" b="1" i="0">
                <a:solidFill>
                  <a:srgbClr val="192442"/>
                </a:solidFill>
                <a:latin typeface="Lato"/>
                <a:ea typeface="Lato"/>
                <a:cs typeface="Lato"/>
              </a:rPr>
              <a:t>No-cook</a:t>
            </a:r>
          </a:p>
        </p:txBody>
      </p:sp>
      <p:sp>
        <p:nvSpPr>
          <p:cNvPr id="27" name="">
            <a:extLst xmlns:a="http://schemas.openxmlformats.org/drawingml/2006/main">
              <a:ext uri="{FF2B5EF4-FFF2-40B4-BE49-F238E27FC236}">
                <a16:creationId xmlns:a16="http://schemas.microsoft.com/office/drawing/2014/main" id="{3A7646AE-6A39-409E-BDC6-73891BDD1AC0}"/>
              </a:ext>
            </a:extLst>
          </p:cNvPr>
          <p:cNvSpPr>
            <a:spLocks xmlns:a="http://schemas.openxmlformats.org/drawingml/2006/main" noGrp="1"/>
          </p:cNvSpPr>
          <p:nvPr/>
        </p:nvSpPr>
        <p:spPr>
          <a:xfrm xmlns:a="http://schemas.openxmlformats.org/drawingml/2006/main">
            <a:off x="1085850" y="5895975"/>
            <a:ext cx="590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0000"/>
              </a:lnSpc>
              <a:buNone/>
              <a:defRPr sz="788" b="0" i="0">
                <a:solidFill>
                  <a:srgbClr val="5C6C67"/>
                </a:solidFill>
                <a:latin typeface="Lato"/>
                <a:ea typeface="Lato"/>
                <a:cs typeface="Lato"/>
              </a:defRPr>
            </a:pPr>
            <a:r>
              <a:rPr sz="788" b="0" i="0">
                <a:solidFill>
                  <a:srgbClr val="5C6C67"/>
                </a:solidFill>
                <a:latin typeface="Lato"/>
                <a:ea typeface="Lato"/>
                <a:cs typeface="Lato"/>
              </a:rPr>
              <a:t>tuna, crackers, cucumber, fruit</a:t>
            </a:r>
          </a:p>
        </p:txBody>
      </p:sp>
      <p:sp>
        <p:nvSpPr>
          <p:cNvPr id="28" name="">
            <a:extLst xmlns:a="http://schemas.openxmlformats.org/drawingml/2006/main">
              <a:ext uri="{FF2B5EF4-FFF2-40B4-BE49-F238E27FC236}">
                <a16:creationId xmlns:a16="http://schemas.microsoft.com/office/drawing/2014/main" id="{46B06682-F36A-4A16-B6D3-6F91B16C80DB}"/>
              </a:ext>
            </a:extLst>
          </p:cNvPr>
          <p:cNvSpPr>
            <a:spLocks xmlns:a="http://schemas.openxmlformats.org/drawingml/2006/main" noGrp="1"/>
          </p:cNvSpPr>
          <p:nvPr/>
        </p:nvSpPr>
        <p:spPr>
          <a:xfrm xmlns:a="http://schemas.openxmlformats.org/drawingml/2006/main">
            <a:off x="628650" y="6457950"/>
            <a:ext cx="6515100" cy="7620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11430">
            <a:solidFill>
              <a:srgbClr val="D9E2DA"/>
            </a:solidFill>
            <a:prstDash val="solid"/>
          </a:ln>
        </p:spPr>
      </p:sp>
      <p:sp>
        <p:nvSpPr>
          <p:cNvPr id="29" name="">
            <a:extLst xmlns:a="http://schemas.openxmlformats.org/drawingml/2006/main">
              <a:ext uri="{FF2B5EF4-FFF2-40B4-BE49-F238E27FC236}">
                <a16:creationId xmlns:a16="http://schemas.microsoft.com/office/drawing/2014/main" id="{800963BE-4C8C-4F48-B865-013A935A3035}"/>
              </a:ext>
            </a:extLst>
          </p:cNvPr>
          <p:cNvSpPr>
            <a:spLocks xmlns:a="http://schemas.openxmlformats.org/drawingml/2006/main" noGrp="1"/>
          </p:cNvSpPr>
          <p:nvPr/>
        </p:nvSpPr>
        <p:spPr>
          <a:xfrm xmlns:a="http://schemas.openxmlformats.org/drawingml/2006/main">
            <a:off x="781050" y="6648450"/>
            <a:ext cx="190500" cy="190500"/>
          </a:xfrm>
          <a:prstGeom xmlns:a="http://schemas.openxmlformats.org/drawingml/2006/main" prst="ellipse">
            <a:avLst/>
          </a:prstGeom>
          <a:solidFill xmlns:a="http://schemas.openxmlformats.org/drawingml/2006/main">
            <a:srgbClr val="EEF7FA"/>
          </a:solidFill>
          <a:ln xmlns:a="http://schemas.openxmlformats.org/drawingml/2006/main" w="11430">
            <a:solidFill>
              <a:srgbClr val="034B2F"/>
            </a:solidFill>
            <a:prstDash val="solid"/>
          </a:ln>
        </p:spPr>
      </p:sp>
      <p:sp>
        <p:nvSpPr>
          <p:cNvPr id="30" name="">
            <a:extLst xmlns:a="http://schemas.openxmlformats.org/drawingml/2006/main">
              <a:ext uri="{FF2B5EF4-FFF2-40B4-BE49-F238E27FC236}">
                <a16:creationId xmlns:a16="http://schemas.microsoft.com/office/drawing/2014/main" id="{DF37CA40-51B7-4B06-A435-D3DBB06DAEEE}"/>
              </a:ext>
            </a:extLst>
          </p:cNvPr>
          <p:cNvSpPr>
            <a:spLocks xmlns:a="http://schemas.openxmlformats.org/drawingml/2006/main" noGrp="1"/>
          </p:cNvSpPr>
          <p:nvPr/>
        </p:nvSpPr>
        <p:spPr>
          <a:xfrm xmlns:a="http://schemas.openxmlformats.org/drawingml/2006/main">
            <a:off x="1085850" y="6610350"/>
            <a:ext cx="590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1013" b="1" i="0">
                <a:solidFill>
                  <a:srgbClr val="192442"/>
                </a:solidFill>
                <a:latin typeface="Lato"/>
                <a:ea typeface="Lato"/>
                <a:cs typeface="Lato"/>
              </a:defRPr>
            </a:pPr>
            <a:r>
              <a:rPr sz="1013" b="1" i="0">
                <a:solidFill>
                  <a:srgbClr val="192442"/>
                </a:solidFill>
                <a:latin typeface="Lato"/>
                <a:ea typeface="Lato"/>
                <a:cs typeface="Lato"/>
              </a:rPr>
              <a:t>Greens upgrade</a:t>
            </a:r>
          </a:p>
        </p:txBody>
      </p:sp>
      <p:sp>
        <p:nvSpPr>
          <p:cNvPr id="31" name="">
            <a:extLst xmlns:a="http://schemas.openxmlformats.org/drawingml/2006/main">
              <a:ext uri="{FF2B5EF4-FFF2-40B4-BE49-F238E27FC236}">
                <a16:creationId xmlns:a16="http://schemas.microsoft.com/office/drawing/2014/main" id="{1A58D034-5C60-4685-BB58-3A3C24ACD18F}"/>
              </a:ext>
            </a:extLst>
          </p:cNvPr>
          <p:cNvSpPr>
            <a:spLocks xmlns:a="http://schemas.openxmlformats.org/drawingml/2006/main" noGrp="1"/>
          </p:cNvSpPr>
          <p:nvPr/>
        </p:nvSpPr>
        <p:spPr>
          <a:xfrm xmlns:a="http://schemas.openxmlformats.org/drawingml/2006/main">
            <a:off x="1085850" y="6829425"/>
            <a:ext cx="590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0000"/>
              </a:lnSpc>
              <a:buNone/>
              <a:defRPr sz="788" b="0" i="0">
                <a:solidFill>
                  <a:srgbClr val="5C6C67"/>
                </a:solidFill>
                <a:latin typeface="Lato"/>
                <a:ea typeface="Lato"/>
                <a:cs typeface="Lato"/>
              </a:defRPr>
            </a:pPr>
            <a:r>
              <a:rPr sz="788" b="0" i="0">
                <a:solidFill>
                  <a:srgbClr val="5C6C67"/>
                </a:solidFill>
                <a:latin typeface="Lato"/>
                <a:ea typeface="Lato"/>
                <a:cs typeface="Lato"/>
              </a:rPr>
              <a:t>leftovers plus greens and beans</a:t>
            </a:r>
          </a:p>
        </p:txBody>
      </p:sp>
      <p:sp>
        <p:nvSpPr>
          <p:cNvPr id="32" name="">
            <a:extLst xmlns:a="http://schemas.openxmlformats.org/drawingml/2006/main">
              <a:ext uri="{FF2B5EF4-FFF2-40B4-BE49-F238E27FC236}">
                <a16:creationId xmlns:a16="http://schemas.microsoft.com/office/drawing/2014/main" id="{59375105-A5D4-417A-8B34-1C1D805E813A}"/>
              </a:ext>
            </a:extLst>
          </p:cNvPr>
          <p:cNvSpPr>
            <a:spLocks xmlns:a="http://schemas.openxmlformats.org/drawingml/2006/main" noGrp="1"/>
          </p:cNvSpPr>
          <p:nvPr/>
        </p:nvSpPr>
        <p:spPr>
          <a:xfrm xmlns:a="http://schemas.openxmlformats.org/drawingml/2006/main">
            <a:off x="628650" y="8267700"/>
            <a:ext cx="6515100" cy="647700"/>
          </a:xfrm>
          <a:prstGeom xmlns:a="http://schemas.openxmlformats.org/drawingml/2006/main" prst="roundRect">
            <a:avLst>
              <a:gd name="adj" fmla="val 14706"/>
            </a:avLst>
          </a:prstGeom>
          <a:solidFill xmlns:a="http://schemas.openxmlformats.org/drawingml/2006/main">
            <a:srgbClr val="E6F2EC"/>
          </a:solidFill>
          <a:ln xmlns:a="http://schemas.openxmlformats.org/drawingml/2006/main" w="11430">
            <a:solidFill>
              <a:srgbClr val="B8D8C8"/>
            </a:solidFill>
            <a:prstDash val="solid"/>
          </a:ln>
        </p:spPr>
      </p:sp>
      <p:sp>
        <p:nvSpPr>
          <p:cNvPr id="33" name="">
            <a:extLst xmlns:a="http://schemas.openxmlformats.org/drawingml/2006/main">
              <a:ext uri="{FF2B5EF4-FFF2-40B4-BE49-F238E27FC236}">
                <a16:creationId xmlns:a16="http://schemas.microsoft.com/office/drawing/2014/main" id="{6358DC95-F24F-476A-BAAA-F90E90CF0A81}"/>
              </a:ext>
            </a:extLst>
          </p:cNvPr>
          <p:cNvSpPr>
            <a:spLocks xmlns:a="http://schemas.openxmlformats.org/drawingml/2006/main" noGrp="1"/>
          </p:cNvSpPr>
          <p:nvPr/>
        </p:nvSpPr>
        <p:spPr>
          <a:xfrm xmlns:a="http://schemas.openxmlformats.org/drawingml/2006/main">
            <a:off x="790575" y="84010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975" b="1" i="0">
                <a:solidFill>
                  <a:srgbClr val="034B2F"/>
                </a:solidFill>
                <a:latin typeface="Lato"/>
                <a:ea typeface="Lato"/>
                <a:cs typeface="Lato"/>
              </a:defRPr>
            </a:pPr>
            <a:r>
              <a:rPr sz="975" b="1" i="0">
                <a:solidFill>
                  <a:srgbClr val="034B2F"/>
                </a:solidFill>
                <a:latin typeface="Lato"/>
                <a:ea typeface="Lato"/>
                <a:cs typeface="Lato"/>
              </a:rPr>
              <a:t>Restaurant note</a:t>
            </a:r>
          </a:p>
        </p:txBody>
      </p:sp>
      <p:sp>
        <p:nvSpPr>
          <p:cNvPr id="34" name="">
            <a:extLst xmlns:a="http://schemas.openxmlformats.org/drawingml/2006/main">
              <a:ext uri="{FF2B5EF4-FFF2-40B4-BE49-F238E27FC236}">
                <a16:creationId xmlns:a16="http://schemas.microsoft.com/office/drawing/2014/main" id="{EFA0078D-8C06-43E9-96B6-01ECD193AF52}"/>
              </a:ext>
            </a:extLst>
          </p:cNvPr>
          <p:cNvSpPr>
            <a:spLocks xmlns:a="http://schemas.openxmlformats.org/drawingml/2006/main" noGrp="1"/>
          </p:cNvSpPr>
          <p:nvPr/>
        </p:nvSpPr>
        <p:spPr>
          <a:xfrm xmlns:a="http://schemas.openxmlformats.org/drawingml/2006/main">
            <a:off x="790575" y="8667750"/>
            <a:ext cx="6191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7000"/>
              </a:lnSpc>
              <a:buNone/>
              <a:defRPr sz="900" b="0" i="0">
                <a:solidFill>
                  <a:srgbClr val="16211D"/>
                </a:solidFill>
                <a:latin typeface="Lato"/>
                <a:ea typeface="Lato"/>
                <a:cs typeface="Lato"/>
              </a:defRPr>
            </a:pPr>
            <a:r>
              <a:rPr sz="900" b="0" i="0">
                <a:solidFill>
                  <a:srgbClr val="16211D"/>
                </a:solidFill>
                <a:latin typeface="Lato"/>
                <a:ea typeface="Lato"/>
                <a:cs typeface="Lato"/>
              </a:rPr>
              <a:t>Choose one adjustment: add vegetables, choose water, share fries, or save part for later.</a:t>
            </a:r>
          </a:p>
        </p:txBody>
      </p:sp>
    </p:spTree>
    <p:extLst>
      <p:ext uri="{BB962C8B-B14F-4D97-AF65-F5344CB8AC3E}">
        <p14:creationId xmlns:p14="http://schemas.microsoft.com/office/powerpoint/2010/main" val="944866227"/>
      </p:ext>
    </p:extLst>
  </p:cSld>
</p:sld>
</file>

<file path=ppt/slides/slide12.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d58c3f9102894277"/>
          <a:srcRect xmlns:a="http://schemas.openxmlformats.org/drawingml/2006/main" l="699" t="0" r="699" b="0"/>
          <a:stretch xmlns:a="http://schemas.openxmlformats.org/drawingml/2006/main">
            <a:fillRect l="0" t="0" r="0" b="0"/>
          </a:stretch>
        </p:blipFill>
        <p:spPr>
          <a:xfrm xmlns:a="http://schemas.openxmlformats.org/drawingml/2006/main">
            <a:off x="552450" y="285750"/>
            <a:ext cx="257175" cy="276225"/>
          </a:xfrm>
          <a:prstGeom xmlns:a="http://schemas.openxmlformats.org/drawingml/2006/main" prst="roundRect">
            <a:avLst>
              <a:gd name="adj" fmla="val 29630"/>
            </a:avLst>
          </a:prstGeom>
        </p:spPr>
      </p:pic>
      <p:sp>
        <p:nvSpPr>
          <p:cNvPr id="2" name="">
            <a:extLst xmlns:a="http://schemas.openxmlformats.org/drawingml/2006/main">
              <a:ext uri="{FF2B5EF4-FFF2-40B4-BE49-F238E27FC236}">
                <a16:creationId xmlns:a16="http://schemas.microsoft.com/office/drawing/2014/main" id="{447B9713-4123-4538-A2A1-5B806F7E6C85}"/>
              </a:ext>
            </a:extLst>
          </p:cNvPr>
          <p:cNvSpPr>
            <a:spLocks xmlns:a="http://schemas.openxmlformats.org/drawingml/2006/main" noGrp="1"/>
          </p:cNvSpPr>
          <p:nvPr/>
        </p:nvSpPr>
        <p:spPr>
          <a:xfrm xmlns:a="http://schemas.openxmlformats.org/drawingml/2006/main">
            <a:off x="876300" y="3333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788" b="1" i="0">
                <a:solidFill>
                  <a:srgbClr val="034B2F"/>
                </a:solidFill>
                <a:latin typeface="Lora"/>
                <a:ea typeface="Lora"/>
                <a:cs typeface="Lora"/>
              </a:defRPr>
            </a:pPr>
            <a:r>
              <a:rPr sz="788" b="1" i="0">
                <a:solidFill>
                  <a:srgbClr val="034B2F"/>
                </a:solidFill>
                <a:latin typeface="Lora"/>
                <a:ea typeface="Lora"/>
                <a:cs typeface="Lora"/>
              </a:rPr>
              <a:t>The Mindful Plate</a:t>
            </a:r>
          </a:p>
        </p:txBody>
      </p:sp>
      <p:sp>
        <p:nvSpPr>
          <p:cNvPr id="3" name="">
            <a:extLst xmlns:a="http://schemas.openxmlformats.org/drawingml/2006/main">
              <a:ext uri="{FF2B5EF4-FFF2-40B4-BE49-F238E27FC236}">
                <a16:creationId xmlns:a16="http://schemas.microsoft.com/office/drawing/2014/main" id="{262ED85B-B4D5-4564-A3F4-024F3C9342C1}"/>
              </a:ext>
            </a:extLst>
          </p:cNvPr>
          <p:cNvSpPr>
            <a:spLocks xmlns:a="http://schemas.openxmlformats.org/drawingml/2006/main" noGrp="1"/>
          </p:cNvSpPr>
          <p:nvPr/>
        </p:nvSpPr>
        <p:spPr>
          <a:xfrm xmlns:a="http://schemas.openxmlformats.org/drawingml/2006/main">
            <a:off x="876300" y="485775"/>
            <a:ext cx="2190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660" b="0" i="0">
                <a:solidFill>
                  <a:srgbClr val="5C6C67"/>
                </a:solidFill>
                <a:latin typeface="Lato"/>
                <a:ea typeface="Lato"/>
                <a:cs typeface="Lato"/>
              </a:defRPr>
            </a:pPr>
            <a:r>
              <a:rPr sz="660" b="0" i="0">
                <a:solidFill>
                  <a:srgbClr val="5C6C67"/>
                </a:solidFill>
                <a:latin typeface="Lato"/>
                <a:ea typeface="Lato"/>
                <a:cs typeface="Lato"/>
              </a:rPr>
              <a:t>Dinners</a:t>
            </a:r>
          </a:p>
        </p:txBody>
      </p:sp>
      <p:sp>
        <p:nvSpPr>
          <p:cNvPr id="4" name="">
            <a:extLst xmlns:a="http://schemas.openxmlformats.org/drawingml/2006/main">
              <a:ext uri="{FF2B5EF4-FFF2-40B4-BE49-F238E27FC236}">
                <a16:creationId xmlns:a16="http://schemas.microsoft.com/office/drawing/2014/main" id="{C1E13BA3-BA5C-431E-B7B2-9EAD365FFA7C}"/>
              </a:ext>
            </a:extLst>
          </p:cNvPr>
          <p:cNvSpPr>
            <a:spLocks xmlns:a="http://schemas.openxmlformats.org/drawingml/2006/main" noGrp="1"/>
          </p:cNvSpPr>
          <p:nvPr/>
        </p:nvSpPr>
        <p:spPr>
          <a:xfrm xmlns:a="http://schemas.openxmlformats.org/drawingml/2006/main">
            <a:off x="552450" y="714375"/>
            <a:ext cx="6667500" cy="0"/>
          </a:xfrm>
          <a:prstGeom xmlns:a="http://schemas.openxmlformats.org/drawingml/2006/main" prst="line">
            <a:avLst/>
          </a:prstGeom>
          <a:noFill xmlns:a="http://schemas.openxmlformats.org/drawingml/2006/main"/>
          <a:ln xmlns:a="http://schemas.openxmlformats.org/drawingml/2006/main" w="11430">
            <a:solidFill>
              <a:srgbClr val="D9E2DA"/>
            </a:solidFill>
            <a:prstDash val="solid"/>
          </a:ln>
        </p:spPr>
      </p:sp>
      <p:sp>
        <p:nvSpPr>
          <p:cNvPr id="5" name="">
            <a:extLst xmlns:a="http://schemas.openxmlformats.org/drawingml/2006/main">
              <a:ext uri="{FF2B5EF4-FFF2-40B4-BE49-F238E27FC236}">
                <a16:creationId xmlns:a16="http://schemas.microsoft.com/office/drawing/2014/main" id="{A241AE09-4CC7-46DD-87C1-5CA431367222}"/>
              </a:ext>
            </a:extLst>
          </p:cNvPr>
          <p:cNvSpPr>
            <a:spLocks xmlns:a="http://schemas.openxmlformats.org/drawingml/2006/main" noGrp="1"/>
          </p:cNvSpPr>
          <p:nvPr/>
        </p:nvSpPr>
        <p:spPr>
          <a:xfrm xmlns:a="http://schemas.openxmlformats.org/drawingml/2006/main">
            <a:off x="552450" y="9610725"/>
            <a:ext cx="6667500" cy="0"/>
          </a:xfrm>
          <a:prstGeom xmlns:a="http://schemas.openxmlformats.org/drawingml/2006/main" prst="line">
            <a:avLst/>
          </a:prstGeom>
          <a:noFill xmlns:a="http://schemas.openxmlformats.org/drawingml/2006/main"/>
          <a:ln xmlns:a="http://schemas.openxmlformats.org/drawingml/2006/main" w="11430">
            <a:solidFill>
              <a:srgbClr val="D9E2DA"/>
            </a:solidFill>
            <a:prstDash val="solid"/>
          </a:ln>
        </p:spPr>
      </p:sp>
      <p:sp>
        <p:nvSpPr>
          <p:cNvPr id="6" name="">
            <a:extLst xmlns:a="http://schemas.openxmlformats.org/drawingml/2006/main">
              <a:ext uri="{FF2B5EF4-FFF2-40B4-BE49-F238E27FC236}">
                <a16:creationId xmlns:a16="http://schemas.microsoft.com/office/drawing/2014/main" id="{DC926777-E992-4ACE-B143-524CFC05B505}"/>
              </a:ext>
            </a:extLst>
          </p:cNvPr>
          <p:cNvSpPr>
            <a:spLocks xmlns:a="http://schemas.openxmlformats.org/drawingml/2006/main" noGrp="1"/>
          </p:cNvSpPr>
          <p:nvPr/>
        </p:nvSpPr>
        <p:spPr>
          <a:xfrm xmlns:a="http://schemas.openxmlformats.org/drawingml/2006/main">
            <a:off x="552450" y="9715500"/>
            <a:ext cx="1762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660" b="0" i="0">
                <a:solidFill>
                  <a:srgbClr val="5C6C67"/>
                </a:solidFill>
                <a:latin typeface="Lato"/>
                <a:ea typeface="Lato"/>
                <a:cs typeface="Lato"/>
              </a:defRPr>
            </a:pPr>
            <a:r>
              <a:rPr sz="660" b="0" i="0">
                <a:solidFill>
                  <a:srgbClr val="5C6C67"/>
                </a:solidFill>
                <a:latin typeface="Lato"/>
                <a:ea typeface="Lato"/>
                <a:cs typeface="Lato"/>
              </a:rPr>
              <a:t>Mindful Diabetes Inc.</a:t>
            </a:r>
          </a:p>
        </p:txBody>
      </p:sp>
      <p:sp>
        <p:nvSpPr>
          <p:cNvPr id="7" name="">
            <a:extLst xmlns:a="http://schemas.openxmlformats.org/drawingml/2006/main">
              <a:ext uri="{FF2B5EF4-FFF2-40B4-BE49-F238E27FC236}">
                <a16:creationId xmlns:a16="http://schemas.microsoft.com/office/drawing/2014/main" id="{2C8B5081-8C52-4F6D-A2A1-BA7101EFE9C6}"/>
              </a:ext>
            </a:extLst>
          </p:cNvPr>
          <p:cNvSpPr>
            <a:spLocks xmlns:a="http://schemas.openxmlformats.org/drawingml/2006/main" noGrp="1"/>
          </p:cNvSpPr>
          <p:nvPr/>
        </p:nvSpPr>
        <p:spPr>
          <a:xfrm xmlns:a="http://schemas.openxmlformats.org/drawingml/2006/main">
            <a:off x="3162300" y="9715500"/>
            <a:ext cx="14763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lnSpc>
                <a:spcPct val="116000"/>
              </a:lnSpc>
              <a:buNone/>
              <a:defRPr sz="660" b="0" i="0">
                <a:solidFill>
                  <a:srgbClr val="5C6C67"/>
                </a:solidFill>
                <a:latin typeface="Lato"/>
                <a:ea typeface="Lato"/>
                <a:cs typeface="Lato"/>
              </a:defRPr>
            </a:pPr>
            <a:r>
              <a:rPr sz="660" b="0" i="0">
                <a:solidFill>
                  <a:srgbClr val="5C6C67"/>
                </a:solidFill>
                <a:latin typeface="Lato"/>
                <a:ea typeface="Lato"/>
                <a:cs typeface="Lato"/>
              </a:rPr>
              <a:t>mindfuldiabetes.org</a:t>
            </a:r>
          </a:p>
        </p:txBody>
      </p:sp>
      <p:sp>
        <p:nvSpPr>
          <p:cNvPr id="8" name="">
            <a:extLst xmlns:a="http://schemas.openxmlformats.org/drawingml/2006/main">
              <a:ext uri="{FF2B5EF4-FFF2-40B4-BE49-F238E27FC236}">
                <a16:creationId xmlns:a16="http://schemas.microsoft.com/office/drawing/2014/main" id="{71CD09E5-829C-499C-AFCE-1E08DD3A1651}"/>
              </a:ext>
            </a:extLst>
          </p:cNvPr>
          <p:cNvSpPr>
            <a:spLocks xmlns:a="http://schemas.openxmlformats.org/drawingml/2006/main" noGrp="1"/>
          </p:cNvSpPr>
          <p:nvPr/>
        </p:nvSpPr>
        <p:spPr>
          <a:xfrm xmlns:a="http://schemas.openxmlformats.org/drawingml/2006/main">
            <a:off x="6886575" y="9715500"/>
            <a:ext cx="3333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r">
              <a:lnSpc>
                <a:spcPct val="116000"/>
              </a:lnSpc>
              <a:buNone/>
              <a:defRPr sz="660" b="0" i="0">
                <a:solidFill>
                  <a:srgbClr val="F26A2E"/>
                </a:solidFill>
                <a:latin typeface="Lato"/>
                <a:ea typeface="Lato"/>
                <a:cs typeface="Lato"/>
              </a:defRPr>
            </a:pPr>
            <a:r>
              <a:rPr sz="660" b="0" i="0">
                <a:solidFill>
                  <a:srgbClr val="F26A2E"/>
                </a:solidFill>
                <a:latin typeface="Lato"/>
                <a:ea typeface="Lato"/>
                <a:cs typeface="Lato"/>
              </a:rPr>
              <a:t>12</a:t>
            </a:r>
          </a:p>
        </p:txBody>
      </p:sp>
      <p:sp>
        <p:nvSpPr>
          <p:cNvPr id="9" name="">
            <a:extLst xmlns:a="http://schemas.openxmlformats.org/drawingml/2006/main">
              <a:ext uri="{FF2B5EF4-FFF2-40B4-BE49-F238E27FC236}">
                <a16:creationId xmlns:a16="http://schemas.microsoft.com/office/drawing/2014/main" id="{3DC09AFD-1C8C-4644-BBF3-646F851B7FB7}"/>
              </a:ext>
            </a:extLst>
          </p:cNvPr>
          <p:cNvSpPr>
            <a:spLocks xmlns:a="http://schemas.openxmlformats.org/drawingml/2006/main" noGrp="1"/>
          </p:cNvSpPr>
          <p:nvPr/>
        </p:nvSpPr>
        <p:spPr>
          <a:xfrm xmlns:a="http://schemas.openxmlformats.org/drawingml/2006/main">
            <a:off x="628650" y="790575"/>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900" b="1" i="0">
                <a:solidFill>
                  <a:srgbClr val="F26A2E"/>
                </a:solidFill>
                <a:latin typeface="Lato"/>
                <a:ea typeface="Lato"/>
                <a:cs typeface="Lato"/>
              </a:defRPr>
            </a:pPr>
            <a:r>
              <a:rPr sz="900" b="1" i="0">
                <a:solidFill>
                  <a:srgbClr val="F26A2E"/>
                </a:solidFill>
                <a:latin typeface="Lato"/>
                <a:ea typeface="Lato"/>
                <a:cs typeface="Lato"/>
              </a:rPr>
              <a:t>DINNERS</a:t>
            </a:r>
          </a:p>
        </p:txBody>
      </p:sp>
      <p:sp>
        <p:nvSpPr>
          <p:cNvPr id="10" name="">
            <a:extLst xmlns:a="http://schemas.openxmlformats.org/drawingml/2006/main">
              <a:ext uri="{FF2B5EF4-FFF2-40B4-BE49-F238E27FC236}">
                <a16:creationId xmlns:a16="http://schemas.microsoft.com/office/drawing/2014/main" id="{2DE37241-130E-4B3D-9AC1-34EB96107323}"/>
              </a:ext>
            </a:extLst>
          </p:cNvPr>
          <p:cNvSpPr>
            <a:spLocks xmlns:a="http://schemas.openxmlformats.org/drawingml/2006/main" noGrp="1"/>
          </p:cNvSpPr>
          <p:nvPr/>
        </p:nvSpPr>
        <p:spPr>
          <a:xfrm xmlns:a="http://schemas.openxmlformats.org/drawingml/2006/main">
            <a:off x="590550" y="1066800"/>
            <a:ext cx="619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03000"/>
              </a:lnSpc>
              <a:buNone/>
              <a:defRPr sz="2550" b="1" i="0">
                <a:solidFill>
                  <a:srgbClr val="192442"/>
                </a:solidFill>
                <a:latin typeface="Lora"/>
                <a:ea typeface="Lora"/>
                <a:cs typeface="Lora"/>
              </a:defRPr>
            </a:pPr>
            <a:r>
              <a:rPr sz="2550" b="1" i="0">
                <a:solidFill>
                  <a:srgbClr val="192442"/>
                </a:solidFill>
                <a:latin typeface="Lora"/>
                <a:ea typeface="Lora"/>
                <a:cs typeface="Lora"/>
              </a:rPr>
              <a:t>Cultural dinners can still be balanced</a:t>
            </a:r>
          </a:p>
        </p:txBody>
      </p:sp>
      <p:sp>
        <p:nvSpPr>
          <p:cNvPr id="11" name="">
            <a:extLst xmlns:a="http://schemas.openxmlformats.org/drawingml/2006/main">
              <a:ext uri="{FF2B5EF4-FFF2-40B4-BE49-F238E27FC236}">
                <a16:creationId xmlns:a16="http://schemas.microsoft.com/office/drawing/2014/main" id="{DB9C59E5-FA44-4171-A53F-0D0915442BE2}"/>
              </a:ext>
            </a:extLst>
          </p:cNvPr>
          <p:cNvSpPr>
            <a:spLocks xmlns:a="http://schemas.openxmlformats.org/drawingml/2006/main" noGrp="1"/>
          </p:cNvSpPr>
          <p:nvPr/>
        </p:nvSpPr>
        <p:spPr>
          <a:xfrm xmlns:a="http://schemas.openxmlformats.org/drawingml/2006/main">
            <a:off x="628650" y="1866900"/>
            <a:ext cx="6381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25000"/>
              </a:lnSpc>
              <a:buNone/>
              <a:defRPr sz="1125" b="0" i="0">
                <a:solidFill>
                  <a:srgbClr val="5C6C67"/>
                </a:solidFill>
                <a:latin typeface="Lato"/>
                <a:ea typeface="Lato"/>
                <a:cs typeface="Lato"/>
              </a:defRPr>
            </a:pPr>
            <a:r>
              <a:rPr sz="1125" b="0" i="0">
                <a:solidFill>
                  <a:srgbClr val="5C6C67"/>
                </a:solidFill>
                <a:latin typeface="Lato"/>
                <a:ea typeface="Lato"/>
                <a:cs typeface="Lato"/>
              </a:rPr>
              <a:t>Healthy eating should not erase family food. Many traditional meals already include vegetables, beans, lentils, fish, lean meats, yogurt, grains, herbs, spices, and shared routines.</a:t>
            </a:r>
          </a:p>
        </p:txBody>
      </p:sp>
      <p:sp>
        <p:nvSpPr>
          <p:cNvPr id="12" name="">
            <a:extLst xmlns:a="http://schemas.openxmlformats.org/drawingml/2006/main">
              <a:ext uri="{FF2B5EF4-FFF2-40B4-BE49-F238E27FC236}">
                <a16:creationId xmlns:a16="http://schemas.microsoft.com/office/drawing/2014/main" id="{9A7037AD-3BED-49D3-95AE-8768A8FCC7F3}"/>
              </a:ext>
            </a:extLst>
          </p:cNvPr>
          <p:cNvSpPr>
            <a:spLocks xmlns:a="http://schemas.openxmlformats.org/drawingml/2006/main" noGrp="1"/>
          </p:cNvSpPr>
          <p:nvPr/>
        </p:nvSpPr>
        <p:spPr>
          <a:xfrm xmlns:a="http://schemas.openxmlformats.org/drawingml/2006/main">
            <a:off x="628650" y="2914650"/>
            <a:ext cx="6515100" cy="7620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11430">
            <a:solidFill>
              <a:srgbClr val="D9E2DA"/>
            </a:solidFill>
            <a:prstDash val="solid"/>
          </a:ln>
        </p:spPr>
      </p:sp>
      <p:sp>
        <p:nvSpPr>
          <p:cNvPr id="13" name="">
            <a:extLst xmlns:a="http://schemas.openxmlformats.org/drawingml/2006/main">
              <a:ext uri="{FF2B5EF4-FFF2-40B4-BE49-F238E27FC236}">
                <a16:creationId xmlns:a16="http://schemas.microsoft.com/office/drawing/2014/main" id="{35AE7848-4664-4E0A-B0A0-A8F2E10244F2}"/>
              </a:ext>
            </a:extLst>
          </p:cNvPr>
          <p:cNvSpPr>
            <a:spLocks xmlns:a="http://schemas.openxmlformats.org/drawingml/2006/main" noGrp="1"/>
          </p:cNvSpPr>
          <p:nvPr/>
        </p:nvSpPr>
        <p:spPr>
          <a:xfrm xmlns:a="http://schemas.openxmlformats.org/drawingml/2006/main">
            <a:off x="781050" y="3105150"/>
            <a:ext cx="190500" cy="190500"/>
          </a:xfrm>
          <a:prstGeom xmlns:a="http://schemas.openxmlformats.org/drawingml/2006/main" prst="ellipse">
            <a:avLst/>
          </a:prstGeom>
          <a:solidFill xmlns:a="http://schemas.openxmlformats.org/drawingml/2006/main">
            <a:srgbClr val="E6F2EC"/>
          </a:solidFill>
          <a:ln xmlns:a="http://schemas.openxmlformats.org/drawingml/2006/main" w="11430">
            <a:solidFill>
              <a:srgbClr val="034B2F"/>
            </a:solidFill>
            <a:prstDash val="solid"/>
          </a:ln>
        </p:spPr>
      </p:sp>
      <p:sp>
        <p:nvSpPr>
          <p:cNvPr id="14" name="">
            <a:extLst xmlns:a="http://schemas.openxmlformats.org/drawingml/2006/main">
              <a:ext uri="{FF2B5EF4-FFF2-40B4-BE49-F238E27FC236}">
                <a16:creationId xmlns:a16="http://schemas.microsoft.com/office/drawing/2014/main" id="{69EC8A6A-3C9E-47AE-B8C4-A65F76DE06C5}"/>
              </a:ext>
            </a:extLst>
          </p:cNvPr>
          <p:cNvSpPr>
            <a:spLocks xmlns:a="http://schemas.openxmlformats.org/drawingml/2006/main" noGrp="1"/>
          </p:cNvSpPr>
          <p:nvPr/>
        </p:nvSpPr>
        <p:spPr>
          <a:xfrm xmlns:a="http://schemas.openxmlformats.org/drawingml/2006/main">
            <a:off x="1085850" y="3067050"/>
            <a:ext cx="590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1013" b="1" i="0">
                <a:solidFill>
                  <a:srgbClr val="192442"/>
                </a:solidFill>
                <a:latin typeface="Lato"/>
                <a:ea typeface="Lato"/>
                <a:cs typeface="Lato"/>
              </a:defRPr>
            </a:pPr>
            <a:r>
              <a:rPr sz="1013" b="1" i="0">
                <a:solidFill>
                  <a:srgbClr val="192442"/>
                </a:solidFill>
                <a:latin typeface="Lato"/>
                <a:ea typeface="Lato"/>
                <a:cs typeface="Lato"/>
              </a:rPr>
              <a:t>Tacos</a:t>
            </a:r>
          </a:p>
        </p:txBody>
      </p:sp>
      <p:sp>
        <p:nvSpPr>
          <p:cNvPr id="15" name="">
            <a:extLst xmlns:a="http://schemas.openxmlformats.org/drawingml/2006/main">
              <a:ext uri="{FF2B5EF4-FFF2-40B4-BE49-F238E27FC236}">
                <a16:creationId xmlns:a16="http://schemas.microsoft.com/office/drawing/2014/main" id="{7873CBFA-0E4D-4B9A-B0A8-DCD43E3CA694}"/>
              </a:ext>
            </a:extLst>
          </p:cNvPr>
          <p:cNvSpPr>
            <a:spLocks xmlns:a="http://schemas.openxmlformats.org/drawingml/2006/main" noGrp="1"/>
          </p:cNvSpPr>
          <p:nvPr/>
        </p:nvSpPr>
        <p:spPr>
          <a:xfrm xmlns:a="http://schemas.openxmlformats.org/drawingml/2006/main">
            <a:off x="1085850" y="3286125"/>
            <a:ext cx="590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0000"/>
              </a:lnSpc>
              <a:buNone/>
              <a:defRPr sz="788" b="0" i="0">
                <a:solidFill>
                  <a:srgbClr val="5C6C67"/>
                </a:solidFill>
                <a:latin typeface="Lato"/>
                <a:ea typeface="Lato"/>
                <a:cs typeface="Lato"/>
              </a:defRPr>
            </a:pPr>
            <a:r>
              <a:rPr sz="788" b="0" i="0">
                <a:solidFill>
                  <a:srgbClr val="5C6C67"/>
                </a:solidFill>
                <a:latin typeface="Lato"/>
                <a:ea typeface="Lato"/>
                <a:cs typeface="Lato"/>
              </a:rPr>
              <a:t>beans or grilled protein, cabbage, salsa, avocado, corn tortillas</a:t>
            </a:r>
          </a:p>
        </p:txBody>
      </p:sp>
      <p:sp>
        <p:nvSpPr>
          <p:cNvPr id="16" name="">
            <a:extLst xmlns:a="http://schemas.openxmlformats.org/drawingml/2006/main">
              <a:ext uri="{FF2B5EF4-FFF2-40B4-BE49-F238E27FC236}">
                <a16:creationId xmlns:a16="http://schemas.microsoft.com/office/drawing/2014/main" id="{855859A3-B5F9-42AC-9888-E8B38C8517E2}"/>
              </a:ext>
            </a:extLst>
          </p:cNvPr>
          <p:cNvSpPr>
            <a:spLocks xmlns:a="http://schemas.openxmlformats.org/drawingml/2006/main" noGrp="1"/>
          </p:cNvSpPr>
          <p:nvPr/>
        </p:nvSpPr>
        <p:spPr>
          <a:xfrm xmlns:a="http://schemas.openxmlformats.org/drawingml/2006/main">
            <a:off x="628650" y="3848100"/>
            <a:ext cx="6515100" cy="7620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11430">
            <a:solidFill>
              <a:srgbClr val="D9E2DA"/>
            </a:solidFill>
            <a:prstDash val="solid"/>
          </a:ln>
        </p:spPr>
      </p:sp>
      <p:sp>
        <p:nvSpPr>
          <p:cNvPr id="17" name="">
            <a:extLst xmlns:a="http://schemas.openxmlformats.org/drawingml/2006/main">
              <a:ext uri="{FF2B5EF4-FFF2-40B4-BE49-F238E27FC236}">
                <a16:creationId xmlns:a16="http://schemas.microsoft.com/office/drawing/2014/main" id="{52856978-135D-4BB0-91CD-5F75F717524F}"/>
              </a:ext>
            </a:extLst>
          </p:cNvPr>
          <p:cNvSpPr>
            <a:spLocks xmlns:a="http://schemas.openxmlformats.org/drawingml/2006/main" noGrp="1"/>
          </p:cNvSpPr>
          <p:nvPr/>
        </p:nvSpPr>
        <p:spPr>
          <a:xfrm xmlns:a="http://schemas.openxmlformats.org/drawingml/2006/main">
            <a:off x="781050" y="4038600"/>
            <a:ext cx="190500" cy="190500"/>
          </a:xfrm>
          <a:prstGeom xmlns:a="http://schemas.openxmlformats.org/drawingml/2006/main" prst="ellipse">
            <a:avLst/>
          </a:prstGeom>
          <a:solidFill xmlns:a="http://schemas.openxmlformats.org/drawingml/2006/main">
            <a:srgbClr val="EEF7FA"/>
          </a:solidFill>
          <a:ln xmlns:a="http://schemas.openxmlformats.org/drawingml/2006/main" w="11430">
            <a:solidFill>
              <a:srgbClr val="034B2F"/>
            </a:solidFill>
            <a:prstDash val="solid"/>
          </a:ln>
        </p:spPr>
      </p:sp>
      <p:sp>
        <p:nvSpPr>
          <p:cNvPr id="18" name="">
            <a:extLst xmlns:a="http://schemas.openxmlformats.org/drawingml/2006/main">
              <a:ext uri="{FF2B5EF4-FFF2-40B4-BE49-F238E27FC236}">
                <a16:creationId xmlns:a16="http://schemas.microsoft.com/office/drawing/2014/main" id="{3C5DC23E-6785-43BA-921B-683EFA0E19D4}"/>
              </a:ext>
            </a:extLst>
          </p:cNvPr>
          <p:cNvSpPr>
            <a:spLocks xmlns:a="http://schemas.openxmlformats.org/drawingml/2006/main" noGrp="1"/>
          </p:cNvSpPr>
          <p:nvPr/>
        </p:nvSpPr>
        <p:spPr>
          <a:xfrm xmlns:a="http://schemas.openxmlformats.org/drawingml/2006/main">
            <a:off x="1085850" y="4000500"/>
            <a:ext cx="590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1013" b="1" i="0">
                <a:solidFill>
                  <a:srgbClr val="192442"/>
                </a:solidFill>
                <a:latin typeface="Lato"/>
                <a:ea typeface="Lato"/>
                <a:cs typeface="Lato"/>
              </a:defRPr>
            </a:pPr>
            <a:r>
              <a:rPr sz="1013" b="1" i="0">
                <a:solidFill>
                  <a:srgbClr val="192442"/>
                </a:solidFill>
                <a:latin typeface="Lato"/>
                <a:ea typeface="Lato"/>
                <a:cs typeface="Lato"/>
              </a:rPr>
              <a:t>Dal</a:t>
            </a:r>
          </a:p>
        </p:txBody>
      </p:sp>
      <p:sp>
        <p:nvSpPr>
          <p:cNvPr id="19" name="">
            <a:extLst xmlns:a="http://schemas.openxmlformats.org/drawingml/2006/main">
              <a:ext uri="{FF2B5EF4-FFF2-40B4-BE49-F238E27FC236}">
                <a16:creationId xmlns:a16="http://schemas.microsoft.com/office/drawing/2014/main" id="{B659DA99-79C1-4F6C-9819-F28092A9D9CD}"/>
              </a:ext>
            </a:extLst>
          </p:cNvPr>
          <p:cNvSpPr>
            <a:spLocks xmlns:a="http://schemas.openxmlformats.org/drawingml/2006/main" noGrp="1"/>
          </p:cNvSpPr>
          <p:nvPr/>
        </p:nvSpPr>
        <p:spPr>
          <a:xfrm xmlns:a="http://schemas.openxmlformats.org/drawingml/2006/main">
            <a:off x="1085850" y="4219575"/>
            <a:ext cx="590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0000"/>
              </a:lnSpc>
              <a:buNone/>
              <a:defRPr sz="788" b="0" i="0">
                <a:solidFill>
                  <a:srgbClr val="5C6C67"/>
                </a:solidFill>
                <a:latin typeface="Lato"/>
                <a:ea typeface="Lato"/>
                <a:cs typeface="Lato"/>
              </a:defRPr>
            </a:pPr>
            <a:r>
              <a:rPr sz="788" b="0" i="0">
                <a:solidFill>
                  <a:srgbClr val="5C6C67"/>
                </a:solidFill>
                <a:latin typeface="Lato"/>
                <a:ea typeface="Lato"/>
                <a:cs typeface="Lato"/>
              </a:rPr>
              <a:t>dal with vegetables, cucumber salad, rice</a:t>
            </a:r>
          </a:p>
        </p:txBody>
      </p:sp>
      <p:sp>
        <p:nvSpPr>
          <p:cNvPr id="20" name="">
            <a:extLst xmlns:a="http://schemas.openxmlformats.org/drawingml/2006/main">
              <a:ext uri="{FF2B5EF4-FFF2-40B4-BE49-F238E27FC236}">
                <a16:creationId xmlns:a16="http://schemas.microsoft.com/office/drawing/2014/main" id="{948CD9B2-234A-4E18-91B0-F59BAE83F252}"/>
              </a:ext>
            </a:extLst>
          </p:cNvPr>
          <p:cNvSpPr>
            <a:spLocks xmlns:a="http://schemas.openxmlformats.org/drawingml/2006/main" noGrp="1"/>
          </p:cNvSpPr>
          <p:nvPr/>
        </p:nvSpPr>
        <p:spPr>
          <a:xfrm xmlns:a="http://schemas.openxmlformats.org/drawingml/2006/main">
            <a:off x="628650" y="4781550"/>
            <a:ext cx="6515100" cy="7620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11430">
            <a:solidFill>
              <a:srgbClr val="D9E2DA"/>
            </a:solidFill>
            <a:prstDash val="solid"/>
          </a:ln>
        </p:spPr>
      </p:sp>
      <p:sp>
        <p:nvSpPr>
          <p:cNvPr id="21" name="">
            <a:extLst xmlns:a="http://schemas.openxmlformats.org/drawingml/2006/main">
              <a:ext uri="{FF2B5EF4-FFF2-40B4-BE49-F238E27FC236}">
                <a16:creationId xmlns:a16="http://schemas.microsoft.com/office/drawing/2014/main" id="{497B6B1D-4DF5-4122-B298-C27811A0C51D}"/>
              </a:ext>
            </a:extLst>
          </p:cNvPr>
          <p:cNvSpPr>
            <a:spLocks xmlns:a="http://schemas.openxmlformats.org/drawingml/2006/main" noGrp="1"/>
          </p:cNvSpPr>
          <p:nvPr/>
        </p:nvSpPr>
        <p:spPr>
          <a:xfrm xmlns:a="http://schemas.openxmlformats.org/drawingml/2006/main">
            <a:off x="781050" y="4972050"/>
            <a:ext cx="190500" cy="190500"/>
          </a:xfrm>
          <a:prstGeom xmlns:a="http://schemas.openxmlformats.org/drawingml/2006/main" prst="ellipse">
            <a:avLst/>
          </a:prstGeom>
          <a:solidFill xmlns:a="http://schemas.openxmlformats.org/drawingml/2006/main">
            <a:srgbClr val="FCE4D8"/>
          </a:solidFill>
          <a:ln xmlns:a="http://schemas.openxmlformats.org/drawingml/2006/main" w="11430">
            <a:solidFill>
              <a:srgbClr val="034B2F"/>
            </a:solidFill>
            <a:prstDash val="solid"/>
          </a:ln>
        </p:spPr>
      </p:sp>
      <p:sp>
        <p:nvSpPr>
          <p:cNvPr id="22" name="">
            <a:extLst xmlns:a="http://schemas.openxmlformats.org/drawingml/2006/main">
              <a:ext uri="{FF2B5EF4-FFF2-40B4-BE49-F238E27FC236}">
                <a16:creationId xmlns:a16="http://schemas.microsoft.com/office/drawing/2014/main" id="{8ABC947C-9176-4935-B019-23D64BFAF6F3}"/>
              </a:ext>
            </a:extLst>
          </p:cNvPr>
          <p:cNvSpPr>
            <a:spLocks xmlns:a="http://schemas.openxmlformats.org/drawingml/2006/main" noGrp="1"/>
          </p:cNvSpPr>
          <p:nvPr/>
        </p:nvSpPr>
        <p:spPr>
          <a:xfrm xmlns:a="http://schemas.openxmlformats.org/drawingml/2006/main">
            <a:off x="1085850" y="4933950"/>
            <a:ext cx="590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1013" b="1" i="0">
                <a:solidFill>
                  <a:srgbClr val="192442"/>
                </a:solidFill>
                <a:latin typeface="Lato"/>
                <a:ea typeface="Lato"/>
                <a:cs typeface="Lato"/>
              </a:defRPr>
            </a:pPr>
            <a:r>
              <a:rPr sz="1013" b="1" i="0">
                <a:solidFill>
                  <a:srgbClr val="192442"/>
                </a:solidFill>
                <a:latin typeface="Lato"/>
                <a:ea typeface="Lato"/>
                <a:cs typeface="Lato"/>
              </a:rPr>
              <a:t>Stir-fry</a:t>
            </a:r>
          </a:p>
        </p:txBody>
      </p:sp>
      <p:sp>
        <p:nvSpPr>
          <p:cNvPr id="23" name="">
            <a:extLst xmlns:a="http://schemas.openxmlformats.org/drawingml/2006/main">
              <a:ext uri="{FF2B5EF4-FFF2-40B4-BE49-F238E27FC236}">
                <a16:creationId xmlns:a16="http://schemas.microsoft.com/office/drawing/2014/main" id="{3305E0FD-F2FF-4A2A-9B2B-B813E4E470D5}"/>
              </a:ext>
            </a:extLst>
          </p:cNvPr>
          <p:cNvSpPr>
            <a:spLocks xmlns:a="http://schemas.openxmlformats.org/drawingml/2006/main" noGrp="1"/>
          </p:cNvSpPr>
          <p:nvPr/>
        </p:nvSpPr>
        <p:spPr>
          <a:xfrm xmlns:a="http://schemas.openxmlformats.org/drawingml/2006/main">
            <a:off x="1085850" y="5153025"/>
            <a:ext cx="590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0000"/>
              </a:lnSpc>
              <a:buNone/>
              <a:defRPr sz="788" b="0" i="0">
                <a:solidFill>
                  <a:srgbClr val="5C6C67"/>
                </a:solidFill>
                <a:latin typeface="Lato"/>
                <a:ea typeface="Lato"/>
                <a:cs typeface="Lato"/>
              </a:defRPr>
            </a:pPr>
            <a:r>
              <a:rPr sz="788" b="0" i="0">
                <a:solidFill>
                  <a:srgbClr val="5C6C67"/>
                </a:solidFill>
                <a:latin typeface="Lato"/>
                <a:ea typeface="Lato"/>
                <a:cs typeface="Lato"/>
              </a:rPr>
              <a:t>tofu, chicken, shrimp, or beef, vegetables, rice</a:t>
            </a:r>
          </a:p>
        </p:txBody>
      </p:sp>
      <p:sp>
        <p:nvSpPr>
          <p:cNvPr id="24" name="">
            <a:extLst xmlns:a="http://schemas.openxmlformats.org/drawingml/2006/main">
              <a:ext uri="{FF2B5EF4-FFF2-40B4-BE49-F238E27FC236}">
                <a16:creationId xmlns:a16="http://schemas.microsoft.com/office/drawing/2014/main" id="{9268DDEA-53E8-494C-8A43-9839E260C9A3}"/>
              </a:ext>
            </a:extLst>
          </p:cNvPr>
          <p:cNvSpPr>
            <a:spLocks xmlns:a="http://schemas.openxmlformats.org/drawingml/2006/main" noGrp="1"/>
          </p:cNvSpPr>
          <p:nvPr/>
        </p:nvSpPr>
        <p:spPr>
          <a:xfrm xmlns:a="http://schemas.openxmlformats.org/drawingml/2006/main">
            <a:off x="628650" y="5715000"/>
            <a:ext cx="6515100" cy="7620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11430">
            <a:solidFill>
              <a:srgbClr val="D9E2DA"/>
            </a:solidFill>
            <a:prstDash val="solid"/>
          </a:ln>
        </p:spPr>
      </p:sp>
      <p:sp>
        <p:nvSpPr>
          <p:cNvPr id="25" name="">
            <a:extLst xmlns:a="http://schemas.openxmlformats.org/drawingml/2006/main">
              <a:ext uri="{FF2B5EF4-FFF2-40B4-BE49-F238E27FC236}">
                <a16:creationId xmlns:a16="http://schemas.microsoft.com/office/drawing/2014/main" id="{1C9F4C18-03C2-4415-A07E-CF9C849C13CF}"/>
              </a:ext>
            </a:extLst>
          </p:cNvPr>
          <p:cNvSpPr>
            <a:spLocks xmlns:a="http://schemas.openxmlformats.org/drawingml/2006/main" noGrp="1"/>
          </p:cNvSpPr>
          <p:nvPr/>
        </p:nvSpPr>
        <p:spPr>
          <a:xfrm xmlns:a="http://schemas.openxmlformats.org/drawingml/2006/main">
            <a:off x="781050" y="5905500"/>
            <a:ext cx="190500" cy="190500"/>
          </a:xfrm>
          <a:prstGeom xmlns:a="http://schemas.openxmlformats.org/drawingml/2006/main" prst="ellipse">
            <a:avLst/>
          </a:prstGeom>
          <a:solidFill xmlns:a="http://schemas.openxmlformats.org/drawingml/2006/main">
            <a:srgbClr val="E6F2EC"/>
          </a:solidFill>
          <a:ln xmlns:a="http://schemas.openxmlformats.org/drawingml/2006/main" w="11430">
            <a:solidFill>
              <a:srgbClr val="034B2F"/>
            </a:solidFill>
            <a:prstDash val="solid"/>
          </a:ln>
        </p:spPr>
      </p:sp>
      <p:sp>
        <p:nvSpPr>
          <p:cNvPr id="26" name="">
            <a:extLst xmlns:a="http://schemas.openxmlformats.org/drawingml/2006/main">
              <a:ext uri="{FF2B5EF4-FFF2-40B4-BE49-F238E27FC236}">
                <a16:creationId xmlns:a16="http://schemas.microsoft.com/office/drawing/2014/main" id="{006CB18F-F3CA-4437-A5DD-C8E71DD98829}"/>
              </a:ext>
            </a:extLst>
          </p:cNvPr>
          <p:cNvSpPr>
            <a:spLocks xmlns:a="http://schemas.openxmlformats.org/drawingml/2006/main" noGrp="1"/>
          </p:cNvSpPr>
          <p:nvPr/>
        </p:nvSpPr>
        <p:spPr>
          <a:xfrm xmlns:a="http://schemas.openxmlformats.org/drawingml/2006/main">
            <a:off x="1085850" y="5867400"/>
            <a:ext cx="590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1013" b="1" i="0">
                <a:solidFill>
                  <a:srgbClr val="192442"/>
                </a:solidFill>
                <a:latin typeface="Lato"/>
                <a:ea typeface="Lato"/>
                <a:cs typeface="Lato"/>
              </a:defRPr>
            </a:pPr>
            <a:r>
              <a:rPr sz="1013" b="1" i="0">
                <a:solidFill>
                  <a:srgbClr val="192442"/>
                </a:solidFill>
                <a:latin typeface="Lato"/>
                <a:ea typeface="Lato"/>
                <a:cs typeface="Lato"/>
              </a:rPr>
              <a:t>Mediterranean plate</a:t>
            </a:r>
          </a:p>
        </p:txBody>
      </p:sp>
      <p:sp>
        <p:nvSpPr>
          <p:cNvPr id="27" name="">
            <a:extLst xmlns:a="http://schemas.openxmlformats.org/drawingml/2006/main">
              <a:ext uri="{FF2B5EF4-FFF2-40B4-BE49-F238E27FC236}">
                <a16:creationId xmlns:a16="http://schemas.microsoft.com/office/drawing/2014/main" id="{7F7E79CA-0547-4A07-8A00-31D10EC988F1}"/>
              </a:ext>
            </a:extLst>
          </p:cNvPr>
          <p:cNvSpPr>
            <a:spLocks xmlns:a="http://schemas.openxmlformats.org/drawingml/2006/main" noGrp="1"/>
          </p:cNvSpPr>
          <p:nvPr/>
        </p:nvSpPr>
        <p:spPr>
          <a:xfrm xmlns:a="http://schemas.openxmlformats.org/drawingml/2006/main">
            <a:off x="1085850" y="6086475"/>
            <a:ext cx="590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0000"/>
              </a:lnSpc>
              <a:buNone/>
              <a:defRPr sz="788" b="0" i="0">
                <a:solidFill>
                  <a:srgbClr val="5C6C67"/>
                </a:solidFill>
                <a:latin typeface="Lato"/>
                <a:ea typeface="Lato"/>
                <a:cs typeface="Lato"/>
              </a:defRPr>
            </a:pPr>
            <a:r>
              <a:rPr sz="788" b="0" i="0">
                <a:solidFill>
                  <a:srgbClr val="5C6C67"/>
                </a:solidFill>
                <a:latin typeface="Lato"/>
                <a:ea typeface="Lato"/>
                <a:cs typeface="Lato"/>
              </a:rPr>
              <a:t>fish, beans, greens, yogurt sauce, whole grains</a:t>
            </a:r>
          </a:p>
        </p:txBody>
      </p:sp>
      <p:sp>
        <p:nvSpPr>
          <p:cNvPr id="28" name="">
            <a:extLst xmlns:a="http://schemas.openxmlformats.org/drawingml/2006/main">
              <a:ext uri="{FF2B5EF4-FFF2-40B4-BE49-F238E27FC236}">
                <a16:creationId xmlns:a16="http://schemas.microsoft.com/office/drawing/2014/main" id="{6FC7194B-A5DF-49C9-B7FC-0DEE0D2CA4F6}"/>
              </a:ext>
            </a:extLst>
          </p:cNvPr>
          <p:cNvSpPr>
            <a:spLocks xmlns:a="http://schemas.openxmlformats.org/drawingml/2006/main" noGrp="1"/>
          </p:cNvSpPr>
          <p:nvPr/>
        </p:nvSpPr>
        <p:spPr>
          <a:xfrm xmlns:a="http://schemas.openxmlformats.org/drawingml/2006/main">
            <a:off x="628650" y="6648450"/>
            <a:ext cx="6515100" cy="7620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11430">
            <a:solidFill>
              <a:srgbClr val="D9E2DA"/>
            </a:solidFill>
            <a:prstDash val="solid"/>
          </a:ln>
        </p:spPr>
      </p:sp>
      <p:sp>
        <p:nvSpPr>
          <p:cNvPr id="29" name="">
            <a:extLst xmlns:a="http://schemas.openxmlformats.org/drawingml/2006/main">
              <a:ext uri="{FF2B5EF4-FFF2-40B4-BE49-F238E27FC236}">
                <a16:creationId xmlns:a16="http://schemas.microsoft.com/office/drawing/2014/main" id="{CD4412F5-BFF6-4AFB-9875-D0A60CCF2E61}"/>
              </a:ext>
            </a:extLst>
          </p:cNvPr>
          <p:cNvSpPr>
            <a:spLocks xmlns:a="http://schemas.openxmlformats.org/drawingml/2006/main" noGrp="1"/>
          </p:cNvSpPr>
          <p:nvPr/>
        </p:nvSpPr>
        <p:spPr>
          <a:xfrm xmlns:a="http://schemas.openxmlformats.org/drawingml/2006/main">
            <a:off x="781050" y="6838950"/>
            <a:ext cx="190500" cy="190500"/>
          </a:xfrm>
          <a:prstGeom xmlns:a="http://schemas.openxmlformats.org/drawingml/2006/main" prst="ellipse">
            <a:avLst/>
          </a:prstGeom>
          <a:solidFill xmlns:a="http://schemas.openxmlformats.org/drawingml/2006/main">
            <a:srgbClr val="EEF7FA"/>
          </a:solidFill>
          <a:ln xmlns:a="http://schemas.openxmlformats.org/drawingml/2006/main" w="11430">
            <a:solidFill>
              <a:srgbClr val="034B2F"/>
            </a:solidFill>
            <a:prstDash val="solid"/>
          </a:ln>
        </p:spPr>
      </p:sp>
      <p:sp>
        <p:nvSpPr>
          <p:cNvPr id="30" name="">
            <a:extLst xmlns:a="http://schemas.openxmlformats.org/drawingml/2006/main">
              <a:ext uri="{FF2B5EF4-FFF2-40B4-BE49-F238E27FC236}">
                <a16:creationId xmlns:a16="http://schemas.microsoft.com/office/drawing/2014/main" id="{35DF078D-FDBA-4707-94C5-6C0C279DA517}"/>
              </a:ext>
            </a:extLst>
          </p:cNvPr>
          <p:cNvSpPr>
            <a:spLocks xmlns:a="http://schemas.openxmlformats.org/drawingml/2006/main" noGrp="1"/>
          </p:cNvSpPr>
          <p:nvPr/>
        </p:nvSpPr>
        <p:spPr>
          <a:xfrm xmlns:a="http://schemas.openxmlformats.org/drawingml/2006/main">
            <a:off x="1085850" y="6800850"/>
            <a:ext cx="590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1013" b="1" i="0">
                <a:solidFill>
                  <a:srgbClr val="192442"/>
                </a:solidFill>
                <a:latin typeface="Lato"/>
                <a:ea typeface="Lato"/>
                <a:cs typeface="Lato"/>
              </a:defRPr>
            </a:pPr>
            <a:r>
              <a:rPr sz="1013" b="1" i="0">
                <a:solidFill>
                  <a:srgbClr val="192442"/>
                </a:solidFill>
                <a:latin typeface="Lato"/>
                <a:ea typeface="Lato"/>
                <a:cs typeface="Lato"/>
              </a:rPr>
              <a:t>Pasta night</a:t>
            </a:r>
          </a:p>
        </p:txBody>
      </p:sp>
      <p:sp>
        <p:nvSpPr>
          <p:cNvPr id="31" name="">
            <a:extLst xmlns:a="http://schemas.openxmlformats.org/drawingml/2006/main">
              <a:ext uri="{FF2B5EF4-FFF2-40B4-BE49-F238E27FC236}">
                <a16:creationId xmlns:a16="http://schemas.microsoft.com/office/drawing/2014/main" id="{3287BE63-9090-4D0A-8C99-DBC6F1754200}"/>
              </a:ext>
            </a:extLst>
          </p:cNvPr>
          <p:cNvSpPr>
            <a:spLocks xmlns:a="http://schemas.openxmlformats.org/drawingml/2006/main" noGrp="1"/>
          </p:cNvSpPr>
          <p:nvPr/>
        </p:nvSpPr>
        <p:spPr>
          <a:xfrm xmlns:a="http://schemas.openxmlformats.org/drawingml/2006/main">
            <a:off x="1085850" y="7019925"/>
            <a:ext cx="590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0000"/>
              </a:lnSpc>
              <a:buNone/>
              <a:defRPr sz="788" b="0" i="0">
                <a:solidFill>
                  <a:srgbClr val="5C6C67"/>
                </a:solidFill>
                <a:latin typeface="Lato"/>
                <a:ea typeface="Lato"/>
                <a:cs typeface="Lato"/>
              </a:defRPr>
            </a:pPr>
            <a:r>
              <a:rPr sz="788" b="0" i="0">
                <a:solidFill>
                  <a:srgbClr val="5C6C67"/>
                </a:solidFill>
                <a:latin typeface="Lato"/>
                <a:ea typeface="Lato"/>
                <a:cs typeface="Lato"/>
              </a:rPr>
              <a:t>pasta, vegetables, beans or lean protein</a:t>
            </a:r>
          </a:p>
        </p:txBody>
      </p:sp>
      <p:sp>
        <p:nvSpPr>
          <p:cNvPr id="32" name="">
            <a:extLst xmlns:a="http://schemas.openxmlformats.org/drawingml/2006/main">
              <a:ext uri="{FF2B5EF4-FFF2-40B4-BE49-F238E27FC236}">
                <a16:creationId xmlns:a16="http://schemas.microsoft.com/office/drawing/2014/main" id="{C3449D91-EAA0-464E-97BA-0A0C517DD82A}"/>
              </a:ext>
            </a:extLst>
          </p:cNvPr>
          <p:cNvSpPr>
            <a:spLocks xmlns:a="http://schemas.openxmlformats.org/drawingml/2006/main" noGrp="1"/>
          </p:cNvSpPr>
          <p:nvPr/>
        </p:nvSpPr>
        <p:spPr>
          <a:xfrm xmlns:a="http://schemas.openxmlformats.org/drawingml/2006/main">
            <a:off x="628650" y="8439150"/>
            <a:ext cx="6515100" cy="590550"/>
          </a:xfrm>
          <a:prstGeom xmlns:a="http://schemas.openxmlformats.org/drawingml/2006/main" prst="roundRect">
            <a:avLst>
              <a:gd name="adj" fmla="val 16129"/>
            </a:avLst>
          </a:prstGeom>
          <a:solidFill xmlns:a="http://schemas.openxmlformats.org/drawingml/2006/main">
            <a:srgbClr val="E6F2EC"/>
          </a:solidFill>
          <a:ln xmlns:a="http://schemas.openxmlformats.org/drawingml/2006/main" w="11430">
            <a:solidFill>
              <a:srgbClr val="B8D8C8"/>
            </a:solidFill>
            <a:prstDash val="solid"/>
          </a:ln>
        </p:spPr>
      </p:sp>
      <p:sp>
        <p:nvSpPr>
          <p:cNvPr id="33" name="">
            <a:extLst xmlns:a="http://schemas.openxmlformats.org/drawingml/2006/main">
              <a:ext uri="{FF2B5EF4-FFF2-40B4-BE49-F238E27FC236}">
                <a16:creationId xmlns:a16="http://schemas.microsoft.com/office/drawing/2014/main" id="{B57351B1-DADE-454A-A0CE-93D289DB7DF5}"/>
              </a:ext>
            </a:extLst>
          </p:cNvPr>
          <p:cNvSpPr>
            <a:spLocks xmlns:a="http://schemas.openxmlformats.org/drawingml/2006/main" noGrp="1"/>
          </p:cNvSpPr>
          <p:nvPr/>
        </p:nvSpPr>
        <p:spPr>
          <a:xfrm xmlns:a="http://schemas.openxmlformats.org/drawingml/2006/main">
            <a:off x="790575" y="85725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975" b="1" i="0">
                <a:solidFill>
                  <a:srgbClr val="034B2F"/>
                </a:solidFill>
                <a:latin typeface="Lato"/>
                <a:ea typeface="Lato"/>
                <a:cs typeface="Lato"/>
              </a:defRPr>
            </a:pPr>
            <a:r>
              <a:rPr sz="975" b="1" i="0">
                <a:solidFill>
                  <a:srgbClr val="034B2F"/>
                </a:solidFill>
                <a:latin typeface="Lato"/>
                <a:ea typeface="Lato"/>
                <a:cs typeface="Lato"/>
              </a:rPr>
              <a:t>Pattern over perfection</a:t>
            </a:r>
          </a:p>
        </p:txBody>
      </p:sp>
      <p:sp>
        <p:nvSpPr>
          <p:cNvPr id="34" name="">
            <a:extLst xmlns:a="http://schemas.openxmlformats.org/drawingml/2006/main">
              <a:ext uri="{FF2B5EF4-FFF2-40B4-BE49-F238E27FC236}">
                <a16:creationId xmlns:a16="http://schemas.microsoft.com/office/drawing/2014/main" id="{0542B998-03A0-48EB-97A4-9C6BFAB6D03B}"/>
              </a:ext>
            </a:extLst>
          </p:cNvPr>
          <p:cNvSpPr>
            <a:spLocks xmlns:a="http://schemas.openxmlformats.org/drawingml/2006/main" noGrp="1"/>
          </p:cNvSpPr>
          <p:nvPr/>
        </p:nvSpPr>
        <p:spPr>
          <a:xfrm xmlns:a="http://schemas.openxmlformats.org/drawingml/2006/main">
            <a:off x="790575" y="8839200"/>
            <a:ext cx="6191250" cy="95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7000"/>
              </a:lnSpc>
              <a:buNone/>
              <a:defRPr sz="900" b="0" i="0">
                <a:solidFill>
                  <a:srgbClr val="16211D"/>
                </a:solidFill>
                <a:latin typeface="Lato"/>
                <a:ea typeface="Lato"/>
                <a:cs typeface="Lato"/>
              </a:defRPr>
            </a:pPr>
            <a:r>
              <a:rPr sz="900" b="0" i="0">
                <a:solidFill>
                  <a:srgbClr val="16211D"/>
                </a:solidFill>
                <a:latin typeface="Lato"/>
                <a:ea typeface="Lato"/>
                <a:cs typeface="Lato"/>
              </a:rPr>
              <a:t>A higher-carbohydrate food can often fit better when the rest of the plate supports it.</a:t>
            </a:r>
          </a:p>
        </p:txBody>
      </p:sp>
    </p:spTree>
    <p:extLst>
      <p:ext uri="{BB962C8B-B14F-4D97-AF65-F5344CB8AC3E}">
        <p14:creationId xmlns:p14="http://schemas.microsoft.com/office/powerpoint/2010/main" val="1495068202"/>
      </p:ext>
    </p:extLst>
  </p:cSld>
</p:sld>
</file>

<file path=ppt/slides/slide13.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e950c0e2c09342b7"/>
          <a:srcRect xmlns:a="http://schemas.openxmlformats.org/drawingml/2006/main" l="699" t="0" r="699" b="0"/>
          <a:stretch xmlns:a="http://schemas.openxmlformats.org/drawingml/2006/main">
            <a:fillRect l="0" t="0" r="0" b="0"/>
          </a:stretch>
        </p:blipFill>
        <p:spPr>
          <a:xfrm xmlns:a="http://schemas.openxmlformats.org/drawingml/2006/main">
            <a:off x="552450" y="285750"/>
            <a:ext cx="257175" cy="276225"/>
          </a:xfrm>
          <a:prstGeom xmlns:a="http://schemas.openxmlformats.org/drawingml/2006/main" prst="roundRect">
            <a:avLst>
              <a:gd name="adj" fmla="val 29630"/>
            </a:avLst>
          </a:prstGeom>
        </p:spPr>
      </p:pic>
      <p:sp>
        <p:nvSpPr>
          <p:cNvPr id="2" name="">
            <a:extLst xmlns:a="http://schemas.openxmlformats.org/drawingml/2006/main">
              <a:ext uri="{FF2B5EF4-FFF2-40B4-BE49-F238E27FC236}">
                <a16:creationId xmlns:a16="http://schemas.microsoft.com/office/drawing/2014/main" id="{14372807-0FE8-4ED7-8568-B725C65AD25B}"/>
              </a:ext>
            </a:extLst>
          </p:cNvPr>
          <p:cNvSpPr>
            <a:spLocks xmlns:a="http://schemas.openxmlformats.org/drawingml/2006/main" noGrp="1"/>
          </p:cNvSpPr>
          <p:nvPr/>
        </p:nvSpPr>
        <p:spPr>
          <a:xfrm xmlns:a="http://schemas.openxmlformats.org/drawingml/2006/main">
            <a:off x="876300" y="3333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788" b="1" i="0">
                <a:solidFill>
                  <a:srgbClr val="034B2F"/>
                </a:solidFill>
                <a:latin typeface="Lora"/>
                <a:ea typeface="Lora"/>
                <a:cs typeface="Lora"/>
              </a:defRPr>
            </a:pPr>
            <a:r>
              <a:rPr sz="788" b="1" i="0">
                <a:solidFill>
                  <a:srgbClr val="034B2F"/>
                </a:solidFill>
                <a:latin typeface="Lora"/>
                <a:ea typeface="Lora"/>
                <a:cs typeface="Lora"/>
              </a:rPr>
              <a:t>The Mindful Plate</a:t>
            </a:r>
          </a:p>
        </p:txBody>
      </p:sp>
      <p:sp>
        <p:nvSpPr>
          <p:cNvPr id="3" name="">
            <a:extLst xmlns:a="http://schemas.openxmlformats.org/drawingml/2006/main">
              <a:ext uri="{FF2B5EF4-FFF2-40B4-BE49-F238E27FC236}">
                <a16:creationId xmlns:a16="http://schemas.microsoft.com/office/drawing/2014/main" id="{4B24ED3C-2F2A-4DE2-A200-A26D1DAB9259}"/>
              </a:ext>
            </a:extLst>
          </p:cNvPr>
          <p:cNvSpPr>
            <a:spLocks xmlns:a="http://schemas.openxmlformats.org/drawingml/2006/main" noGrp="1"/>
          </p:cNvSpPr>
          <p:nvPr/>
        </p:nvSpPr>
        <p:spPr>
          <a:xfrm xmlns:a="http://schemas.openxmlformats.org/drawingml/2006/main">
            <a:off x="876300" y="485775"/>
            <a:ext cx="2190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660" b="0" i="0">
                <a:solidFill>
                  <a:srgbClr val="5C6C67"/>
                </a:solidFill>
                <a:latin typeface="Lato"/>
                <a:ea typeface="Lato"/>
                <a:cs typeface="Lato"/>
              </a:defRPr>
            </a:pPr>
            <a:r>
              <a:rPr sz="660" b="0" i="0">
                <a:solidFill>
                  <a:srgbClr val="5C6C67"/>
                </a:solidFill>
                <a:latin typeface="Lato"/>
                <a:ea typeface="Lato"/>
                <a:cs typeface="Lato"/>
              </a:rPr>
              <a:t>Snacks</a:t>
            </a:r>
          </a:p>
        </p:txBody>
      </p:sp>
      <p:sp>
        <p:nvSpPr>
          <p:cNvPr id="4" name="">
            <a:extLst xmlns:a="http://schemas.openxmlformats.org/drawingml/2006/main">
              <a:ext uri="{FF2B5EF4-FFF2-40B4-BE49-F238E27FC236}">
                <a16:creationId xmlns:a16="http://schemas.microsoft.com/office/drawing/2014/main" id="{B29DA3DF-334B-4576-BC29-5FE87A6BEE3D}"/>
              </a:ext>
            </a:extLst>
          </p:cNvPr>
          <p:cNvSpPr>
            <a:spLocks xmlns:a="http://schemas.openxmlformats.org/drawingml/2006/main" noGrp="1"/>
          </p:cNvSpPr>
          <p:nvPr/>
        </p:nvSpPr>
        <p:spPr>
          <a:xfrm xmlns:a="http://schemas.openxmlformats.org/drawingml/2006/main">
            <a:off x="552450" y="714375"/>
            <a:ext cx="6667500" cy="0"/>
          </a:xfrm>
          <a:prstGeom xmlns:a="http://schemas.openxmlformats.org/drawingml/2006/main" prst="line">
            <a:avLst/>
          </a:prstGeom>
          <a:noFill xmlns:a="http://schemas.openxmlformats.org/drawingml/2006/main"/>
          <a:ln xmlns:a="http://schemas.openxmlformats.org/drawingml/2006/main" w="11430">
            <a:solidFill>
              <a:srgbClr val="D9E2DA"/>
            </a:solidFill>
            <a:prstDash val="solid"/>
          </a:ln>
        </p:spPr>
      </p:sp>
      <p:sp>
        <p:nvSpPr>
          <p:cNvPr id="5" name="">
            <a:extLst xmlns:a="http://schemas.openxmlformats.org/drawingml/2006/main">
              <a:ext uri="{FF2B5EF4-FFF2-40B4-BE49-F238E27FC236}">
                <a16:creationId xmlns:a16="http://schemas.microsoft.com/office/drawing/2014/main" id="{855A4568-8548-40EF-9F37-D623CD47B638}"/>
              </a:ext>
            </a:extLst>
          </p:cNvPr>
          <p:cNvSpPr>
            <a:spLocks xmlns:a="http://schemas.openxmlformats.org/drawingml/2006/main" noGrp="1"/>
          </p:cNvSpPr>
          <p:nvPr/>
        </p:nvSpPr>
        <p:spPr>
          <a:xfrm xmlns:a="http://schemas.openxmlformats.org/drawingml/2006/main">
            <a:off x="552450" y="9610725"/>
            <a:ext cx="6667500" cy="0"/>
          </a:xfrm>
          <a:prstGeom xmlns:a="http://schemas.openxmlformats.org/drawingml/2006/main" prst="line">
            <a:avLst/>
          </a:prstGeom>
          <a:noFill xmlns:a="http://schemas.openxmlformats.org/drawingml/2006/main"/>
          <a:ln xmlns:a="http://schemas.openxmlformats.org/drawingml/2006/main" w="11430">
            <a:solidFill>
              <a:srgbClr val="D9E2DA"/>
            </a:solidFill>
            <a:prstDash val="solid"/>
          </a:ln>
        </p:spPr>
      </p:sp>
      <p:sp>
        <p:nvSpPr>
          <p:cNvPr id="6" name="">
            <a:extLst xmlns:a="http://schemas.openxmlformats.org/drawingml/2006/main">
              <a:ext uri="{FF2B5EF4-FFF2-40B4-BE49-F238E27FC236}">
                <a16:creationId xmlns:a16="http://schemas.microsoft.com/office/drawing/2014/main" id="{11D6DB02-D3A9-4438-818F-2F0701E32874}"/>
              </a:ext>
            </a:extLst>
          </p:cNvPr>
          <p:cNvSpPr>
            <a:spLocks xmlns:a="http://schemas.openxmlformats.org/drawingml/2006/main" noGrp="1"/>
          </p:cNvSpPr>
          <p:nvPr/>
        </p:nvSpPr>
        <p:spPr>
          <a:xfrm xmlns:a="http://schemas.openxmlformats.org/drawingml/2006/main">
            <a:off x="552450" y="9715500"/>
            <a:ext cx="1762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660" b="0" i="0">
                <a:solidFill>
                  <a:srgbClr val="5C6C67"/>
                </a:solidFill>
                <a:latin typeface="Lato"/>
                <a:ea typeface="Lato"/>
                <a:cs typeface="Lato"/>
              </a:defRPr>
            </a:pPr>
            <a:r>
              <a:rPr sz="660" b="0" i="0">
                <a:solidFill>
                  <a:srgbClr val="5C6C67"/>
                </a:solidFill>
                <a:latin typeface="Lato"/>
                <a:ea typeface="Lato"/>
                <a:cs typeface="Lato"/>
              </a:rPr>
              <a:t>Mindful Diabetes Inc.</a:t>
            </a:r>
          </a:p>
        </p:txBody>
      </p:sp>
      <p:sp>
        <p:nvSpPr>
          <p:cNvPr id="7" name="">
            <a:extLst xmlns:a="http://schemas.openxmlformats.org/drawingml/2006/main">
              <a:ext uri="{FF2B5EF4-FFF2-40B4-BE49-F238E27FC236}">
                <a16:creationId xmlns:a16="http://schemas.microsoft.com/office/drawing/2014/main" id="{D0517B0A-7EF6-4319-ADB6-C137C0AB8DD4}"/>
              </a:ext>
            </a:extLst>
          </p:cNvPr>
          <p:cNvSpPr>
            <a:spLocks xmlns:a="http://schemas.openxmlformats.org/drawingml/2006/main" noGrp="1"/>
          </p:cNvSpPr>
          <p:nvPr/>
        </p:nvSpPr>
        <p:spPr>
          <a:xfrm xmlns:a="http://schemas.openxmlformats.org/drawingml/2006/main">
            <a:off x="3162300" y="9715500"/>
            <a:ext cx="14763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lnSpc>
                <a:spcPct val="116000"/>
              </a:lnSpc>
              <a:buNone/>
              <a:defRPr sz="660" b="0" i="0">
                <a:solidFill>
                  <a:srgbClr val="5C6C67"/>
                </a:solidFill>
                <a:latin typeface="Lato"/>
                <a:ea typeface="Lato"/>
                <a:cs typeface="Lato"/>
              </a:defRPr>
            </a:pPr>
            <a:r>
              <a:rPr sz="660" b="0" i="0">
                <a:solidFill>
                  <a:srgbClr val="5C6C67"/>
                </a:solidFill>
                <a:latin typeface="Lato"/>
                <a:ea typeface="Lato"/>
                <a:cs typeface="Lato"/>
              </a:rPr>
              <a:t>mindfuldiabetes.org</a:t>
            </a:r>
          </a:p>
        </p:txBody>
      </p:sp>
      <p:sp>
        <p:nvSpPr>
          <p:cNvPr id="8" name="">
            <a:extLst xmlns:a="http://schemas.openxmlformats.org/drawingml/2006/main">
              <a:ext uri="{FF2B5EF4-FFF2-40B4-BE49-F238E27FC236}">
                <a16:creationId xmlns:a16="http://schemas.microsoft.com/office/drawing/2014/main" id="{60517F5D-61DB-49AD-9E9E-687F9C9D00BF}"/>
              </a:ext>
            </a:extLst>
          </p:cNvPr>
          <p:cNvSpPr>
            <a:spLocks xmlns:a="http://schemas.openxmlformats.org/drawingml/2006/main" noGrp="1"/>
          </p:cNvSpPr>
          <p:nvPr/>
        </p:nvSpPr>
        <p:spPr>
          <a:xfrm xmlns:a="http://schemas.openxmlformats.org/drawingml/2006/main">
            <a:off x="6886575" y="9715500"/>
            <a:ext cx="3333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r">
              <a:lnSpc>
                <a:spcPct val="116000"/>
              </a:lnSpc>
              <a:buNone/>
              <a:defRPr sz="660" b="0" i="0">
                <a:solidFill>
                  <a:srgbClr val="F26A2E"/>
                </a:solidFill>
                <a:latin typeface="Lato"/>
                <a:ea typeface="Lato"/>
                <a:cs typeface="Lato"/>
              </a:defRPr>
            </a:pPr>
            <a:r>
              <a:rPr sz="660" b="0" i="0">
                <a:solidFill>
                  <a:srgbClr val="F26A2E"/>
                </a:solidFill>
                <a:latin typeface="Lato"/>
                <a:ea typeface="Lato"/>
                <a:cs typeface="Lato"/>
              </a:rPr>
              <a:t>13</a:t>
            </a:r>
          </a:p>
        </p:txBody>
      </p:sp>
      <p:sp>
        <p:nvSpPr>
          <p:cNvPr id="9" name="">
            <a:extLst xmlns:a="http://schemas.openxmlformats.org/drawingml/2006/main">
              <a:ext uri="{FF2B5EF4-FFF2-40B4-BE49-F238E27FC236}">
                <a16:creationId xmlns:a16="http://schemas.microsoft.com/office/drawing/2014/main" id="{757B7BCE-49A2-4A1F-994C-AA2F4935F366}"/>
              </a:ext>
            </a:extLst>
          </p:cNvPr>
          <p:cNvSpPr>
            <a:spLocks xmlns:a="http://schemas.openxmlformats.org/drawingml/2006/main" noGrp="1"/>
          </p:cNvSpPr>
          <p:nvPr/>
        </p:nvSpPr>
        <p:spPr>
          <a:xfrm xmlns:a="http://schemas.openxmlformats.org/drawingml/2006/main">
            <a:off x="628650" y="790575"/>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900" b="1" i="0">
                <a:solidFill>
                  <a:srgbClr val="F26A2E"/>
                </a:solidFill>
                <a:latin typeface="Lato"/>
                <a:ea typeface="Lato"/>
                <a:cs typeface="Lato"/>
              </a:defRPr>
            </a:pPr>
            <a:r>
              <a:rPr sz="900" b="1" i="0">
                <a:solidFill>
                  <a:srgbClr val="F26A2E"/>
                </a:solidFill>
                <a:latin typeface="Lato"/>
                <a:ea typeface="Lato"/>
                <a:cs typeface="Lato"/>
              </a:rPr>
              <a:t>SNACKS</a:t>
            </a:r>
          </a:p>
        </p:txBody>
      </p:sp>
      <p:sp>
        <p:nvSpPr>
          <p:cNvPr id="10" name="">
            <a:extLst xmlns:a="http://schemas.openxmlformats.org/drawingml/2006/main">
              <a:ext uri="{FF2B5EF4-FFF2-40B4-BE49-F238E27FC236}">
                <a16:creationId xmlns:a16="http://schemas.microsoft.com/office/drawing/2014/main" id="{113673EE-EBED-44DE-B2BA-3A56BCAD7430}"/>
              </a:ext>
            </a:extLst>
          </p:cNvPr>
          <p:cNvSpPr>
            <a:spLocks xmlns:a="http://schemas.openxmlformats.org/drawingml/2006/main" noGrp="1"/>
          </p:cNvSpPr>
          <p:nvPr/>
        </p:nvSpPr>
        <p:spPr>
          <a:xfrm xmlns:a="http://schemas.openxmlformats.org/drawingml/2006/main">
            <a:off x="590550" y="1066800"/>
            <a:ext cx="619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03000"/>
              </a:lnSpc>
              <a:buNone/>
              <a:defRPr sz="2550" b="1" i="0">
                <a:solidFill>
                  <a:srgbClr val="192442"/>
                </a:solidFill>
                <a:latin typeface="Lora"/>
                <a:ea typeface="Lora"/>
                <a:cs typeface="Lora"/>
              </a:defRPr>
            </a:pPr>
            <a:r>
              <a:rPr sz="2550" b="1" i="0">
                <a:solidFill>
                  <a:srgbClr val="192442"/>
                </a:solidFill>
                <a:latin typeface="Lora"/>
                <a:ea typeface="Lora"/>
                <a:cs typeface="Lora"/>
              </a:rPr>
              <a:t>Snacks are optional</a:t>
            </a:r>
          </a:p>
        </p:txBody>
      </p:sp>
      <p:sp>
        <p:nvSpPr>
          <p:cNvPr id="11" name="">
            <a:extLst xmlns:a="http://schemas.openxmlformats.org/drawingml/2006/main">
              <a:ext uri="{FF2B5EF4-FFF2-40B4-BE49-F238E27FC236}">
                <a16:creationId xmlns:a16="http://schemas.microsoft.com/office/drawing/2014/main" id="{E2DBF4D6-BF61-4DC2-9469-AAE78AAF1C12}"/>
              </a:ext>
            </a:extLst>
          </p:cNvPr>
          <p:cNvSpPr>
            <a:spLocks xmlns:a="http://schemas.openxmlformats.org/drawingml/2006/main" noGrp="1"/>
          </p:cNvSpPr>
          <p:nvPr/>
        </p:nvSpPr>
        <p:spPr>
          <a:xfrm xmlns:a="http://schemas.openxmlformats.org/drawingml/2006/main">
            <a:off x="628650" y="1866900"/>
            <a:ext cx="6381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25000"/>
              </a:lnSpc>
              <a:buNone/>
              <a:defRPr sz="1125" b="0" i="0">
                <a:solidFill>
                  <a:srgbClr val="5C6C67"/>
                </a:solidFill>
                <a:latin typeface="Lato"/>
                <a:ea typeface="Lato"/>
                <a:cs typeface="Lato"/>
              </a:defRPr>
            </a:pPr>
            <a:r>
              <a:rPr sz="1125" b="0" i="0">
                <a:solidFill>
                  <a:srgbClr val="5C6C67"/>
                </a:solidFill>
                <a:latin typeface="Lato"/>
                <a:ea typeface="Lato"/>
                <a:cs typeface="Lato"/>
              </a:rPr>
              <a:t>Some people feel better with planned snacks. Others do not need them. Snacks may be useful if meals are far apart, activity changes glucose, medication timing matters, or hunger makes the next meal harder.</a:t>
            </a:r>
          </a:p>
        </p:txBody>
      </p:sp>
      <p:sp>
        <p:nvSpPr>
          <p:cNvPr id="12" name="">
            <a:extLst xmlns:a="http://schemas.openxmlformats.org/drawingml/2006/main">
              <a:ext uri="{FF2B5EF4-FFF2-40B4-BE49-F238E27FC236}">
                <a16:creationId xmlns:a16="http://schemas.microsoft.com/office/drawing/2014/main" id="{19433E9E-8ED4-4594-8AF3-A4844D828F51}"/>
              </a:ext>
            </a:extLst>
          </p:cNvPr>
          <p:cNvSpPr>
            <a:spLocks xmlns:a="http://schemas.openxmlformats.org/drawingml/2006/main" noGrp="1"/>
          </p:cNvSpPr>
          <p:nvPr/>
        </p:nvSpPr>
        <p:spPr>
          <a:xfrm xmlns:a="http://schemas.openxmlformats.org/drawingml/2006/main">
            <a:off x="628650" y="2895600"/>
            <a:ext cx="3028950" cy="876300"/>
          </a:xfrm>
          <a:prstGeom xmlns:a="http://schemas.openxmlformats.org/drawingml/2006/main" prst="roundRect">
            <a:avLst>
              <a:gd name="adj" fmla="val 10870"/>
            </a:avLst>
          </a:prstGeom>
          <a:solidFill xmlns:a="http://schemas.openxmlformats.org/drawingml/2006/main">
            <a:srgbClr val="FFFFFF"/>
          </a:solidFill>
          <a:ln xmlns:a="http://schemas.openxmlformats.org/drawingml/2006/main" w="11430">
            <a:solidFill>
              <a:srgbClr val="D9E2DA"/>
            </a:solidFill>
            <a:prstDash val="solid"/>
          </a:ln>
        </p:spPr>
      </p:sp>
      <p:sp>
        <p:nvSpPr>
          <p:cNvPr id="13" name="">
            <a:extLst xmlns:a="http://schemas.openxmlformats.org/drawingml/2006/main">
              <a:ext uri="{FF2B5EF4-FFF2-40B4-BE49-F238E27FC236}">
                <a16:creationId xmlns:a16="http://schemas.microsoft.com/office/drawing/2014/main" id="{9EA54DDE-4371-4797-AE6F-E951240FC27E}"/>
              </a:ext>
            </a:extLst>
          </p:cNvPr>
          <p:cNvSpPr>
            <a:spLocks xmlns:a="http://schemas.openxmlformats.org/drawingml/2006/main" noGrp="1"/>
          </p:cNvSpPr>
          <p:nvPr/>
        </p:nvSpPr>
        <p:spPr>
          <a:xfrm xmlns:a="http://schemas.openxmlformats.org/drawingml/2006/main">
            <a:off x="781050" y="3086100"/>
            <a:ext cx="190500" cy="190500"/>
          </a:xfrm>
          <a:prstGeom xmlns:a="http://schemas.openxmlformats.org/drawingml/2006/main" prst="ellipse">
            <a:avLst/>
          </a:prstGeom>
          <a:solidFill xmlns:a="http://schemas.openxmlformats.org/drawingml/2006/main">
            <a:srgbClr val="FCE4D8"/>
          </a:solidFill>
          <a:ln xmlns:a="http://schemas.openxmlformats.org/drawingml/2006/main" w="11430">
            <a:solidFill>
              <a:srgbClr val="034B2F"/>
            </a:solidFill>
            <a:prstDash val="solid"/>
          </a:ln>
        </p:spPr>
      </p:sp>
      <p:sp>
        <p:nvSpPr>
          <p:cNvPr id="14" name="">
            <a:extLst xmlns:a="http://schemas.openxmlformats.org/drawingml/2006/main">
              <a:ext uri="{FF2B5EF4-FFF2-40B4-BE49-F238E27FC236}">
                <a16:creationId xmlns:a16="http://schemas.microsoft.com/office/drawing/2014/main" id="{F7A3F246-9DC2-4E96-AEC3-E85D0BC60FD1}"/>
              </a:ext>
            </a:extLst>
          </p:cNvPr>
          <p:cNvSpPr>
            <a:spLocks xmlns:a="http://schemas.openxmlformats.org/drawingml/2006/main" noGrp="1"/>
          </p:cNvSpPr>
          <p:nvPr/>
        </p:nvSpPr>
        <p:spPr>
          <a:xfrm xmlns:a="http://schemas.openxmlformats.org/drawingml/2006/main">
            <a:off x="1085850" y="3048000"/>
            <a:ext cx="2419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1013" b="1" i="0">
                <a:solidFill>
                  <a:srgbClr val="192442"/>
                </a:solidFill>
                <a:latin typeface="Lato"/>
                <a:ea typeface="Lato"/>
                <a:cs typeface="Lato"/>
              </a:defRPr>
            </a:pPr>
            <a:r>
              <a:rPr sz="1013" b="1" i="0">
                <a:solidFill>
                  <a:srgbClr val="192442"/>
                </a:solidFill>
                <a:latin typeface="Lato"/>
                <a:ea typeface="Lato"/>
                <a:cs typeface="Lato"/>
              </a:rPr>
              <a:t>Apple + peanut butter</a:t>
            </a:r>
          </a:p>
        </p:txBody>
      </p:sp>
      <p:sp>
        <p:nvSpPr>
          <p:cNvPr id="15" name="">
            <a:extLst xmlns:a="http://schemas.openxmlformats.org/drawingml/2006/main">
              <a:ext uri="{FF2B5EF4-FFF2-40B4-BE49-F238E27FC236}">
                <a16:creationId xmlns:a16="http://schemas.microsoft.com/office/drawing/2014/main" id="{9ED1D683-9BB7-4B77-BA10-D316BDC198C5}"/>
              </a:ext>
            </a:extLst>
          </p:cNvPr>
          <p:cNvSpPr>
            <a:spLocks xmlns:a="http://schemas.openxmlformats.org/drawingml/2006/main" noGrp="1"/>
          </p:cNvSpPr>
          <p:nvPr/>
        </p:nvSpPr>
        <p:spPr>
          <a:xfrm xmlns:a="http://schemas.openxmlformats.org/drawingml/2006/main">
            <a:off x="1085850" y="3267075"/>
            <a:ext cx="2419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0000"/>
              </a:lnSpc>
              <a:buNone/>
              <a:defRPr sz="788" b="0" i="0">
                <a:solidFill>
                  <a:srgbClr val="5C6C67"/>
                </a:solidFill>
                <a:latin typeface="Lato"/>
                <a:ea typeface="Lato"/>
                <a:cs typeface="Lato"/>
              </a:defRPr>
            </a:pPr>
            <a:r>
              <a:rPr sz="788" b="0" i="0">
                <a:solidFill>
                  <a:srgbClr val="5C6C67"/>
                </a:solidFill>
                <a:latin typeface="Lato"/>
                <a:ea typeface="Lato"/>
                <a:cs typeface="Lato"/>
              </a:rPr>
              <a:t>fruit plus satisfying fat</a:t>
            </a:r>
          </a:p>
        </p:txBody>
      </p:sp>
      <p:sp>
        <p:nvSpPr>
          <p:cNvPr id="16" name="">
            <a:extLst xmlns:a="http://schemas.openxmlformats.org/drawingml/2006/main">
              <a:ext uri="{FF2B5EF4-FFF2-40B4-BE49-F238E27FC236}">
                <a16:creationId xmlns:a16="http://schemas.microsoft.com/office/drawing/2014/main" id="{C2CAE019-8FF9-412B-93B0-DDEA513CA166}"/>
              </a:ext>
            </a:extLst>
          </p:cNvPr>
          <p:cNvSpPr>
            <a:spLocks xmlns:a="http://schemas.openxmlformats.org/drawingml/2006/main" noGrp="1"/>
          </p:cNvSpPr>
          <p:nvPr/>
        </p:nvSpPr>
        <p:spPr>
          <a:xfrm xmlns:a="http://schemas.openxmlformats.org/drawingml/2006/main">
            <a:off x="3924300" y="2895600"/>
            <a:ext cx="3028950" cy="876300"/>
          </a:xfrm>
          <a:prstGeom xmlns:a="http://schemas.openxmlformats.org/drawingml/2006/main" prst="roundRect">
            <a:avLst>
              <a:gd name="adj" fmla="val 10870"/>
            </a:avLst>
          </a:prstGeom>
          <a:solidFill xmlns:a="http://schemas.openxmlformats.org/drawingml/2006/main">
            <a:srgbClr val="FFFFFF"/>
          </a:solidFill>
          <a:ln xmlns:a="http://schemas.openxmlformats.org/drawingml/2006/main" w="11430">
            <a:solidFill>
              <a:srgbClr val="D9E2DA"/>
            </a:solidFill>
            <a:prstDash val="solid"/>
          </a:ln>
        </p:spPr>
      </p:sp>
      <p:sp>
        <p:nvSpPr>
          <p:cNvPr id="17" name="">
            <a:extLst xmlns:a="http://schemas.openxmlformats.org/drawingml/2006/main">
              <a:ext uri="{FF2B5EF4-FFF2-40B4-BE49-F238E27FC236}">
                <a16:creationId xmlns:a16="http://schemas.microsoft.com/office/drawing/2014/main" id="{46F4BD47-C702-4DC7-9F46-695CD0C4A567}"/>
              </a:ext>
            </a:extLst>
          </p:cNvPr>
          <p:cNvSpPr>
            <a:spLocks xmlns:a="http://schemas.openxmlformats.org/drawingml/2006/main" noGrp="1"/>
          </p:cNvSpPr>
          <p:nvPr/>
        </p:nvSpPr>
        <p:spPr>
          <a:xfrm xmlns:a="http://schemas.openxmlformats.org/drawingml/2006/main">
            <a:off x="4076700" y="3086100"/>
            <a:ext cx="190500" cy="190500"/>
          </a:xfrm>
          <a:prstGeom xmlns:a="http://schemas.openxmlformats.org/drawingml/2006/main" prst="ellipse">
            <a:avLst/>
          </a:prstGeom>
          <a:solidFill xmlns:a="http://schemas.openxmlformats.org/drawingml/2006/main">
            <a:srgbClr val="EEF7FA"/>
          </a:solidFill>
          <a:ln xmlns:a="http://schemas.openxmlformats.org/drawingml/2006/main" w="11430">
            <a:solidFill>
              <a:srgbClr val="034B2F"/>
            </a:solidFill>
            <a:prstDash val="solid"/>
          </a:ln>
        </p:spPr>
      </p:sp>
      <p:sp>
        <p:nvSpPr>
          <p:cNvPr id="18" name="">
            <a:extLst xmlns:a="http://schemas.openxmlformats.org/drawingml/2006/main">
              <a:ext uri="{FF2B5EF4-FFF2-40B4-BE49-F238E27FC236}">
                <a16:creationId xmlns:a16="http://schemas.microsoft.com/office/drawing/2014/main" id="{6B842914-FEA5-458B-B37B-2E55E933009B}"/>
              </a:ext>
            </a:extLst>
          </p:cNvPr>
          <p:cNvSpPr>
            <a:spLocks xmlns:a="http://schemas.openxmlformats.org/drawingml/2006/main" noGrp="1"/>
          </p:cNvSpPr>
          <p:nvPr/>
        </p:nvSpPr>
        <p:spPr>
          <a:xfrm xmlns:a="http://schemas.openxmlformats.org/drawingml/2006/main">
            <a:off x="4381500" y="3048000"/>
            <a:ext cx="2419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1013" b="1" i="0">
                <a:solidFill>
                  <a:srgbClr val="192442"/>
                </a:solidFill>
                <a:latin typeface="Lato"/>
                <a:ea typeface="Lato"/>
                <a:cs typeface="Lato"/>
              </a:defRPr>
            </a:pPr>
            <a:r>
              <a:rPr sz="1013" b="1" i="0">
                <a:solidFill>
                  <a:srgbClr val="192442"/>
                </a:solidFill>
                <a:latin typeface="Lato"/>
                <a:ea typeface="Lato"/>
                <a:cs typeface="Lato"/>
              </a:rPr>
              <a:t>Yogurt + berries</a:t>
            </a:r>
          </a:p>
        </p:txBody>
      </p:sp>
      <p:sp>
        <p:nvSpPr>
          <p:cNvPr id="19" name="">
            <a:extLst xmlns:a="http://schemas.openxmlformats.org/drawingml/2006/main">
              <a:ext uri="{FF2B5EF4-FFF2-40B4-BE49-F238E27FC236}">
                <a16:creationId xmlns:a16="http://schemas.microsoft.com/office/drawing/2014/main" id="{E0B486AF-29F4-40D6-AD9D-2E1A0EB32E8F}"/>
              </a:ext>
            </a:extLst>
          </p:cNvPr>
          <p:cNvSpPr>
            <a:spLocks xmlns:a="http://schemas.openxmlformats.org/drawingml/2006/main" noGrp="1"/>
          </p:cNvSpPr>
          <p:nvPr/>
        </p:nvSpPr>
        <p:spPr>
          <a:xfrm xmlns:a="http://schemas.openxmlformats.org/drawingml/2006/main">
            <a:off x="4381500" y="3267075"/>
            <a:ext cx="2419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0000"/>
              </a:lnSpc>
              <a:buNone/>
              <a:defRPr sz="788" b="0" i="0">
                <a:solidFill>
                  <a:srgbClr val="5C6C67"/>
                </a:solidFill>
                <a:latin typeface="Lato"/>
                <a:ea typeface="Lato"/>
                <a:cs typeface="Lato"/>
              </a:defRPr>
            </a:pPr>
            <a:r>
              <a:rPr sz="788" b="0" i="0">
                <a:solidFill>
                  <a:srgbClr val="5C6C67"/>
                </a:solidFill>
                <a:latin typeface="Lato"/>
                <a:ea typeface="Lato"/>
                <a:cs typeface="Lato"/>
              </a:rPr>
              <a:t>plain yogurt and fruit</a:t>
            </a:r>
          </a:p>
        </p:txBody>
      </p:sp>
      <p:sp>
        <p:nvSpPr>
          <p:cNvPr id="20" name="">
            <a:extLst xmlns:a="http://schemas.openxmlformats.org/drawingml/2006/main">
              <a:ext uri="{FF2B5EF4-FFF2-40B4-BE49-F238E27FC236}">
                <a16:creationId xmlns:a16="http://schemas.microsoft.com/office/drawing/2014/main" id="{77C7C994-D9FA-447D-9FD8-DF58FAA7CF33}"/>
              </a:ext>
            </a:extLst>
          </p:cNvPr>
          <p:cNvSpPr>
            <a:spLocks xmlns:a="http://schemas.openxmlformats.org/drawingml/2006/main" noGrp="1"/>
          </p:cNvSpPr>
          <p:nvPr/>
        </p:nvSpPr>
        <p:spPr>
          <a:xfrm xmlns:a="http://schemas.openxmlformats.org/drawingml/2006/main">
            <a:off x="628650" y="3981450"/>
            <a:ext cx="3028950" cy="876300"/>
          </a:xfrm>
          <a:prstGeom xmlns:a="http://schemas.openxmlformats.org/drawingml/2006/main" prst="roundRect">
            <a:avLst>
              <a:gd name="adj" fmla="val 10870"/>
            </a:avLst>
          </a:prstGeom>
          <a:solidFill xmlns:a="http://schemas.openxmlformats.org/drawingml/2006/main">
            <a:srgbClr val="FFFFFF"/>
          </a:solidFill>
          <a:ln xmlns:a="http://schemas.openxmlformats.org/drawingml/2006/main" w="11430">
            <a:solidFill>
              <a:srgbClr val="D9E2DA"/>
            </a:solidFill>
            <a:prstDash val="solid"/>
          </a:ln>
        </p:spPr>
      </p:sp>
      <p:sp>
        <p:nvSpPr>
          <p:cNvPr id="21" name="">
            <a:extLst xmlns:a="http://schemas.openxmlformats.org/drawingml/2006/main">
              <a:ext uri="{FF2B5EF4-FFF2-40B4-BE49-F238E27FC236}">
                <a16:creationId xmlns:a16="http://schemas.microsoft.com/office/drawing/2014/main" id="{AD838BC1-2464-410E-87BC-5DBF19983A05}"/>
              </a:ext>
            </a:extLst>
          </p:cNvPr>
          <p:cNvSpPr>
            <a:spLocks xmlns:a="http://schemas.openxmlformats.org/drawingml/2006/main" noGrp="1"/>
          </p:cNvSpPr>
          <p:nvPr/>
        </p:nvSpPr>
        <p:spPr>
          <a:xfrm xmlns:a="http://schemas.openxmlformats.org/drawingml/2006/main">
            <a:off x="781050" y="4171950"/>
            <a:ext cx="190500" cy="190500"/>
          </a:xfrm>
          <a:prstGeom xmlns:a="http://schemas.openxmlformats.org/drawingml/2006/main" prst="ellipse">
            <a:avLst/>
          </a:prstGeom>
          <a:solidFill xmlns:a="http://schemas.openxmlformats.org/drawingml/2006/main">
            <a:srgbClr val="E6F2EC"/>
          </a:solidFill>
          <a:ln xmlns:a="http://schemas.openxmlformats.org/drawingml/2006/main" w="11430">
            <a:solidFill>
              <a:srgbClr val="034B2F"/>
            </a:solidFill>
            <a:prstDash val="solid"/>
          </a:ln>
        </p:spPr>
      </p:sp>
      <p:sp>
        <p:nvSpPr>
          <p:cNvPr id="22" name="">
            <a:extLst xmlns:a="http://schemas.openxmlformats.org/drawingml/2006/main">
              <a:ext uri="{FF2B5EF4-FFF2-40B4-BE49-F238E27FC236}">
                <a16:creationId xmlns:a16="http://schemas.microsoft.com/office/drawing/2014/main" id="{5CCE2065-AC20-410A-A7CB-494A1231B900}"/>
              </a:ext>
            </a:extLst>
          </p:cNvPr>
          <p:cNvSpPr>
            <a:spLocks xmlns:a="http://schemas.openxmlformats.org/drawingml/2006/main" noGrp="1"/>
          </p:cNvSpPr>
          <p:nvPr/>
        </p:nvSpPr>
        <p:spPr>
          <a:xfrm xmlns:a="http://schemas.openxmlformats.org/drawingml/2006/main">
            <a:off x="1085850" y="4133850"/>
            <a:ext cx="2419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1013" b="1" i="0">
                <a:solidFill>
                  <a:srgbClr val="192442"/>
                </a:solidFill>
                <a:latin typeface="Lato"/>
                <a:ea typeface="Lato"/>
                <a:cs typeface="Lato"/>
              </a:defRPr>
            </a:pPr>
            <a:r>
              <a:rPr sz="1013" b="1" i="0">
                <a:solidFill>
                  <a:srgbClr val="192442"/>
                </a:solidFill>
                <a:latin typeface="Lato"/>
                <a:ea typeface="Lato"/>
                <a:cs typeface="Lato"/>
              </a:rPr>
              <a:t>Hummus + vegetables</a:t>
            </a:r>
          </a:p>
        </p:txBody>
      </p:sp>
      <p:sp>
        <p:nvSpPr>
          <p:cNvPr id="23" name="">
            <a:extLst xmlns:a="http://schemas.openxmlformats.org/drawingml/2006/main">
              <a:ext uri="{FF2B5EF4-FFF2-40B4-BE49-F238E27FC236}">
                <a16:creationId xmlns:a16="http://schemas.microsoft.com/office/drawing/2014/main" id="{62E61699-1C4C-4C2E-B49C-4DB8E56437C1}"/>
              </a:ext>
            </a:extLst>
          </p:cNvPr>
          <p:cNvSpPr>
            <a:spLocks xmlns:a="http://schemas.openxmlformats.org/drawingml/2006/main" noGrp="1"/>
          </p:cNvSpPr>
          <p:nvPr/>
        </p:nvSpPr>
        <p:spPr>
          <a:xfrm xmlns:a="http://schemas.openxmlformats.org/drawingml/2006/main">
            <a:off x="1085850" y="4352925"/>
            <a:ext cx="2419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0000"/>
              </a:lnSpc>
              <a:buNone/>
              <a:defRPr sz="788" b="0" i="0">
                <a:solidFill>
                  <a:srgbClr val="5C6C67"/>
                </a:solidFill>
                <a:latin typeface="Lato"/>
                <a:ea typeface="Lato"/>
                <a:cs typeface="Lato"/>
              </a:defRPr>
            </a:pPr>
            <a:r>
              <a:rPr sz="788" b="0" i="0">
                <a:solidFill>
                  <a:srgbClr val="5C6C67"/>
                </a:solidFill>
                <a:latin typeface="Lato"/>
                <a:ea typeface="Lato"/>
                <a:cs typeface="Lato"/>
              </a:rPr>
              <a:t>fiber and flavor</a:t>
            </a:r>
          </a:p>
        </p:txBody>
      </p:sp>
      <p:sp>
        <p:nvSpPr>
          <p:cNvPr id="24" name="">
            <a:extLst xmlns:a="http://schemas.openxmlformats.org/drawingml/2006/main">
              <a:ext uri="{FF2B5EF4-FFF2-40B4-BE49-F238E27FC236}">
                <a16:creationId xmlns:a16="http://schemas.microsoft.com/office/drawing/2014/main" id="{22F0E043-0CA3-4052-A77C-44925583A3DC}"/>
              </a:ext>
            </a:extLst>
          </p:cNvPr>
          <p:cNvSpPr>
            <a:spLocks xmlns:a="http://schemas.openxmlformats.org/drawingml/2006/main" noGrp="1"/>
          </p:cNvSpPr>
          <p:nvPr/>
        </p:nvSpPr>
        <p:spPr>
          <a:xfrm xmlns:a="http://schemas.openxmlformats.org/drawingml/2006/main">
            <a:off x="3924300" y="3981450"/>
            <a:ext cx="3028950" cy="876300"/>
          </a:xfrm>
          <a:prstGeom xmlns:a="http://schemas.openxmlformats.org/drawingml/2006/main" prst="roundRect">
            <a:avLst>
              <a:gd name="adj" fmla="val 10870"/>
            </a:avLst>
          </a:prstGeom>
          <a:solidFill xmlns:a="http://schemas.openxmlformats.org/drawingml/2006/main">
            <a:srgbClr val="FFFFFF"/>
          </a:solidFill>
          <a:ln xmlns:a="http://schemas.openxmlformats.org/drawingml/2006/main" w="11430">
            <a:solidFill>
              <a:srgbClr val="D9E2DA"/>
            </a:solidFill>
            <a:prstDash val="solid"/>
          </a:ln>
        </p:spPr>
      </p:sp>
      <p:sp>
        <p:nvSpPr>
          <p:cNvPr id="25" name="">
            <a:extLst xmlns:a="http://schemas.openxmlformats.org/drawingml/2006/main">
              <a:ext uri="{FF2B5EF4-FFF2-40B4-BE49-F238E27FC236}">
                <a16:creationId xmlns:a16="http://schemas.microsoft.com/office/drawing/2014/main" id="{8FC7761F-9DDC-451D-A8C7-6E8B585BE62F}"/>
              </a:ext>
            </a:extLst>
          </p:cNvPr>
          <p:cNvSpPr>
            <a:spLocks xmlns:a="http://schemas.openxmlformats.org/drawingml/2006/main" noGrp="1"/>
          </p:cNvSpPr>
          <p:nvPr/>
        </p:nvSpPr>
        <p:spPr>
          <a:xfrm xmlns:a="http://schemas.openxmlformats.org/drawingml/2006/main">
            <a:off x="4076700" y="4171950"/>
            <a:ext cx="190500" cy="190500"/>
          </a:xfrm>
          <a:prstGeom xmlns:a="http://schemas.openxmlformats.org/drawingml/2006/main" prst="ellipse">
            <a:avLst/>
          </a:prstGeom>
          <a:solidFill xmlns:a="http://schemas.openxmlformats.org/drawingml/2006/main">
            <a:srgbClr val="EEF7FA"/>
          </a:solidFill>
          <a:ln xmlns:a="http://schemas.openxmlformats.org/drawingml/2006/main" w="11430">
            <a:solidFill>
              <a:srgbClr val="034B2F"/>
            </a:solidFill>
            <a:prstDash val="solid"/>
          </a:ln>
        </p:spPr>
      </p:sp>
      <p:sp>
        <p:nvSpPr>
          <p:cNvPr id="26" name="">
            <a:extLst xmlns:a="http://schemas.openxmlformats.org/drawingml/2006/main">
              <a:ext uri="{FF2B5EF4-FFF2-40B4-BE49-F238E27FC236}">
                <a16:creationId xmlns:a16="http://schemas.microsoft.com/office/drawing/2014/main" id="{532D97EE-AD35-4908-9694-3315F851EA2B}"/>
              </a:ext>
            </a:extLst>
          </p:cNvPr>
          <p:cNvSpPr>
            <a:spLocks xmlns:a="http://schemas.openxmlformats.org/drawingml/2006/main" noGrp="1"/>
          </p:cNvSpPr>
          <p:nvPr/>
        </p:nvSpPr>
        <p:spPr>
          <a:xfrm xmlns:a="http://schemas.openxmlformats.org/drawingml/2006/main">
            <a:off x="4381500" y="4133850"/>
            <a:ext cx="2419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1013" b="1" i="0">
                <a:solidFill>
                  <a:srgbClr val="192442"/>
                </a:solidFill>
                <a:latin typeface="Lato"/>
                <a:ea typeface="Lato"/>
                <a:cs typeface="Lato"/>
              </a:defRPr>
            </a:pPr>
            <a:r>
              <a:rPr sz="1013" b="1" i="0">
                <a:solidFill>
                  <a:srgbClr val="192442"/>
                </a:solidFill>
                <a:latin typeface="Lato"/>
                <a:ea typeface="Lato"/>
                <a:cs typeface="Lato"/>
              </a:rPr>
              <a:t>Egg + fruit</a:t>
            </a:r>
          </a:p>
        </p:txBody>
      </p:sp>
      <p:sp>
        <p:nvSpPr>
          <p:cNvPr id="27" name="">
            <a:extLst xmlns:a="http://schemas.openxmlformats.org/drawingml/2006/main">
              <a:ext uri="{FF2B5EF4-FFF2-40B4-BE49-F238E27FC236}">
                <a16:creationId xmlns:a16="http://schemas.microsoft.com/office/drawing/2014/main" id="{225A05B4-680D-4E92-8A7C-763B0C9FF437}"/>
              </a:ext>
            </a:extLst>
          </p:cNvPr>
          <p:cNvSpPr>
            <a:spLocks xmlns:a="http://schemas.openxmlformats.org/drawingml/2006/main" noGrp="1"/>
          </p:cNvSpPr>
          <p:nvPr/>
        </p:nvSpPr>
        <p:spPr>
          <a:xfrm xmlns:a="http://schemas.openxmlformats.org/drawingml/2006/main">
            <a:off x="4381500" y="4352925"/>
            <a:ext cx="2419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0000"/>
              </a:lnSpc>
              <a:buNone/>
              <a:defRPr sz="788" b="0" i="0">
                <a:solidFill>
                  <a:srgbClr val="5C6C67"/>
                </a:solidFill>
                <a:latin typeface="Lato"/>
                <a:ea typeface="Lato"/>
                <a:cs typeface="Lato"/>
              </a:defRPr>
            </a:pPr>
            <a:r>
              <a:rPr sz="788" b="0" i="0">
                <a:solidFill>
                  <a:srgbClr val="5C6C67"/>
                </a:solidFill>
                <a:latin typeface="Lato"/>
                <a:ea typeface="Lato"/>
                <a:cs typeface="Lato"/>
              </a:rPr>
              <a:t>simple protein and carbohydrate</a:t>
            </a:r>
          </a:p>
        </p:txBody>
      </p:sp>
      <p:sp>
        <p:nvSpPr>
          <p:cNvPr id="28" name="">
            <a:extLst xmlns:a="http://schemas.openxmlformats.org/drawingml/2006/main">
              <a:ext uri="{FF2B5EF4-FFF2-40B4-BE49-F238E27FC236}">
                <a16:creationId xmlns:a16="http://schemas.microsoft.com/office/drawing/2014/main" id="{F586E2DC-5EA5-4B76-96F7-CC27AE8E6CA9}"/>
              </a:ext>
            </a:extLst>
          </p:cNvPr>
          <p:cNvSpPr>
            <a:spLocks xmlns:a="http://schemas.openxmlformats.org/drawingml/2006/main" noGrp="1"/>
          </p:cNvSpPr>
          <p:nvPr/>
        </p:nvSpPr>
        <p:spPr>
          <a:xfrm xmlns:a="http://schemas.openxmlformats.org/drawingml/2006/main">
            <a:off x="628650" y="5067300"/>
            <a:ext cx="3028950" cy="876300"/>
          </a:xfrm>
          <a:prstGeom xmlns:a="http://schemas.openxmlformats.org/drawingml/2006/main" prst="roundRect">
            <a:avLst>
              <a:gd name="adj" fmla="val 10870"/>
            </a:avLst>
          </a:prstGeom>
          <a:solidFill xmlns:a="http://schemas.openxmlformats.org/drawingml/2006/main">
            <a:srgbClr val="FFFFFF"/>
          </a:solidFill>
          <a:ln xmlns:a="http://schemas.openxmlformats.org/drawingml/2006/main" w="11430">
            <a:solidFill>
              <a:srgbClr val="D9E2DA"/>
            </a:solidFill>
            <a:prstDash val="solid"/>
          </a:ln>
        </p:spPr>
      </p:sp>
      <p:sp>
        <p:nvSpPr>
          <p:cNvPr id="29" name="">
            <a:extLst xmlns:a="http://schemas.openxmlformats.org/drawingml/2006/main">
              <a:ext uri="{FF2B5EF4-FFF2-40B4-BE49-F238E27FC236}">
                <a16:creationId xmlns:a16="http://schemas.microsoft.com/office/drawing/2014/main" id="{F22EDFAB-8C3C-4D34-B31D-98AD17CEC60C}"/>
              </a:ext>
            </a:extLst>
          </p:cNvPr>
          <p:cNvSpPr>
            <a:spLocks xmlns:a="http://schemas.openxmlformats.org/drawingml/2006/main" noGrp="1"/>
          </p:cNvSpPr>
          <p:nvPr/>
        </p:nvSpPr>
        <p:spPr>
          <a:xfrm xmlns:a="http://schemas.openxmlformats.org/drawingml/2006/main">
            <a:off x="781050" y="5257800"/>
            <a:ext cx="190500" cy="190500"/>
          </a:xfrm>
          <a:prstGeom xmlns:a="http://schemas.openxmlformats.org/drawingml/2006/main" prst="ellipse">
            <a:avLst/>
          </a:prstGeom>
          <a:solidFill xmlns:a="http://schemas.openxmlformats.org/drawingml/2006/main">
            <a:srgbClr val="E6F2EC"/>
          </a:solidFill>
          <a:ln xmlns:a="http://schemas.openxmlformats.org/drawingml/2006/main" w="11430">
            <a:solidFill>
              <a:srgbClr val="034B2F"/>
            </a:solidFill>
            <a:prstDash val="solid"/>
          </a:ln>
        </p:spPr>
      </p:sp>
      <p:sp>
        <p:nvSpPr>
          <p:cNvPr id="30" name="">
            <a:extLst xmlns:a="http://schemas.openxmlformats.org/drawingml/2006/main">
              <a:ext uri="{FF2B5EF4-FFF2-40B4-BE49-F238E27FC236}">
                <a16:creationId xmlns:a16="http://schemas.microsoft.com/office/drawing/2014/main" id="{6FD3642E-98F9-49DE-A93A-FF0503970BC9}"/>
              </a:ext>
            </a:extLst>
          </p:cNvPr>
          <p:cNvSpPr>
            <a:spLocks xmlns:a="http://schemas.openxmlformats.org/drawingml/2006/main" noGrp="1"/>
          </p:cNvSpPr>
          <p:nvPr/>
        </p:nvSpPr>
        <p:spPr>
          <a:xfrm xmlns:a="http://schemas.openxmlformats.org/drawingml/2006/main">
            <a:off x="1085850" y="5219700"/>
            <a:ext cx="2419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1013" b="1" i="0">
                <a:solidFill>
                  <a:srgbClr val="192442"/>
                </a:solidFill>
                <a:latin typeface="Lato"/>
                <a:ea typeface="Lato"/>
                <a:cs typeface="Lato"/>
              </a:defRPr>
            </a:pPr>
            <a:r>
              <a:rPr sz="1013" b="1" i="0">
                <a:solidFill>
                  <a:srgbClr val="192442"/>
                </a:solidFill>
                <a:latin typeface="Lato"/>
                <a:ea typeface="Lato"/>
                <a:cs typeface="Lato"/>
              </a:rPr>
              <a:t>Edamame or chickpeas</a:t>
            </a:r>
          </a:p>
        </p:txBody>
      </p:sp>
      <p:sp>
        <p:nvSpPr>
          <p:cNvPr id="31" name="">
            <a:extLst xmlns:a="http://schemas.openxmlformats.org/drawingml/2006/main">
              <a:ext uri="{FF2B5EF4-FFF2-40B4-BE49-F238E27FC236}">
                <a16:creationId xmlns:a16="http://schemas.microsoft.com/office/drawing/2014/main" id="{FE24B8D8-D358-4D83-9582-567A4199EC46}"/>
              </a:ext>
            </a:extLst>
          </p:cNvPr>
          <p:cNvSpPr>
            <a:spLocks xmlns:a="http://schemas.openxmlformats.org/drawingml/2006/main" noGrp="1"/>
          </p:cNvSpPr>
          <p:nvPr/>
        </p:nvSpPr>
        <p:spPr>
          <a:xfrm xmlns:a="http://schemas.openxmlformats.org/drawingml/2006/main">
            <a:off x="1085850" y="5438775"/>
            <a:ext cx="2419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0000"/>
              </a:lnSpc>
              <a:buNone/>
              <a:defRPr sz="788" b="0" i="0">
                <a:solidFill>
                  <a:srgbClr val="5C6C67"/>
                </a:solidFill>
                <a:latin typeface="Lato"/>
                <a:ea typeface="Lato"/>
                <a:cs typeface="Lato"/>
              </a:defRPr>
            </a:pPr>
            <a:r>
              <a:rPr sz="788" b="0" i="0">
                <a:solidFill>
                  <a:srgbClr val="5C6C67"/>
                </a:solidFill>
                <a:latin typeface="Lato"/>
                <a:ea typeface="Lato"/>
                <a:cs typeface="Lato"/>
              </a:rPr>
              <a:t>plant-based snack</a:t>
            </a:r>
          </a:p>
        </p:txBody>
      </p:sp>
      <p:sp>
        <p:nvSpPr>
          <p:cNvPr id="32" name="">
            <a:extLst xmlns:a="http://schemas.openxmlformats.org/drawingml/2006/main">
              <a:ext uri="{FF2B5EF4-FFF2-40B4-BE49-F238E27FC236}">
                <a16:creationId xmlns:a16="http://schemas.microsoft.com/office/drawing/2014/main" id="{366EF79E-9B67-4EEB-BCE8-04A4D19E9F7B}"/>
              </a:ext>
            </a:extLst>
          </p:cNvPr>
          <p:cNvSpPr>
            <a:spLocks xmlns:a="http://schemas.openxmlformats.org/drawingml/2006/main" noGrp="1"/>
          </p:cNvSpPr>
          <p:nvPr/>
        </p:nvSpPr>
        <p:spPr>
          <a:xfrm xmlns:a="http://schemas.openxmlformats.org/drawingml/2006/main">
            <a:off x="3924300" y="5067300"/>
            <a:ext cx="3028950" cy="876300"/>
          </a:xfrm>
          <a:prstGeom xmlns:a="http://schemas.openxmlformats.org/drawingml/2006/main" prst="roundRect">
            <a:avLst>
              <a:gd name="adj" fmla="val 10870"/>
            </a:avLst>
          </a:prstGeom>
          <a:solidFill xmlns:a="http://schemas.openxmlformats.org/drawingml/2006/main">
            <a:srgbClr val="FFFFFF"/>
          </a:solidFill>
          <a:ln xmlns:a="http://schemas.openxmlformats.org/drawingml/2006/main" w="11430">
            <a:solidFill>
              <a:srgbClr val="D9E2DA"/>
            </a:solidFill>
            <a:prstDash val="solid"/>
          </a:ln>
        </p:spPr>
      </p:sp>
      <p:sp>
        <p:nvSpPr>
          <p:cNvPr id="33" name="">
            <a:extLst xmlns:a="http://schemas.openxmlformats.org/drawingml/2006/main">
              <a:ext uri="{FF2B5EF4-FFF2-40B4-BE49-F238E27FC236}">
                <a16:creationId xmlns:a16="http://schemas.microsoft.com/office/drawing/2014/main" id="{CC7916BB-E6B8-43BB-8788-64546815885C}"/>
              </a:ext>
            </a:extLst>
          </p:cNvPr>
          <p:cNvSpPr>
            <a:spLocks xmlns:a="http://schemas.openxmlformats.org/drawingml/2006/main" noGrp="1"/>
          </p:cNvSpPr>
          <p:nvPr/>
        </p:nvSpPr>
        <p:spPr>
          <a:xfrm xmlns:a="http://schemas.openxmlformats.org/drawingml/2006/main">
            <a:off x="4076700" y="5257800"/>
            <a:ext cx="190500" cy="190500"/>
          </a:xfrm>
          <a:prstGeom xmlns:a="http://schemas.openxmlformats.org/drawingml/2006/main" prst="ellipse">
            <a:avLst/>
          </a:prstGeom>
          <a:solidFill xmlns:a="http://schemas.openxmlformats.org/drawingml/2006/main">
            <a:srgbClr val="FCE4D8"/>
          </a:solidFill>
          <a:ln xmlns:a="http://schemas.openxmlformats.org/drawingml/2006/main" w="11430">
            <a:solidFill>
              <a:srgbClr val="034B2F"/>
            </a:solidFill>
            <a:prstDash val="solid"/>
          </a:ln>
        </p:spPr>
      </p:sp>
      <p:sp>
        <p:nvSpPr>
          <p:cNvPr id="34" name="">
            <a:extLst xmlns:a="http://schemas.openxmlformats.org/drawingml/2006/main">
              <a:ext uri="{FF2B5EF4-FFF2-40B4-BE49-F238E27FC236}">
                <a16:creationId xmlns:a16="http://schemas.microsoft.com/office/drawing/2014/main" id="{BCC818F4-1F84-4B13-9C4A-2C5EC76B9EC8}"/>
              </a:ext>
            </a:extLst>
          </p:cNvPr>
          <p:cNvSpPr>
            <a:spLocks xmlns:a="http://schemas.openxmlformats.org/drawingml/2006/main" noGrp="1"/>
          </p:cNvSpPr>
          <p:nvPr/>
        </p:nvSpPr>
        <p:spPr>
          <a:xfrm xmlns:a="http://schemas.openxmlformats.org/drawingml/2006/main">
            <a:off x="4381500" y="5219700"/>
            <a:ext cx="2419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1013" b="1" i="0">
                <a:solidFill>
                  <a:srgbClr val="192442"/>
                </a:solidFill>
                <a:latin typeface="Lato"/>
                <a:ea typeface="Lato"/>
                <a:cs typeface="Lato"/>
              </a:defRPr>
            </a:pPr>
            <a:r>
              <a:rPr sz="1013" b="1" i="0">
                <a:solidFill>
                  <a:srgbClr val="192442"/>
                </a:solidFill>
                <a:latin typeface="Lato"/>
                <a:ea typeface="Lato"/>
                <a:cs typeface="Lato"/>
              </a:rPr>
              <a:t>Nuts + fruit</a:t>
            </a:r>
          </a:p>
        </p:txBody>
      </p:sp>
      <p:sp>
        <p:nvSpPr>
          <p:cNvPr id="35" name="">
            <a:extLst xmlns:a="http://schemas.openxmlformats.org/drawingml/2006/main">
              <a:ext uri="{FF2B5EF4-FFF2-40B4-BE49-F238E27FC236}">
                <a16:creationId xmlns:a16="http://schemas.microsoft.com/office/drawing/2014/main" id="{4C442CE7-BC55-4625-9A70-6AC2D231F316}"/>
              </a:ext>
            </a:extLst>
          </p:cNvPr>
          <p:cNvSpPr>
            <a:spLocks xmlns:a="http://schemas.openxmlformats.org/drawingml/2006/main" noGrp="1"/>
          </p:cNvSpPr>
          <p:nvPr/>
        </p:nvSpPr>
        <p:spPr>
          <a:xfrm xmlns:a="http://schemas.openxmlformats.org/drawingml/2006/main">
            <a:off x="4381500" y="5438775"/>
            <a:ext cx="2419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0000"/>
              </a:lnSpc>
              <a:buNone/>
              <a:defRPr sz="788" b="0" i="0">
                <a:solidFill>
                  <a:srgbClr val="5C6C67"/>
                </a:solidFill>
                <a:latin typeface="Lato"/>
                <a:ea typeface="Lato"/>
                <a:cs typeface="Lato"/>
              </a:defRPr>
            </a:pPr>
            <a:r>
              <a:rPr sz="788" b="0" i="0">
                <a:solidFill>
                  <a:srgbClr val="5C6C67"/>
                </a:solidFill>
                <a:latin typeface="Lato"/>
                <a:ea typeface="Lato"/>
                <a:cs typeface="Lato"/>
              </a:rPr>
              <a:t>portable option</a:t>
            </a:r>
          </a:p>
        </p:txBody>
      </p:sp>
      <p:sp>
        <p:nvSpPr>
          <p:cNvPr id="36" name="">
            <a:extLst xmlns:a="http://schemas.openxmlformats.org/drawingml/2006/main">
              <a:ext uri="{FF2B5EF4-FFF2-40B4-BE49-F238E27FC236}">
                <a16:creationId xmlns:a16="http://schemas.microsoft.com/office/drawing/2014/main" id="{678927E7-B3CF-4AB5-AC00-C47FCD2F7A15}"/>
              </a:ext>
            </a:extLst>
          </p:cNvPr>
          <p:cNvSpPr>
            <a:spLocks xmlns:a="http://schemas.openxmlformats.org/drawingml/2006/main" noGrp="1"/>
          </p:cNvSpPr>
          <p:nvPr/>
        </p:nvSpPr>
        <p:spPr>
          <a:xfrm xmlns:a="http://schemas.openxmlformats.org/drawingml/2006/main">
            <a:off x="628650" y="8305800"/>
            <a:ext cx="6515100" cy="742950"/>
          </a:xfrm>
          <a:prstGeom xmlns:a="http://schemas.openxmlformats.org/drawingml/2006/main" prst="roundRect">
            <a:avLst>
              <a:gd name="adj" fmla="val 12821"/>
            </a:avLst>
          </a:prstGeom>
          <a:solidFill xmlns:a="http://schemas.openxmlformats.org/drawingml/2006/main">
            <a:srgbClr val="FCE4D8"/>
          </a:solidFill>
          <a:ln xmlns:a="http://schemas.openxmlformats.org/drawingml/2006/main" w="11430">
            <a:solidFill>
              <a:srgbClr val="F3B499"/>
            </a:solidFill>
            <a:prstDash val="solid"/>
          </a:ln>
        </p:spPr>
      </p:sp>
      <p:sp>
        <p:nvSpPr>
          <p:cNvPr id="37" name="">
            <a:extLst xmlns:a="http://schemas.openxmlformats.org/drawingml/2006/main">
              <a:ext uri="{FF2B5EF4-FFF2-40B4-BE49-F238E27FC236}">
                <a16:creationId xmlns:a16="http://schemas.microsoft.com/office/drawing/2014/main" id="{0EB19D1E-7325-483D-996B-609EAD48E5B8}"/>
              </a:ext>
            </a:extLst>
          </p:cNvPr>
          <p:cNvSpPr>
            <a:spLocks xmlns:a="http://schemas.openxmlformats.org/drawingml/2006/main" noGrp="1"/>
          </p:cNvSpPr>
          <p:nvPr/>
        </p:nvSpPr>
        <p:spPr>
          <a:xfrm xmlns:a="http://schemas.openxmlformats.org/drawingml/2006/main">
            <a:off x="790575" y="84391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975" b="1" i="0">
                <a:solidFill>
                  <a:srgbClr val="8F3519"/>
                </a:solidFill>
                <a:latin typeface="Lato"/>
                <a:ea typeface="Lato"/>
                <a:cs typeface="Lato"/>
              </a:defRPr>
            </a:pPr>
            <a:r>
              <a:rPr sz="975" b="1" i="0">
                <a:solidFill>
                  <a:srgbClr val="8F3519"/>
                </a:solidFill>
                <a:latin typeface="Lato"/>
                <a:ea typeface="Lato"/>
                <a:cs typeface="Lato"/>
              </a:rPr>
              <a:t>Medication safety</a:t>
            </a:r>
          </a:p>
        </p:txBody>
      </p:sp>
      <p:sp>
        <p:nvSpPr>
          <p:cNvPr id="38" name="">
            <a:extLst xmlns:a="http://schemas.openxmlformats.org/drawingml/2006/main">
              <a:ext uri="{FF2B5EF4-FFF2-40B4-BE49-F238E27FC236}">
                <a16:creationId xmlns:a16="http://schemas.microsoft.com/office/drawing/2014/main" id="{F9EDFC38-C766-4700-AE84-BF4FA2C3E55E}"/>
              </a:ext>
            </a:extLst>
          </p:cNvPr>
          <p:cNvSpPr>
            <a:spLocks xmlns:a="http://schemas.openxmlformats.org/drawingml/2006/main" noGrp="1"/>
          </p:cNvSpPr>
          <p:nvPr/>
        </p:nvSpPr>
        <p:spPr>
          <a:xfrm xmlns:a="http://schemas.openxmlformats.org/drawingml/2006/main">
            <a:off x="790575" y="8705850"/>
            <a:ext cx="619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7000"/>
              </a:lnSpc>
              <a:buNone/>
              <a:defRPr sz="900" b="0" i="0">
                <a:solidFill>
                  <a:srgbClr val="16211D"/>
                </a:solidFill>
                <a:latin typeface="Lato"/>
                <a:ea typeface="Lato"/>
                <a:cs typeface="Lato"/>
              </a:defRPr>
            </a:pPr>
            <a:r>
              <a:rPr sz="900" b="0" i="0">
                <a:solidFill>
                  <a:srgbClr val="16211D"/>
                </a:solidFill>
                <a:latin typeface="Lato"/>
                <a:ea typeface="Lato"/>
                <a:cs typeface="Lato"/>
              </a:rPr>
              <a:t>If you use insulin or medicines that can cause low blood sugar, ask your care team how snacks, activity, and low readings should be handled.</a:t>
            </a:r>
          </a:p>
        </p:txBody>
      </p:sp>
    </p:spTree>
    <p:extLst>
      <p:ext uri="{BB962C8B-B14F-4D97-AF65-F5344CB8AC3E}">
        <p14:creationId xmlns:p14="http://schemas.microsoft.com/office/powerpoint/2010/main" val="1758294546"/>
      </p:ext>
    </p:extLst>
  </p:cSld>
</p:sld>
</file>

<file path=ppt/slides/slide14.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7731ae59377f4618"/>
          <a:srcRect xmlns:a="http://schemas.openxmlformats.org/drawingml/2006/main" l="699" t="0" r="699" b="0"/>
          <a:stretch xmlns:a="http://schemas.openxmlformats.org/drawingml/2006/main">
            <a:fillRect l="0" t="0" r="0" b="0"/>
          </a:stretch>
        </p:blipFill>
        <p:spPr>
          <a:xfrm xmlns:a="http://schemas.openxmlformats.org/drawingml/2006/main">
            <a:off x="552450" y="285750"/>
            <a:ext cx="257175" cy="276225"/>
          </a:xfrm>
          <a:prstGeom xmlns:a="http://schemas.openxmlformats.org/drawingml/2006/main" prst="roundRect">
            <a:avLst>
              <a:gd name="adj" fmla="val 29630"/>
            </a:avLst>
          </a:prstGeom>
        </p:spPr>
      </p:pic>
      <p:sp>
        <p:nvSpPr>
          <p:cNvPr id="2" name="">
            <a:extLst xmlns:a="http://schemas.openxmlformats.org/drawingml/2006/main">
              <a:ext uri="{FF2B5EF4-FFF2-40B4-BE49-F238E27FC236}">
                <a16:creationId xmlns:a16="http://schemas.microsoft.com/office/drawing/2014/main" id="{F5081846-2F83-4086-84C1-FA5621FEADB5}"/>
              </a:ext>
            </a:extLst>
          </p:cNvPr>
          <p:cNvSpPr>
            <a:spLocks xmlns:a="http://schemas.openxmlformats.org/drawingml/2006/main" noGrp="1"/>
          </p:cNvSpPr>
          <p:nvPr/>
        </p:nvSpPr>
        <p:spPr>
          <a:xfrm xmlns:a="http://schemas.openxmlformats.org/drawingml/2006/main">
            <a:off x="876300" y="3333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788" b="1" i="0">
                <a:solidFill>
                  <a:srgbClr val="034B2F"/>
                </a:solidFill>
                <a:latin typeface="Lora"/>
                <a:ea typeface="Lora"/>
                <a:cs typeface="Lora"/>
              </a:defRPr>
            </a:pPr>
            <a:r>
              <a:rPr sz="788" b="1" i="0">
                <a:solidFill>
                  <a:srgbClr val="034B2F"/>
                </a:solidFill>
                <a:latin typeface="Lora"/>
                <a:ea typeface="Lora"/>
                <a:cs typeface="Lora"/>
              </a:rPr>
              <a:t>The Mindful Plate</a:t>
            </a:r>
          </a:p>
        </p:txBody>
      </p:sp>
      <p:sp>
        <p:nvSpPr>
          <p:cNvPr id="3" name="">
            <a:extLst xmlns:a="http://schemas.openxmlformats.org/drawingml/2006/main">
              <a:ext uri="{FF2B5EF4-FFF2-40B4-BE49-F238E27FC236}">
                <a16:creationId xmlns:a16="http://schemas.microsoft.com/office/drawing/2014/main" id="{957F45EB-748F-43C7-9B7A-4C19F6141B60}"/>
              </a:ext>
            </a:extLst>
          </p:cNvPr>
          <p:cNvSpPr>
            <a:spLocks xmlns:a="http://schemas.openxmlformats.org/drawingml/2006/main" noGrp="1"/>
          </p:cNvSpPr>
          <p:nvPr/>
        </p:nvSpPr>
        <p:spPr>
          <a:xfrm xmlns:a="http://schemas.openxmlformats.org/drawingml/2006/main">
            <a:off x="876300" y="485775"/>
            <a:ext cx="2190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660" b="0" i="0">
                <a:solidFill>
                  <a:srgbClr val="5C6C67"/>
                </a:solidFill>
                <a:latin typeface="Lato"/>
                <a:ea typeface="Lato"/>
                <a:cs typeface="Lato"/>
              </a:defRPr>
            </a:pPr>
            <a:r>
              <a:rPr sz="660" b="0" i="0">
                <a:solidFill>
                  <a:srgbClr val="5C6C67"/>
                </a:solidFill>
                <a:latin typeface="Lato"/>
                <a:ea typeface="Lato"/>
                <a:cs typeface="Lato"/>
              </a:rPr>
              <a:t>Drinks</a:t>
            </a:r>
          </a:p>
        </p:txBody>
      </p:sp>
      <p:sp>
        <p:nvSpPr>
          <p:cNvPr id="4" name="">
            <a:extLst xmlns:a="http://schemas.openxmlformats.org/drawingml/2006/main">
              <a:ext uri="{FF2B5EF4-FFF2-40B4-BE49-F238E27FC236}">
                <a16:creationId xmlns:a16="http://schemas.microsoft.com/office/drawing/2014/main" id="{CFD06A5E-1757-4F61-A2D0-1CE9C70B9C86}"/>
              </a:ext>
            </a:extLst>
          </p:cNvPr>
          <p:cNvSpPr>
            <a:spLocks xmlns:a="http://schemas.openxmlformats.org/drawingml/2006/main" noGrp="1"/>
          </p:cNvSpPr>
          <p:nvPr/>
        </p:nvSpPr>
        <p:spPr>
          <a:xfrm xmlns:a="http://schemas.openxmlformats.org/drawingml/2006/main">
            <a:off x="552450" y="714375"/>
            <a:ext cx="6667500" cy="0"/>
          </a:xfrm>
          <a:prstGeom xmlns:a="http://schemas.openxmlformats.org/drawingml/2006/main" prst="line">
            <a:avLst/>
          </a:prstGeom>
          <a:noFill xmlns:a="http://schemas.openxmlformats.org/drawingml/2006/main"/>
          <a:ln xmlns:a="http://schemas.openxmlformats.org/drawingml/2006/main" w="11430">
            <a:solidFill>
              <a:srgbClr val="D9E2DA"/>
            </a:solidFill>
            <a:prstDash val="solid"/>
          </a:ln>
        </p:spPr>
      </p:sp>
      <p:sp>
        <p:nvSpPr>
          <p:cNvPr id="5" name="">
            <a:extLst xmlns:a="http://schemas.openxmlformats.org/drawingml/2006/main">
              <a:ext uri="{FF2B5EF4-FFF2-40B4-BE49-F238E27FC236}">
                <a16:creationId xmlns:a16="http://schemas.microsoft.com/office/drawing/2014/main" id="{42E714CB-5CCE-4889-9183-A58EF1D8AD15}"/>
              </a:ext>
            </a:extLst>
          </p:cNvPr>
          <p:cNvSpPr>
            <a:spLocks xmlns:a="http://schemas.openxmlformats.org/drawingml/2006/main" noGrp="1"/>
          </p:cNvSpPr>
          <p:nvPr/>
        </p:nvSpPr>
        <p:spPr>
          <a:xfrm xmlns:a="http://schemas.openxmlformats.org/drawingml/2006/main">
            <a:off x="552450" y="9610725"/>
            <a:ext cx="6667500" cy="0"/>
          </a:xfrm>
          <a:prstGeom xmlns:a="http://schemas.openxmlformats.org/drawingml/2006/main" prst="line">
            <a:avLst/>
          </a:prstGeom>
          <a:noFill xmlns:a="http://schemas.openxmlformats.org/drawingml/2006/main"/>
          <a:ln xmlns:a="http://schemas.openxmlformats.org/drawingml/2006/main" w="11430">
            <a:solidFill>
              <a:srgbClr val="D9E2DA"/>
            </a:solidFill>
            <a:prstDash val="solid"/>
          </a:ln>
        </p:spPr>
      </p:sp>
      <p:sp>
        <p:nvSpPr>
          <p:cNvPr id="6" name="">
            <a:extLst xmlns:a="http://schemas.openxmlformats.org/drawingml/2006/main">
              <a:ext uri="{FF2B5EF4-FFF2-40B4-BE49-F238E27FC236}">
                <a16:creationId xmlns:a16="http://schemas.microsoft.com/office/drawing/2014/main" id="{286C2DF6-56B6-4A1D-B1A6-09C0ECF09774}"/>
              </a:ext>
            </a:extLst>
          </p:cNvPr>
          <p:cNvSpPr>
            <a:spLocks xmlns:a="http://schemas.openxmlformats.org/drawingml/2006/main" noGrp="1"/>
          </p:cNvSpPr>
          <p:nvPr/>
        </p:nvSpPr>
        <p:spPr>
          <a:xfrm xmlns:a="http://schemas.openxmlformats.org/drawingml/2006/main">
            <a:off x="552450" y="9715500"/>
            <a:ext cx="1762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660" b="0" i="0">
                <a:solidFill>
                  <a:srgbClr val="5C6C67"/>
                </a:solidFill>
                <a:latin typeface="Lato"/>
                <a:ea typeface="Lato"/>
                <a:cs typeface="Lato"/>
              </a:defRPr>
            </a:pPr>
            <a:r>
              <a:rPr sz="660" b="0" i="0">
                <a:solidFill>
                  <a:srgbClr val="5C6C67"/>
                </a:solidFill>
                <a:latin typeface="Lato"/>
                <a:ea typeface="Lato"/>
                <a:cs typeface="Lato"/>
              </a:rPr>
              <a:t>Mindful Diabetes Inc.</a:t>
            </a:r>
          </a:p>
        </p:txBody>
      </p:sp>
      <p:sp>
        <p:nvSpPr>
          <p:cNvPr id="7" name="">
            <a:extLst xmlns:a="http://schemas.openxmlformats.org/drawingml/2006/main">
              <a:ext uri="{FF2B5EF4-FFF2-40B4-BE49-F238E27FC236}">
                <a16:creationId xmlns:a16="http://schemas.microsoft.com/office/drawing/2014/main" id="{3634024B-D79B-4F09-ADE7-929A0660E7DE}"/>
              </a:ext>
            </a:extLst>
          </p:cNvPr>
          <p:cNvSpPr>
            <a:spLocks xmlns:a="http://schemas.openxmlformats.org/drawingml/2006/main" noGrp="1"/>
          </p:cNvSpPr>
          <p:nvPr/>
        </p:nvSpPr>
        <p:spPr>
          <a:xfrm xmlns:a="http://schemas.openxmlformats.org/drawingml/2006/main">
            <a:off x="3162300" y="9715500"/>
            <a:ext cx="14763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lnSpc>
                <a:spcPct val="116000"/>
              </a:lnSpc>
              <a:buNone/>
              <a:defRPr sz="660" b="0" i="0">
                <a:solidFill>
                  <a:srgbClr val="5C6C67"/>
                </a:solidFill>
                <a:latin typeface="Lato"/>
                <a:ea typeface="Lato"/>
                <a:cs typeface="Lato"/>
              </a:defRPr>
            </a:pPr>
            <a:r>
              <a:rPr sz="660" b="0" i="0">
                <a:solidFill>
                  <a:srgbClr val="5C6C67"/>
                </a:solidFill>
                <a:latin typeface="Lato"/>
                <a:ea typeface="Lato"/>
                <a:cs typeface="Lato"/>
              </a:rPr>
              <a:t>mindfuldiabetes.org</a:t>
            </a:r>
          </a:p>
        </p:txBody>
      </p:sp>
      <p:sp>
        <p:nvSpPr>
          <p:cNvPr id="8" name="">
            <a:extLst xmlns:a="http://schemas.openxmlformats.org/drawingml/2006/main">
              <a:ext uri="{FF2B5EF4-FFF2-40B4-BE49-F238E27FC236}">
                <a16:creationId xmlns:a16="http://schemas.microsoft.com/office/drawing/2014/main" id="{FD7DB3E7-9D71-4A10-828B-8AD0482A9631}"/>
              </a:ext>
            </a:extLst>
          </p:cNvPr>
          <p:cNvSpPr>
            <a:spLocks xmlns:a="http://schemas.openxmlformats.org/drawingml/2006/main" noGrp="1"/>
          </p:cNvSpPr>
          <p:nvPr/>
        </p:nvSpPr>
        <p:spPr>
          <a:xfrm xmlns:a="http://schemas.openxmlformats.org/drawingml/2006/main">
            <a:off x="6886575" y="9715500"/>
            <a:ext cx="3333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r">
              <a:lnSpc>
                <a:spcPct val="116000"/>
              </a:lnSpc>
              <a:buNone/>
              <a:defRPr sz="660" b="0" i="0">
                <a:solidFill>
                  <a:srgbClr val="F26A2E"/>
                </a:solidFill>
                <a:latin typeface="Lato"/>
                <a:ea typeface="Lato"/>
                <a:cs typeface="Lato"/>
              </a:defRPr>
            </a:pPr>
            <a:r>
              <a:rPr sz="660" b="0" i="0">
                <a:solidFill>
                  <a:srgbClr val="F26A2E"/>
                </a:solidFill>
                <a:latin typeface="Lato"/>
                <a:ea typeface="Lato"/>
                <a:cs typeface="Lato"/>
              </a:rPr>
              <a:t>14</a:t>
            </a:r>
          </a:p>
        </p:txBody>
      </p:sp>
      <p:sp>
        <p:nvSpPr>
          <p:cNvPr id="9" name="">
            <a:extLst xmlns:a="http://schemas.openxmlformats.org/drawingml/2006/main">
              <a:ext uri="{FF2B5EF4-FFF2-40B4-BE49-F238E27FC236}">
                <a16:creationId xmlns:a16="http://schemas.microsoft.com/office/drawing/2014/main" id="{95A12EF7-C30B-4138-BD57-E1CA08DE4759}"/>
              </a:ext>
            </a:extLst>
          </p:cNvPr>
          <p:cNvSpPr>
            <a:spLocks xmlns:a="http://schemas.openxmlformats.org/drawingml/2006/main" noGrp="1"/>
          </p:cNvSpPr>
          <p:nvPr/>
        </p:nvSpPr>
        <p:spPr>
          <a:xfrm xmlns:a="http://schemas.openxmlformats.org/drawingml/2006/main">
            <a:off x="628650" y="790575"/>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900" b="1" i="0">
                <a:solidFill>
                  <a:srgbClr val="F26A2E"/>
                </a:solidFill>
                <a:latin typeface="Lato"/>
                <a:ea typeface="Lato"/>
                <a:cs typeface="Lato"/>
              </a:defRPr>
            </a:pPr>
            <a:r>
              <a:rPr sz="900" b="1" i="0">
                <a:solidFill>
                  <a:srgbClr val="F26A2E"/>
                </a:solidFill>
                <a:latin typeface="Lato"/>
                <a:ea typeface="Lato"/>
                <a:cs typeface="Lato"/>
              </a:rPr>
              <a:t>DRINKS</a:t>
            </a:r>
          </a:p>
        </p:txBody>
      </p:sp>
      <p:sp>
        <p:nvSpPr>
          <p:cNvPr id="10" name="">
            <a:extLst xmlns:a="http://schemas.openxmlformats.org/drawingml/2006/main">
              <a:ext uri="{FF2B5EF4-FFF2-40B4-BE49-F238E27FC236}">
                <a16:creationId xmlns:a16="http://schemas.microsoft.com/office/drawing/2014/main" id="{04FC6739-233F-468A-92A3-230E31B05060}"/>
              </a:ext>
            </a:extLst>
          </p:cNvPr>
          <p:cNvSpPr>
            <a:spLocks xmlns:a="http://schemas.openxmlformats.org/drawingml/2006/main" noGrp="1"/>
          </p:cNvSpPr>
          <p:nvPr/>
        </p:nvSpPr>
        <p:spPr>
          <a:xfrm xmlns:a="http://schemas.openxmlformats.org/drawingml/2006/main">
            <a:off x="590550" y="1066800"/>
            <a:ext cx="619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03000"/>
              </a:lnSpc>
              <a:buNone/>
              <a:defRPr sz="2550" b="1" i="0">
                <a:solidFill>
                  <a:srgbClr val="192442"/>
                </a:solidFill>
                <a:latin typeface="Lora"/>
                <a:ea typeface="Lora"/>
                <a:cs typeface="Lora"/>
              </a:defRPr>
            </a:pPr>
            <a:r>
              <a:rPr sz="2550" b="1" i="0">
                <a:solidFill>
                  <a:srgbClr val="192442"/>
                </a:solidFill>
                <a:latin typeface="Lora"/>
                <a:ea typeface="Lora"/>
                <a:cs typeface="Lora"/>
              </a:rPr>
              <a:t>Drinks and hidden sugars</a:t>
            </a:r>
          </a:p>
        </p:txBody>
      </p:sp>
      <p:sp>
        <p:nvSpPr>
          <p:cNvPr id="11" name="">
            <a:extLst xmlns:a="http://schemas.openxmlformats.org/drawingml/2006/main">
              <a:ext uri="{FF2B5EF4-FFF2-40B4-BE49-F238E27FC236}">
                <a16:creationId xmlns:a16="http://schemas.microsoft.com/office/drawing/2014/main" id="{AA4B5B63-277D-4893-A7EC-A2D751C21398}"/>
              </a:ext>
            </a:extLst>
          </p:cNvPr>
          <p:cNvSpPr>
            <a:spLocks xmlns:a="http://schemas.openxmlformats.org/drawingml/2006/main" noGrp="1"/>
          </p:cNvSpPr>
          <p:nvPr/>
        </p:nvSpPr>
        <p:spPr>
          <a:xfrm xmlns:a="http://schemas.openxmlformats.org/drawingml/2006/main">
            <a:off x="628650" y="1866900"/>
            <a:ext cx="6381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25000"/>
              </a:lnSpc>
              <a:buNone/>
              <a:defRPr sz="1125" b="0" i="0">
                <a:solidFill>
                  <a:srgbClr val="5C6C67"/>
                </a:solidFill>
                <a:latin typeface="Lato"/>
                <a:ea typeface="Lato"/>
                <a:cs typeface="Lato"/>
              </a:defRPr>
            </a:pPr>
            <a:r>
              <a:rPr sz="1125" b="0" i="0">
                <a:solidFill>
                  <a:srgbClr val="5C6C67"/>
                </a:solidFill>
                <a:latin typeface="Lato"/>
                <a:ea typeface="Lato"/>
                <a:cs typeface="Lato"/>
              </a:rPr>
              <a:t>Sugary drinks can raise blood glucose quickly because they are easy to drink fast and do not bring much fiber or fullness.</a:t>
            </a:r>
          </a:p>
        </p:txBody>
      </p:sp>
      <p:sp>
        <p:nvSpPr>
          <p:cNvPr id="12" name="">
            <a:extLst xmlns:a="http://schemas.openxmlformats.org/drawingml/2006/main">
              <a:ext uri="{FF2B5EF4-FFF2-40B4-BE49-F238E27FC236}">
                <a16:creationId xmlns:a16="http://schemas.microsoft.com/office/drawing/2014/main" id="{BF474793-DED1-4276-BBB3-CFC6A6299C1B}"/>
              </a:ext>
            </a:extLst>
          </p:cNvPr>
          <p:cNvSpPr>
            <a:spLocks xmlns:a="http://schemas.openxmlformats.org/drawingml/2006/main" noGrp="1"/>
          </p:cNvSpPr>
          <p:nvPr/>
        </p:nvSpPr>
        <p:spPr>
          <a:xfrm xmlns:a="http://schemas.openxmlformats.org/drawingml/2006/main">
            <a:off x="819150" y="2952750"/>
            <a:ext cx="1085850" cy="1809750"/>
          </a:xfrm>
          <a:prstGeom xmlns:a="http://schemas.openxmlformats.org/drawingml/2006/main" prst="roundRect">
            <a:avLst>
              <a:gd name="adj" fmla="val 14035"/>
            </a:avLst>
          </a:prstGeom>
          <a:solidFill xmlns:a="http://schemas.openxmlformats.org/drawingml/2006/main">
            <a:srgbClr val="E6F2EC"/>
          </a:solidFill>
          <a:ln xmlns:a="http://schemas.openxmlformats.org/drawingml/2006/main" w="11430">
            <a:solidFill>
              <a:srgbClr val="C8DAD2"/>
            </a:solidFill>
            <a:prstDash val="solid"/>
          </a:ln>
        </p:spPr>
      </p:sp>
      <p:sp>
        <p:nvSpPr>
          <p:cNvPr id="13" name="">
            <a:extLst xmlns:a="http://schemas.openxmlformats.org/drawingml/2006/main">
              <a:ext uri="{FF2B5EF4-FFF2-40B4-BE49-F238E27FC236}">
                <a16:creationId xmlns:a16="http://schemas.microsoft.com/office/drawing/2014/main" id="{EFCE5255-02ED-46BA-832B-C9C6EBED1CB0}"/>
              </a:ext>
            </a:extLst>
          </p:cNvPr>
          <p:cNvSpPr>
            <a:spLocks xmlns:a="http://schemas.openxmlformats.org/drawingml/2006/main" noGrp="1"/>
          </p:cNvSpPr>
          <p:nvPr/>
        </p:nvSpPr>
        <p:spPr>
          <a:xfrm xmlns:a="http://schemas.openxmlformats.org/drawingml/2006/main">
            <a:off x="1133475" y="3352800"/>
            <a:ext cx="4572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11430">
            <a:solidFill>
              <a:srgbClr val="AFCAC0"/>
            </a:solidFill>
            <a:prstDash val="solid"/>
          </a:ln>
        </p:spPr>
      </p:sp>
      <p:sp>
        <p:nvSpPr>
          <p:cNvPr id="14" name="">
            <a:extLst xmlns:a="http://schemas.openxmlformats.org/drawingml/2006/main">
              <a:ext uri="{FF2B5EF4-FFF2-40B4-BE49-F238E27FC236}">
                <a16:creationId xmlns:a16="http://schemas.microsoft.com/office/drawing/2014/main" id="{E07D831A-FD33-4742-83F9-1081CED30C5C}"/>
              </a:ext>
            </a:extLst>
          </p:cNvPr>
          <p:cNvSpPr>
            <a:spLocks xmlns:a="http://schemas.openxmlformats.org/drawingml/2006/main" noGrp="1"/>
          </p:cNvSpPr>
          <p:nvPr/>
        </p:nvSpPr>
        <p:spPr>
          <a:xfrm xmlns:a="http://schemas.openxmlformats.org/drawingml/2006/main">
            <a:off x="723900" y="5029200"/>
            <a:ext cx="1276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lnSpc>
                <a:spcPct val="116000"/>
              </a:lnSpc>
              <a:buNone/>
              <a:defRPr sz="975" b="1" i="0">
                <a:solidFill>
                  <a:srgbClr val="192442"/>
                </a:solidFill>
                <a:latin typeface="Lato"/>
                <a:ea typeface="Lato"/>
                <a:cs typeface="Lato"/>
              </a:defRPr>
            </a:pPr>
            <a:r>
              <a:rPr sz="975" b="1" i="0">
                <a:solidFill>
                  <a:srgbClr val="192442"/>
                </a:solidFill>
                <a:latin typeface="Lato"/>
                <a:ea typeface="Lato"/>
                <a:cs typeface="Lato"/>
              </a:rPr>
              <a:t>Water</a:t>
            </a:r>
          </a:p>
        </p:txBody>
      </p:sp>
      <p:sp>
        <p:nvSpPr>
          <p:cNvPr id="15" name="">
            <a:extLst xmlns:a="http://schemas.openxmlformats.org/drawingml/2006/main">
              <a:ext uri="{FF2B5EF4-FFF2-40B4-BE49-F238E27FC236}">
                <a16:creationId xmlns:a16="http://schemas.microsoft.com/office/drawing/2014/main" id="{53EA4071-2CE9-455A-86C1-0012C88FB4D6}"/>
              </a:ext>
            </a:extLst>
          </p:cNvPr>
          <p:cNvSpPr>
            <a:spLocks xmlns:a="http://schemas.openxmlformats.org/drawingml/2006/main" noGrp="1"/>
          </p:cNvSpPr>
          <p:nvPr/>
        </p:nvSpPr>
        <p:spPr>
          <a:xfrm xmlns:a="http://schemas.openxmlformats.org/drawingml/2006/main">
            <a:off x="723900" y="5295900"/>
            <a:ext cx="1276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lnSpc>
                <a:spcPct val="105000"/>
              </a:lnSpc>
              <a:buNone/>
              <a:defRPr sz="788" b="0" i="0">
                <a:solidFill>
                  <a:srgbClr val="5C6C67"/>
                </a:solidFill>
                <a:latin typeface="Lato"/>
                <a:ea typeface="Lato"/>
                <a:cs typeface="Lato"/>
              </a:defRPr>
            </a:pPr>
            <a:r>
              <a:rPr sz="788" b="0" i="0">
                <a:solidFill>
                  <a:srgbClr val="5C6C67"/>
                </a:solidFill>
                <a:latin typeface="Lato"/>
                <a:ea typeface="Lato"/>
                <a:cs typeface="Lato"/>
              </a:rPr>
              <a:t>No added sugar</a:t>
            </a:r>
          </a:p>
        </p:txBody>
      </p:sp>
      <p:sp>
        <p:nvSpPr>
          <p:cNvPr id="16" name="">
            <a:extLst xmlns:a="http://schemas.openxmlformats.org/drawingml/2006/main">
              <a:ext uri="{FF2B5EF4-FFF2-40B4-BE49-F238E27FC236}">
                <a16:creationId xmlns:a16="http://schemas.microsoft.com/office/drawing/2014/main" id="{EBADCFF4-4010-45A1-8A91-EAE884C4D5F1}"/>
              </a:ext>
            </a:extLst>
          </p:cNvPr>
          <p:cNvSpPr>
            <a:spLocks xmlns:a="http://schemas.openxmlformats.org/drawingml/2006/main" noGrp="1"/>
          </p:cNvSpPr>
          <p:nvPr/>
        </p:nvSpPr>
        <p:spPr>
          <a:xfrm xmlns:a="http://schemas.openxmlformats.org/drawingml/2006/main">
            <a:off x="2457450" y="2952750"/>
            <a:ext cx="1085850" cy="1809750"/>
          </a:xfrm>
          <a:prstGeom xmlns:a="http://schemas.openxmlformats.org/drawingml/2006/main" prst="roundRect">
            <a:avLst>
              <a:gd name="adj" fmla="val 14035"/>
            </a:avLst>
          </a:prstGeom>
          <a:solidFill xmlns:a="http://schemas.openxmlformats.org/drawingml/2006/main">
            <a:srgbClr val="EEF7FA"/>
          </a:solidFill>
          <a:ln xmlns:a="http://schemas.openxmlformats.org/drawingml/2006/main" w="11430">
            <a:solidFill>
              <a:srgbClr val="C8DAD2"/>
            </a:solidFill>
            <a:prstDash val="solid"/>
          </a:ln>
        </p:spPr>
      </p:sp>
      <p:sp>
        <p:nvSpPr>
          <p:cNvPr id="17" name="">
            <a:extLst xmlns:a="http://schemas.openxmlformats.org/drawingml/2006/main">
              <a:ext uri="{FF2B5EF4-FFF2-40B4-BE49-F238E27FC236}">
                <a16:creationId xmlns:a16="http://schemas.microsoft.com/office/drawing/2014/main" id="{00BC93E6-7236-4472-85A1-462D289A0D76}"/>
              </a:ext>
            </a:extLst>
          </p:cNvPr>
          <p:cNvSpPr>
            <a:spLocks xmlns:a="http://schemas.openxmlformats.org/drawingml/2006/main" noGrp="1"/>
          </p:cNvSpPr>
          <p:nvPr/>
        </p:nvSpPr>
        <p:spPr>
          <a:xfrm xmlns:a="http://schemas.openxmlformats.org/drawingml/2006/main">
            <a:off x="2771775" y="3352800"/>
            <a:ext cx="4572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11430">
            <a:solidFill>
              <a:srgbClr val="AFCAC0"/>
            </a:solidFill>
            <a:prstDash val="solid"/>
          </a:ln>
        </p:spPr>
      </p:sp>
      <p:sp>
        <p:nvSpPr>
          <p:cNvPr id="18" name="">
            <a:extLst xmlns:a="http://schemas.openxmlformats.org/drawingml/2006/main">
              <a:ext uri="{FF2B5EF4-FFF2-40B4-BE49-F238E27FC236}">
                <a16:creationId xmlns:a16="http://schemas.microsoft.com/office/drawing/2014/main" id="{B945973E-CAE9-424A-8A91-94677B872754}"/>
              </a:ext>
            </a:extLst>
          </p:cNvPr>
          <p:cNvSpPr>
            <a:spLocks xmlns:a="http://schemas.openxmlformats.org/drawingml/2006/main" noGrp="1"/>
          </p:cNvSpPr>
          <p:nvPr/>
        </p:nvSpPr>
        <p:spPr>
          <a:xfrm xmlns:a="http://schemas.openxmlformats.org/drawingml/2006/main">
            <a:off x="2362200" y="5029200"/>
            <a:ext cx="1276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lnSpc>
                <a:spcPct val="116000"/>
              </a:lnSpc>
              <a:buNone/>
              <a:defRPr sz="975" b="1" i="0">
                <a:solidFill>
                  <a:srgbClr val="192442"/>
                </a:solidFill>
                <a:latin typeface="Lato"/>
                <a:ea typeface="Lato"/>
                <a:cs typeface="Lato"/>
              </a:defRPr>
            </a:pPr>
            <a:r>
              <a:rPr sz="975" b="1" i="0">
                <a:solidFill>
                  <a:srgbClr val="192442"/>
                </a:solidFill>
                <a:latin typeface="Lato"/>
                <a:ea typeface="Lato"/>
                <a:cs typeface="Lato"/>
              </a:rPr>
              <a:t>Sparkling water</a:t>
            </a:r>
          </a:p>
        </p:txBody>
      </p:sp>
      <p:sp>
        <p:nvSpPr>
          <p:cNvPr id="19" name="">
            <a:extLst xmlns:a="http://schemas.openxmlformats.org/drawingml/2006/main">
              <a:ext uri="{FF2B5EF4-FFF2-40B4-BE49-F238E27FC236}">
                <a16:creationId xmlns:a16="http://schemas.microsoft.com/office/drawing/2014/main" id="{28908891-1043-46AE-A22A-4462332231F4}"/>
              </a:ext>
            </a:extLst>
          </p:cNvPr>
          <p:cNvSpPr>
            <a:spLocks xmlns:a="http://schemas.openxmlformats.org/drawingml/2006/main" noGrp="1"/>
          </p:cNvSpPr>
          <p:nvPr/>
        </p:nvSpPr>
        <p:spPr>
          <a:xfrm xmlns:a="http://schemas.openxmlformats.org/drawingml/2006/main">
            <a:off x="2362200" y="5295900"/>
            <a:ext cx="1276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lnSpc>
                <a:spcPct val="105000"/>
              </a:lnSpc>
              <a:buNone/>
              <a:defRPr sz="788" b="0" i="0">
                <a:solidFill>
                  <a:srgbClr val="5C6C67"/>
                </a:solidFill>
                <a:latin typeface="Lato"/>
                <a:ea typeface="Lato"/>
                <a:cs typeface="Lato"/>
              </a:defRPr>
            </a:pPr>
            <a:r>
              <a:rPr sz="788" b="0" i="0">
                <a:solidFill>
                  <a:srgbClr val="5C6C67"/>
                </a:solidFill>
                <a:latin typeface="Lato"/>
                <a:ea typeface="Lato"/>
                <a:cs typeface="Lato"/>
              </a:rPr>
              <a:t>Check labels if flavored</a:t>
            </a:r>
          </a:p>
        </p:txBody>
      </p:sp>
      <p:sp>
        <p:nvSpPr>
          <p:cNvPr id="20" name="">
            <a:extLst xmlns:a="http://schemas.openxmlformats.org/drawingml/2006/main">
              <a:ext uri="{FF2B5EF4-FFF2-40B4-BE49-F238E27FC236}">
                <a16:creationId xmlns:a16="http://schemas.microsoft.com/office/drawing/2014/main" id="{A9CD9067-7381-4212-80E6-166E2D42DFBB}"/>
              </a:ext>
            </a:extLst>
          </p:cNvPr>
          <p:cNvSpPr>
            <a:spLocks xmlns:a="http://schemas.openxmlformats.org/drawingml/2006/main" noGrp="1"/>
          </p:cNvSpPr>
          <p:nvPr/>
        </p:nvSpPr>
        <p:spPr>
          <a:xfrm xmlns:a="http://schemas.openxmlformats.org/drawingml/2006/main">
            <a:off x="4095750" y="2952750"/>
            <a:ext cx="1085850" cy="1809750"/>
          </a:xfrm>
          <a:prstGeom xmlns:a="http://schemas.openxmlformats.org/drawingml/2006/main" prst="roundRect">
            <a:avLst>
              <a:gd name="adj" fmla="val 14035"/>
            </a:avLst>
          </a:prstGeom>
          <a:solidFill xmlns:a="http://schemas.openxmlformats.org/drawingml/2006/main">
            <a:srgbClr val="E6F2EC"/>
          </a:solidFill>
          <a:ln xmlns:a="http://schemas.openxmlformats.org/drawingml/2006/main" w="11430">
            <a:solidFill>
              <a:srgbClr val="C8DAD2"/>
            </a:solidFill>
            <a:prstDash val="solid"/>
          </a:ln>
        </p:spPr>
      </p:sp>
      <p:sp>
        <p:nvSpPr>
          <p:cNvPr id="21" name="">
            <a:extLst xmlns:a="http://schemas.openxmlformats.org/drawingml/2006/main">
              <a:ext uri="{FF2B5EF4-FFF2-40B4-BE49-F238E27FC236}">
                <a16:creationId xmlns:a16="http://schemas.microsoft.com/office/drawing/2014/main" id="{66217C24-2A19-4FA4-B766-2B9E9FCD6D72}"/>
              </a:ext>
            </a:extLst>
          </p:cNvPr>
          <p:cNvSpPr>
            <a:spLocks xmlns:a="http://schemas.openxmlformats.org/drawingml/2006/main" noGrp="1"/>
          </p:cNvSpPr>
          <p:nvPr/>
        </p:nvSpPr>
        <p:spPr>
          <a:xfrm xmlns:a="http://schemas.openxmlformats.org/drawingml/2006/main">
            <a:off x="4410075" y="3352800"/>
            <a:ext cx="4572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11430">
            <a:solidFill>
              <a:srgbClr val="AFCAC0"/>
            </a:solidFill>
            <a:prstDash val="solid"/>
          </a:ln>
        </p:spPr>
      </p:sp>
      <p:sp>
        <p:nvSpPr>
          <p:cNvPr id="22" name="">
            <a:extLst xmlns:a="http://schemas.openxmlformats.org/drawingml/2006/main">
              <a:ext uri="{FF2B5EF4-FFF2-40B4-BE49-F238E27FC236}">
                <a16:creationId xmlns:a16="http://schemas.microsoft.com/office/drawing/2014/main" id="{3388AA93-B135-430C-8A6E-72E6828E633C}"/>
              </a:ext>
            </a:extLst>
          </p:cNvPr>
          <p:cNvSpPr>
            <a:spLocks xmlns:a="http://schemas.openxmlformats.org/drawingml/2006/main" noGrp="1"/>
          </p:cNvSpPr>
          <p:nvPr/>
        </p:nvSpPr>
        <p:spPr>
          <a:xfrm xmlns:a="http://schemas.openxmlformats.org/drawingml/2006/main">
            <a:off x="4000500" y="5029200"/>
            <a:ext cx="1276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lnSpc>
                <a:spcPct val="116000"/>
              </a:lnSpc>
              <a:buNone/>
              <a:defRPr sz="975" b="1" i="0">
                <a:solidFill>
                  <a:srgbClr val="192442"/>
                </a:solidFill>
                <a:latin typeface="Lato"/>
                <a:ea typeface="Lato"/>
                <a:cs typeface="Lato"/>
              </a:defRPr>
            </a:pPr>
            <a:r>
              <a:rPr sz="975" b="1" i="0">
                <a:solidFill>
                  <a:srgbClr val="192442"/>
                </a:solidFill>
                <a:latin typeface="Lato"/>
                <a:ea typeface="Lato"/>
                <a:cs typeface="Lato"/>
              </a:rPr>
              <a:t>Unsweet tea or coffee</a:t>
            </a:r>
          </a:p>
        </p:txBody>
      </p:sp>
      <p:sp>
        <p:nvSpPr>
          <p:cNvPr id="23" name="">
            <a:extLst xmlns:a="http://schemas.openxmlformats.org/drawingml/2006/main">
              <a:ext uri="{FF2B5EF4-FFF2-40B4-BE49-F238E27FC236}">
                <a16:creationId xmlns:a16="http://schemas.microsoft.com/office/drawing/2014/main" id="{2F9B4EB0-F16A-463D-9F8C-BE44E992D05C}"/>
              </a:ext>
            </a:extLst>
          </p:cNvPr>
          <p:cNvSpPr>
            <a:spLocks xmlns:a="http://schemas.openxmlformats.org/drawingml/2006/main" noGrp="1"/>
          </p:cNvSpPr>
          <p:nvPr/>
        </p:nvSpPr>
        <p:spPr>
          <a:xfrm xmlns:a="http://schemas.openxmlformats.org/drawingml/2006/main">
            <a:off x="4000500" y="5295900"/>
            <a:ext cx="1276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lnSpc>
                <a:spcPct val="105000"/>
              </a:lnSpc>
              <a:buNone/>
              <a:defRPr sz="788" b="0" i="0">
                <a:solidFill>
                  <a:srgbClr val="5C6C67"/>
                </a:solidFill>
                <a:latin typeface="Lato"/>
                <a:ea typeface="Lato"/>
                <a:cs typeface="Lato"/>
              </a:defRPr>
            </a:pPr>
            <a:r>
              <a:rPr sz="788" b="0" i="0">
                <a:solidFill>
                  <a:srgbClr val="5C6C67"/>
                </a:solidFill>
                <a:latin typeface="Lato"/>
                <a:ea typeface="Lato"/>
                <a:cs typeface="Lato"/>
              </a:rPr>
              <a:t>Add-ons can change it</a:t>
            </a:r>
          </a:p>
        </p:txBody>
      </p:sp>
      <p:sp>
        <p:nvSpPr>
          <p:cNvPr id="24" name="">
            <a:extLst xmlns:a="http://schemas.openxmlformats.org/drawingml/2006/main">
              <a:ext uri="{FF2B5EF4-FFF2-40B4-BE49-F238E27FC236}">
                <a16:creationId xmlns:a16="http://schemas.microsoft.com/office/drawing/2014/main" id="{60726FDA-2436-4D4B-93F4-FA1A2A575CFF}"/>
              </a:ext>
            </a:extLst>
          </p:cNvPr>
          <p:cNvSpPr>
            <a:spLocks xmlns:a="http://schemas.openxmlformats.org/drawingml/2006/main" noGrp="1"/>
          </p:cNvSpPr>
          <p:nvPr/>
        </p:nvSpPr>
        <p:spPr>
          <a:xfrm xmlns:a="http://schemas.openxmlformats.org/drawingml/2006/main">
            <a:off x="5734050" y="2952750"/>
            <a:ext cx="1085850" cy="1809750"/>
          </a:xfrm>
          <a:prstGeom xmlns:a="http://schemas.openxmlformats.org/drawingml/2006/main" prst="roundRect">
            <a:avLst>
              <a:gd name="adj" fmla="val 14035"/>
            </a:avLst>
          </a:prstGeom>
          <a:solidFill xmlns:a="http://schemas.openxmlformats.org/drawingml/2006/main">
            <a:srgbClr val="FCE4D8"/>
          </a:solidFill>
          <a:ln xmlns:a="http://schemas.openxmlformats.org/drawingml/2006/main" w="11430">
            <a:solidFill>
              <a:srgbClr val="C8DAD2"/>
            </a:solidFill>
            <a:prstDash val="solid"/>
          </a:ln>
        </p:spPr>
      </p:sp>
      <p:sp>
        <p:nvSpPr>
          <p:cNvPr id="25" name="">
            <a:extLst xmlns:a="http://schemas.openxmlformats.org/drawingml/2006/main">
              <a:ext uri="{FF2B5EF4-FFF2-40B4-BE49-F238E27FC236}">
                <a16:creationId xmlns:a16="http://schemas.microsoft.com/office/drawing/2014/main" id="{5F84C69C-9774-4E72-9407-C61B48C8ACD0}"/>
              </a:ext>
            </a:extLst>
          </p:cNvPr>
          <p:cNvSpPr>
            <a:spLocks xmlns:a="http://schemas.openxmlformats.org/drawingml/2006/main" noGrp="1"/>
          </p:cNvSpPr>
          <p:nvPr/>
        </p:nvSpPr>
        <p:spPr>
          <a:xfrm xmlns:a="http://schemas.openxmlformats.org/drawingml/2006/main">
            <a:off x="6048375" y="3352800"/>
            <a:ext cx="4572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11430">
            <a:solidFill>
              <a:srgbClr val="AFCAC0"/>
            </a:solidFill>
            <a:prstDash val="solid"/>
          </a:ln>
        </p:spPr>
      </p:sp>
      <p:sp>
        <p:nvSpPr>
          <p:cNvPr id="26" name="">
            <a:extLst xmlns:a="http://schemas.openxmlformats.org/drawingml/2006/main">
              <a:ext uri="{FF2B5EF4-FFF2-40B4-BE49-F238E27FC236}">
                <a16:creationId xmlns:a16="http://schemas.microsoft.com/office/drawing/2014/main" id="{051F8B78-47FF-4DDD-BF17-0F3FEDEBBDEA}"/>
              </a:ext>
            </a:extLst>
          </p:cNvPr>
          <p:cNvSpPr>
            <a:spLocks xmlns:a="http://schemas.openxmlformats.org/drawingml/2006/main" noGrp="1"/>
          </p:cNvSpPr>
          <p:nvPr/>
        </p:nvSpPr>
        <p:spPr>
          <a:xfrm xmlns:a="http://schemas.openxmlformats.org/drawingml/2006/main">
            <a:off x="5638800" y="5029200"/>
            <a:ext cx="1276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lnSpc>
                <a:spcPct val="116000"/>
              </a:lnSpc>
              <a:buNone/>
              <a:defRPr sz="975" b="1" i="0">
                <a:solidFill>
                  <a:srgbClr val="192442"/>
                </a:solidFill>
                <a:latin typeface="Lato"/>
                <a:ea typeface="Lato"/>
                <a:cs typeface="Lato"/>
              </a:defRPr>
            </a:pPr>
            <a:r>
              <a:rPr sz="975" b="1" i="0">
                <a:solidFill>
                  <a:srgbClr val="192442"/>
                </a:solidFill>
                <a:latin typeface="Lato"/>
                <a:ea typeface="Lato"/>
                <a:cs typeface="Lato"/>
              </a:rPr>
              <a:t>Sweet drink</a:t>
            </a:r>
          </a:p>
        </p:txBody>
      </p:sp>
      <p:sp>
        <p:nvSpPr>
          <p:cNvPr id="27" name="">
            <a:extLst xmlns:a="http://schemas.openxmlformats.org/drawingml/2006/main">
              <a:ext uri="{FF2B5EF4-FFF2-40B4-BE49-F238E27FC236}">
                <a16:creationId xmlns:a16="http://schemas.microsoft.com/office/drawing/2014/main" id="{13EF0A5A-292E-4206-B030-B2EB02DB4E70}"/>
              </a:ext>
            </a:extLst>
          </p:cNvPr>
          <p:cNvSpPr>
            <a:spLocks xmlns:a="http://schemas.openxmlformats.org/drawingml/2006/main" noGrp="1"/>
          </p:cNvSpPr>
          <p:nvPr/>
        </p:nvSpPr>
        <p:spPr>
          <a:xfrm xmlns:a="http://schemas.openxmlformats.org/drawingml/2006/main">
            <a:off x="5638800" y="5295900"/>
            <a:ext cx="1276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lnSpc>
                <a:spcPct val="105000"/>
              </a:lnSpc>
              <a:buNone/>
              <a:defRPr sz="788" b="0" i="0">
                <a:solidFill>
                  <a:srgbClr val="5C6C67"/>
                </a:solidFill>
                <a:latin typeface="Lato"/>
                <a:ea typeface="Lato"/>
                <a:cs typeface="Lato"/>
              </a:defRPr>
            </a:pPr>
            <a:r>
              <a:rPr sz="788" b="0" i="0">
                <a:solidFill>
                  <a:srgbClr val="5C6C67"/>
                </a:solidFill>
                <a:latin typeface="Lato"/>
                <a:ea typeface="Lato"/>
                <a:cs typeface="Lato"/>
              </a:rPr>
              <a:t>Try smaller size or less syrup</a:t>
            </a:r>
          </a:p>
        </p:txBody>
      </p:sp>
      <p:sp>
        <p:nvSpPr>
          <p:cNvPr id="28" name="">
            <a:extLst xmlns:a="http://schemas.openxmlformats.org/drawingml/2006/main">
              <a:ext uri="{FF2B5EF4-FFF2-40B4-BE49-F238E27FC236}">
                <a16:creationId xmlns:a16="http://schemas.microsoft.com/office/drawing/2014/main" id="{2EC5FF41-3BEE-4AD5-88F2-8B55477F361F}"/>
              </a:ext>
            </a:extLst>
          </p:cNvPr>
          <p:cNvSpPr>
            <a:spLocks xmlns:a="http://schemas.openxmlformats.org/drawingml/2006/main" noGrp="1"/>
          </p:cNvSpPr>
          <p:nvPr/>
        </p:nvSpPr>
        <p:spPr>
          <a:xfrm xmlns:a="http://schemas.openxmlformats.org/drawingml/2006/main">
            <a:off x="762000" y="6543675"/>
            <a:ext cx="95250" cy="95250"/>
          </a:xfrm>
          <a:prstGeom xmlns:a="http://schemas.openxmlformats.org/drawingml/2006/main" prst="ellipse">
            <a:avLst/>
          </a:prstGeom>
          <a:solidFill xmlns:a="http://schemas.openxmlformats.org/drawingml/2006/main">
            <a:srgbClr val="F26A2E"/>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F030D475-A49A-4D31-BE18-2E88A63A0E25}"/>
              </a:ext>
            </a:extLst>
          </p:cNvPr>
          <p:cNvSpPr>
            <a:spLocks xmlns:a="http://schemas.openxmlformats.org/drawingml/2006/main" noGrp="1"/>
          </p:cNvSpPr>
          <p:nvPr/>
        </p:nvSpPr>
        <p:spPr>
          <a:xfrm xmlns:a="http://schemas.openxmlformats.org/drawingml/2006/main">
            <a:off x="971550" y="6496050"/>
            <a:ext cx="5981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8000"/>
              </a:lnSpc>
              <a:buNone/>
              <a:defRPr sz="1013" b="0" i="0">
                <a:solidFill>
                  <a:srgbClr val="16211D"/>
                </a:solidFill>
                <a:latin typeface="Lato"/>
                <a:ea typeface="Lato"/>
                <a:cs typeface="Lato"/>
              </a:defRPr>
            </a:pPr>
            <a:r>
              <a:rPr sz="1013" b="0" i="0">
                <a:solidFill>
                  <a:srgbClr val="16211D"/>
                </a:solidFill>
                <a:latin typeface="Lato"/>
                <a:ea typeface="Lato"/>
                <a:cs typeface="Lato"/>
              </a:rPr>
              <a:t>The FDA Daily Value for added sugars is 50 grams per day based on a 2,000-calorie diet.</a:t>
            </a:r>
          </a:p>
        </p:txBody>
      </p:sp>
      <p:sp>
        <p:nvSpPr>
          <p:cNvPr id="30" name="">
            <a:extLst xmlns:a="http://schemas.openxmlformats.org/drawingml/2006/main">
              <a:ext uri="{FF2B5EF4-FFF2-40B4-BE49-F238E27FC236}">
                <a16:creationId xmlns:a16="http://schemas.microsoft.com/office/drawing/2014/main" id="{FAE3F031-B479-444C-9845-A1FAB3830740}"/>
              </a:ext>
            </a:extLst>
          </p:cNvPr>
          <p:cNvSpPr>
            <a:spLocks xmlns:a="http://schemas.openxmlformats.org/drawingml/2006/main" noGrp="1"/>
          </p:cNvSpPr>
          <p:nvPr/>
        </p:nvSpPr>
        <p:spPr>
          <a:xfrm xmlns:a="http://schemas.openxmlformats.org/drawingml/2006/main">
            <a:off x="762000" y="6962775"/>
            <a:ext cx="95250" cy="95250"/>
          </a:xfrm>
          <a:prstGeom xmlns:a="http://schemas.openxmlformats.org/drawingml/2006/main" prst="ellipse">
            <a:avLst/>
          </a:prstGeom>
          <a:solidFill xmlns:a="http://schemas.openxmlformats.org/drawingml/2006/main">
            <a:srgbClr val="F26A2E"/>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9F66BF2D-8708-4637-AFA8-E4FF323370D9}"/>
              </a:ext>
            </a:extLst>
          </p:cNvPr>
          <p:cNvSpPr>
            <a:spLocks xmlns:a="http://schemas.openxmlformats.org/drawingml/2006/main" noGrp="1"/>
          </p:cNvSpPr>
          <p:nvPr/>
        </p:nvSpPr>
        <p:spPr>
          <a:xfrm xmlns:a="http://schemas.openxmlformats.org/drawingml/2006/main">
            <a:off x="971550" y="6915150"/>
            <a:ext cx="5981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8000"/>
              </a:lnSpc>
              <a:buNone/>
              <a:defRPr sz="1013" b="0" i="0">
                <a:solidFill>
                  <a:srgbClr val="16211D"/>
                </a:solidFill>
                <a:latin typeface="Lato"/>
                <a:ea typeface="Lato"/>
                <a:cs typeface="Lato"/>
              </a:defRPr>
            </a:pPr>
            <a:r>
              <a:rPr sz="1013" b="0" i="0">
                <a:solidFill>
                  <a:srgbClr val="16211D"/>
                </a:solidFill>
                <a:latin typeface="Lato"/>
                <a:ea typeface="Lato"/>
                <a:cs typeface="Lato"/>
              </a:rPr>
              <a:t>Start by improving one drink you have often.</a:t>
            </a:r>
          </a:p>
        </p:txBody>
      </p:sp>
      <p:sp>
        <p:nvSpPr>
          <p:cNvPr id="32" name="">
            <a:extLst xmlns:a="http://schemas.openxmlformats.org/drawingml/2006/main">
              <a:ext uri="{FF2B5EF4-FFF2-40B4-BE49-F238E27FC236}">
                <a16:creationId xmlns:a16="http://schemas.microsoft.com/office/drawing/2014/main" id="{9D0D9054-BBFB-400C-A988-954071F3D792}"/>
              </a:ext>
            </a:extLst>
          </p:cNvPr>
          <p:cNvSpPr>
            <a:spLocks xmlns:a="http://schemas.openxmlformats.org/drawingml/2006/main" noGrp="1"/>
          </p:cNvSpPr>
          <p:nvPr/>
        </p:nvSpPr>
        <p:spPr>
          <a:xfrm xmlns:a="http://schemas.openxmlformats.org/drawingml/2006/main">
            <a:off x="628650" y="8343900"/>
            <a:ext cx="6515100" cy="704850"/>
          </a:xfrm>
          <a:prstGeom xmlns:a="http://schemas.openxmlformats.org/drawingml/2006/main" prst="roundRect">
            <a:avLst>
              <a:gd name="adj" fmla="val 13514"/>
            </a:avLst>
          </a:prstGeom>
          <a:solidFill xmlns:a="http://schemas.openxmlformats.org/drawingml/2006/main">
            <a:srgbClr val="E6F2EC"/>
          </a:solidFill>
          <a:ln xmlns:a="http://schemas.openxmlformats.org/drawingml/2006/main" w="11430">
            <a:solidFill>
              <a:srgbClr val="B8D8C8"/>
            </a:solidFill>
            <a:prstDash val="solid"/>
          </a:ln>
        </p:spPr>
      </p:sp>
      <p:sp>
        <p:nvSpPr>
          <p:cNvPr id="33" name="">
            <a:extLst xmlns:a="http://schemas.openxmlformats.org/drawingml/2006/main">
              <a:ext uri="{FF2B5EF4-FFF2-40B4-BE49-F238E27FC236}">
                <a16:creationId xmlns:a16="http://schemas.microsoft.com/office/drawing/2014/main" id="{7FA73800-CC20-4778-A564-4E7C26129BDA}"/>
              </a:ext>
            </a:extLst>
          </p:cNvPr>
          <p:cNvSpPr>
            <a:spLocks xmlns:a="http://schemas.openxmlformats.org/drawingml/2006/main" noGrp="1"/>
          </p:cNvSpPr>
          <p:nvPr/>
        </p:nvSpPr>
        <p:spPr>
          <a:xfrm xmlns:a="http://schemas.openxmlformats.org/drawingml/2006/main">
            <a:off x="790575" y="84772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975" b="1" i="0">
                <a:solidFill>
                  <a:srgbClr val="034B2F"/>
                </a:solidFill>
                <a:latin typeface="Lato"/>
                <a:ea typeface="Lato"/>
                <a:cs typeface="Lato"/>
              </a:defRPr>
            </a:pPr>
            <a:r>
              <a:rPr sz="975" b="1" i="0">
                <a:solidFill>
                  <a:srgbClr val="034B2F"/>
                </a:solidFill>
                <a:latin typeface="Lato"/>
                <a:ea typeface="Lato"/>
                <a:cs typeface="Lato"/>
              </a:rPr>
              <a:t>Try this</a:t>
            </a:r>
          </a:p>
        </p:txBody>
      </p:sp>
      <p:sp>
        <p:nvSpPr>
          <p:cNvPr id="34" name="">
            <a:extLst xmlns:a="http://schemas.openxmlformats.org/drawingml/2006/main">
              <a:ext uri="{FF2B5EF4-FFF2-40B4-BE49-F238E27FC236}">
                <a16:creationId xmlns:a16="http://schemas.microsoft.com/office/drawing/2014/main" id="{AB1EF285-207D-4ABF-A537-E4B1B973950F}"/>
              </a:ext>
            </a:extLst>
          </p:cNvPr>
          <p:cNvSpPr>
            <a:spLocks xmlns:a="http://schemas.openxmlformats.org/drawingml/2006/main" noGrp="1"/>
          </p:cNvSpPr>
          <p:nvPr/>
        </p:nvSpPr>
        <p:spPr>
          <a:xfrm xmlns:a="http://schemas.openxmlformats.org/drawingml/2006/main">
            <a:off x="790575" y="87439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7000"/>
              </a:lnSpc>
              <a:buNone/>
              <a:defRPr sz="900" b="0" i="0">
                <a:solidFill>
                  <a:srgbClr val="16211D"/>
                </a:solidFill>
                <a:latin typeface="Lato"/>
                <a:ea typeface="Lato"/>
                <a:cs typeface="Lato"/>
              </a:defRPr>
            </a:pPr>
            <a:r>
              <a:rPr sz="900" b="0" i="0">
                <a:solidFill>
                  <a:srgbClr val="16211D"/>
                </a:solidFill>
                <a:latin typeface="Lato"/>
                <a:ea typeface="Lato"/>
                <a:cs typeface="Lato"/>
              </a:rPr>
              <a:t>Make one drink change: smaller size, less syrup, unsweet tea, sparkling water, infused water, or water beside the drink.</a:t>
            </a:r>
          </a:p>
        </p:txBody>
      </p:sp>
    </p:spTree>
    <p:extLst>
      <p:ext uri="{BB962C8B-B14F-4D97-AF65-F5344CB8AC3E}">
        <p14:creationId xmlns:p14="http://schemas.microsoft.com/office/powerpoint/2010/main" val="852442373"/>
      </p:ext>
    </p:extLst>
  </p:cSld>
</p:sld>
</file>

<file path=ppt/slides/slide15.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d8b0a7eb3ae743ce"/>
          <a:srcRect xmlns:a="http://schemas.openxmlformats.org/drawingml/2006/main" l="699" t="0" r="699" b="0"/>
          <a:stretch xmlns:a="http://schemas.openxmlformats.org/drawingml/2006/main">
            <a:fillRect l="0" t="0" r="0" b="0"/>
          </a:stretch>
        </p:blipFill>
        <p:spPr>
          <a:xfrm xmlns:a="http://schemas.openxmlformats.org/drawingml/2006/main">
            <a:off x="552450" y="285750"/>
            <a:ext cx="257175" cy="276225"/>
          </a:xfrm>
          <a:prstGeom xmlns:a="http://schemas.openxmlformats.org/drawingml/2006/main" prst="roundRect">
            <a:avLst>
              <a:gd name="adj" fmla="val 29630"/>
            </a:avLst>
          </a:prstGeom>
        </p:spPr>
      </p:pic>
      <p:sp>
        <p:nvSpPr>
          <p:cNvPr id="2" name="">
            <a:extLst xmlns:a="http://schemas.openxmlformats.org/drawingml/2006/main">
              <a:ext uri="{FF2B5EF4-FFF2-40B4-BE49-F238E27FC236}">
                <a16:creationId xmlns:a16="http://schemas.microsoft.com/office/drawing/2014/main" id="{E37819A2-D5A9-4BFF-9900-9F697631F308}"/>
              </a:ext>
            </a:extLst>
          </p:cNvPr>
          <p:cNvSpPr>
            <a:spLocks xmlns:a="http://schemas.openxmlformats.org/drawingml/2006/main" noGrp="1"/>
          </p:cNvSpPr>
          <p:nvPr/>
        </p:nvSpPr>
        <p:spPr>
          <a:xfrm xmlns:a="http://schemas.openxmlformats.org/drawingml/2006/main">
            <a:off x="876300" y="3333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788" b="1" i="0">
                <a:solidFill>
                  <a:srgbClr val="034B2F"/>
                </a:solidFill>
                <a:latin typeface="Lora"/>
                <a:ea typeface="Lora"/>
                <a:cs typeface="Lora"/>
              </a:defRPr>
            </a:pPr>
            <a:r>
              <a:rPr sz="788" b="1" i="0">
                <a:solidFill>
                  <a:srgbClr val="034B2F"/>
                </a:solidFill>
                <a:latin typeface="Lora"/>
                <a:ea typeface="Lora"/>
                <a:cs typeface="Lora"/>
              </a:rPr>
              <a:t>The Mindful Plate</a:t>
            </a:r>
          </a:p>
        </p:txBody>
      </p:sp>
      <p:sp>
        <p:nvSpPr>
          <p:cNvPr id="3" name="">
            <a:extLst xmlns:a="http://schemas.openxmlformats.org/drawingml/2006/main">
              <a:ext uri="{FF2B5EF4-FFF2-40B4-BE49-F238E27FC236}">
                <a16:creationId xmlns:a16="http://schemas.microsoft.com/office/drawing/2014/main" id="{D5E482F0-E301-4D7E-A3F7-A8D707C117E2}"/>
              </a:ext>
            </a:extLst>
          </p:cNvPr>
          <p:cNvSpPr>
            <a:spLocks xmlns:a="http://schemas.openxmlformats.org/drawingml/2006/main" noGrp="1"/>
          </p:cNvSpPr>
          <p:nvPr/>
        </p:nvSpPr>
        <p:spPr>
          <a:xfrm xmlns:a="http://schemas.openxmlformats.org/drawingml/2006/main">
            <a:off x="876300" y="485775"/>
            <a:ext cx="2190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660" b="0" i="0">
                <a:solidFill>
                  <a:srgbClr val="5C6C67"/>
                </a:solidFill>
                <a:latin typeface="Lato"/>
                <a:ea typeface="Lato"/>
                <a:cs typeface="Lato"/>
              </a:defRPr>
            </a:pPr>
            <a:r>
              <a:rPr sz="660" b="0" i="0">
                <a:solidFill>
                  <a:srgbClr val="5C6C67"/>
                </a:solidFill>
                <a:latin typeface="Lato"/>
                <a:ea typeface="Lato"/>
                <a:cs typeface="Lato"/>
              </a:rPr>
              <a:t>Portions</a:t>
            </a:r>
          </a:p>
        </p:txBody>
      </p:sp>
      <p:sp>
        <p:nvSpPr>
          <p:cNvPr id="4" name="">
            <a:extLst xmlns:a="http://schemas.openxmlformats.org/drawingml/2006/main">
              <a:ext uri="{FF2B5EF4-FFF2-40B4-BE49-F238E27FC236}">
                <a16:creationId xmlns:a16="http://schemas.microsoft.com/office/drawing/2014/main" id="{5873C37E-7F42-4162-AA3D-62E432B693AA}"/>
              </a:ext>
            </a:extLst>
          </p:cNvPr>
          <p:cNvSpPr>
            <a:spLocks xmlns:a="http://schemas.openxmlformats.org/drawingml/2006/main" noGrp="1"/>
          </p:cNvSpPr>
          <p:nvPr/>
        </p:nvSpPr>
        <p:spPr>
          <a:xfrm xmlns:a="http://schemas.openxmlformats.org/drawingml/2006/main">
            <a:off x="552450" y="714375"/>
            <a:ext cx="6667500" cy="0"/>
          </a:xfrm>
          <a:prstGeom xmlns:a="http://schemas.openxmlformats.org/drawingml/2006/main" prst="line">
            <a:avLst/>
          </a:prstGeom>
          <a:noFill xmlns:a="http://schemas.openxmlformats.org/drawingml/2006/main"/>
          <a:ln xmlns:a="http://schemas.openxmlformats.org/drawingml/2006/main" w="11430">
            <a:solidFill>
              <a:srgbClr val="D9E2DA"/>
            </a:solidFill>
            <a:prstDash val="solid"/>
          </a:ln>
        </p:spPr>
      </p:sp>
      <p:sp>
        <p:nvSpPr>
          <p:cNvPr id="5" name="">
            <a:extLst xmlns:a="http://schemas.openxmlformats.org/drawingml/2006/main">
              <a:ext uri="{FF2B5EF4-FFF2-40B4-BE49-F238E27FC236}">
                <a16:creationId xmlns:a16="http://schemas.microsoft.com/office/drawing/2014/main" id="{898E6429-5E22-4E78-8611-13D6AC96D90C}"/>
              </a:ext>
            </a:extLst>
          </p:cNvPr>
          <p:cNvSpPr>
            <a:spLocks xmlns:a="http://schemas.openxmlformats.org/drawingml/2006/main" noGrp="1"/>
          </p:cNvSpPr>
          <p:nvPr/>
        </p:nvSpPr>
        <p:spPr>
          <a:xfrm xmlns:a="http://schemas.openxmlformats.org/drawingml/2006/main">
            <a:off x="552450" y="9610725"/>
            <a:ext cx="6667500" cy="0"/>
          </a:xfrm>
          <a:prstGeom xmlns:a="http://schemas.openxmlformats.org/drawingml/2006/main" prst="line">
            <a:avLst/>
          </a:prstGeom>
          <a:noFill xmlns:a="http://schemas.openxmlformats.org/drawingml/2006/main"/>
          <a:ln xmlns:a="http://schemas.openxmlformats.org/drawingml/2006/main" w="11430">
            <a:solidFill>
              <a:srgbClr val="D9E2DA"/>
            </a:solidFill>
            <a:prstDash val="solid"/>
          </a:ln>
        </p:spPr>
      </p:sp>
      <p:sp>
        <p:nvSpPr>
          <p:cNvPr id="6" name="">
            <a:extLst xmlns:a="http://schemas.openxmlformats.org/drawingml/2006/main">
              <a:ext uri="{FF2B5EF4-FFF2-40B4-BE49-F238E27FC236}">
                <a16:creationId xmlns:a16="http://schemas.microsoft.com/office/drawing/2014/main" id="{A0ADFB70-1239-41AE-B60C-7C8D2B40E355}"/>
              </a:ext>
            </a:extLst>
          </p:cNvPr>
          <p:cNvSpPr>
            <a:spLocks xmlns:a="http://schemas.openxmlformats.org/drawingml/2006/main" noGrp="1"/>
          </p:cNvSpPr>
          <p:nvPr/>
        </p:nvSpPr>
        <p:spPr>
          <a:xfrm xmlns:a="http://schemas.openxmlformats.org/drawingml/2006/main">
            <a:off x="552450" y="9715500"/>
            <a:ext cx="1762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660" b="0" i="0">
                <a:solidFill>
                  <a:srgbClr val="5C6C67"/>
                </a:solidFill>
                <a:latin typeface="Lato"/>
                <a:ea typeface="Lato"/>
                <a:cs typeface="Lato"/>
              </a:defRPr>
            </a:pPr>
            <a:r>
              <a:rPr sz="660" b="0" i="0">
                <a:solidFill>
                  <a:srgbClr val="5C6C67"/>
                </a:solidFill>
                <a:latin typeface="Lato"/>
                <a:ea typeface="Lato"/>
                <a:cs typeface="Lato"/>
              </a:rPr>
              <a:t>Mindful Diabetes Inc.</a:t>
            </a:r>
          </a:p>
        </p:txBody>
      </p:sp>
      <p:sp>
        <p:nvSpPr>
          <p:cNvPr id="7" name="">
            <a:extLst xmlns:a="http://schemas.openxmlformats.org/drawingml/2006/main">
              <a:ext uri="{FF2B5EF4-FFF2-40B4-BE49-F238E27FC236}">
                <a16:creationId xmlns:a16="http://schemas.microsoft.com/office/drawing/2014/main" id="{6A657A6E-A6F1-4A28-A974-E4D0D545D318}"/>
              </a:ext>
            </a:extLst>
          </p:cNvPr>
          <p:cNvSpPr>
            <a:spLocks xmlns:a="http://schemas.openxmlformats.org/drawingml/2006/main" noGrp="1"/>
          </p:cNvSpPr>
          <p:nvPr/>
        </p:nvSpPr>
        <p:spPr>
          <a:xfrm xmlns:a="http://schemas.openxmlformats.org/drawingml/2006/main">
            <a:off x="3162300" y="9715500"/>
            <a:ext cx="14763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lnSpc>
                <a:spcPct val="116000"/>
              </a:lnSpc>
              <a:buNone/>
              <a:defRPr sz="660" b="0" i="0">
                <a:solidFill>
                  <a:srgbClr val="5C6C67"/>
                </a:solidFill>
                <a:latin typeface="Lato"/>
                <a:ea typeface="Lato"/>
                <a:cs typeface="Lato"/>
              </a:defRPr>
            </a:pPr>
            <a:r>
              <a:rPr sz="660" b="0" i="0">
                <a:solidFill>
                  <a:srgbClr val="5C6C67"/>
                </a:solidFill>
                <a:latin typeface="Lato"/>
                <a:ea typeface="Lato"/>
                <a:cs typeface="Lato"/>
              </a:rPr>
              <a:t>mindfuldiabetes.org</a:t>
            </a:r>
          </a:p>
        </p:txBody>
      </p:sp>
      <p:sp>
        <p:nvSpPr>
          <p:cNvPr id="8" name="">
            <a:extLst xmlns:a="http://schemas.openxmlformats.org/drawingml/2006/main">
              <a:ext uri="{FF2B5EF4-FFF2-40B4-BE49-F238E27FC236}">
                <a16:creationId xmlns:a16="http://schemas.microsoft.com/office/drawing/2014/main" id="{685A1D66-F987-4DB8-8C0E-5865A226614E}"/>
              </a:ext>
            </a:extLst>
          </p:cNvPr>
          <p:cNvSpPr>
            <a:spLocks xmlns:a="http://schemas.openxmlformats.org/drawingml/2006/main" noGrp="1"/>
          </p:cNvSpPr>
          <p:nvPr/>
        </p:nvSpPr>
        <p:spPr>
          <a:xfrm xmlns:a="http://schemas.openxmlformats.org/drawingml/2006/main">
            <a:off x="6886575" y="9715500"/>
            <a:ext cx="3333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r">
              <a:lnSpc>
                <a:spcPct val="116000"/>
              </a:lnSpc>
              <a:buNone/>
              <a:defRPr sz="660" b="0" i="0">
                <a:solidFill>
                  <a:srgbClr val="F26A2E"/>
                </a:solidFill>
                <a:latin typeface="Lato"/>
                <a:ea typeface="Lato"/>
                <a:cs typeface="Lato"/>
              </a:defRPr>
            </a:pPr>
            <a:r>
              <a:rPr sz="660" b="0" i="0">
                <a:solidFill>
                  <a:srgbClr val="F26A2E"/>
                </a:solidFill>
                <a:latin typeface="Lato"/>
                <a:ea typeface="Lato"/>
                <a:cs typeface="Lato"/>
              </a:rPr>
              <a:t>15</a:t>
            </a:r>
          </a:p>
        </p:txBody>
      </p:sp>
      <p:sp>
        <p:nvSpPr>
          <p:cNvPr id="9" name="">
            <a:extLst xmlns:a="http://schemas.openxmlformats.org/drawingml/2006/main">
              <a:ext uri="{FF2B5EF4-FFF2-40B4-BE49-F238E27FC236}">
                <a16:creationId xmlns:a16="http://schemas.microsoft.com/office/drawing/2014/main" id="{3533DF57-F5F2-4EA6-9AB9-99E8431FC7B5}"/>
              </a:ext>
            </a:extLst>
          </p:cNvPr>
          <p:cNvSpPr>
            <a:spLocks xmlns:a="http://schemas.openxmlformats.org/drawingml/2006/main" noGrp="1"/>
          </p:cNvSpPr>
          <p:nvPr/>
        </p:nvSpPr>
        <p:spPr>
          <a:xfrm xmlns:a="http://schemas.openxmlformats.org/drawingml/2006/main">
            <a:off x="628650" y="790575"/>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900" b="1" i="0">
                <a:solidFill>
                  <a:srgbClr val="F26A2E"/>
                </a:solidFill>
                <a:latin typeface="Lato"/>
                <a:ea typeface="Lato"/>
                <a:cs typeface="Lato"/>
              </a:defRPr>
            </a:pPr>
            <a:r>
              <a:rPr sz="900" b="1" i="0">
                <a:solidFill>
                  <a:srgbClr val="F26A2E"/>
                </a:solidFill>
                <a:latin typeface="Lato"/>
                <a:ea typeface="Lato"/>
                <a:cs typeface="Lato"/>
              </a:rPr>
              <a:t>PORTIONS</a:t>
            </a:r>
          </a:p>
        </p:txBody>
      </p:sp>
      <p:sp>
        <p:nvSpPr>
          <p:cNvPr id="10" name="">
            <a:extLst xmlns:a="http://schemas.openxmlformats.org/drawingml/2006/main">
              <a:ext uri="{FF2B5EF4-FFF2-40B4-BE49-F238E27FC236}">
                <a16:creationId xmlns:a16="http://schemas.microsoft.com/office/drawing/2014/main" id="{0C7F3B8F-A588-466F-9C95-561D16F81475}"/>
              </a:ext>
            </a:extLst>
          </p:cNvPr>
          <p:cNvSpPr>
            <a:spLocks xmlns:a="http://schemas.openxmlformats.org/drawingml/2006/main" noGrp="1"/>
          </p:cNvSpPr>
          <p:nvPr/>
        </p:nvSpPr>
        <p:spPr>
          <a:xfrm xmlns:a="http://schemas.openxmlformats.org/drawingml/2006/main">
            <a:off x="590550" y="1066800"/>
            <a:ext cx="619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03000"/>
              </a:lnSpc>
              <a:buNone/>
              <a:defRPr sz="2550" b="1" i="0">
                <a:solidFill>
                  <a:srgbClr val="192442"/>
                </a:solidFill>
                <a:latin typeface="Lora"/>
                <a:ea typeface="Lora"/>
                <a:cs typeface="Lora"/>
              </a:defRPr>
            </a:pPr>
            <a:r>
              <a:rPr sz="2550" b="1" i="0">
                <a:solidFill>
                  <a:srgbClr val="192442"/>
                </a:solidFill>
                <a:latin typeface="Lora"/>
                <a:ea typeface="Lora"/>
                <a:cs typeface="Lora"/>
              </a:rPr>
              <a:t>Portions without weighing</a:t>
            </a:r>
          </a:p>
        </p:txBody>
      </p:sp>
      <p:sp>
        <p:nvSpPr>
          <p:cNvPr id="11" name="">
            <a:extLst xmlns:a="http://schemas.openxmlformats.org/drawingml/2006/main">
              <a:ext uri="{FF2B5EF4-FFF2-40B4-BE49-F238E27FC236}">
                <a16:creationId xmlns:a16="http://schemas.microsoft.com/office/drawing/2014/main" id="{68D4E4EF-43DE-4566-9458-3FB1EF505749}"/>
              </a:ext>
            </a:extLst>
          </p:cNvPr>
          <p:cNvSpPr>
            <a:spLocks xmlns:a="http://schemas.openxmlformats.org/drawingml/2006/main" noGrp="1"/>
          </p:cNvSpPr>
          <p:nvPr/>
        </p:nvSpPr>
        <p:spPr>
          <a:xfrm xmlns:a="http://schemas.openxmlformats.org/drawingml/2006/main">
            <a:off x="628650" y="1866900"/>
            <a:ext cx="6381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25000"/>
              </a:lnSpc>
              <a:buNone/>
              <a:defRPr sz="1125" b="0" i="0">
                <a:solidFill>
                  <a:srgbClr val="5C6C67"/>
                </a:solidFill>
                <a:latin typeface="Lato"/>
                <a:ea typeface="Lato"/>
                <a:cs typeface="Lato"/>
              </a:defRPr>
            </a:pPr>
            <a:r>
              <a:rPr sz="1125" b="0" i="0">
                <a:solidFill>
                  <a:srgbClr val="5C6C67"/>
                </a:solidFill>
                <a:latin typeface="Lato"/>
                <a:ea typeface="Lato"/>
                <a:cs typeface="Lato"/>
              </a:rPr>
              <a:t>Portions do not need to be exact to be useful. The plate method gives a visual estimate. Labels give serving sizes. Cups, bowls, and hand-based estimates can help when measuring is not realistic.</a:t>
            </a:r>
          </a:p>
        </p:txBody>
      </p:sp>
      <p:sp>
        <p:nvSpPr>
          <p:cNvPr id="12" name="">
            <a:extLst xmlns:a="http://schemas.openxmlformats.org/drawingml/2006/main">
              <a:ext uri="{FF2B5EF4-FFF2-40B4-BE49-F238E27FC236}">
                <a16:creationId xmlns:a16="http://schemas.microsoft.com/office/drawing/2014/main" id="{27788866-A949-41B8-8510-1E981BC1C7AB}"/>
              </a:ext>
            </a:extLst>
          </p:cNvPr>
          <p:cNvSpPr>
            <a:spLocks xmlns:a="http://schemas.openxmlformats.org/drawingml/2006/main" noGrp="1"/>
          </p:cNvSpPr>
          <p:nvPr/>
        </p:nvSpPr>
        <p:spPr>
          <a:xfrm xmlns:a="http://schemas.openxmlformats.org/drawingml/2006/main">
            <a:off x="800100" y="3105150"/>
            <a:ext cx="1143000" cy="1143000"/>
          </a:xfrm>
          <a:prstGeom xmlns:a="http://schemas.openxmlformats.org/drawingml/2006/main" prst="ellipse">
            <a:avLst/>
          </a:prstGeom>
          <a:solidFill xmlns:a="http://schemas.openxmlformats.org/drawingml/2006/main">
            <a:srgbClr val="E6F2EC"/>
          </a:solidFill>
          <a:ln xmlns:a="http://schemas.openxmlformats.org/drawingml/2006/main" w="11430">
            <a:solidFill>
              <a:srgbClr val="B8D8C8"/>
            </a:solidFill>
            <a:prstDash val="solid"/>
          </a:ln>
        </p:spPr>
      </p:sp>
      <p:sp>
        <p:nvSpPr>
          <p:cNvPr id="13" name="">
            <a:extLst xmlns:a="http://schemas.openxmlformats.org/drawingml/2006/main">
              <a:ext uri="{FF2B5EF4-FFF2-40B4-BE49-F238E27FC236}">
                <a16:creationId xmlns:a16="http://schemas.microsoft.com/office/drawing/2014/main" id="{9AF9ACBE-7DAC-422A-8F6B-F927711F8F09}"/>
              </a:ext>
            </a:extLst>
          </p:cNvPr>
          <p:cNvSpPr>
            <a:spLocks xmlns:a="http://schemas.openxmlformats.org/drawingml/2006/main" noGrp="1"/>
          </p:cNvSpPr>
          <p:nvPr/>
        </p:nvSpPr>
        <p:spPr>
          <a:xfrm xmlns:a="http://schemas.openxmlformats.org/drawingml/2006/main">
            <a:off x="933450" y="3448050"/>
            <a:ext cx="876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lnSpc>
                <a:spcPct val="116000"/>
              </a:lnSpc>
              <a:buNone/>
              <a:defRPr sz="1350" b="1" i="0">
                <a:solidFill>
                  <a:srgbClr val="192442"/>
                </a:solidFill>
                <a:latin typeface="Lora"/>
                <a:ea typeface="Lora"/>
                <a:cs typeface="Lora"/>
              </a:defRPr>
            </a:pPr>
            <a:r>
              <a:rPr sz="1350" b="1" i="0">
                <a:solidFill>
                  <a:srgbClr val="192442"/>
                </a:solidFill>
                <a:latin typeface="Lora"/>
                <a:ea typeface="Lora"/>
                <a:cs typeface="Lora"/>
              </a:rPr>
              <a:t>Fist</a:t>
            </a:r>
          </a:p>
        </p:txBody>
      </p:sp>
      <p:sp>
        <p:nvSpPr>
          <p:cNvPr id="14" name="">
            <a:extLst xmlns:a="http://schemas.openxmlformats.org/drawingml/2006/main">
              <a:ext uri="{FF2B5EF4-FFF2-40B4-BE49-F238E27FC236}">
                <a16:creationId xmlns:a16="http://schemas.microsoft.com/office/drawing/2014/main" id="{013EDC03-A515-4553-BDD1-DF2064147D08}"/>
              </a:ext>
            </a:extLst>
          </p:cNvPr>
          <p:cNvSpPr>
            <a:spLocks xmlns:a="http://schemas.openxmlformats.org/drawingml/2006/main" noGrp="1"/>
          </p:cNvSpPr>
          <p:nvPr/>
        </p:nvSpPr>
        <p:spPr>
          <a:xfrm xmlns:a="http://schemas.openxmlformats.org/drawingml/2006/main">
            <a:off x="2228850" y="3390900"/>
            <a:ext cx="2000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5000"/>
              </a:lnSpc>
              <a:buNone/>
              <a:defRPr sz="975" b="0" i="0">
                <a:solidFill>
                  <a:srgbClr val="16211D"/>
                </a:solidFill>
                <a:latin typeface="Lato"/>
                <a:ea typeface="Lato"/>
                <a:cs typeface="Lato"/>
              </a:defRPr>
            </a:pPr>
            <a:r>
              <a:rPr sz="975" b="0" i="0">
                <a:solidFill>
                  <a:srgbClr val="16211D"/>
                </a:solidFill>
                <a:latin typeface="Lato"/>
                <a:ea typeface="Lato"/>
                <a:cs typeface="Lato"/>
              </a:rPr>
              <a:t>rough estimate for about one cup of some foods</a:t>
            </a:r>
          </a:p>
        </p:txBody>
      </p:sp>
      <p:sp>
        <p:nvSpPr>
          <p:cNvPr id="15" name="">
            <a:extLst xmlns:a="http://schemas.openxmlformats.org/drawingml/2006/main">
              <a:ext uri="{FF2B5EF4-FFF2-40B4-BE49-F238E27FC236}">
                <a16:creationId xmlns:a16="http://schemas.microsoft.com/office/drawing/2014/main" id="{B02E7FFB-002F-445B-A167-585266B77B3D}"/>
              </a:ext>
            </a:extLst>
          </p:cNvPr>
          <p:cNvSpPr>
            <a:spLocks xmlns:a="http://schemas.openxmlformats.org/drawingml/2006/main" noGrp="1"/>
          </p:cNvSpPr>
          <p:nvPr/>
        </p:nvSpPr>
        <p:spPr>
          <a:xfrm xmlns:a="http://schemas.openxmlformats.org/drawingml/2006/main">
            <a:off x="4095750" y="3105150"/>
            <a:ext cx="1143000" cy="1143000"/>
          </a:xfrm>
          <a:prstGeom xmlns:a="http://schemas.openxmlformats.org/drawingml/2006/main" prst="ellipse">
            <a:avLst/>
          </a:prstGeom>
          <a:solidFill xmlns:a="http://schemas.openxmlformats.org/drawingml/2006/main">
            <a:srgbClr val="EEF7FA"/>
          </a:solidFill>
          <a:ln xmlns:a="http://schemas.openxmlformats.org/drawingml/2006/main" w="11430">
            <a:solidFill>
              <a:srgbClr val="B8D8C8"/>
            </a:solidFill>
            <a:prstDash val="solid"/>
          </a:ln>
        </p:spPr>
      </p:sp>
      <p:sp>
        <p:nvSpPr>
          <p:cNvPr id="16" name="">
            <a:extLst xmlns:a="http://schemas.openxmlformats.org/drawingml/2006/main">
              <a:ext uri="{FF2B5EF4-FFF2-40B4-BE49-F238E27FC236}">
                <a16:creationId xmlns:a16="http://schemas.microsoft.com/office/drawing/2014/main" id="{8EFABB84-3BDF-4136-A037-2892509D8956}"/>
              </a:ext>
            </a:extLst>
          </p:cNvPr>
          <p:cNvSpPr>
            <a:spLocks xmlns:a="http://schemas.openxmlformats.org/drawingml/2006/main" noGrp="1"/>
          </p:cNvSpPr>
          <p:nvPr/>
        </p:nvSpPr>
        <p:spPr>
          <a:xfrm xmlns:a="http://schemas.openxmlformats.org/drawingml/2006/main">
            <a:off x="4229100" y="3448050"/>
            <a:ext cx="876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lnSpc>
                <a:spcPct val="116000"/>
              </a:lnSpc>
              <a:buNone/>
              <a:defRPr sz="1350" b="1" i="0">
                <a:solidFill>
                  <a:srgbClr val="192442"/>
                </a:solidFill>
                <a:latin typeface="Lora"/>
                <a:ea typeface="Lora"/>
                <a:cs typeface="Lora"/>
              </a:defRPr>
            </a:pPr>
            <a:r>
              <a:rPr sz="1350" b="1" i="0">
                <a:solidFill>
                  <a:srgbClr val="192442"/>
                </a:solidFill>
                <a:latin typeface="Lora"/>
                <a:ea typeface="Lora"/>
                <a:cs typeface="Lora"/>
              </a:rPr>
              <a:t>Palm</a:t>
            </a:r>
          </a:p>
        </p:txBody>
      </p:sp>
      <p:sp>
        <p:nvSpPr>
          <p:cNvPr id="17" name="">
            <a:extLst xmlns:a="http://schemas.openxmlformats.org/drawingml/2006/main">
              <a:ext uri="{FF2B5EF4-FFF2-40B4-BE49-F238E27FC236}">
                <a16:creationId xmlns:a16="http://schemas.microsoft.com/office/drawing/2014/main" id="{B950F56C-75C5-4763-A80E-5CD30C6D6D33}"/>
              </a:ext>
            </a:extLst>
          </p:cNvPr>
          <p:cNvSpPr>
            <a:spLocks xmlns:a="http://schemas.openxmlformats.org/drawingml/2006/main" noGrp="1"/>
          </p:cNvSpPr>
          <p:nvPr/>
        </p:nvSpPr>
        <p:spPr>
          <a:xfrm xmlns:a="http://schemas.openxmlformats.org/drawingml/2006/main">
            <a:off x="5524500" y="3390900"/>
            <a:ext cx="2000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5000"/>
              </a:lnSpc>
              <a:buNone/>
              <a:defRPr sz="975" b="0" i="0">
                <a:solidFill>
                  <a:srgbClr val="16211D"/>
                </a:solidFill>
                <a:latin typeface="Lato"/>
                <a:ea typeface="Lato"/>
                <a:cs typeface="Lato"/>
              </a:defRPr>
            </a:pPr>
            <a:r>
              <a:rPr sz="975" b="0" i="0">
                <a:solidFill>
                  <a:srgbClr val="16211D"/>
                </a:solidFill>
                <a:latin typeface="Lato"/>
                <a:ea typeface="Lato"/>
                <a:cs typeface="Lato"/>
              </a:rPr>
              <a:t>rough estimate for cooked protein</a:t>
            </a:r>
          </a:p>
        </p:txBody>
      </p:sp>
      <p:sp>
        <p:nvSpPr>
          <p:cNvPr id="18" name="">
            <a:extLst xmlns:a="http://schemas.openxmlformats.org/drawingml/2006/main">
              <a:ext uri="{FF2B5EF4-FFF2-40B4-BE49-F238E27FC236}">
                <a16:creationId xmlns:a16="http://schemas.microsoft.com/office/drawing/2014/main" id="{1F2BA9F1-6F9A-4D49-B9B9-980ABAFC701C}"/>
              </a:ext>
            </a:extLst>
          </p:cNvPr>
          <p:cNvSpPr>
            <a:spLocks xmlns:a="http://schemas.openxmlformats.org/drawingml/2006/main" noGrp="1"/>
          </p:cNvSpPr>
          <p:nvPr/>
        </p:nvSpPr>
        <p:spPr>
          <a:xfrm xmlns:a="http://schemas.openxmlformats.org/drawingml/2006/main">
            <a:off x="800100" y="5286375"/>
            <a:ext cx="1143000" cy="1143000"/>
          </a:xfrm>
          <a:prstGeom xmlns:a="http://schemas.openxmlformats.org/drawingml/2006/main" prst="ellipse">
            <a:avLst/>
          </a:prstGeom>
          <a:solidFill xmlns:a="http://schemas.openxmlformats.org/drawingml/2006/main">
            <a:srgbClr val="E6F2EC"/>
          </a:solidFill>
          <a:ln xmlns:a="http://schemas.openxmlformats.org/drawingml/2006/main" w="11430">
            <a:solidFill>
              <a:srgbClr val="B8D8C8"/>
            </a:solidFill>
            <a:prstDash val="solid"/>
          </a:ln>
        </p:spPr>
      </p:sp>
      <p:sp>
        <p:nvSpPr>
          <p:cNvPr id="19" name="">
            <a:extLst xmlns:a="http://schemas.openxmlformats.org/drawingml/2006/main">
              <a:ext uri="{FF2B5EF4-FFF2-40B4-BE49-F238E27FC236}">
                <a16:creationId xmlns:a16="http://schemas.microsoft.com/office/drawing/2014/main" id="{43D27477-BA49-4041-B076-2B29BD96514F}"/>
              </a:ext>
            </a:extLst>
          </p:cNvPr>
          <p:cNvSpPr>
            <a:spLocks xmlns:a="http://schemas.openxmlformats.org/drawingml/2006/main" noGrp="1"/>
          </p:cNvSpPr>
          <p:nvPr/>
        </p:nvSpPr>
        <p:spPr>
          <a:xfrm xmlns:a="http://schemas.openxmlformats.org/drawingml/2006/main">
            <a:off x="933450" y="5629275"/>
            <a:ext cx="876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lnSpc>
                <a:spcPct val="116000"/>
              </a:lnSpc>
              <a:buNone/>
              <a:defRPr sz="1350" b="1" i="0">
                <a:solidFill>
                  <a:srgbClr val="192442"/>
                </a:solidFill>
                <a:latin typeface="Lora"/>
                <a:ea typeface="Lora"/>
                <a:cs typeface="Lora"/>
              </a:defRPr>
            </a:pPr>
            <a:r>
              <a:rPr sz="1350" b="1" i="0">
                <a:solidFill>
                  <a:srgbClr val="192442"/>
                </a:solidFill>
                <a:latin typeface="Lora"/>
                <a:ea typeface="Lora"/>
                <a:cs typeface="Lora"/>
              </a:rPr>
              <a:t>Thumb</a:t>
            </a:r>
          </a:p>
        </p:txBody>
      </p:sp>
      <p:sp>
        <p:nvSpPr>
          <p:cNvPr id="20" name="">
            <a:extLst xmlns:a="http://schemas.openxmlformats.org/drawingml/2006/main">
              <a:ext uri="{FF2B5EF4-FFF2-40B4-BE49-F238E27FC236}">
                <a16:creationId xmlns:a16="http://schemas.microsoft.com/office/drawing/2014/main" id="{A216015F-D924-44AD-A55B-C5A0263EBC9E}"/>
              </a:ext>
            </a:extLst>
          </p:cNvPr>
          <p:cNvSpPr>
            <a:spLocks xmlns:a="http://schemas.openxmlformats.org/drawingml/2006/main" noGrp="1"/>
          </p:cNvSpPr>
          <p:nvPr/>
        </p:nvSpPr>
        <p:spPr>
          <a:xfrm xmlns:a="http://schemas.openxmlformats.org/drawingml/2006/main">
            <a:off x="2228850" y="5572125"/>
            <a:ext cx="2000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5000"/>
              </a:lnSpc>
              <a:buNone/>
              <a:defRPr sz="975" b="0" i="0">
                <a:solidFill>
                  <a:srgbClr val="16211D"/>
                </a:solidFill>
                <a:latin typeface="Lato"/>
                <a:ea typeface="Lato"/>
                <a:cs typeface="Lato"/>
              </a:defRPr>
            </a:pPr>
            <a:r>
              <a:rPr sz="975" b="0" i="0">
                <a:solidFill>
                  <a:srgbClr val="16211D"/>
                </a:solidFill>
                <a:latin typeface="Lato"/>
                <a:ea typeface="Lato"/>
                <a:cs typeface="Lato"/>
              </a:rPr>
              <a:t>rough guide for a small amount of fat</a:t>
            </a:r>
          </a:p>
        </p:txBody>
      </p:sp>
      <p:sp>
        <p:nvSpPr>
          <p:cNvPr id="21" name="">
            <a:extLst xmlns:a="http://schemas.openxmlformats.org/drawingml/2006/main">
              <a:ext uri="{FF2B5EF4-FFF2-40B4-BE49-F238E27FC236}">
                <a16:creationId xmlns:a16="http://schemas.microsoft.com/office/drawing/2014/main" id="{15178AE9-E116-436B-AFB7-635AA77152A1}"/>
              </a:ext>
            </a:extLst>
          </p:cNvPr>
          <p:cNvSpPr>
            <a:spLocks xmlns:a="http://schemas.openxmlformats.org/drawingml/2006/main" noGrp="1"/>
          </p:cNvSpPr>
          <p:nvPr/>
        </p:nvSpPr>
        <p:spPr>
          <a:xfrm xmlns:a="http://schemas.openxmlformats.org/drawingml/2006/main">
            <a:off x="4095750" y="5286375"/>
            <a:ext cx="1143000" cy="1143000"/>
          </a:xfrm>
          <a:prstGeom xmlns:a="http://schemas.openxmlformats.org/drawingml/2006/main" prst="ellipse">
            <a:avLst/>
          </a:prstGeom>
          <a:solidFill xmlns:a="http://schemas.openxmlformats.org/drawingml/2006/main">
            <a:srgbClr val="EEF7FA"/>
          </a:solidFill>
          <a:ln xmlns:a="http://schemas.openxmlformats.org/drawingml/2006/main" w="11430">
            <a:solidFill>
              <a:srgbClr val="B8D8C8"/>
            </a:solidFill>
            <a:prstDash val="solid"/>
          </a:ln>
        </p:spPr>
      </p:sp>
      <p:sp>
        <p:nvSpPr>
          <p:cNvPr id="22" name="">
            <a:extLst xmlns:a="http://schemas.openxmlformats.org/drawingml/2006/main">
              <a:ext uri="{FF2B5EF4-FFF2-40B4-BE49-F238E27FC236}">
                <a16:creationId xmlns:a16="http://schemas.microsoft.com/office/drawing/2014/main" id="{BCF2A210-07C2-402E-8E93-20B3AE670E57}"/>
              </a:ext>
            </a:extLst>
          </p:cNvPr>
          <p:cNvSpPr>
            <a:spLocks xmlns:a="http://schemas.openxmlformats.org/drawingml/2006/main" noGrp="1"/>
          </p:cNvSpPr>
          <p:nvPr/>
        </p:nvSpPr>
        <p:spPr>
          <a:xfrm xmlns:a="http://schemas.openxmlformats.org/drawingml/2006/main">
            <a:off x="4229100" y="5629275"/>
            <a:ext cx="876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lnSpc>
                <a:spcPct val="116000"/>
              </a:lnSpc>
              <a:buNone/>
              <a:defRPr sz="1350" b="1" i="0">
                <a:solidFill>
                  <a:srgbClr val="192442"/>
                </a:solidFill>
                <a:latin typeface="Lora"/>
                <a:ea typeface="Lora"/>
                <a:cs typeface="Lora"/>
              </a:defRPr>
            </a:pPr>
            <a:r>
              <a:rPr sz="1350" b="1" i="0">
                <a:solidFill>
                  <a:srgbClr val="192442"/>
                </a:solidFill>
                <a:latin typeface="Lora"/>
                <a:ea typeface="Lora"/>
                <a:cs typeface="Lora"/>
              </a:rPr>
              <a:t>Label serving</a:t>
            </a:r>
          </a:p>
        </p:txBody>
      </p:sp>
      <p:sp>
        <p:nvSpPr>
          <p:cNvPr id="23" name="">
            <a:extLst xmlns:a="http://schemas.openxmlformats.org/drawingml/2006/main">
              <a:ext uri="{FF2B5EF4-FFF2-40B4-BE49-F238E27FC236}">
                <a16:creationId xmlns:a16="http://schemas.microsoft.com/office/drawing/2014/main" id="{972C32C0-0E19-479C-90AC-F23FB370D5F2}"/>
              </a:ext>
            </a:extLst>
          </p:cNvPr>
          <p:cNvSpPr>
            <a:spLocks xmlns:a="http://schemas.openxmlformats.org/drawingml/2006/main" noGrp="1"/>
          </p:cNvSpPr>
          <p:nvPr/>
        </p:nvSpPr>
        <p:spPr>
          <a:xfrm xmlns:a="http://schemas.openxmlformats.org/drawingml/2006/main">
            <a:off x="5524500" y="5572125"/>
            <a:ext cx="2000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5000"/>
              </a:lnSpc>
              <a:buNone/>
              <a:defRPr sz="975" b="0" i="0">
                <a:solidFill>
                  <a:srgbClr val="16211D"/>
                </a:solidFill>
                <a:latin typeface="Lato"/>
                <a:ea typeface="Lato"/>
                <a:cs typeface="Lato"/>
              </a:defRPr>
            </a:pPr>
            <a:r>
              <a:rPr sz="975" b="0" i="0">
                <a:solidFill>
                  <a:srgbClr val="16211D"/>
                </a:solidFill>
                <a:latin typeface="Lato"/>
                <a:ea typeface="Lato"/>
                <a:cs typeface="Lato"/>
              </a:rPr>
              <a:t>the amount used for the numbers on a package label</a:t>
            </a:r>
          </a:p>
        </p:txBody>
      </p:sp>
      <p:sp>
        <p:nvSpPr>
          <p:cNvPr id="24" name="">
            <a:extLst xmlns:a="http://schemas.openxmlformats.org/drawingml/2006/main">
              <a:ext uri="{FF2B5EF4-FFF2-40B4-BE49-F238E27FC236}">
                <a16:creationId xmlns:a16="http://schemas.microsoft.com/office/drawing/2014/main" id="{1668787B-55C0-4167-9923-B02170999DA4}"/>
              </a:ext>
            </a:extLst>
          </p:cNvPr>
          <p:cNvSpPr>
            <a:spLocks xmlns:a="http://schemas.openxmlformats.org/drawingml/2006/main" noGrp="1"/>
          </p:cNvSpPr>
          <p:nvPr/>
        </p:nvSpPr>
        <p:spPr>
          <a:xfrm xmlns:a="http://schemas.openxmlformats.org/drawingml/2006/main">
            <a:off x="628650" y="8229600"/>
            <a:ext cx="6515100" cy="666750"/>
          </a:xfrm>
          <a:prstGeom xmlns:a="http://schemas.openxmlformats.org/drawingml/2006/main" prst="roundRect">
            <a:avLst>
              <a:gd name="adj" fmla="val 14286"/>
            </a:avLst>
          </a:prstGeom>
          <a:solidFill xmlns:a="http://schemas.openxmlformats.org/drawingml/2006/main">
            <a:srgbClr val="FCE4D8"/>
          </a:solidFill>
          <a:ln xmlns:a="http://schemas.openxmlformats.org/drawingml/2006/main" w="11430">
            <a:solidFill>
              <a:srgbClr val="F3B499"/>
            </a:solidFill>
            <a:prstDash val="solid"/>
          </a:ln>
        </p:spPr>
      </p:sp>
      <p:sp>
        <p:nvSpPr>
          <p:cNvPr id="25" name="">
            <a:extLst xmlns:a="http://schemas.openxmlformats.org/drawingml/2006/main">
              <a:ext uri="{FF2B5EF4-FFF2-40B4-BE49-F238E27FC236}">
                <a16:creationId xmlns:a16="http://schemas.microsoft.com/office/drawing/2014/main" id="{6965E94A-7B36-4FA9-A948-D437D3564438}"/>
              </a:ext>
            </a:extLst>
          </p:cNvPr>
          <p:cNvSpPr>
            <a:spLocks xmlns:a="http://schemas.openxmlformats.org/drawingml/2006/main" noGrp="1"/>
          </p:cNvSpPr>
          <p:nvPr/>
        </p:nvSpPr>
        <p:spPr>
          <a:xfrm xmlns:a="http://schemas.openxmlformats.org/drawingml/2006/main">
            <a:off x="790575" y="83629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975" b="1" i="0">
                <a:solidFill>
                  <a:srgbClr val="8F3519"/>
                </a:solidFill>
                <a:latin typeface="Lato"/>
                <a:ea typeface="Lato"/>
                <a:cs typeface="Lato"/>
              </a:defRPr>
            </a:pPr>
            <a:r>
              <a:rPr sz="975" b="1" i="0">
                <a:solidFill>
                  <a:srgbClr val="8F3519"/>
                </a:solidFill>
                <a:latin typeface="Lato"/>
                <a:ea typeface="Lato"/>
                <a:cs typeface="Lato"/>
              </a:rPr>
              <a:t>Keep it kind</a:t>
            </a:r>
          </a:p>
        </p:txBody>
      </p:sp>
      <p:sp>
        <p:nvSpPr>
          <p:cNvPr id="26" name="">
            <a:extLst xmlns:a="http://schemas.openxmlformats.org/drawingml/2006/main">
              <a:ext uri="{FF2B5EF4-FFF2-40B4-BE49-F238E27FC236}">
                <a16:creationId xmlns:a16="http://schemas.microsoft.com/office/drawing/2014/main" id="{7B9E5EA8-E0B5-4073-BAB7-70F09A588C3B}"/>
              </a:ext>
            </a:extLst>
          </p:cNvPr>
          <p:cNvSpPr>
            <a:spLocks xmlns:a="http://schemas.openxmlformats.org/drawingml/2006/main" noGrp="1"/>
          </p:cNvSpPr>
          <p:nvPr/>
        </p:nvSpPr>
        <p:spPr>
          <a:xfrm xmlns:a="http://schemas.openxmlformats.org/drawingml/2006/main">
            <a:off x="790575" y="862965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7000"/>
              </a:lnSpc>
              <a:buNone/>
              <a:defRPr sz="900" b="0" i="0">
                <a:solidFill>
                  <a:srgbClr val="16211D"/>
                </a:solidFill>
                <a:latin typeface="Lato"/>
                <a:ea typeface="Lato"/>
                <a:cs typeface="Lato"/>
              </a:defRPr>
            </a:pPr>
            <a:r>
              <a:rPr sz="900" b="0" i="0">
                <a:solidFill>
                  <a:srgbClr val="16211D"/>
                </a:solidFill>
                <a:latin typeface="Lato"/>
                <a:ea typeface="Lato"/>
                <a:cs typeface="Lato"/>
              </a:rPr>
              <a:t>Portion awareness is a tool, not a judgment. If measuring food feels stressful or unsafe, ask for support.</a:t>
            </a:r>
          </a:p>
        </p:txBody>
      </p:sp>
    </p:spTree>
    <p:extLst>
      <p:ext uri="{BB962C8B-B14F-4D97-AF65-F5344CB8AC3E}">
        <p14:creationId xmlns:p14="http://schemas.microsoft.com/office/powerpoint/2010/main" val="1782371679"/>
      </p:ext>
    </p:extLst>
  </p:cSld>
</p:sld>
</file>

<file path=ppt/slides/slide16.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ef40a5f901ab4b03"/>
          <a:srcRect xmlns:a="http://schemas.openxmlformats.org/drawingml/2006/main" l="699" t="0" r="699" b="0"/>
          <a:stretch xmlns:a="http://schemas.openxmlformats.org/drawingml/2006/main">
            <a:fillRect l="0" t="0" r="0" b="0"/>
          </a:stretch>
        </p:blipFill>
        <p:spPr>
          <a:xfrm xmlns:a="http://schemas.openxmlformats.org/drawingml/2006/main">
            <a:off x="552450" y="285750"/>
            <a:ext cx="257175" cy="276225"/>
          </a:xfrm>
          <a:prstGeom xmlns:a="http://schemas.openxmlformats.org/drawingml/2006/main" prst="roundRect">
            <a:avLst>
              <a:gd name="adj" fmla="val 29630"/>
            </a:avLst>
          </a:prstGeom>
        </p:spPr>
      </p:pic>
      <p:sp>
        <p:nvSpPr>
          <p:cNvPr id="2" name="">
            <a:extLst xmlns:a="http://schemas.openxmlformats.org/drawingml/2006/main">
              <a:ext uri="{FF2B5EF4-FFF2-40B4-BE49-F238E27FC236}">
                <a16:creationId xmlns:a16="http://schemas.microsoft.com/office/drawing/2014/main" id="{D8AB1F20-C866-4BFA-B346-28195F9367D1}"/>
              </a:ext>
            </a:extLst>
          </p:cNvPr>
          <p:cNvSpPr>
            <a:spLocks xmlns:a="http://schemas.openxmlformats.org/drawingml/2006/main" noGrp="1"/>
          </p:cNvSpPr>
          <p:nvPr/>
        </p:nvSpPr>
        <p:spPr>
          <a:xfrm xmlns:a="http://schemas.openxmlformats.org/drawingml/2006/main">
            <a:off x="876300" y="3333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788" b="1" i="0">
                <a:solidFill>
                  <a:srgbClr val="034B2F"/>
                </a:solidFill>
                <a:latin typeface="Lora"/>
                <a:ea typeface="Lora"/>
                <a:cs typeface="Lora"/>
              </a:defRPr>
            </a:pPr>
            <a:r>
              <a:rPr sz="788" b="1" i="0">
                <a:solidFill>
                  <a:srgbClr val="034B2F"/>
                </a:solidFill>
                <a:latin typeface="Lora"/>
                <a:ea typeface="Lora"/>
                <a:cs typeface="Lora"/>
              </a:rPr>
              <a:t>The Mindful Plate</a:t>
            </a:r>
          </a:p>
        </p:txBody>
      </p:sp>
      <p:sp>
        <p:nvSpPr>
          <p:cNvPr id="3" name="">
            <a:extLst xmlns:a="http://schemas.openxmlformats.org/drawingml/2006/main">
              <a:ext uri="{FF2B5EF4-FFF2-40B4-BE49-F238E27FC236}">
                <a16:creationId xmlns:a16="http://schemas.microsoft.com/office/drawing/2014/main" id="{F9C66823-7CFC-451A-A510-18DEF3B91D98}"/>
              </a:ext>
            </a:extLst>
          </p:cNvPr>
          <p:cNvSpPr>
            <a:spLocks xmlns:a="http://schemas.openxmlformats.org/drawingml/2006/main" noGrp="1"/>
          </p:cNvSpPr>
          <p:nvPr/>
        </p:nvSpPr>
        <p:spPr>
          <a:xfrm xmlns:a="http://schemas.openxmlformats.org/drawingml/2006/main">
            <a:off x="876300" y="485775"/>
            <a:ext cx="2190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660" b="0" i="0">
                <a:solidFill>
                  <a:srgbClr val="5C6C67"/>
                </a:solidFill>
                <a:latin typeface="Lato"/>
                <a:ea typeface="Lato"/>
                <a:cs typeface="Lato"/>
              </a:defRPr>
            </a:pPr>
            <a:r>
              <a:rPr sz="660" b="0" i="0">
                <a:solidFill>
                  <a:srgbClr val="5C6C67"/>
                </a:solidFill>
                <a:latin typeface="Lato"/>
                <a:ea typeface="Lato"/>
                <a:cs typeface="Lato"/>
              </a:rPr>
              <a:t>Sample menu</a:t>
            </a:r>
          </a:p>
        </p:txBody>
      </p:sp>
      <p:sp>
        <p:nvSpPr>
          <p:cNvPr id="4" name="">
            <a:extLst xmlns:a="http://schemas.openxmlformats.org/drawingml/2006/main">
              <a:ext uri="{FF2B5EF4-FFF2-40B4-BE49-F238E27FC236}">
                <a16:creationId xmlns:a16="http://schemas.microsoft.com/office/drawing/2014/main" id="{C1D90221-0F79-4AEC-9620-775007516C44}"/>
              </a:ext>
            </a:extLst>
          </p:cNvPr>
          <p:cNvSpPr>
            <a:spLocks xmlns:a="http://schemas.openxmlformats.org/drawingml/2006/main" noGrp="1"/>
          </p:cNvSpPr>
          <p:nvPr/>
        </p:nvSpPr>
        <p:spPr>
          <a:xfrm xmlns:a="http://schemas.openxmlformats.org/drawingml/2006/main">
            <a:off x="552450" y="714375"/>
            <a:ext cx="6667500" cy="0"/>
          </a:xfrm>
          <a:prstGeom xmlns:a="http://schemas.openxmlformats.org/drawingml/2006/main" prst="line">
            <a:avLst/>
          </a:prstGeom>
          <a:noFill xmlns:a="http://schemas.openxmlformats.org/drawingml/2006/main"/>
          <a:ln xmlns:a="http://schemas.openxmlformats.org/drawingml/2006/main" w="11430">
            <a:solidFill>
              <a:srgbClr val="D9E2DA"/>
            </a:solidFill>
            <a:prstDash val="solid"/>
          </a:ln>
        </p:spPr>
      </p:sp>
      <p:sp>
        <p:nvSpPr>
          <p:cNvPr id="5" name="">
            <a:extLst xmlns:a="http://schemas.openxmlformats.org/drawingml/2006/main">
              <a:ext uri="{FF2B5EF4-FFF2-40B4-BE49-F238E27FC236}">
                <a16:creationId xmlns:a16="http://schemas.microsoft.com/office/drawing/2014/main" id="{DE103C6E-BFEA-47B2-B9AB-05B65E76C81C}"/>
              </a:ext>
            </a:extLst>
          </p:cNvPr>
          <p:cNvSpPr>
            <a:spLocks xmlns:a="http://schemas.openxmlformats.org/drawingml/2006/main" noGrp="1"/>
          </p:cNvSpPr>
          <p:nvPr/>
        </p:nvSpPr>
        <p:spPr>
          <a:xfrm xmlns:a="http://schemas.openxmlformats.org/drawingml/2006/main">
            <a:off x="552450" y="9610725"/>
            <a:ext cx="6667500" cy="0"/>
          </a:xfrm>
          <a:prstGeom xmlns:a="http://schemas.openxmlformats.org/drawingml/2006/main" prst="line">
            <a:avLst/>
          </a:prstGeom>
          <a:noFill xmlns:a="http://schemas.openxmlformats.org/drawingml/2006/main"/>
          <a:ln xmlns:a="http://schemas.openxmlformats.org/drawingml/2006/main" w="11430">
            <a:solidFill>
              <a:srgbClr val="D9E2DA"/>
            </a:solidFill>
            <a:prstDash val="solid"/>
          </a:ln>
        </p:spPr>
      </p:sp>
      <p:sp>
        <p:nvSpPr>
          <p:cNvPr id="6" name="">
            <a:extLst xmlns:a="http://schemas.openxmlformats.org/drawingml/2006/main">
              <a:ext uri="{FF2B5EF4-FFF2-40B4-BE49-F238E27FC236}">
                <a16:creationId xmlns:a16="http://schemas.microsoft.com/office/drawing/2014/main" id="{41490705-7DDE-47E6-8D35-E7B281F89089}"/>
              </a:ext>
            </a:extLst>
          </p:cNvPr>
          <p:cNvSpPr>
            <a:spLocks xmlns:a="http://schemas.openxmlformats.org/drawingml/2006/main" noGrp="1"/>
          </p:cNvSpPr>
          <p:nvPr/>
        </p:nvSpPr>
        <p:spPr>
          <a:xfrm xmlns:a="http://schemas.openxmlformats.org/drawingml/2006/main">
            <a:off x="552450" y="9715500"/>
            <a:ext cx="1762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660" b="0" i="0">
                <a:solidFill>
                  <a:srgbClr val="5C6C67"/>
                </a:solidFill>
                <a:latin typeface="Lato"/>
                <a:ea typeface="Lato"/>
                <a:cs typeface="Lato"/>
              </a:defRPr>
            </a:pPr>
            <a:r>
              <a:rPr sz="660" b="0" i="0">
                <a:solidFill>
                  <a:srgbClr val="5C6C67"/>
                </a:solidFill>
                <a:latin typeface="Lato"/>
                <a:ea typeface="Lato"/>
                <a:cs typeface="Lato"/>
              </a:rPr>
              <a:t>Mindful Diabetes Inc.</a:t>
            </a:r>
          </a:p>
        </p:txBody>
      </p:sp>
      <p:sp>
        <p:nvSpPr>
          <p:cNvPr id="7" name="">
            <a:extLst xmlns:a="http://schemas.openxmlformats.org/drawingml/2006/main">
              <a:ext uri="{FF2B5EF4-FFF2-40B4-BE49-F238E27FC236}">
                <a16:creationId xmlns:a16="http://schemas.microsoft.com/office/drawing/2014/main" id="{FA052580-0F40-4E88-BFE2-E431AF726D5D}"/>
              </a:ext>
            </a:extLst>
          </p:cNvPr>
          <p:cNvSpPr>
            <a:spLocks xmlns:a="http://schemas.openxmlformats.org/drawingml/2006/main" noGrp="1"/>
          </p:cNvSpPr>
          <p:nvPr/>
        </p:nvSpPr>
        <p:spPr>
          <a:xfrm xmlns:a="http://schemas.openxmlformats.org/drawingml/2006/main">
            <a:off x="3162300" y="9715500"/>
            <a:ext cx="14763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lnSpc>
                <a:spcPct val="116000"/>
              </a:lnSpc>
              <a:buNone/>
              <a:defRPr sz="660" b="0" i="0">
                <a:solidFill>
                  <a:srgbClr val="5C6C67"/>
                </a:solidFill>
                <a:latin typeface="Lato"/>
                <a:ea typeface="Lato"/>
                <a:cs typeface="Lato"/>
              </a:defRPr>
            </a:pPr>
            <a:r>
              <a:rPr sz="660" b="0" i="0">
                <a:solidFill>
                  <a:srgbClr val="5C6C67"/>
                </a:solidFill>
                <a:latin typeface="Lato"/>
                <a:ea typeface="Lato"/>
                <a:cs typeface="Lato"/>
              </a:rPr>
              <a:t>mindfuldiabetes.org</a:t>
            </a:r>
          </a:p>
        </p:txBody>
      </p:sp>
      <p:sp>
        <p:nvSpPr>
          <p:cNvPr id="8" name="">
            <a:extLst xmlns:a="http://schemas.openxmlformats.org/drawingml/2006/main">
              <a:ext uri="{FF2B5EF4-FFF2-40B4-BE49-F238E27FC236}">
                <a16:creationId xmlns:a16="http://schemas.microsoft.com/office/drawing/2014/main" id="{2E55AD7A-51D0-448C-AA7C-590BBD0A0242}"/>
              </a:ext>
            </a:extLst>
          </p:cNvPr>
          <p:cNvSpPr>
            <a:spLocks xmlns:a="http://schemas.openxmlformats.org/drawingml/2006/main" noGrp="1"/>
          </p:cNvSpPr>
          <p:nvPr/>
        </p:nvSpPr>
        <p:spPr>
          <a:xfrm xmlns:a="http://schemas.openxmlformats.org/drawingml/2006/main">
            <a:off x="6886575" y="9715500"/>
            <a:ext cx="3333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r">
              <a:lnSpc>
                <a:spcPct val="116000"/>
              </a:lnSpc>
              <a:buNone/>
              <a:defRPr sz="660" b="0" i="0">
                <a:solidFill>
                  <a:srgbClr val="F26A2E"/>
                </a:solidFill>
                <a:latin typeface="Lato"/>
                <a:ea typeface="Lato"/>
                <a:cs typeface="Lato"/>
              </a:defRPr>
            </a:pPr>
            <a:r>
              <a:rPr sz="660" b="0" i="0">
                <a:solidFill>
                  <a:srgbClr val="F26A2E"/>
                </a:solidFill>
                <a:latin typeface="Lato"/>
                <a:ea typeface="Lato"/>
                <a:cs typeface="Lato"/>
              </a:rPr>
              <a:t>16</a:t>
            </a:r>
          </a:p>
        </p:txBody>
      </p:sp>
      <p:sp>
        <p:nvSpPr>
          <p:cNvPr id="9" name="">
            <a:extLst xmlns:a="http://schemas.openxmlformats.org/drawingml/2006/main">
              <a:ext uri="{FF2B5EF4-FFF2-40B4-BE49-F238E27FC236}">
                <a16:creationId xmlns:a16="http://schemas.microsoft.com/office/drawing/2014/main" id="{389FB7D9-D37C-40F5-A6BA-0EE9E5441612}"/>
              </a:ext>
            </a:extLst>
          </p:cNvPr>
          <p:cNvSpPr>
            <a:spLocks xmlns:a="http://schemas.openxmlformats.org/drawingml/2006/main" noGrp="1"/>
          </p:cNvSpPr>
          <p:nvPr/>
        </p:nvSpPr>
        <p:spPr>
          <a:xfrm xmlns:a="http://schemas.openxmlformats.org/drawingml/2006/main">
            <a:off x="628650" y="790575"/>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900" b="1" i="0">
                <a:solidFill>
                  <a:srgbClr val="F26A2E"/>
                </a:solidFill>
                <a:latin typeface="Lato"/>
                <a:ea typeface="Lato"/>
                <a:cs typeface="Lato"/>
              </a:defRPr>
            </a:pPr>
            <a:r>
              <a:rPr sz="900" b="1" i="0">
                <a:solidFill>
                  <a:srgbClr val="F26A2E"/>
                </a:solidFill>
                <a:latin typeface="Lato"/>
                <a:ea typeface="Lato"/>
                <a:cs typeface="Lato"/>
              </a:rPr>
              <a:t>SAMPLE MENU</a:t>
            </a:r>
          </a:p>
        </p:txBody>
      </p:sp>
      <p:sp>
        <p:nvSpPr>
          <p:cNvPr id="10" name="">
            <a:extLst xmlns:a="http://schemas.openxmlformats.org/drawingml/2006/main">
              <a:ext uri="{FF2B5EF4-FFF2-40B4-BE49-F238E27FC236}">
                <a16:creationId xmlns:a16="http://schemas.microsoft.com/office/drawing/2014/main" id="{869163EF-192E-428A-883D-45BEFA08FA96}"/>
              </a:ext>
            </a:extLst>
          </p:cNvPr>
          <p:cNvSpPr>
            <a:spLocks xmlns:a="http://schemas.openxmlformats.org/drawingml/2006/main" noGrp="1"/>
          </p:cNvSpPr>
          <p:nvPr/>
        </p:nvSpPr>
        <p:spPr>
          <a:xfrm xmlns:a="http://schemas.openxmlformats.org/drawingml/2006/main">
            <a:off x="590550" y="1066800"/>
            <a:ext cx="619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03000"/>
              </a:lnSpc>
              <a:buNone/>
              <a:defRPr sz="2550" b="1" i="0">
                <a:solidFill>
                  <a:srgbClr val="192442"/>
                </a:solidFill>
                <a:latin typeface="Lora"/>
                <a:ea typeface="Lora"/>
                <a:cs typeface="Lora"/>
              </a:defRPr>
            </a:pPr>
            <a:r>
              <a:rPr sz="2550" b="1" i="0">
                <a:solidFill>
                  <a:srgbClr val="192442"/>
                </a:solidFill>
                <a:latin typeface="Lora"/>
                <a:ea typeface="Lora"/>
                <a:cs typeface="Lora"/>
              </a:rPr>
              <a:t>Three days of flexible ideas</a:t>
            </a:r>
          </a:p>
        </p:txBody>
      </p:sp>
      <p:sp>
        <p:nvSpPr>
          <p:cNvPr id="11" name="">
            <a:extLst xmlns:a="http://schemas.openxmlformats.org/drawingml/2006/main">
              <a:ext uri="{FF2B5EF4-FFF2-40B4-BE49-F238E27FC236}">
                <a16:creationId xmlns:a16="http://schemas.microsoft.com/office/drawing/2014/main" id="{6FEFDFDB-3100-4A11-BFC8-BDC4DF2526EF}"/>
              </a:ext>
            </a:extLst>
          </p:cNvPr>
          <p:cNvSpPr>
            <a:spLocks xmlns:a="http://schemas.openxmlformats.org/drawingml/2006/main" noGrp="1"/>
          </p:cNvSpPr>
          <p:nvPr/>
        </p:nvSpPr>
        <p:spPr>
          <a:xfrm xmlns:a="http://schemas.openxmlformats.org/drawingml/2006/main">
            <a:off x="628650" y="1866900"/>
            <a:ext cx="6381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25000"/>
              </a:lnSpc>
              <a:buNone/>
              <a:defRPr sz="1125" b="0" i="0">
                <a:solidFill>
                  <a:srgbClr val="5C6C67"/>
                </a:solidFill>
                <a:latin typeface="Lato"/>
                <a:ea typeface="Lato"/>
                <a:cs typeface="Lato"/>
              </a:defRPr>
            </a:pPr>
            <a:r>
              <a:rPr sz="1125" b="0" i="0">
                <a:solidFill>
                  <a:srgbClr val="5C6C67"/>
                </a:solidFill>
                <a:latin typeface="Lato"/>
                <a:ea typeface="Lato"/>
                <a:cs typeface="Lato"/>
              </a:rPr>
              <a:t>These are examples, not a prescription. Your calorie, carbohydrate, protein, sodium, kidney, allergy, pregnancy, medication, and glucose needs may be different.</a:t>
            </a:r>
          </a:p>
        </p:txBody>
      </p:sp>
      <p:sp>
        <p:nvSpPr>
          <p:cNvPr id="12" name="">
            <a:extLst xmlns:a="http://schemas.openxmlformats.org/drawingml/2006/main">
              <a:ext uri="{FF2B5EF4-FFF2-40B4-BE49-F238E27FC236}">
                <a16:creationId xmlns:a16="http://schemas.microsoft.com/office/drawing/2014/main" id="{AA6455C2-D96E-41EE-B70F-9E9CB16F4D30}"/>
              </a:ext>
            </a:extLst>
          </p:cNvPr>
          <p:cNvSpPr>
            <a:spLocks xmlns:a="http://schemas.openxmlformats.org/drawingml/2006/main" noGrp="1"/>
          </p:cNvSpPr>
          <p:nvPr/>
        </p:nvSpPr>
        <p:spPr>
          <a:xfrm xmlns:a="http://schemas.openxmlformats.org/drawingml/2006/main">
            <a:off x="628650" y="2990850"/>
            <a:ext cx="514350" cy="400050"/>
          </a:xfrm>
          <a:prstGeom xmlns:a="http://schemas.openxmlformats.org/drawingml/2006/main" prst="rect">
            <a:avLst/>
          </a:prstGeom>
          <a:solidFill xmlns:a="http://schemas.openxmlformats.org/drawingml/2006/main">
            <a:srgbClr val="E6F2EC"/>
          </a:solidFill>
          <a:ln xmlns:a="http://schemas.openxmlformats.org/drawingml/2006/main" w="11430">
            <a:solidFill>
              <a:srgbClr val="D6DED8"/>
            </a:solidFill>
            <a:prstDash val="solid"/>
          </a:ln>
        </p:spPr>
      </p:sp>
      <p:sp>
        <p:nvSpPr>
          <p:cNvPr id="13" name="">
            <a:extLst xmlns:a="http://schemas.openxmlformats.org/drawingml/2006/main">
              <a:ext uri="{FF2B5EF4-FFF2-40B4-BE49-F238E27FC236}">
                <a16:creationId xmlns:a16="http://schemas.microsoft.com/office/drawing/2014/main" id="{2C9E2F65-DD9A-450B-A1B6-66CB7142A53B}"/>
              </a:ext>
            </a:extLst>
          </p:cNvPr>
          <p:cNvSpPr>
            <a:spLocks xmlns:a="http://schemas.openxmlformats.org/drawingml/2006/main" noGrp="1"/>
          </p:cNvSpPr>
          <p:nvPr/>
        </p:nvSpPr>
        <p:spPr>
          <a:xfrm xmlns:a="http://schemas.openxmlformats.org/drawingml/2006/main">
            <a:off x="704850" y="3076575"/>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0000"/>
              </a:lnSpc>
              <a:buNone/>
              <a:defRPr sz="863" b="1" i="0">
                <a:solidFill>
                  <a:srgbClr val="16211D"/>
                </a:solidFill>
                <a:latin typeface="Lato"/>
                <a:ea typeface="Lato"/>
                <a:cs typeface="Lato"/>
              </a:defRPr>
            </a:pPr>
            <a:r>
              <a:rPr sz="863" b="1" i="0">
                <a:solidFill>
                  <a:srgbClr val="16211D"/>
                </a:solidFill>
                <a:latin typeface="Lato"/>
                <a:ea typeface="Lato"/>
                <a:cs typeface="Lato"/>
              </a:rPr>
              <a:t>Day</a:t>
            </a:r>
          </a:p>
        </p:txBody>
      </p:sp>
      <p:sp>
        <p:nvSpPr>
          <p:cNvPr id="14" name="">
            <a:extLst xmlns:a="http://schemas.openxmlformats.org/drawingml/2006/main">
              <a:ext uri="{FF2B5EF4-FFF2-40B4-BE49-F238E27FC236}">
                <a16:creationId xmlns:a16="http://schemas.microsoft.com/office/drawing/2014/main" id="{FBA0A7F5-9A45-4A7D-B288-7618E7CD8862}"/>
              </a:ext>
            </a:extLst>
          </p:cNvPr>
          <p:cNvSpPr>
            <a:spLocks xmlns:a="http://schemas.openxmlformats.org/drawingml/2006/main" noGrp="1"/>
          </p:cNvSpPr>
          <p:nvPr/>
        </p:nvSpPr>
        <p:spPr>
          <a:xfrm xmlns:a="http://schemas.openxmlformats.org/drawingml/2006/main">
            <a:off x="1143000" y="2990850"/>
            <a:ext cx="1409700" cy="400050"/>
          </a:xfrm>
          <a:prstGeom xmlns:a="http://schemas.openxmlformats.org/drawingml/2006/main" prst="rect">
            <a:avLst/>
          </a:prstGeom>
          <a:solidFill xmlns:a="http://schemas.openxmlformats.org/drawingml/2006/main">
            <a:srgbClr val="E6F2EC"/>
          </a:solidFill>
          <a:ln xmlns:a="http://schemas.openxmlformats.org/drawingml/2006/main" w="11430">
            <a:solidFill>
              <a:srgbClr val="D6DED8"/>
            </a:solidFill>
            <a:prstDash val="solid"/>
          </a:ln>
        </p:spPr>
      </p:sp>
      <p:sp>
        <p:nvSpPr>
          <p:cNvPr id="15" name="">
            <a:extLst xmlns:a="http://schemas.openxmlformats.org/drawingml/2006/main">
              <a:ext uri="{FF2B5EF4-FFF2-40B4-BE49-F238E27FC236}">
                <a16:creationId xmlns:a16="http://schemas.microsoft.com/office/drawing/2014/main" id="{1CE16E6C-EA24-493F-945E-E43C945324DB}"/>
              </a:ext>
            </a:extLst>
          </p:cNvPr>
          <p:cNvSpPr>
            <a:spLocks xmlns:a="http://schemas.openxmlformats.org/drawingml/2006/main" noGrp="1"/>
          </p:cNvSpPr>
          <p:nvPr/>
        </p:nvSpPr>
        <p:spPr>
          <a:xfrm xmlns:a="http://schemas.openxmlformats.org/drawingml/2006/main">
            <a:off x="1219200" y="3076575"/>
            <a:ext cx="1257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0000"/>
              </a:lnSpc>
              <a:buNone/>
              <a:defRPr sz="863" b="1" i="0">
                <a:solidFill>
                  <a:srgbClr val="16211D"/>
                </a:solidFill>
                <a:latin typeface="Lato"/>
                <a:ea typeface="Lato"/>
                <a:cs typeface="Lato"/>
              </a:defRPr>
            </a:pPr>
            <a:r>
              <a:rPr sz="863" b="1" i="0">
                <a:solidFill>
                  <a:srgbClr val="16211D"/>
                </a:solidFill>
                <a:latin typeface="Lato"/>
                <a:ea typeface="Lato"/>
                <a:cs typeface="Lato"/>
              </a:rPr>
              <a:t>Breakfast</a:t>
            </a:r>
          </a:p>
        </p:txBody>
      </p:sp>
      <p:sp>
        <p:nvSpPr>
          <p:cNvPr id="16" name="">
            <a:extLst xmlns:a="http://schemas.openxmlformats.org/drawingml/2006/main">
              <a:ext uri="{FF2B5EF4-FFF2-40B4-BE49-F238E27FC236}">
                <a16:creationId xmlns:a16="http://schemas.microsoft.com/office/drawing/2014/main" id="{FE86188A-546C-4480-9DBD-3BD817F735B4}"/>
              </a:ext>
            </a:extLst>
          </p:cNvPr>
          <p:cNvSpPr>
            <a:spLocks xmlns:a="http://schemas.openxmlformats.org/drawingml/2006/main" noGrp="1"/>
          </p:cNvSpPr>
          <p:nvPr/>
        </p:nvSpPr>
        <p:spPr>
          <a:xfrm xmlns:a="http://schemas.openxmlformats.org/drawingml/2006/main">
            <a:off x="2552700" y="2990850"/>
            <a:ext cx="1409700" cy="400050"/>
          </a:xfrm>
          <a:prstGeom xmlns:a="http://schemas.openxmlformats.org/drawingml/2006/main" prst="rect">
            <a:avLst/>
          </a:prstGeom>
          <a:solidFill xmlns:a="http://schemas.openxmlformats.org/drawingml/2006/main">
            <a:srgbClr val="E6F2EC"/>
          </a:solidFill>
          <a:ln xmlns:a="http://schemas.openxmlformats.org/drawingml/2006/main" w="11430">
            <a:solidFill>
              <a:srgbClr val="D6DED8"/>
            </a:solidFill>
            <a:prstDash val="solid"/>
          </a:ln>
        </p:spPr>
      </p:sp>
      <p:sp>
        <p:nvSpPr>
          <p:cNvPr id="17" name="">
            <a:extLst xmlns:a="http://schemas.openxmlformats.org/drawingml/2006/main">
              <a:ext uri="{FF2B5EF4-FFF2-40B4-BE49-F238E27FC236}">
                <a16:creationId xmlns:a16="http://schemas.microsoft.com/office/drawing/2014/main" id="{36D3470A-9C0D-4761-94DC-3D29C5DD879D}"/>
              </a:ext>
            </a:extLst>
          </p:cNvPr>
          <p:cNvSpPr>
            <a:spLocks xmlns:a="http://schemas.openxmlformats.org/drawingml/2006/main" noGrp="1"/>
          </p:cNvSpPr>
          <p:nvPr/>
        </p:nvSpPr>
        <p:spPr>
          <a:xfrm xmlns:a="http://schemas.openxmlformats.org/drawingml/2006/main">
            <a:off x="2628900" y="3076575"/>
            <a:ext cx="1257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0000"/>
              </a:lnSpc>
              <a:buNone/>
              <a:defRPr sz="863" b="1" i="0">
                <a:solidFill>
                  <a:srgbClr val="16211D"/>
                </a:solidFill>
                <a:latin typeface="Lato"/>
                <a:ea typeface="Lato"/>
                <a:cs typeface="Lato"/>
              </a:defRPr>
            </a:pPr>
            <a:r>
              <a:rPr sz="863" b="1" i="0">
                <a:solidFill>
                  <a:srgbClr val="16211D"/>
                </a:solidFill>
                <a:latin typeface="Lato"/>
                <a:ea typeface="Lato"/>
                <a:cs typeface="Lato"/>
              </a:rPr>
              <a:t>Lunch</a:t>
            </a:r>
          </a:p>
        </p:txBody>
      </p:sp>
      <p:sp>
        <p:nvSpPr>
          <p:cNvPr id="18" name="">
            <a:extLst xmlns:a="http://schemas.openxmlformats.org/drawingml/2006/main">
              <a:ext uri="{FF2B5EF4-FFF2-40B4-BE49-F238E27FC236}">
                <a16:creationId xmlns:a16="http://schemas.microsoft.com/office/drawing/2014/main" id="{8438C891-9C9A-47A7-BD4B-8236312C5EA4}"/>
              </a:ext>
            </a:extLst>
          </p:cNvPr>
          <p:cNvSpPr>
            <a:spLocks xmlns:a="http://schemas.openxmlformats.org/drawingml/2006/main" noGrp="1"/>
          </p:cNvSpPr>
          <p:nvPr/>
        </p:nvSpPr>
        <p:spPr>
          <a:xfrm xmlns:a="http://schemas.openxmlformats.org/drawingml/2006/main">
            <a:off x="3962400" y="2990850"/>
            <a:ext cx="1676400" cy="400050"/>
          </a:xfrm>
          <a:prstGeom xmlns:a="http://schemas.openxmlformats.org/drawingml/2006/main" prst="rect">
            <a:avLst/>
          </a:prstGeom>
          <a:solidFill xmlns:a="http://schemas.openxmlformats.org/drawingml/2006/main">
            <a:srgbClr val="E6F2EC"/>
          </a:solidFill>
          <a:ln xmlns:a="http://schemas.openxmlformats.org/drawingml/2006/main" w="11430">
            <a:solidFill>
              <a:srgbClr val="D6DED8"/>
            </a:solidFill>
            <a:prstDash val="solid"/>
          </a:ln>
        </p:spPr>
      </p:sp>
      <p:sp>
        <p:nvSpPr>
          <p:cNvPr id="19" name="">
            <a:extLst xmlns:a="http://schemas.openxmlformats.org/drawingml/2006/main">
              <a:ext uri="{FF2B5EF4-FFF2-40B4-BE49-F238E27FC236}">
                <a16:creationId xmlns:a16="http://schemas.microsoft.com/office/drawing/2014/main" id="{FD27E530-4DE1-4D9D-B1EE-B2AC1A75C122}"/>
              </a:ext>
            </a:extLst>
          </p:cNvPr>
          <p:cNvSpPr>
            <a:spLocks xmlns:a="http://schemas.openxmlformats.org/drawingml/2006/main" noGrp="1"/>
          </p:cNvSpPr>
          <p:nvPr/>
        </p:nvSpPr>
        <p:spPr>
          <a:xfrm xmlns:a="http://schemas.openxmlformats.org/drawingml/2006/main">
            <a:off x="4038600" y="3076575"/>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0000"/>
              </a:lnSpc>
              <a:buNone/>
              <a:defRPr sz="863" b="1" i="0">
                <a:solidFill>
                  <a:srgbClr val="16211D"/>
                </a:solidFill>
                <a:latin typeface="Lato"/>
                <a:ea typeface="Lato"/>
                <a:cs typeface="Lato"/>
              </a:defRPr>
            </a:pPr>
            <a:r>
              <a:rPr sz="863" b="1" i="0">
                <a:solidFill>
                  <a:srgbClr val="16211D"/>
                </a:solidFill>
                <a:latin typeface="Lato"/>
                <a:ea typeface="Lato"/>
                <a:cs typeface="Lato"/>
              </a:rPr>
              <a:t>Dinner</a:t>
            </a:r>
          </a:p>
        </p:txBody>
      </p:sp>
      <p:sp>
        <p:nvSpPr>
          <p:cNvPr id="20" name="">
            <a:extLst xmlns:a="http://schemas.openxmlformats.org/drawingml/2006/main">
              <a:ext uri="{FF2B5EF4-FFF2-40B4-BE49-F238E27FC236}">
                <a16:creationId xmlns:a16="http://schemas.microsoft.com/office/drawing/2014/main" id="{9AB1E194-66BC-46E3-9D72-58AEC572C382}"/>
              </a:ext>
            </a:extLst>
          </p:cNvPr>
          <p:cNvSpPr>
            <a:spLocks xmlns:a="http://schemas.openxmlformats.org/drawingml/2006/main" noGrp="1"/>
          </p:cNvSpPr>
          <p:nvPr/>
        </p:nvSpPr>
        <p:spPr>
          <a:xfrm xmlns:a="http://schemas.openxmlformats.org/drawingml/2006/main">
            <a:off x="5638800" y="2990850"/>
            <a:ext cx="1504950" cy="400050"/>
          </a:xfrm>
          <a:prstGeom xmlns:a="http://schemas.openxmlformats.org/drawingml/2006/main" prst="rect">
            <a:avLst/>
          </a:prstGeom>
          <a:solidFill xmlns:a="http://schemas.openxmlformats.org/drawingml/2006/main">
            <a:srgbClr val="E6F2EC"/>
          </a:solidFill>
          <a:ln xmlns:a="http://schemas.openxmlformats.org/drawingml/2006/main" w="11430">
            <a:solidFill>
              <a:srgbClr val="D6DED8"/>
            </a:solidFill>
            <a:prstDash val="solid"/>
          </a:ln>
        </p:spPr>
      </p:sp>
      <p:sp>
        <p:nvSpPr>
          <p:cNvPr id="21" name="">
            <a:extLst xmlns:a="http://schemas.openxmlformats.org/drawingml/2006/main">
              <a:ext uri="{FF2B5EF4-FFF2-40B4-BE49-F238E27FC236}">
                <a16:creationId xmlns:a16="http://schemas.microsoft.com/office/drawing/2014/main" id="{7C11CE02-6F93-4453-8914-1E637528CB6F}"/>
              </a:ext>
            </a:extLst>
          </p:cNvPr>
          <p:cNvSpPr>
            <a:spLocks xmlns:a="http://schemas.openxmlformats.org/drawingml/2006/main" noGrp="1"/>
          </p:cNvSpPr>
          <p:nvPr/>
        </p:nvSpPr>
        <p:spPr>
          <a:xfrm xmlns:a="http://schemas.openxmlformats.org/drawingml/2006/main">
            <a:off x="5715000" y="3076575"/>
            <a:ext cx="1352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0000"/>
              </a:lnSpc>
              <a:buNone/>
              <a:defRPr sz="863" b="1" i="0">
                <a:solidFill>
                  <a:srgbClr val="16211D"/>
                </a:solidFill>
                <a:latin typeface="Lato"/>
                <a:ea typeface="Lato"/>
                <a:cs typeface="Lato"/>
              </a:defRPr>
            </a:pPr>
            <a:r>
              <a:rPr sz="863" b="1" i="0">
                <a:solidFill>
                  <a:srgbClr val="16211D"/>
                </a:solidFill>
                <a:latin typeface="Lato"/>
                <a:ea typeface="Lato"/>
                <a:cs typeface="Lato"/>
              </a:rPr>
              <a:t>Snack</a:t>
            </a:r>
          </a:p>
        </p:txBody>
      </p:sp>
      <p:sp>
        <p:nvSpPr>
          <p:cNvPr id="22" name="">
            <a:extLst xmlns:a="http://schemas.openxmlformats.org/drawingml/2006/main">
              <a:ext uri="{FF2B5EF4-FFF2-40B4-BE49-F238E27FC236}">
                <a16:creationId xmlns:a16="http://schemas.microsoft.com/office/drawing/2014/main" id="{6DB6757A-0DF7-47F1-A5B8-F6DF17E95FC9}"/>
              </a:ext>
            </a:extLst>
          </p:cNvPr>
          <p:cNvSpPr>
            <a:spLocks xmlns:a="http://schemas.openxmlformats.org/drawingml/2006/main" noGrp="1"/>
          </p:cNvSpPr>
          <p:nvPr/>
        </p:nvSpPr>
        <p:spPr>
          <a:xfrm xmlns:a="http://schemas.openxmlformats.org/drawingml/2006/main">
            <a:off x="628650" y="3390900"/>
            <a:ext cx="514350" cy="552450"/>
          </a:xfrm>
          <a:prstGeom xmlns:a="http://schemas.openxmlformats.org/drawingml/2006/main" prst="rect">
            <a:avLst/>
          </a:prstGeom>
          <a:solidFill xmlns:a="http://schemas.openxmlformats.org/drawingml/2006/main">
            <a:srgbClr val="FFFFFF"/>
          </a:solidFill>
          <a:ln xmlns:a="http://schemas.openxmlformats.org/drawingml/2006/main" w="11430">
            <a:solidFill>
              <a:srgbClr val="D6DED8"/>
            </a:solidFill>
            <a:prstDash val="solid"/>
          </a:ln>
        </p:spPr>
      </p:sp>
      <p:sp>
        <p:nvSpPr>
          <p:cNvPr id="23" name="">
            <a:extLst xmlns:a="http://schemas.openxmlformats.org/drawingml/2006/main">
              <a:ext uri="{FF2B5EF4-FFF2-40B4-BE49-F238E27FC236}">
                <a16:creationId xmlns:a16="http://schemas.microsoft.com/office/drawing/2014/main" id="{F72D61ED-4BAB-44CE-8B97-8897F083494D}"/>
              </a:ext>
            </a:extLst>
          </p:cNvPr>
          <p:cNvSpPr>
            <a:spLocks xmlns:a="http://schemas.openxmlformats.org/drawingml/2006/main" noGrp="1"/>
          </p:cNvSpPr>
          <p:nvPr/>
        </p:nvSpPr>
        <p:spPr>
          <a:xfrm xmlns:a="http://schemas.openxmlformats.org/drawingml/2006/main">
            <a:off x="704850" y="3476625"/>
            <a:ext cx="361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0000"/>
              </a:lnSpc>
              <a:buNone/>
              <a:defRPr sz="825" b="0" i="0">
                <a:solidFill>
                  <a:srgbClr val="16211D"/>
                </a:solidFill>
                <a:latin typeface="Lato"/>
                <a:ea typeface="Lato"/>
                <a:cs typeface="Lato"/>
              </a:defRPr>
            </a:pPr>
            <a:r>
              <a:rPr sz="825" b="0" i="0">
                <a:solidFill>
                  <a:srgbClr val="16211D"/>
                </a:solidFill>
                <a:latin typeface="Lato"/>
                <a:ea typeface="Lato"/>
                <a:cs typeface="Lato"/>
              </a:rPr>
              <a:t>1</a:t>
            </a:r>
          </a:p>
        </p:txBody>
      </p:sp>
      <p:sp>
        <p:nvSpPr>
          <p:cNvPr id="24" name="">
            <a:extLst xmlns:a="http://schemas.openxmlformats.org/drawingml/2006/main">
              <a:ext uri="{FF2B5EF4-FFF2-40B4-BE49-F238E27FC236}">
                <a16:creationId xmlns:a16="http://schemas.microsoft.com/office/drawing/2014/main" id="{940C2C88-FC42-44BC-877D-D1AC1FAEE458}"/>
              </a:ext>
            </a:extLst>
          </p:cNvPr>
          <p:cNvSpPr>
            <a:spLocks xmlns:a="http://schemas.openxmlformats.org/drawingml/2006/main" noGrp="1"/>
          </p:cNvSpPr>
          <p:nvPr/>
        </p:nvSpPr>
        <p:spPr>
          <a:xfrm xmlns:a="http://schemas.openxmlformats.org/drawingml/2006/main">
            <a:off x="1143000" y="3390900"/>
            <a:ext cx="1409700" cy="552450"/>
          </a:xfrm>
          <a:prstGeom xmlns:a="http://schemas.openxmlformats.org/drawingml/2006/main" prst="rect">
            <a:avLst/>
          </a:prstGeom>
          <a:solidFill xmlns:a="http://schemas.openxmlformats.org/drawingml/2006/main">
            <a:srgbClr val="FFFFFF"/>
          </a:solidFill>
          <a:ln xmlns:a="http://schemas.openxmlformats.org/drawingml/2006/main" w="11430">
            <a:solidFill>
              <a:srgbClr val="D6DED8"/>
            </a:solidFill>
            <a:prstDash val="solid"/>
          </a:ln>
        </p:spPr>
      </p:sp>
      <p:sp>
        <p:nvSpPr>
          <p:cNvPr id="25" name="">
            <a:extLst xmlns:a="http://schemas.openxmlformats.org/drawingml/2006/main">
              <a:ext uri="{FF2B5EF4-FFF2-40B4-BE49-F238E27FC236}">
                <a16:creationId xmlns:a16="http://schemas.microsoft.com/office/drawing/2014/main" id="{0FAB5268-81C2-4E20-9311-633AA9E84484}"/>
              </a:ext>
            </a:extLst>
          </p:cNvPr>
          <p:cNvSpPr>
            <a:spLocks xmlns:a="http://schemas.openxmlformats.org/drawingml/2006/main" noGrp="1"/>
          </p:cNvSpPr>
          <p:nvPr/>
        </p:nvSpPr>
        <p:spPr>
          <a:xfrm xmlns:a="http://schemas.openxmlformats.org/drawingml/2006/main">
            <a:off x="1219200" y="3476625"/>
            <a:ext cx="1257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0000"/>
              </a:lnSpc>
              <a:buNone/>
              <a:defRPr sz="825" b="0" i="0">
                <a:solidFill>
                  <a:srgbClr val="16211D"/>
                </a:solidFill>
                <a:latin typeface="Lato"/>
                <a:ea typeface="Lato"/>
                <a:cs typeface="Lato"/>
              </a:defRPr>
            </a:pPr>
            <a:r>
              <a:rPr sz="825" b="0" i="0">
                <a:solidFill>
                  <a:srgbClr val="16211D"/>
                </a:solidFill>
                <a:latin typeface="Lato"/>
                <a:ea typeface="Lato"/>
                <a:cs typeface="Lato"/>
              </a:rPr>
              <a:t>Yogurt bowl</a:t>
            </a:r>
          </a:p>
        </p:txBody>
      </p:sp>
      <p:sp>
        <p:nvSpPr>
          <p:cNvPr id="26" name="">
            <a:extLst xmlns:a="http://schemas.openxmlformats.org/drawingml/2006/main">
              <a:ext uri="{FF2B5EF4-FFF2-40B4-BE49-F238E27FC236}">
                <a16:creationId xmlns:a16="http://schemas.microsoft.com/office/drawing/2014/main" id="{8A56E0CC-0252-4191-B0C8-7F6A60AE8C0C}"/>
              </a:ext>
            </a:extLst>
          </p:cNvPr>
          <p:cNvSpPr>
            <a:spLocks xmlns:a="http://schemas.openxmlformats.org/drawingml/2006/main" noGrp="1"/>
          </p:cNvSpPr>
          <p:nvPr/>
        </p:nvSpPr>
        <p:spPr>
          <a:xfrm xmlns:a="http://schemas.openxmlformats.org/drawingml/2006/main">
            <a:off x="2552700" y="3390900"/>
            <a:ext cx="1409700" cy="552450"/>
          </a:xfrm>
          <a:prstGeom xmlns:a="http://schemas.openxmlformats.org/drawingml/2006/main" prst="rect">
            <a:avLst/>
          </a:prstGeom>
          <a:solidFill xmlns:a="http://schemas.openxmlformats.org/drawingml/2006/main">
            <a:srgbClr val="FFFFFF"/>
          </a:solidFill>
          <a:ln xmlns:a="http://schemas.openxmlformats.org/drawingml/2006/main" w="11430">
            <a:solidFill>
              <a:srgbClr val="D6DED8"/>
            </a:solidFill>
            <a:prstDash val="solid"/>
          </a:ln>
        </p:spPr>
      </p:sp>
      <p:sp>
        <p:nvSpPr>
          <p:cNvPr id="27" name="">
            <a:extLst xmlns:a="http://schemas.openxmlformats.org/drawingml/2006/main">
              <a:ext uri="{FF2B5EF4-FFF2-40B4-BE49-F238E27FC236}">
                <a16:creationId xmlns:a16="http://schemas.microsoft.com/office/drawing/2014/main" id="{3295AF76-2E6C-4856-B4A3-01CC8E1E7529}"/>
              </a:ext>
            </a:extLst>
          </p:cNvPr>
          <p:cNvSpPr>
            <a:spLocks xmlns:a="http://schemas.openxmlformats.org/drawingml/2006/main" noGrp="1"/>
          </p:cNvSpPr>
          <p:nvPr/>
        </p:nvSpPr>
        <p:spPr>
          <a:xfrm xmlns:a="http://schemas.openxmlformats.org/drawingml/2006/main">
            <a:off x="2628900" y="3476625"/>
            <a:ext cx="1257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0000"/>
              </a:lnSpc>
              <a:buNone/>
              <a:defRPr sz="825" b="0" i="0">
                <a:solidFill>
                  <a:srgbClr val="16211D"/>
                </a:solidFill>
                <a:latin typeface="Lato"/>
                <a:ea typeface="Lato"/>
                <a:cs typeface="Lato"/>
              </a:defRPr>
            </a:pPr>
            <a:r>
              <a:rPr sz="825" b="0" i="0">
                <a:solidFill>
                  <a:srgbClr val="16211D"/>
                </a:solidFill>
                <a:latin typeface="Lato"/>
                <a:ea typeface="Lato"/>
                <a:cs typeface="Lato"/>
              </a:rPr>
              <a:t>Bean soup</a:t>
            </a:r>
          </a:p>
        </p:txBody>
      </p:sp>
      <p:sp>
        <p:nvSpPr>
          <p:cNvPr id="28" name="">
            <a:extLst xmlns:a="http://schemas.openxmlformats.org/drawingml/2006/main">
              <a:ext uri="{FF2B5EF4-FFF2-40B4-BE49-F238E27FC236}">
                <a16:creationId xmlns:a16="http://schemas.microsoft.com/office/drawing/2014/main" id="{C0218ACB-27B8-401F-BBAF-B3F9DF144C27}"/>
              </a:ext>
            </a:extLst>
          </p:cNvPr>
          <p:cNvSpPr>
            <a:spLocks xmlns:a="http://schemas.openxmlformats.org/drawingml/2006/main" noGrp="1"/>
          </p:cNvSpPr>
          <p:nvPr/>
        </p:nvSpPr>
        <p:spPr>
          <a:xfrm xmlns:a="http://schemas.openxmlformats.org/drawingml/2006/main">
            <a:off x="3962400" y="3390900"/>
            <a:ext cx="1676400" cy="552450"/>
          </a:xfrm>
          <a:prstGeom xmlns:a="http://schemas.openxmlformats.org/drawingml/2006/main" prst="rect">
            <a:avLst/>
          </a:prstGeom>
          <a:solidFill xmlns:a="http://schemas.openxmlformats.org/drawingml/2006/main">
            <a:srgbClr val="FFFFFF"/>
          </a:solidFill>
          <a:ln xmlns:a="http://schemas.openxmlformats.org/drawingml/2006/main" w="11430">
            <a:solidFill>
              <a:srgbClr val="D6DED8"/>
            </a:solidFill>
            <a:prstDash val="solid"/>
          </a:ln>
        </p:spPr>
      </p:sp>
      <p:sp>
        <p:nvSpPr>
          <p:cNvPr id="29" name="">
            <a:extLst xmlns:a="http://schemas.openxmlformats.org/drawingml/2006/main">
              <a:ext uri="{FF2B5EF4-FFF2-40B4-BE49-F238E27FC236}">
                <a16:creationId xmlns:a16="http://schemas.microsoft.com/office/drawing/2014/main" id="{64B02B97-9BAD-4674-955A-612C14691F0F}"/>
              </a:ext>
            </a:extLst>
          </p:cNvPr>
          <p:cNvSpPr>
            <a:spLocks xmlns:a="http://schemas.openxmlformats.org/drawingml/2006/main" noGrp="1"/>
          </p:cNvSpPr>
          <p:nvPr/>
        </p:nvSpPr>
        <p:spPr>
          <a:xfrm xmlns:a="http://schemas.openxmlformats.org/drawingml/2006/main">
            <a:off x="4038600" y="3476625"/>
            <a:ext cx="1524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0000"/>
              </a:lnSpc>
              <a:buNone/>
              <a:defRPr sz="825" b="0" i="0">
                <a:solidFill>
                  <a:srgbClr val="16211D"/>
                </a:solidFill>
                <a:latin typeface="Lato"/>
                <a:ea typeface="Lato"/>
                <a:cs typeface="Lato"/>
              </a:defRPr>
            </a:pPr>
            <a:r>
              <a:rPr sz="825" b="0" i="0">
                <a:solidFill>
                  <a:srgbClr val="16211D"/>
                </a:solidFill>
                <a:latin typeface="Lato"/>
                <a:ea typeface="Lato"/>
                <a:cs typeface="Lato"/>
              </a:rPr>
              <a:t>Fish, greens,</a:t>
            </a:r>
          </a:p>
          <a:p xmlns:a="http://schemas.openxmlformats.org/drawingml/2006/main">
            <a:pPr algn="l">
              <a:lnSpc>
                <a:spcPct val="110000"/>
              </a:lnSpc>
              <a:buNone/>
              <a:defRPr sz="825" b="0" i="0">
                <a:solidFill>
                  <a:srgbClr val="16211D"/>
                </a:solidFill>
                <a:latin typeface="Lato"/>
                <a:ea typeface="Lato"/>
                <a:cs typeface="Lato"/>
              </a:defRPr>
            </a:pPr>
            <a:r>
              <a:rPr sz="825" b="0" i="0">
                <a:solidFill>
                  <a:srgbClr val="16211D"/>
                </a:solidFill>
                <a:latin typeface="Lato"/>
                <a:ea typeface="Lato"/>
                <a:cs typeface="Lato"/>
              </a:rPr>
              <a:t>rice</a:t>
            </a:r>
          </a:p>
        </p:txBody>
      </p:sp>
      <p:sp>
        <p:nvSpPr>
          <p:cNvPr id="30" name="">
            <a:extLst xmlns:a="http://schemas.openxmlformats.org/drawingml/2006/main">
              <a:ext uri="{FF2B5EF4-FFF2-40B4-BE49-F238E27FC236}">
                <a16:creationId xmlns:a16="http://schemas.microsoft.com/office/drawing/2014/main" id="{B09E4CA3-7A21-4CD5-AA36-B0B1A0F89A2D}"/>
              </a:ext>
            </a:extLst>
          </p:cNvPr>
          <p:cNvSpPr>
            <a:spLocks xmlns:a="http://schemas.openxmlformats.org/drawingml/2006/main" noGrp="1"/>
          </p:cNvSpPr>
          <p:nvPr/>
        </p:nvSpPr>
        <p:spPr>
          <a:xfrm xmlns:a="http://schemas.openxmlformats.org/drawingml/2006/main">
            <a:off x="5638800" y="3390900"/>
            <a:ext cx="1504950" cy="552450"/>
          </a:xfrm>
          <a:prstGeom xmlns:a="http://schemas.openxmlformats.org/drawingml/2006/main" prst="rect">
            <a:avLst/>
          </a:prstGeom>
          <a:solidFill xmlns:a="http://schemas.openxmlformats.org/drawingml/2006/main">
            <a:srgbClr val="FFFFFF"/>
          </a:solidFill>
          <a:ln xmlns:a="http://schemas.openxmlformats.org/drawingml/2006/main" w="11430">
            <a:solidFill>
              <a:srgbClr val="D6DED8"/>
            </a:solidFill>
            <a:prstDash val="solid"/>
          </a:ln>
        </p:spPr>
      </p:sp>
      <p:sp>
        <p:nvSpPr>
          <p:cNvPr id="31" name="">
            <a:extLst xmlns:a="http://schemas.openxmlformats.org/drawingml/2006/main">
              <a:ext uri="{FF2B5EF4-FFF2-40B4-BE49-F238E27FC236}">
                <a16:creationId xmlns:a16="http://schemas.microsoft.com/office/drawing/2014/main" id="{1B1F79FB-D08F-401F-8C57-2F9373F45D83}"/>
              </a:ext>
            </a:extLst>
          </p:cNvPr>
          <p:cNvSpPr>
            <a:spLocks xmlns:a="http://schemas.openxmlformats.org/drawingml/2006/main" noGrp="1"/>
          </p:cNvSpPr>
          <p:nvPr/>
        </p:nvSpPr>
        <p:spPr>
          <a:xfrm xmlns:a="http://schemas.openxmlformats.org/drawingml/2006/main">
            <a:off x="5715000" y="3476625"/>
            <a:ext cx="1352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0000"/>
              </a:lnSpc>
              <a:buNone/>
              <a:defRPr sz="825" b="0" i="0">
                <a:solidFill>
                  <a:srgbClr val="16211D"/>
                </a:solidFill>
                <a:latin typeface="Lato"/>
                <a:ea typeface="Lato"/>
                <a:cs typeface="Lato"/>
              </a:defRPr>
            </a:pPr>
            <a:r>
              <a:rPr sz="825" b="0" i="0">
                <a:solidFill>
                  <a:srgbClr val="16211D"/>
                </a:solidFill>
                <a:latin typeface="Lato"/>
                <a:ea typeface="Lato"/>
                <a:cs typeface="Lato"/>
              </a:rPr>
              <a:t>Apple +</a:t>
            </a:r>
          </a:p>
          <a:p xmlns:a="http://schemas.openxmlformats.org/drawingml/2006/main">
            <a:pPr algn="l">
              <a:lnSpc>
                <a:spcPct val="110000"/>
              </a:lnSpc>
              <a:buNone/>
              <a:defRPr sz="825" b="0" i="0">
                <a:solidFill>
                  <a:srgbClr val="16211D"/>
                </a:solidFill>
                <a:latin typeface="Lato"/>
                <a:ea typeface="Lato"/>
                <a:cs typeface="Lato"/>
              </a:defRPr>
            </a:pPr>
            <a:r>
              <a:rPr sz="825" b="0" i="0">
                <a:solidFill>
                  <a:srgbClr val="16211D"/>
                </a:solidFill>
                <a:latin typeface="Lato"/>
                <a:ea typeface="Lato"/>
                <a:cs typeface="Lato"/>
              </a:rPr>
              <a:t>peanut butter</a:t>
            </a:r>
          </a:p>
        </p:txBody>
      </p:sp>
      <p:sp>
        <p:nvSpPr>
          <p:cNvPr id="32" name="">
            <a:extLst xmlns:a="http://schemas.openxmlformats.org/drawingml/2006/main">
              <a:ext uri="{FF2B5EF4-FFF2-40B4-BE49-F238E27FC236}">
                <a16:creationId xmlns:a16="http://schemas.microsoft.com/office/drawing/2014/main" id="{0486743F-B0AC-42EE-BF7E-4411DD2560C9}"/>
              </a:ext>
            </a:extLst>
          </p:cNvPr>
          <p:cNvSpPr>
            <a:spLocks xmlns:a="http://schemas.openxmlformats.org/drawingml/2006/main" noGrp="1"/>
          </p:cNvSpPr>
          <p:nvPr/>
        </p:nvSpPr>
        <p:spPr>
          <a:xfrm xmlns:a="http://schemas.openxmlformats.org/drawingml/2006/main">
            <a:off x="628650" y="3943350"/>
            <a:ext cx="514350" cy="552450"/>
          </a:xfrm>
          <a:prstGeom xmlns:a="http://schemas.openxmlformats.org/drawingml/2006/main" prst="rect">
            <a:avLst/>
          </a:prstGeom>
          <a:solidFill xmlns:a="http://schemas.openxmlformats.org/drawingml/2006/main">
            <a:srgbClr val="FFFFFF"/>
          </a:solidFill>
          <a:ln xmlns:a="http://schemas.openxmlformats.org/drawingml/2006/main" w="11430">
            <a:solidFill>
              <a:srgbClr val="D6DED8"/>
            </a:solidFill>
            <a:prstDash val="solid"/>
          </a:ln>
        </p:spPr>
      </p:sp>
      <p:sp>
        <p:nvSpPr>
          <p:cNvPr id="33" name="">
            <a:extLst xmlns:a="http://schemas.openxmlformats.org/drawingml/2006/main">
              <a:ext uri="{FF2B5EF4-FFF2-40B4-BE49-F238E27FC236}">
                <a16:creationId xmlns:a16="http://schemas.microsoft.com/office/drawing/2014/main" id="{3322634C-1659-46C6-9944-40FB0B6DD2FF}"/>
              </a:ext>
            </a:extLst>
          </p:cNvPr>
          <p:cNvSpPr>
            <a:spLocks xmlns:a="http://schemas.openxmlformats.org/drawingml/2006/main" noGrp="1"/>
          </p:cNvSpPr>
          <p:nvPr/>
        </p:nvSpPr>
        <p:spPr>
          <a:xfrm xmlns:a="http://schemas.openxmlformats.org/drawingml/2006/main">
            <a:off x="704850" y="4029075"/>
            <a:ext cx="361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0000"/>
              </a:lnSpc>
              <a:buNone/>
              <a:defRPr sz="825" b="0" i="0">
                <a:solidFill>
                  <a:srgbClr val="16211D"/>
                </a:solidFill>
                <a:latin typeface="Lato"/>
                <a:ea typeface="Lato"/>
                <a:cs typeface="Lato"/>
              </a:defRPr>
            </a:pPr>
            <a:r>
              <a:rPr sz="825" b="0" i="0">
                <a:solidFill>
                  <a:srgbClr val="16211D"/>
                </a:solidFill>
                <a:latin typeface="Lato"/>
                <a:ea typeface="Lato"/>
                <a:cs typeface="Lato"/>
              </a:rPr>
              <a:t>2</a:t>
            </a:r>
          </a:p>
        </p:txBody>
      </p:sp>
      <p:sp>
        <p:nvSpPr>
          <p:cNvPr id="34" name="">
            <a:extLst xmlns:a="http://schemas.openxmlformats.org/drawingml/2006/main">
              <a:ext uri="{FF2B5EF4-FFF2-40B4-BE49-F238E27FC236}">
                <a16:creationId xmlns:a16="http://schemas.microsoft.com/office/drawing/2014/main" id="{0CA4E6A1-0C22-4388-96E5-2AA7506B8763}"/>
              </a:ext>
            </a:extLst>
          </p:cNvPr>
          <p:cNvSpPr>
            <a:spLocks xmlns:a="http://schemas.openxmlformats.org/drawingml/2006/main" noGrp="1"/>
          </p:cNvSpPr>
          <p:nvPr/>
        </p:nvSpPr>
        <p:spPr>
          <a:xfrm xmlns:a="http://schemas.openxmlformats.org/drawingml/2006/main">
            <a:off x="1143000" y="3943350"/>
            <a:ext cx="1409700" cy="552450"/>
          </a:xfrm>
          <a:prstGeom xmlns:a="http://schemas.openxmlformats.org/drawingml/2006/main" prst="rect">
            <a:avLst/>
          </a:prstGeom>
          <a:solidFill xmlns:a="http://schemas.openxmlformats.org/drawingml/2006/main">
            <a:srgbClr val="FFFFFF"/>
          </a:solidFill>
          <a:ln xmlns:a="http://schemas.openxmlformats.org/drawingml/2006/main" w="11430">
            <a:solidFill>
              <a:srgbClr val="D6DED8"/>
            </a:solidFill>
            <a:prstDash val="solid"/>
          </a:ln>
        </p:spPr>
      </p:sp>
      <p:sp>
        <p:nvSpPr>
          <p:cNvPr id="35" name="">
            <a:extLst xmlns:a="http://schemas.openxmlformats.org/drawingml/2006/main">
              <a:ext uri="{FF2B5EF4-FFF2-40B4-BE49-F238E27FC236}">
                <a16:creationId xmlns:a16="http://schemas.microsoft.com/office/drawing/2014/main" id="{1571A113-4476-4259-92BC-A5FBB32085F3}"/>
              </a:ext>
            </a:extLst>
          </p:cNvPr>
          <p:cNvSpPr>
            <a:spLocks xmlns:a="http://schemas.openxmlformats.org/drawingml/2006/main" noGrp="1"/>
          </p:cNvSpPr>
          <p:nvPr/>
        </p:nvSpPr>
        <p:spPr>
          <a:xfrm xmlns:a="http://schemas.openxmlformats.org/drawingml/2006/main">
            <a:off x="1219200" y="4029075"/>
            <a:ext cx="1257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0000"/>
              </a:lnSpc>
              <a:buNone/>
              <a:defRPr sz="825" b="0" i="0">
                <a:solidFill>
                  <a:srgbClr val="16211D"/>
                </a:solidFill>
                <a:latin typeface="Lato"/>
                <a:ea typeface="Lato"/>
                <a:cs typeface="Lato"/>
              </a:defRPr>
            </a:pPr>
            <a:r>
              <a:rPr sz="825" b="0" i="0">
                <a:solidFill>
                  <a:srgbClr val="16211D"/>
                </a:solidFill>
                <a:latin typeface="Lato"/>
                <a:ea typeface="Lato"/>
                <a:cs typeface="Lato"/>
              </a:rPr>
              <a:t>Eggs + toast</a:t>
            </a:r>
          </a:p>
        </p:txBody>
      </p:sp>
      <p:sp>
        <p:nvSpPr>
          <p:cNvPr id="36" name="">
            <a:extLst xmlns:a="http://schemas.openxmlformats.org/drawingml/2006/main">
              <a:ext uri="{FF2B5EF4-FFF2-40B4-BE49-F238E27FC236}">
                <a16:creationId xmlns:a16="http://schemas.microsoft.com/office/drawing/2014/main" id="{0BD26C4D-E4FB-4A7A-A00C-28B06DDAD2F6}"/>
              </a:ext>
            </a:extLst>
          </p:cNvPr>
          <p:cNvSpPr>
            <a:spLocks xmlns:a="http://schemas.openxmlformats.org/drawingml/2006/main" noGrp="1"/>
          </p:cNvSpPr>
          <p:nvPr/>
        </p:nvSpPr>
        <p:spPr>
          <a:xfrm xmlns:a="http://schemas.openxmlformats.org/drawingml/2006/main">
            <a:off x="2552700" y="3943350"/>
            <a:ext cx="1409700" cy="552450"/>
          </a:xfrm>
          <a:prstGeom xmlns:a="http://schemas.openxmlformats.org/drawingml/2006/main" prst="rect">
            <a:avLst/>
          </a:prstGeom>
          <a:solidFill xmlns:a="http://schemas.openxmlformats.org/drawingml/2006/main">
            <a:srgbClr val="FFFFFF"/>
          </a:solidFill>
          <a:ln xmlns:a="http://schemas.openxmlformats.org/drawingml/2006/main" w="11430">
            <a:solidFill>
              <a:srgbClr val="D6DED8"/>
            </a:solidFill>
            <a:prstDash val="solid"/>
          </a:ln>
        </p:spPr>
      </p:sp>
      <p:sp>
        <p:nvSpPr>
          <p:cNvPr id="37" name="">
            <a:extLst xmlns:a="http://schemas.openxmlformats.org/drawingml/2006/main">
              <a:ext uri="{FF2B5EF4-FFF2-40B4-BE49-F238E27FC236}">
                <a16:creationId xmlns:a16="http://schemas.microsoft.com/office/drawing/2014/main" id="{0902B045-AEBA-4932-9104-82D3188B4EB8}"/>
              </a:ext>
            </a:extLst>
          </p:cNvPr>
          <p:cNvSpPr>
            <a:spLocks xmlns:a="http://schemas.openxmlformats.org/drawingml/2006/main" noGrp="1"/>
          </p:cNvSpPr>
          <p:nvPr/>
        </p:nvSpPr>
        <p:spPr>
          <a:xfrm xmlns:a="http://schemas.openxmlformats.org/drawingml/2006/main">
            <a:off x="2628900" y="4029075"/>
            <a:ext cx="1257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0000"/>
              </a:lnSpc>
              <a:buNone/>
              <a:defRPr sz="825" b="0" i="0">
                <a:solidFill>
                  <a:srgbClr val="16211D"/>
                </a:solidFill>
                <a:latin typeface="Lato"/>
                <a:ea typeface="Lato"/>
                <a:cs typeface="Lato"/>
              </a:defRPr>
            </a:pPr>
            <a:r>
              <a:rPr sz="825" b="0" i="0">
                <a:solidFill>
                  <a:srgbClr val="16211D"/>
                </a:solidFill>
                <a:latin typeface="Lato"/>
                <a:ea typeface="Lato"/>
                <a:cs typeface="Lato"/>
              </a:rPr>
              <a:t>Hummus</a:t>
            </a:r>
          </a:p>
          <a:p xmlns:a="http://schemas.openxmlformats.org/drawingml/2006/main">
            <a:pPr algn="l">
              <a:lnSpc>
                <a:spcPct val="110000"/>
              </a:lnSpc>
              <a:buNone/>
              <a:defRPr sz="825" b="0" i="0">
                <a:solidFill>
                  <a:srgbClr val="16211D"/>
                </a:solidFill>
                <a:latin typeface="Lato"/>
                <a:ea typeface="Lato"/>
                <a:cs typeface="Lato"/>
              </a:defRPr>
            </a:pPr>
            <a:r>
              <a:rPr sz="825" b="0" i="0">
                <a:solidFill>
                  <a:srgbClr val="16211D"/>
                </a:solidFill>
                <a:latin typeface="Lato"/>
                <a:ea typeface="Lato"/>
                <a:cs typeface="Lato"/>
              </a:rPr>
              <a:t>sandwich</a:t>
            </a:r>
          </a:p>
        </p:txBody>
      </p:sp>
      <p:sp>
        <p:nvSpPr>
          <p:cNvPr id="38" name="">
            <a:extLst xmlns:a="http://schemas.openxmlformats.org/drawingml/2006/main">
              <a:ext uri="{FF2B5EF4-FFF2-40B4-BE49-F238E27FC236}">
                <a16:creationId xmlns:a16="http://schemas.microsoft.com/office/drawing/2014/main" id="{72EDF94E-6CC8-40E6-8669-05891FE1CEB6}"/>
              </a:ext>
            </a:extLst>
          </p:cNvPr>
          <p:cNvSpPr>
            <a:spLocks xmlns:a="http://schemas.openxmlformats.org/drawingml/2006/main" noGrp="1"/>
          </p:cNvSpPr>
          <p:nvPr/>
        </p:nvSpPr>
        <p:spPr>
          <a:xfrm xmlns:a="http://schemas.openxmlformats.org/drawingml/2006/main">
            <a:off x="3962400" y="3943350"/>
            <a:ext cx="1676400" cy="552450"/>
          </a:xfrm>
          <a:prstGeom xmlns:a="http://schemas.openxmlformats.org/drawingml/2006/main" prst="rect">
            <a:avLst/>
          </a:prstGeom>
          <a:solidFill xmlns:a="http://schemas.openxmlformats.org/drawingml/2006/main">
            <a:srgbClr val="FFFFFF"/>
          </a:solidFill>
          <a:ln xmlns:a="http://schemas.openxmlformats.org/drawingml/2006/main" w="11430">
            <a:solidFill>
              <a:srgbClr val="D6DED8"/>
            </a:solidFill>
            <a:prstDash val="solid"/>
          </a:ln>
        </p:spPr>
      </p:sp>
      <p:sp>
        <p:nvSpPr>
          <p:cNvPr id="39" name="">
            <a:extLst xmlns:a="http://schemas.openxmlformats.org/drawingml/2006/main">
              <a:ext uri="{FF2B5EF4-FFF2-40B4-BE49-F238E27FC236}">
                <a16:creationId xmlns:a16="http://schemas.microsoft.com/office/drawing/2014/main" id="{CE949DE9-B9E8-4F24-AD40-09C39D4460BE}"/>
              </a:ext>
            </a:extLst>
          </p:cNvPr>
          <p:cNvSpPr>
            <a:spLocks xmlns:a="http://schemas.openxmlformats.org/drawingml/2006/main" noGrp="1"/>
          </p:cNvSpPr>
          <p:nvPr/>
        </p:nvSpPr>
        <p:spPr>
          <a:xfrm xmlns:a="http://schemas.openxmlformats.org/drawingml/2006/main">
            <a:off x="4038600" y="4029075"/>
            <a:ext cx="1524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0000"/>
              </a:lnSpc>
              <a:buNone/>
              <a:defRPr sz="825" b="0" i="0">
                <a:solidFill>
                  <a:srgbClr val="16211D"/>
                </a:solidFill>
                <a:latin typeface="Lato"/>
                <a:ea typeface="Lato"/>
                <a:cs typeface="Lato"/>
              </a:defRPr>
            </a:pPr>
            <a:r>
              <a:rPr sz="825" b="0" i="0">
                <a:solidFill>
                  <a:srgbClr val="16211D"/>
                </a:solidFill>
                <a:latin typeface="Lato"/>
                <a:ea typeface="Lato"/>
                <a:cs typeface="Lato"/>
              </a:rPr>
              <a:t>Tacos with</a:t>
            </a:r>
          </a:p>
          <a:p xmlns:a="http://schemas.openxmlformats.org/drawingml/2006/main">
            <a:pPr algn="l">
              <a:lnSpc>
                <a:spcPct val="110000"/>
              </a:lnSpc>
              <a:buNone/>
              <a:defRPr sz="825" b="0" i="0">
                <a:solidFill>
                  <a:srgbClr val="16211D"/>
                </a:solidFill>
                <a:latin typeface="Lato"/>
                <a:ea typeface="Lato"/>
                <a:cs typeface="Lato"/>
              </a:defRPr>
            </a:pPr>
            <a:r>
              <a:rPr sz="825" b="0" i="0">
                <a:solidFill>
                  <a:srgbClr val="16211D"/>
                </a:solidFill>
                <a:latin typeface="Lato"/>
                <a:ea typeface="Lato"/>
                <a:cs typeface="Lato"/>
              </a:rPr>
              <a:t>beans</a:t>
            </a:r>
          </a:p>
        </p:txBody>
      </p:sp>
      <p:sp>
        <p:nvSpPr>
          <p:cNvPr id="40" name="">
            <a:extLst xmlns:a="http://schemas.openxmlformats.org/drawingml/2006/main">
              <a:ext uri="{FF2B5EF4-FFF2-40B4-BE49-F238E27FC236}">
                <a16:creationId xmlns:a16="http://schemas.microsoft.com/office/drawing/2014/main" id="{CC2EE013-5D9C-4533-B59B-EDA265B81EBE}"/>
              </a:ext>
            </a:extLst>
          </p:cNvPr>
          <p:cNvSpPr>
            <a:spLocks xmlns:a="http://schemas.openxmlformats.org/drawingml/2006/main" noGrp="1"/>
          </p:cNvSpPr>
          <p:nvPr/>
        </p:nvSpPr>
        <p:spPr>
          <a:xfrm xmlns:a="http://schemas.openxmlformats.org/drawingml/2006/main">
            <a:off x="5638800" y="3943350"/>
            <a:ext cx="1504950" cy="552450"/>
          </a:xfrm>
          <a:prstGeom xmlns:a="http://schemas.openxmlformats.org/drawingml/2006/main" prst="rect">
            <a:avLst/>
          </a:prstGeom>
          <a:solidFill xmlns:a="http://schemas.openxmlformats.org/drawingml/2006/main">
            <a:srgbClr val="FFFFFF"/>
          </a:solidFill>
          <a:ln xmlns:a="http://schemas.openxmlformats.org/drawingml/2006/main" w="11430">
            <a:solidFill>
              <a:srgbClr val="D6DED8"/>
            </a:solidFill>
            <a:prstDash val="solid"/>
          </a:ln>
        </p:spPr>
      </p:sp>
      <p:sp>
        <p:nvSpPr>
          <p:cNvPr id="41" name="">
            <a:extLst xmlns:a="http://schemas.openxmlformats.org/drawingml/2006/main">
              <a:ext uri="{FF2B5EF4-FFF2-40B4-BE49-F238E27FC236}">
                <a16:creationId xmlns:a16="http://schemas.microsoft.com/office/drawing/2014/main" id="{A43F5AA4-7D94-4F44-8622-A7FDD361E0D3}"/>
              </a:ext>
            </a:extLst>
          </p:cNvPr>
          <p:cNvSpPr>
            <a:spLocks xmlns:a="http://schemas.openxmlformats.org/drawingml/2006/main" noGrp="1"/>
          </p:cNvSpPr>
          <p:nvPr/>
        </p:nvSpPr>
        <p:spPr>
          <a:xfrm xmlns:a="http://schemas.openxmlformats.org/drawingml/2006/main">
            <a:off x="5715000" y="4029075"/>
            <a:ext cx="1352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0000"/>
              </a:lnSpc>
              <a:buNone/>
              <a:defRPr sz="825" b="0" i="0">
                <a:solidFill>
                  <a:srgbClr val="16211D"/>
                </a:solidFill>
                <a:latin typeface="Lato"/>
                <a:ea typeface="Lato"/>
                <a:cs typeface="Lato"/>
              </a:defRPr>
            </a:pPr>
            <a:r>
              <a:rPr sz="825" b="0" i="0">
                <a:solidFill>
                  <a:srgbClr val="16211D"/>
                </a:solidFill>
                <a:latin typeface="Lato"/>
                <a:ea typeface="Lato"/>
                <a:cs typeface="Lato"/>
              </a:rPr>
              <a:t>Yogurt + nuts</a:t>
            </a:r>
          </a:p>
        </p:txBody>
      </p:sp>
      <p:sp>
        <p:nvSpPr>
          <p:cNvPr id="42" name="">
            <a:extLst xmlns:a="http://schemas.openxmlformats.org/drawingml/2006/main">
              <a:ext uri="{FF2B5EF4-FFF2-40B4-BE49-F238E27FC236}">
                <a16:creationId xmlns:a16="http://schemas.microsoft.com/office/drawing/2014/main" id="{7C59AE53-12C8-4C49-9FAA-9C79B74D38B3}"/>
              </a:ext>
            </a:extLst>
          </p:cNvPr>
          <p:cNvSpPr>
            <a:spLocks xmlns:a="http://schemas.openxmlformats.org/drawingml/2006/main" noGrp="1"/>
          </p:cNvSpPr>
          <p:nvPr/>
        </p:nvSpPr>
        <p:spPr>
          <a:xfrm xmlns:a="http://schemas.openxmlformats.org/drawingml/2006/main">
            <a:off x="628650" y="4495800"/>
            <a:ext cx="514350" cy="552450"/>
          </a:xfrm>
          <a:prstGeom xmlns:a="http://schemas.openxmlformats.org/drawingml/2006/main" prst="rect">
            <a:avLst/>
          </a:prstGeom>
          <a:solidFill xmlns:a="http://schemas.openxmlformats.org/drawingml/2006/main">
            <a:srgbClr val="FFFFFF"/>
          </a:solidFill>
          <a:ln xmlns:a="http://schemas.openxmlformats.org/drawingml/2006/main" w="11430">
            <a:solidFill>
              <a:srgbClr val="D6DED8"/>
            </a:solidFill>
            <a:prstDash val="solid"/>
          </a:ln>
        </p:spPr>
      </p:sp>
      <p:sp>
        <p:nvSpPr>
          <p:cNvPr id="43" name="">
            <a:extLst xmlns:a="http://schemas.openxmlformats.org/drawingml/2006/main">
              <a:ext uri="{FF2B5EF4-FFF2-40B4-BE49-F238E27FC236}">
                <a16:creationId xmlns:a16="http://schemas.microsoft.com/office/drawing/2014/main" id="{C4F0B629-672B-4B63-909B-5F504191BEBB}"/>
              </a:ext>
            </a:extLst>
          </p:cNvPr>
          <p:cNvSpPr>
            <a:spLocks xmlns:a="http://schemas.openxmlformats.org/drawingml/2006/main" noGrp="1"/>
          </p:cNvSpPr>
          <p:nvPr/>
        </p:nvSpPr>
        <p:spPr>
          <a:xfrm xmlns:a="http://schemas.openxmlformats.org/drawingml/2006/main">
            <a:off x="704850" y="4581525"/>
            <a:ext cx="361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0000"/>
              </a:lnSpc>
              <a:buNone/>
              <a:defRPr sz="825" b="0" i="0">
                <a:solidFill>
                  <a:srgbClr val="16211D"/>
                </a:solidFill>
                <a:latin typeface="Lato"/>
                <a:ea typeface="Lato"/>
                <a:cs typeface="Lato"/>
              </a:defRPr>
            </a:pPr>
            <a:r>
              <a:rPr sz="825" b="0" i="0">
                <a:solidFill>
                  <a:srgbClr val="16211D"/>
                </a:solidFill>
                <a:latin typeface="Lato"/>
                <a:ea typeface="Lato"/>
                <a:cs typeface="Lato"/>
              </a:rPr>
              <a:t>3</a:t>
            </a:r>
          </a:p>
        </p:txBody>
      </p:sp>
      <p:sp>
        <p:nvSpPr>
          <p:cNvPr id="44" name="">
            <a:extLst xmlns:a="http://schemas.openxmlformats.org/drawingml/2006/main">
              <a:ext uri="{FF2B5EF4-FFF2-40B4-BE49-F238E27FC236}">
                <a16:creationId xmlns:a16="http://schemas.microsoft.com/office/drawing/2014/main" id="{1C25B64B-9326-40E0-BD38-DBD50BBE15BB}"/>
              </a:ext>
            </a:extLst>
          </p:cNvPr>
          <p:cNvSpPr>
            <a:spLocks xmlns:a="http://schemas.openxmlformats.org/drawingml/2006/main" noGrp="1"/>
          </p:cNvSpPr>
          <p:nvPr/>
        </p:nvSpPr>
        <p:spPr>
          <a:xfrm xmlns:a="http://schemas.openxmlformats.org/drawingml/2006/main">
            <a:off x="1143000" y="4495800"/>
            <a:ext cx="1409700" cy="552450"/>
          </a:xfrm>
          <a:prstGeom xmlns:a="http://schemas.openxmlformats.org/drawingml/2006/main" prst="rect">
            <a:avLst/>
          </a:prstGeom>
          <a:solidFill xmlns:a="http://schemas.openxmlformats.org/drawingml/2006/main">
            <a:srgbClr val="FFFFFF"/>
          </a:solidFill>
          <a:ln xmlns:a="http://schemas.openxmlformats.org/drawingml/2006/main" w="11430">
            <a:solidFill>
              <a:srgbClr val="D6DED8"/>
            </a:solidFill>
            <a:prstDash val="solid"/>
          </a:ln>
        </p:spPr>
      </p:sp>
      <p:sp>
        <p:nvSpPr>
          <p:cNvPr id="45" name="">
            <a:extLst xmlns:a="http://schemas.openxmlformats.org/drawingml/2006/main">
              <a:ext uri="{FF2B5EF4-FFF2-40B4-BE49-F238E27FC236}">
                <a16:creationId xmlns:a16="http://schemas.microsoft.com/office/drawing/2014/main" id="{FD86E056-95A8-4656-9DD6-9F4943B522A2}"/>
              </a:ext>
            </a:extLst>
          </p:cNvPr>
          <p:cNvSpPr>
            <a:spLocks xmlns:a="http://schemas.openxmlformats.org/drawingml/2006/main" noGrp="1"/>
          </p:cNvSpPr>
          <p:nvPr/>
        </p:nvSpPr>
        <p:spPr>
          <a:xfrm xmlns:a="http://schemas.openxmlformats.org/drawingml/2006/main">
            <a:off x="1219200" y="4581525"/>
            <a:ext cx="1257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0000"/>
              </a:lnSpc>
              <a:buNone/>
              <a:defRPr sz="825" b="0" i="0">
                <a:solidFill>
                  <a:srgbClr val="16211D"/>
                </a:solidFill>
                <a:latin typeface="Lato"/>
                <a:ea typeface="Lato"/>
                <a:cs typeface="Lato"/>
              </a:defRPr>
            </a:pPr>
            <a:r>
              <a:rPr sz="825" b="0" i="0">
                <a:solidFill>
                  <a:srgbClr val="16211D"/>
                </a:solidFill>
                <a:latin typeface="Lato"/>
                <a:ea typeface="Lato"/>
                <a:cs typeface="Lato"/>
              </a:rPr>
              <a:t>Oatmeal</a:t>
            </a:r>
          </a:p>
        </p:txBody>
      </p:sp>
      <p:sp>
        <p:nvSpPr>
          <p:cNvPr id="46" name="">
            <a:extLst xmlns:a="http://schemas.openxmlformats.org/drawingml/2006/main">
              <a:ext uri="{FF2B5EF4-FFF2-40B4-BE49-F238E27FC236}">
                <a16:creationId xmlns:a16="http://schemas.microsoft.com/office/drawing/2014/main" id="{54690526-1B35-423A-9B99-640B1734F13A}"/>
              </a:ext>
            </a:extLst>
          </p:cNvPr>
          <p:cNvSpPr>
            <a:spLocks xmlns:a="http://schemas.openxmlformats.org/drawingml/2006/main" noGrp="1"/>
          </p:cNvSpPr>
          <p:nvPr/>
        </p:nvSpPr>
        <p:spPr>
          <a:xfrm xmlns:a="http://schemas.openxmlformats.org/drawingml/2006/main">
            <a:off x="2552700" y="4495800"/>
            <a:ext cx="1409700" cy="552450"/>
          </a:xfrm>
          <a:prstGeom xmlns:a="http://schemas.openxmlformats.org/drawingml/2006/main" prst="rect">
            <a:avLst/>
          </a:prstGeom>
          <a:solidFill xmlns:a="http://schemas.openxmlformats.org/drawingml/2006/main">
            <a:srgbClr val="FFFFFF"/>
          </a:solidFill>
          <a:ln xmlns:a="http://schemas.openxmlformats.org/drawingml/2006/main" w="11430">
            <a:solidFill>
              <a:srgbClr val="D6DED8"/>
            </a:solidFill>
            <a:prstDash val="solid"/>
          </a:ln>
        </p:spPr>
      </p:sp>
      <p:sp>
        <p:nvSpPr>
          <p:cNvPr id="47" name="">
            <a:extLst xmlns:a="http://schemas.openxmlformats.org/drawingml/2006/main">
              <a:ext uri="{FF2B5EF4-FFF2-40B4-BE49-F238E27FC236}">
                <a16:creationId xmlns:a16="http://schemas.microsoft.com/office/drawing/2014/main" id="{92BB1B15-5ABA-4B93-BAEC-569CCFBCA36E}"/>
              </a:ext>
            </a:extLst>
          </p:cNvPr>
          <p:cNvSpPr>
            <a:spLocks xmlns:a="http://schemas.openxmlformats.org/drawingml/2006/main" noGrp="1"/>
          </p:cNvSpPr>
          <p:nvPr/>
        </p:nvSpPr>
        <p:spPr>
          <a:xfrm xmlns:a="http://schemas.openxmlformats.org/drawingml/2006/main">
            <a:off x="2628900" y="4581525"/>
            <a:ext cx="1257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0000"/>
              </a:lnSpc>
              <a:buNone/>
              <a:defRPr sz="825" b="0" i="0">
                <a:solidFill>
                  <a:srgbClr val="16211D"/>
                </a:solidFill>
                <a:latin typeface="Lato"/>
                <a:ea typeface="Lato"/>
                <a:cs typeface="Lato"/>
              </a:defRPr>
            </a:pPr>
            <a:r>
              <a:rPr sz="825" b="0" i="0">
                <a:solidFill>
                  <a:srgbClr val="16211D"/>
                </a:solidFill>
                <a:latin typeface="Lato"/>
                <a:ea typeface="Lato"/>
                <a:cs typeface="Lato"/>
              </a:rPr>
              <a:t>Leftover bowl</a:t>
            </a:r>
          </a:p>
        </p:txBody>
      </p:sp>
      <p:sp>
        <p:nvSpPr>
          <p:cNvPr id="48" name="">
            <a:extLst xmlns:a="http://schemas.openxmlformats.org/drawingml/2006/main">
              <a:ext uri="{FF2B5EF4-FFF2-40B4-BE49-F238E27FC236}">
                <a16:creationId xmlns:a16="http://schemas.microsoft.com/office/drawing/2014/main" id="{CDC15C9D-5520-46C5-9AB1-E114419C4E9A}"/>
              </a:ext>
            </a:extLst>
          </p:cNvPr>
          <p:cNvSpPr>
            <a:spLocks xmlns:a="http://schemas.openxmlformats.org/drawingml/2006/main" noGrp="1"/>
          </p:cNvSpPr>
          <p:nvPr/>
        </p:nvSpPr>
        <p:spPr>
          <a:xfrm xmlns:a="http://schemas.openxmlformats.org/drawingml/2006/main">
            <a:off x="3962400" y="4495800"/>
            <a:ext cx="1676400" cy="552450"/>
          </a:xfrm>
          <a:prstGeom xmlns:a="http://schemas.openxmlformats.org/drawingml/2006/main" prst="rect">
            <a:avLst/>
          </a:prstGeom>
          <a:solidFill xmlns:a="http://schemas.openxmlformats.org/drawingml/2006/main">
            <a:srgbClr val="FFFFFF"/>
          </a:solidFill>
          <a:ln xmlns:a="http://schemas.openxmlformats.org/drawingml/2006/main" w="11430">
            <a:solidFill>
              <a:srgbClr val="D6DED8"/>
            </a:solidFill>
            <a:prstDash val="solid"/>
          </a:ln>
        </p:spPr>
      </p:sp>
      <p:sp>
        <p:nvSpPr>
          <p:cNvPr id="49" name="">
            <a:extLst xmlns:a="http://schemas.openxmlformats.org/drawingml/2006/main">
              <a:ext uri="{FF2B5EF4-FFF2-40B4-BE49-F238E27FC236}">
                <a16:creationId xmlns:a16="http://schemas.microsoft.com/office/drawing/2014/main" id="{E2CC35F6-964B-4971-ADDA-0EE0745F6E81}"/>
              </a:ext>
            </a:extLst>
          </p:cNvPr>
          <p:cNvSpPr>
            <a:spLocks xmlns:a="http://schemas.openxmlformats.org/drawingml/2006/main" noGrp="1"/>
          </p:cNvSpPr>
          <p:nvPr/>
        </p:nvSpPr>
        <p:spPr>
          <a:xfrm xmlns:a="http://schemas.openxmlformats.org/drawingml/2006/main">
            <a:off x="4038600" y="4581525"/>
            <a:ext cx="1524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0000"/>
              </a:lnSpc>
              <a:buNone/>
              <a:defRPr sz="825" b="0" i="0">
                <a:solidFill>
                  <a:srgbClr val="16211D"/>
                </a:solidFill>
                <a:latin typeface="Lato"/>
                <a:ea typeface="Lato"/>
                <a:cs typeface="Lato"/>
              </a:defRPr>
            </a:pPr>
            <a:r>
              <a:rPr sz="825" b="0" i="0">
                <a:solidFill>
                  <a:srgbClr val="16211D"/>
                </a:solidFill>
                <a:latin typeface="Lato"/>
                <a:ea typeface="Lato"/>
                <a:cs typeface="Lato"/>
              </a:rPr>
              <a:t>Dal with</a:t>
            </a:r>
          </a:p>
          <a:p xmlns:a="http://schemas.openxmlformats.org/drawingml/2006/main">
            <a:pPr algn="l">
              <a:lnSpc>
                <a:spcPct val="110000"/>
              </a:lnSpc>
              <a:buNone/>
              <a:defRPr sz="825" b="0" i="0">
                <a:solidFill>
                  <a:srgbClr val="16211D"/>
                </a:solidFill>
                <a:latin typeface="Lato"/>
                <a:ea typeface="Lato"/>
                <a:cs typeface="Lato"/>
              </a:defRPr>
            </a:pPr>
            <a:r>
              <a:rPr sz="825" b="0" i="0">
                <a:solidFill>
                  <a:srgbClr val="16211D"/>
                </a:solidFill>
                <a:latin typeface="Lato"/>
                <a:ea typeface="Lato"/>
                <a:cs typeface="Lato"/>
              </a:rPr>
              <a:t>vegetables</a:t>
            </a:r>
          </a:p>
        </p:txBody>
      </p:sp>
      <p:sp>
        <p:nvSpPr>
          <p:cNvPr id="50" name="">
            <a:extLst xmlns:a="http://schemas.openxmlformats.org/drawingml/2006/main">
              <a:ext uri="{FF2B5EF4-FFF2-40B4-BE49-F238E27FC236}">
                <a16:creationId xmlns:a16="http://schemas.microsoft.com/office/drawing/2014/main" id="{58949BF4-38AD-47E4-9F5B-920ADCCD5C39}"/>
              </a:ext>
            </a:extLst>
          </p:cNvPr>
          <p:cNvSpPr>
            <a:spLocks xmlns:a="http://schemas.openxmlformats.org/drawingml/2006/main" noGrp="1"/>
          </p:cNvSpPr>
          <p:nvPr/>
        </p:nvSpPr>
        <p:spPr>
          <a:xfrm xmlns:a="http://schemas.openxmlformats.org/drawingml/2006/main">
            <a:off x="5638800" y="4495800"/>
            <a:ext cx="1504950" cy="552450"/>
          </a:xfrm>
          <a:prstGeom xmlns:a="http://schemas.openxmlformats.org/drawingml/2006/main" prst="rect">
            <a:avLst/>
          </a:prstGeom>
          <a:solidFill xmlns:a="http://schemas.openxmlformats.org/drawingml/2006/main">
            <a:srgbClr val="FFFFFF"/>
          </a:solidFill>
          <a:ln xmlns:a="http://schemas.openxmlformats.org/drawingml/2006/main" w="11430">
            <a:solidFill>
              <a:srgbClr val="D6DED8"/>
            </a:solidFill>
            <a:prstDash val="solid"/>
          </a:ln>
        </p:spPr>
      </p:sp>
      <p:sp>
        <p:nvSpPr>
          <p:cNvPr id="51" name="">
            <a:extLst xmlns:a="http://schemas.openxmlformats.org/drawingml/2006/main">
              <a:ext uri="{FF2B5EF4-FFF2-40B4-BE49-F238E27FC236}">
                <a16:creationId xmlns:a16="http://schemas.microsoft.com/office/drawing/2014/main" id="{F3B91F96-A778-4E13-84E4-1DC65AB2771F}"/>
              </a:ext>
            </a:extLst>
          </p:cNvPr>
          <p:cNvSpPr>
            <a:spLocks xmlns:a="http://schemas.openxmlformats.org/drawingml/2006/main" noGrp="1"/>
          </p:cNvSpPr>
          <p:nvPr/>
        </p:nvSpPr>
        <p:spPr>
          <a:xfrm xmlns:a="http://schemas.openxmlformats.org/drawingml/2006/main">
            <a:off x="5715000" y="4581525"/>
            <a:ext cx="1352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0000"/>
              </a:lnSpc>
              <a:buNone/>
              <a:defRPr sz="825" b="0" i="0">
                <a:solidFill>
                  <a:srgbClr val="16211D"/>
                </a:solidFill>
                <a:latin typeface="Lato"/>
                <a:ea typeface="Lato"/>
                <a:cs typeface="Lato"/>
              </a:defRPr>
            </a:pPr>
            <a:r>
              <a:rPr sz="825" b="0" i="0">
                <a:solidFill>
                  <a:srgbClr val="16211D"/>
                </a:solidFill>
                <a:latin typeface="Lato"/>
                <a:ea typeface="Lato"/>
                <a:cs typeface="Lato"/>
              </a:rPr>
              <a:t>Carrots +</a:t>
            </a:r>
          </a:p>
          <a:p xmlns:a="http://schemas.openxmlformats.org/drawingml/2006/main">
            <a:pPr algn="l">
              <a:lnSpc>
                <a:spcPct val="110000"/>
              </a:lnSpc>
              <a:buNone/>
              <a:defRPr sz="825" b="0" i="0">
                <a:solidFill>
                  <a:srgbClr val="16211D"/>
                </a:solidFill>
                <a:latin typeface="Lato"/>
                <a:ea typeface="Lato"/>
                <a:cs typeface="Lato"/>
              </a:defRPr>
            </a:pPr>
            <a:r>
              <a:rPr sz="825" b="0" i="0">
                <a:solidFill>
                  <a:srgbClr val="16211D"/>
                </a:solidFill>
                <a:latin typeface="Lato"/>
                <a:ea typeface="Lato"/>
                <a:cs typeface="Lato"/>
              </a:rPr>
              <a:t>hummus</a:t>
            </a:r>
          </a:p>
        </p:txBody>
      </p:sp>
      <p:sp>
        <p:nvSpPr>
          <p:cNvPr id="52" name="">
            <a:extLst xmlns:a="http://schemas.openxmlformats.org/drawingml/2006/main">
              <a:ext uri="{FF2B5EF4-FFF2-40B4-BE49-F238E27FC236}">
                <a16:creationId xmlns:a16="http://schemas.microsoft.com/office/drawing/2014/main" id="{DA9DE1A7-CA56-46F0-A114-41FA7E3AA60A}"/>
              </a:ext>
            </a:extLst>
          </p:cNvPr>
          <p:cNvSpPr>
            <a:spLocks xmlns:a="http://schemas.openxmlformats.org/drawingml/2006/main" noGrp="1"/>
          </p:cNvSpPr>
          <p:nvPr/>
        </p:nvSpPr>
        <p:spPr>
          <a:xfrm xmlns:a="http://schemas.openxmlformats.org/drawingml/2006/main">
            <a:off x="742950" y="6115050"/>
            <a:ext cx="590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8000"/>
              </a:lnSpc>
              <a:buNone/>
              <a:defRPr sz="1013" b="0" i="0">
                <a:solidFill>
                  <a:srgbClr val="16211D"/>
                </a:solidFill>
                <a:latin typeface="Lato"/>
                <a:ea typeface="Lato"/>
                <a:cs typeface="Lato"/>
              </a:defRPr>
            </a:pPr>
            <a:r>
              <a:rPr sz="1013" b="0" i="0">
                <a:solidFill>
                  <a:srgbClr val="16211D"/>
                </a:solidFill>
                <a:latin typeface="Lato"/>
                <a:ea typeface="Lato"/>
                <a:cs typeface="Lato"/>
              </a:rPr>
              <a:t>Use this page for ideas, then trade foods in and out. Canned, frozen, dried, and leftover foods can all help build a balanced plate.</a:t>
            </a:r>
          </a:p>
        </p:txBody>
      </p:sp>
      <p:sp>
        <p:nvSpPr>
          <p:cNvPr id="53" name="">
            <a:extLst xmlns:a="http://schemas.openxmlformats.org/drawingml/2006/main">
              <a:ext uri="{FF2B5EF4-FFF2-40B4-BE49-F238E27FC236}">
                <a16:creationId xmlns:a16="http://schemas.microsoft.com/office/drawing/2014/main" id="{B20446F8-2E55-4ED4-BE60-380E6178DCFA}"/>
              </a:ext>
            </a:extLst>
          </p:cNvPr>
          <p:cNvSpPr>
            <a:spLocks xmlns:a="http://schemas.openxmlformats.org/drawingml/2006/main" noGrp="1"/>
          </p:cNvSpPr>
          <p:nvPr/>
        </p:nvSpPr>
        <p:spPr>
          <a:xfrm xmlns:a="http://schemas.openxmlformats.org/drawingml/2006/main">
            <a:off x="628650" y="8115300"/>
            <a:ext cx="6515100" cy="647700"/>
          </a:xfrm>
          <a:prstGeom xmlns:a="http://schemas.openxmlformats.org/drawingml/2006/main" prst="roundRect">
            <a:avLst>
              <a:gd name="adj" fmla="val 14706"/>
            </a:avLst>
          </a:prstGeom>
          <a:solidFill xmlns:a="http://schemas.openxmlformats.org/drawingml/2006/main">
            <a:srgbClr val="E6F2EC"/>
          </a:solidFill>
          <a:ln xmlns:a="http://schemas.openxmlformats.org/drawingml/2006/main" w="11430">
            <a:solidFill>
              <a:srgbClr val="B8D8C8"/>
            </a:solidFill>
            <a:prstDash val="solid"/>
          </a:ln>
        </p:spPr>
      </p:sp>
      <p:sp>
        <p:nvSpPr>
          <p:cNvPr id="54" name="">
            <a:extLst xmlns:a="http://schemas.openxmlformats.org/drawingml/2006/main">
              <a:ext uri="{FF2B5EF4-FFF2-40B4-BE49-F238E27FC236}">
                <a16:creationId xmlns:a16="http://schemas.microsoft.com/office/drawing/2014/main" id="{AF4BBCE1-047C-48B2-AD99-5E9238E1B04A}"/>
              </a:ext>
            </a:extLst>
          </p:cNvPr>
          <p:cNvSpPr>
            <a:spLocks xmlns:a="http://schemas.openxmlformats.org/drawingml/2006/main" noGrp="1"/>
          </p:cNvSpPr>
          <p:nvPr/>
        </p:nvSpPr>
        <p:spPr>
          <a:xfrm xmlns:a="http://schemas.openxmlformats.org/drawingml/2006/main">
            <a:off x="790575" y="82486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975" b="1" i="0">
                <a:solidFill>
                  <a:srgbClr val="034B2F"/>
                </a:solidFill>
                <a:latin typeface="Lato"/>
                <a:ea typeface="Lato"/>
                <a:cs typeface="Lato"/>
              </a:defRPr>
            </a:pPr>
            <a:r>
              <a:rPr sz="975" b="1" i="0">
                <a:solidFill>
                  <a:srgbClr val="034B2F"/>
                </a:solidFill>
                <a:latin typeface="Lato"/>
                <a:ea typeface="Lato"/>
                <a:cs typeface="Lato"/>
              </a:rPr>
              <a:t>Vegetarian swap</a:t>
            </a:r>
          </a:p>
        </p:txBody>
      </p:sp>
      <p:sp>
        <p:nvSpPr>
          <p:cNvPr id="55" name="">
            <a:extLst xmlns:a="http://schemas.openxmlformats.org/drawingml/2006/main">
              <a:ext uri="{FF2B5EF4-FFF2-40B4-BE49-F238E27FC236}">
                <a16:creationId xmlns:a16="http://schemas.microsoft.com/office/drawing/2014/main" id="{42B0D775-28E6-4AF5-856A-D879CB5B1A51}"/>
              </a:ext>
            </a:extLst>
          </p:cNvPr>
          <p:cNvSpPr>
            <a:spLocks xmlns:a="http://schemas.openxmlformats.org/drawingml/2006/main" noGrp="1"/>
          </p:cNvSpPr>
          <p:nvPr/>
        </p:nvSpPr>
        <p:spPr>
          <a:xfrm xmlns:a="http://schemas.openxmlformats.org/drawingml/2006/main">
            <a:off x="790575" y="8515350"/>
            <a:ext cx="6191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7000"/>
              </a:lnSpc>
              <a:buNone/>
              <a:defRPr sz="900" b="0" i="0">
                <a:solidFill>
                  <a:srgbClr val="16211D"/>
                </a:solidFill>
                <a:latin typeface="Lato"/>
                <a:ea typeface="Lato"/>
                <a:cs typeface="Lato"/>
              </a:defRPr>
            </a:pPr>
            <a:r>
              <a:rPr sz="900" b="0" i="0">
                <a:solidFill>
                  <a:srgbClr val="16211D"/>
                </a:solidFill>
                <a:latin typeface="Lato"/>
                <a:ea typeface="Lato"/>
                <a:cs typeface="Lato"/>
              </a:rPr>
              <a:t>Use beans, lentils, tofu, tempeh, edamame, eggs, yogurt, nuts, and seeds when they fit your needs.</a:t>
            </a:r>
          </a:p>
        </p:txBody>
      </p:sp>
    </p:spTree>
    <p:extLst>
      <p:ext uri="{BB962C8B-B14F-4D97-AF65-F5344CB8AC3E}">
        <p14:creationId xmlns:p14="http://schemas.microsoft.com/office/powerpoint/2010/main" val="524899667"/>
      </p:ext>
    </p:extLst>
  </p:cSld>
</p:sld>
</file>

<file path=ppt/slides/slide17.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6f657e9d18b64319"/>
          <a:srcRect xmlns:a="http://schemas.openxmlformats.org/drawingml/2006/main" l="699" t="0" r="699" b="0"/>
          <a:stretch xmlns:a="http://schemas.openxmlformats.org/drawingml/2006/main">
            <a:fillRect l="0" t="0" r="0" b="0"/>
          </a:stretch>
        </p:blipFill>
        <p:spPr>
          <a:xfrm xmlns:a="http://schemas.openxmlformats.org/drawingml/2006/main">
            <a:off x="552450" y="285750"/>
            <a:ext cx="257175" cy="276225"/>
          </a:xfrm>
          <a:prstGeom xmlns:a="http://schemas.openxmlformats.org/drawingml/2006/main" prst="roundRect">
            <a:avLst>
              <a:gd name="adj" fmla="val 29630"/>
            </a:avLst>
          </a:prstGeom>
        </p:spPr>
      </p:pic>
      <p:sp>
        <p:nvSpPr>
          <p:cNvPr id="2" name="">
            <a:extLst xmlns:a="http://schemas.openxmlformats.org/drawingml/2006/main">
              <a:ext uri="{FF2B5EF4-FFF2-40B4-BE49-F238E27FC236}">
                <a16:creationId xmlns:a16="http://schemas.microsoft.com/office/drawing/2014/main" id="{BB2BD134-E0E9-4229-80B3-D12D9B78D86F}"/>
              </a:ext>
            </a:extLst>
          </p:cNvPr>
          <p:cNvSpPr>
            <a:spLocks xmlns:a="http://schemas.openxmlformats.org/drawingml/2006/main" noGrp="1"/>
          </p:cNvSpPr>
          <p:nvPr/>
        </p:nvSpPr>
        <p:spPr>
          <a:xfrm xmlns:a="http://schemas.openxmlformats.org/drawingml/2006/main">
            <a:off x="876300" y="3333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788" b="1" i="0">
                <a:solidFill>
                  <a:srgbClr val="034B2F"/>
                </a:solidFill>
                <a:latin typeface="Lora"/>
                <a:ea typeface="Lora"/>
                <a:cs typeface="Lora"/>
              </a:defRPr>
            </a:pPr>
            <a:r>
              <a:rPr sz="788" b="1" i="0">
                <a:solidFill>
                  <a:srgbClr val="034B2F"/>
                </a:solidFill>
                <a:latin typeface="Lora"/>
                <a:ea typeface="Lora"/>
                <a:cs typeface="Lora"/>
              </a:rPr>
              <a:t>The Mindful Plate</a:t>
            </a:r>
          </a:p>
        </p:txBody>
      </p:sp>
      <p:sp>
        <p:nvSpPr>
          <p:cNvPr id="3" name="">
            <a:extLst xmlns:a="http://schemas.openxmlformats.org/drawingml/2006/main">
              <a:ext uri="{FF2B5EF4-FFF2-40B4-BE49-F238E27FC236}">
                <a16:creationId xmlns:a16="http://schemas.microsoft.com/office/drawing/2014/main" id="{15683939-16DA-404F-9A3F-8957B08D23C7}"/>
              </a:ext>
            </a:extLst>
          </p:cNvPr>
          <p:cNvSpPr>
            <a:spLocks xmlns:a="http://schemas.openxmlformats.org/drawingml/2006/main" noGrp="1"/>
          </p:cNvSpPr>
          <p:nvPr/>
        </p:nvSpPr>
        <p:spPr>
          <a:xfrm xmlns:a="http://schemas.openxmlformats.org/drawingml/2006/main">
            <a:off x="876300" y="485775"/>
            <a:ext cx="2190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660" b="0" i="0">
                <a:solidFill>
                  <a:srgbClr val="5C6C67"/>
                </a:solidFill>
                <a:latin typeface="Lato"/>
                <a:ea typeface="Lato"/>
                <a:cs typeface="Lato"/>
              </a:defRPr>
            </a:pPr>
            <a:r>
              <a:rPr sz="660" b="0" i="0">
                <a:solidFill>
                  <a:srgbClr val="5C6C67"/>
                </a:solidFill>
                <a:latin typeface="Lato"/>
                <a:ea typeface="Lato"/>
                <a:cs typeface="Lato"/>
              </a:rPr>
              <a:t>Worksheet</a:t>
            </a:r>
          </a:p>
        </p:txBody>
      </p:sp>
      <p:sp>
        <p:nvSpPr>
          <p:cNvPr id="4" name="">
            <a:extLst xmlns:a="http://schemas.openxmlformats.org/drawingml/2006/main">
              <a:ext uri="{FF2B5EF4-FFF2-40B4-BE49-F238E27FC236}">
                <a16:creationId xmlns:a16="http://schemas.microsoft.com/office/drawing/2014/main" id="{B12CE4E7-6352-4649-9DEB-AAD2183A92EE}"/>
              </a:ext>
            </a:extLst>
          </p:cNvPr>
          <p:cNvSpPr>
            <a:spLocks xmlns:a="http://schemas.openxmlformats.org/drawingml/2006/main" noGrp="1"/>
          </p:cNvSpPr>
          <p:nvPr/>
        </p:nvSpPr>
        <p:spPr>
          <a:xfrm xmlns:a="http://schemas.openxmlformats.org/drawingml/2006/main">
            <a:off x="552450" y="714375"/>
            <a:ext cx="6667500" cy="0"/>
          </a:xfrm>
          <a:prstGeom xmlns:a="http://schemas.openxmlformats.org/drawingml/2006/main" prst="line">
            <a:avLst/>
          </a:prstGeom>
          <a:noFill xmlns:a="http://schemas.openxmlformats.org/drawingml/2006/main"/>
          <a:ln xmlns:a="http://schemas.openxmlformats.org/drawingml/2006/main" w="11430">
            <a:solidFill>
              <a:srgbClr val="D9E2DA"/>
            </a:solidFill>
            <a:prstDash val="solid"/>
          </a:ln>
        </p:spPr>
      </p:sp>
      <p:sp>
        <p:nvSpPr>
          <p:cNvPr id="5" name="">
            <a:extLst xmlns:a="http://schemas.openxmlformats.org/drawingml/2006/main">
              <a:ext uri="{FF2B5EF4-FFF2-40B4-BE49-F238E27FC236}">
                <a16:creationId xmlns:a16="http://schemas.microsoft.com/office/drawing/2014/main" id="{99B90085-0A64-475B-A913-C8AFE19A57DF}"/>
              </a:ext>
            </a:extLst>
          </p:cNvPr>
          <p:cNvSpPr>
            <a:spLocks xmlns:a="http://schemas.openxmlformats.org/drawingml/2006/main" noGrp="1"/>
          </p:cNvSpPr>
          <p:nvPr/>
        </p:nvSpPr>
        <p:spPr>
          <a:xfrm xmlns:a="http://schemas.openxmlformats.org/drawingml/2006/main">
            <a:off x="552450" y="9610725"/>
            <a:ext cx="6667500" cy="0"/>
          </a:xfrm>
          <a:prstGeom xmlns:a="http://schemas.openxmlformats.org/drawingml/2006/main" prst="line">
            <a:avLst/>
          </a:prstGeom>
          <a:noFill xmlns:a="http://schemas.openxmlformats.org/drawingml/2006/main"/>
          <a:ln xmlns:a="http://schemas.openxmlformats.org/drawingml/2006/main" w="11430">
            <a:solidFill>
              <a:srgbClr val="D9E2DA"/>
            </a:solidFill>
            <a:prstDash val="solid"/>
          </a:ln>
        </p:spPr>
      </p:sp>
      <p:sp>
        <p:nvSpPr>
          <p:cNvPr id="6" name="">
            <a:extLst xmlns:a="http://schemas.openxmlformats.org/drawingml/2006/main">
              <a:ext uri="{FF2B5EF4-FFF2-40B4-BE49-F238E27FC236}">
                <a16:creationId xmlns:a16="http://schemas.microsoft.com/office/drawing/2014/main" id="{B78D7028-7216-4139-AAD0-249801AAA16B}"/>
              </a:ext>
            </a:extLst>
          </p:cNvPr>
          <p:cNvSpPr>
            <a:spLocks xmlns:a="http://schemas.openxmlformats.org/drawingml/2006/main" noGrp="1"/>
          </p:cNvSpPr>
          <p:nvPr/>
        </p:nvSpPr>
        <p:spPr>
          <a:xfrm xmlns:a="http://schemas.openxmlformats.org/drawingml/2006/main">
            <a:off x="552450" y="9715500"/>
            <a:ext cx="1762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660" b="0" i="0">
                <a:solidFill>
                  <a:srgbClr val="5C6C67"/>
                </a:solidFill>
                <a:latin typeface="Lato"/>
                <a:ea typeface="Lato"/>
                <a:cs typeface="Lato"/>
              </a:defRPr>
            </a:pPr>
            <a:r>
              <a:rPr sz="660" b="0" i="0">
                <a:solidFill>
                  <a:srgbClr val="5C6C67"/>
                </a:solidFill>
                <a:latin typeface="Lato"/>
                <a:ea typeface="Lato"/>
                <a:cs typeface="Lato"/>
              </a:rPr>
              <a:t>Mindful Diabetes Inc.</a:t>
            </a:r>
          </a:p>
        </p:txBody>
      </p:sp>
      <p:sp>
        <p:nvSpPr>
          <p:cNvPr id="7" name="">
            <a:extLst xmlns:a="http://schemas.openxmlformats.org/drawingml/2006/main">
              <a:ext uri="{FF2B5EF4-FFF2-40B4-BE49-F238E27FC236}">
                <a16:creationId xmlns:a16="http://schemas.microsoft.com/office/drawing/2014/main" id="{D3439B80-C85B-439A-B370-0E1B9A69EE03}"/>
              </a:ext>
            </a:extLst>
          </p:cNvPr>
          <p:cNvSpPr>
            <a:spLocks xmlns:a="http://schemas.openxmlformats.org/drawingml/2006/main" noGrp="1"/>
          </p:cNvSpPr>
          <p:nvPr/>
        </p:nvSpPr>
        <p:spPr>
          <a:xfrm xmlns:a="http://schemas.openxmlformats.org/drawingml/2006/main">
            <a:off x="3162300" y="9715500"/>
            <a:ext cx="14763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lnSpc>
                <a:spcPct val="116000"/>
              </a:lnSpc>
              <a:buNone/>
              <a:defRPr sz="660" b="0" i="0">
                <a:solidFill>
                  <a:srgbClr val="5C6C67"/>
                </a:solidFill>
                <a:latin typeface="Lato"/>
                <a:ea typeface="Lato"/>
                <a:cs typeface="Lato"/>
              </a:defRPr>
            </a:pPr>
            <a:r>
              <a:rPr sz="660" b="0" i="0">
                <a:solidFill>
                  <a:srgbClr val="5C6C67"/>
                </a:solidFill>
                <a:latin typeface="Lato"/>
                <a:ea typeface="Lato"/>
                <a:cs typeface="Lato"/>
              </a:rPr>
              <a:t>mindfuldiabetes.org</a:t>
            </a:r>
          </a:p>
        </p:txBody>
      </p:sp>
      <p:sp>
        <p:nvSpPr>
          <p:cNvPr id="8" name="">
            <a:extLst xmlns:a="http://schemas.openxmlformats.org/drawingml/2006/main">
              <a:ext uri="{FF2B5EF4-FFF2-40B4-BE49-F238E27FC236}">
                <a16:creationId xmlns:a16="http://schemas.microsoft.com/office/drawing/2014/main" id="{2F157386-C79B-4C4B-A0E3-189FA07E4DBC}"/>
              </a:ext>
            </a:extLst>
          </p:cNvPr>
          <p:cNvSpPr>
            <a:spLocks xmlns:a="http://schemas.openxmlformats.org/drawingml/2006/main" noGrp="1"/>
          </p:cNvSpPr>
          <p:nvPr/>
        </p:nvSpPr>
        <p:spPr>
          <a:xfrm xmlns:a="http://schemas.openxmlformats.org/drawingml/2006/main">
            <a:off x="6886575" y="9715500"/>
            <a:ext cx="3333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r">
              <a:lnSpc>
                <a:spcPct val="116000"/>
              </a:lnSpc>
              <a:buNone/>
              <a:defRPr sz="660" b="0" i="0">
                <a:solidFill>
                  <a:srgbClr val="F26A2E"/>
                </a:solidFill>
                <a:latin typeface="Lato"/>
                <a:ea typeface="Lato"/>
                <a:cs typeface="Lato"/>
              </a:defRPr>
            </a:pPr>
            <a:r>
              <a:rPr sz="660" b="0" i="0">
                <a:solidFill>
                  <a:srgbClr val="F26A2E"/>
                </a:solidFill>
                <a:latin typeface="Lato"/>
                <a:ea typeface="Lato"/>
                <a:cs typeface="Lato"/>
              </a:rPr>
              <a:t>17</a:t>
            </a:r>
          </a:p>
        </p:txBody>
      </p:sp>
      <p:sp>
        <p:nvSpPr>
          <p:cNvPr id="9" name="">
            <a:extLst xmlns:a="http://schemas.openxmlformats.org/drawingml/2006/main">
              <a:ext uri="{FF2B5EF4-FFF2-40B4-BE49-F238E27FC236}">
                <a16:creationId xmlns:a16="http://schemas.microsoft.com/office/drawing/2014/main" id="{B5BAF6A6-A2D0-4DCE-A699-A2082C233EB7}"/>
              </a:ext>
            </a:extLst>
          </p:cNvPr>
          <p:cNvSpPr>
            <a:spLocks xmlns:a="http://schemas.openxmlformats.org/drawingml/2006/main" noGrp="1"/>
          </p:cNvSpPr>
          <p:nvPr/>
        </p:nvSpPr>
        <p:spPr>
          <a:xfrm xmlns:a="http://schemas.openxmlformats.org/drawingml/2006/main">
            <a:off x="628650" y="790575"/>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900" b="1" i="0">
                <a:solidFill>
                  <a:srgbClr val="F26A2E"/>
                </a:solidFill>
                <a:latin typeface="Lato"/>
                <a:ea typeface="Lato"/>
                <a:cs typeface="Lato"/>
              </a:defRPr>
            </a:pPr>
            <a:r>
              <a:rPr sz="900" b="1" i="0">
                <a:solidFill>
                  <a:srgbClr val="F26A2E"/>
                </a:solidFill>
                <a:latin typeface="Lato"/>
                <a:ea typeface="Lato"/>
                <a:cs typeface="Lato"/>
              </a:rPr>
              <a:t>WORKSHEET</a:t>
            </a:r>
          </a:p>
        </p:txBody>
      </p:sp>
      <p:sp>
        <p:nvSpPr>
          <p:cNvPr id="10" name="">
            <a:extLst xmlns:a="http://schemas.openxmlformats.org/drawingml/2006/main">
              <a:ext uri="{FF2B5EF4-FFF2-40B4-BE49-F238E27FC236}">
                <a16:creationId xmlns:a16="http://schemas.microsoft.com/office/drawing/2014/main" id="{C068AD56-311E-45BC-9909-5E7E90E86C59}"/>
              </a:ext>
            </a:extLst>
          </p:cNvPr>
          <p:cNvSpPr>
            <a:spLocks xmlns:a="http://schemas.openxmlformats.org/drawingml/2006/main" noGrp="1"/>
          </p:cNvSpPr>
          <p:nvPr/>
        </p:nvSpPr>
        <p:spPr>
          <a:xfrm xmlns:a="http://schemas.openxmlformats.org/drawingml/2006/main">
            <a:off x="590550" y="1066800"/>
            <a:ext cx="619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03000"/>
              </a:lnSpc>
              <a:buNone/>
              <a:defRPr sz="2550" b="1" i="0">
                <a:solidFill>
                  <a:srgbClr val="192442"/>
                </a:solidFill>
                <a:latin typeface="Lora"/>
                <a:ea typeface="Lora"/>
                <a:cs typeface="Lora"/>
              </a:defRPr>
            </a:pPr>
            <a:r>
              <a:rPr sz="2550" b="1" i="0">
                <a:solidFill>
                  <a:srgbClr val="192442"/>
                </a:solidFill>
                <a:latin typeface="Lora"/>
                <a:ea typeface="Lora"/>
                <a:cs typeface="Lora"/>
              </a:rPr>
              <a:t>Build your own meal</a:t>
            </a:r>
          </a:p>
        </p:txBody>
      </p:sp>
      <p:sp>
        <p:nvSpPr>
          <p:cNvPr id="11" name="">
            <a:extLst xmlns:a="http://schemas.openxmlformats.org/drawingml/2006/main">
              <a:ext uri="{FF2B5EF4-FFF2-40B4-BE49-F238E27FC236}">
                <a16:creationId xmlns:a16="http://schemas.microsoft.com/office/drawing/2014/main" id="{B750B496-4575-4638-AEEE-7874F2ABE8BD}"/>
              </a:ext>
            </a:extLst>
          </p:cNvPr>
          <p:cNvSpPr>
            <a:spLocks xmlns:a="http://schemas.openxmlformats.org/drawingml/2006/main" noGrp="1"/>
          </p:cNvSpPr>
          <p:nvPr/>
        </p:nvSpPr>
        <p:spPr>
          <a:xfrm xmlns:a="http://schemas.openxmlformats.org/drawingml/2006/main">
            <a:off x="628650" y="1866900"/>
            <a:ext cx="6381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25000"/>
              </a:lnSpc>
              <a:buNone/>
              <a:defRPr sz="1125" b="0" i="0">
                <a:solidFill>
                  <a:srgbClr val="5C6C67"/>
                </a:solidFill>
                <a:latin typeface="Lato"/>
                <a:ea typeface="Lato"/>
                <a:cs typeface="Lato"/>
              </a:defRPr>
            </a:pPr>
            <a:r>
              <a:rPr sz="1125" b="0" i="0">
                <a:solidFill>
                  <a:srgbClr val="5C6C67"/>
                </a:solidFill>
                <a:latin typeface="Lato"/>
                <a:ea typeface="Lato"/>
                <a:cs typeface="Lato"/>
              </a:rPr>
              <a:t>Choose one meal you already eat. Write down what you could add, reduce, swap, or prepare ahead.</a:t>
            </a:r>
          </a:p>
        </p:txBody>
      </p:sp>
      <p:sp>
        <p:nvSpPr>
          <p:cNvPr id="12" name="">
            <a:extLst xmlns:a="http://schemas.openxmlformats.org/drawingml/2006/main">
              <a:ext uri="{FF2B5EF4-FFF2-40B4-BE49-F238E27FC236}">
                <a16:creationId xmlns:a16="http://schemas.microsoft.com/office/drawing/2014/main" id="{24EEFE34-EE3B-4479-9DB7-384A183A0041}"/>
              </a:ext>
            </a:extLst>
          </p:cNvPr>
          <p:cNvSpPr>
            <a:spLocks xmlns:a="http://schemas.openxmlformats.org/drawingml/2006/main" noGrp="1"/>
          </p:cNvSpPr>
          <p:nvPr/>
        </p:nvSpPr>
        <p:spPr>
          <a:xfrm xmlns:a="http://schemas.openxmlformats.org/drawingml/2006/main">
            <a:off x="685800" y="26860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938" b="1" i="0">
                <a:solidFill>
                  <a:srgbClr val="192442"/>
                </a:solidFill>
                <a:latin typeface="Lato"/>
                <a:ea typeface="Lato"/>
                <a:cs typeface="Lato"/>
              </a:defRPr>
            </a:pPr>
            <a:r>
              <a:rPr sz="938" b="1" i="0">
                <a:solidFill>
                  <a:srgbClr val="192442"/>
                </a:solidFill>
                <a:latin typeface="Lato"/>
                <a:ea typeface="Lato"/>
                <a:cs typeface="Lato"/>
              </a:rPr>
              <a:t>1/2 plate vegetables</a:t>
            </a:r>
          </a:p>
        </p:txBody>
      </p:sp>
      <p:sp>
        <p:nvSpPr>
          <p:cNvPr id="13" name="">
            <a:extLst xmlns:a="http://schemas.openxmlformats.org/drawingml/2006/main">
              <a:ext uri="{FF2B5EF4-FFF2-40B4-BE49-F238E27FC236}">
                <a16:creationId xmlns:a16="http://schemas.microsoft.com/office/drawing/2014/main" id="{945A3EB3-44A7-4058-8241-35608EA889B1}"/>
              </a:ext>
            </a:extLst>
          </p:cNvPr>
          <p:cNvSpPr>
            <a:spLocks xmlns:a="http://schemas.openxmlformats.org/drawingml/2006/main" noGrp="1"/>
          </p:cNvSpPr>
          <p:nvPr/>
        </p:nvSpPr>
        <p:spPr>
          <a:xfrm xmlns:a="http://schemas.openxmlformats.org/drawingml/2006/main">
            <a:off x="2828925" y="2571750"/>
            <a:ext cx="4238625"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11430">
            <a:solidFill>
              <a:srgbClr val="D6DED8"/>
            </a:solidFill>
            <a:prstDash val="solid"/>
          </a:ln>
        </p:spPr>
      </p:sp>
      <p:sp>
        <p:nvSpPr>
          <p:cNvPr id="14" name="">
            <a:extLst xmlns:a="http://schemas.openxmlformats.org/drawingml/2006/main">
              <a:ext uri="{FF2B5EF4-FFF2-40B4-BE49-F238E27FC236}">
                <a16:creationId xmlns:a16="http://schemas.microsoft.com/office/drawing/2014/main" id="{DC5269CC-CBDE-4E43-94F7-6E14246711FA}"/>
              </a:ext>
            </a:extLst>
          </p:cNvPr>
          <p:cNvSpPr>
            <a:spLocks xmlns:a="http://schemas.openxmlformats.org/drawingml/2006/main" noGrp="1"/>
          </p:cNvSpPr>
          <p:nvPr/>
        </p:nvSpPr>
        <p:spPr>
          <a:xfrm xmlns:a="http://schemas.openxmlformats.org/drawingml/2006/main">
            <a:off x="685800" y="34480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938" b="1" i="0">
                <a:solidFill>
                  <a:srgbClr val="192442"/>
                </a:solidFill>
                <a:latin typeface="Lato"/>
                <a:ea typeface="Lato"/>
                <a:cs typeface="Lato"/>
              </a:defRPr>
            </a:pPr>
            <a:r>
              <a:rPr sz="938" b="1" i="0">
                <a:solidFill>
                  <a:srgbClr val="192442"/>
                </a:solidFill>
                <a:latin typeface="Lato"/>
                <a:ea typeface="Lato"/>
                <a:cs typeface="Lato"/>
              </a:rPr>
              <a:t>1/4 plate protein</a:t>
            </a:r>
          </a:p>
        </p:txBody>
      </p:sp>
      <p:sp>
        <p:nvSpPr>
          <p:cNvPr id="15" name="">
            <a:extLst xmlns:a="http://schemas.openxmlformats.org/drawingml/2006/main">
              <a:ext uri="{FF2B5EF4-FFF2-40B4-BE49-F238E27FC236}">
                <a16:creationId xmlns:a16="http://schemas.microsoft.com/office/drawing/2014/main" id="{202F2F95-F945-4C72-B75B-3140C5CB5606}"/>
              </a:ext>
            </a:extLst>
          </p:cNvPr>
          <p:cNvSpPr>
            <a:spLocks xmlns:a="http://schemas.openxmlformats.org/drawingml/2006/main" noGrp="1"/>
          </p:cNvSpPr>
          <p:nvPr/>
        </p:nvSpPr>
        <p:spPr>
          <a:xfrm xmlns:a="http://schemas.openxmlformats.org/drawingml/2006/main">
            <a:off x="2828925" y="3333750"/>
            <a:ext cx="4238625"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11430">
            <a:solidFill>
              <a:srgbClr val="D6DED8"/>
            </a:solidFill>
            <a:prstDash val="solid"/>
          </a:ln>
        </p:spPr>
      </p:sp>
      <p:sp>
        <p:nvSpPr>
          <p:cNvPr id="16" name="">
            <a:extLst xmlns:a="http://schemas.openxmlformats.org/drawingml/2006/main">
              <a:ext uri="{FF2B5EF4-FFF2-40B4-BE49-F238E27FC236}">
                <a16:creationId xmlns:a16="http://schemas.microsoft.com/office/drawing/2014/main" id="{59AFB1FA-589A-4321-AC17-0B18487DBC29}"/>
              </a:ext>
            </a:extLst>
          </p:cNvPr>
          <p:cNvSpPr>
            <a:spLocks xmlns:a="http://schemas.openxmlformats.org/drawingml/2006/main" noGrp="1"/>
          </p:cNvSpPr>
          <p:nvPr/>
        </p:nvSpPr>
        <p:spPr>
          <a:xfrm xmlns:a="http://schemas.openxmlformats.org/drawingml/2006/main">
            <a:off x="685800" y="42100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938" b="1" i="0">
                <a:solidFill>
                  <a:srgbClr val="192442"/>
                </a:solidFill>
                <a:latin typeface="Lato"/>
                <a:ea typeface="Lato"/>
                <a:cs typeface="Lato"/>
              </a:defRPr>
            </a:pPr>
            <a:r>
              <a:rPr sz="938" b="1" i="0">
                <a:solidFill>
                  <a:srgbClr val="192442"/>
                </a:solidFill>
                <a:latin typeface="Lato"/>
                <a:ea typeface="Lato"/>
                <a:cs typeface="Lato"/>
              </a:rPr>
              <a:t>1/4 plate carbohydrate</a:t>
            </a:r>
          </a:p>
        </p:txBody>
      </p:sp>
      <p:sp>
        <p:nvSpPr>
          <p:cNvPr id="17" name="">
            <a:extLst xmlns:a="http://schemas.openxmlformats.org/drawingml/2006/main">
              <a:ext uri="{FF2B5EF4-FFF2-40B4-BE49-F238E27FC236}">
                <a16:creationId xmlns:a16="http://schemas.microsoft.com/office/drawing/2014/main" id="{83A368A7-ACA0-4A29-BB77-FD28C2501051}"/>
              </a:ext>
            </a:extLst>
          </p:cNvPr>
          <p:cNvSpPr>
            <a:spLocks xmlns:a="http://schemas.openxmlformats.org/drawingml/2006/main" noGrp="1"/>
          </p:cNvSpPr>
          <p:nvPr/>
        </p:nvSpPr>
        <p:spPr>
          <a:xfrm xmlns:a="http://schemas.openxmlformats.org/drawingml/2006/main">
            <a:off x="2828925" y="4095750"/>
            <a:ext cx="4238625"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11430">
            <a:solidFill>
              <a:srgbClr val="D6DED8"/>
            </a:solidFill>
            <a:prstDash val="solid"/>
          </a:ln>
        </p:spPr>
      </p:sp>
      <p:sp>
        <p:nvSpPr>
          <p:cNvPr id="18" name="">
            <a:extLst xmlns:a="http://schemas.openxmlformats.org/drawingml/2006/main">
              <a:ext uri="{FF2B5EF4-FFF2-40B4-BE49-F238E27FC236}">
                <a16:creationId xmlns:a16="http://schemas.microsoft.com/office/drawing/2014/main" id="{8655E1AF-D04A-446C-BEE9-087AE255CF54}"/>
              </a:ext>
            </a:extLst>
          </p:cNvPr>
          <p:cNvSpPr>
            <a:spLocks xmlns:a="http://schemas.openxmlformats.org/drawingml/2006/main" noGrp="1"/>
          </p:cNvSpPr>
          <p:nvPr/>
        </p:nvSpPr>
        <p:spPr>
          <a:xfrm xmlns:a="http://schemas.openxmlformats.org/drawingml/2006/main">
            <a:off x="685800" y="49720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938" b="1" i="0">
                <a:solidFill>
                  <a:srgbClr val="192442"/>
                </a:solidFill>
                <a:latin typeface="Lato"/>
                <a:ea typeface="Lato"/>
                <a:cs typeface="Lato"/>
              </a:defRPr>
            </a:pPr>
            <a:r>
              <a:rPr sz="938" b="1" i="0">
                <a:solidFill>
                  <a:srgbClr val="192442"/>
                </a:solidFill>
                <a:latin typeface="Lato"/>
                <a:ea typeface="Lato"/>
                <a:cs typeface="Lato"/>
              </a:rPr>
              <a:t>Drink</a:t>
            </a:r>
          </a:p>
        </p:txBody>
      </p:sp>
      <p:sp>
        <p:nvSpPr>
          <p:cNvPr id="19" name="">
            <a:extLst xmlns:a="http://schemas.openxmlformats.org/drawingml/2006/main">
              <a:ext uri="{FF2B5EF4-FFF2-40B4-BE49-F238E27FC236}">
                <a16:creationId xmlns:a16="http://schemas.microsoft.com/office/drawing/2014/main" id="{52ED4030-230A-4B3E-A358-BCABE21EE220}"/>
              </a:ext>
            </a:extLst>
          </p:cNvPr>
          <p:cNvSpPr>
            <a:spLocks xmlns:a="http://schemas.openxmlformats.org/drawingml/2006/main" noGrp="1"/>
          </p:cNvSpPr>
          <p:nvPr/>
        </p:nvSpPr>
        <p:spPr>
          <a:xfrm xmlns:a="http://schemas.openxmlformats.org/drawingml/2006/main">
            <a:off x="2828925" y="4857750"/>
            <a:ext cx="4238625"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11430">
            <a:solidFill>
              <a:srgbClr val="D6DED8"/>
            </a:solidFill>
            <a:prstDash val="solid"/>
          </a:ln>
        </p:spPr>
      </p:sp>
      <p:sp>
        <p:nvSpPr>
          <p:cNvPr id="20" name="">
            <a:extLst xmlns:a="http://schemas.openxmlformats.org/drawingml/2006/main">
              <a:ext uri="{FF2B5EF4-FFF2-40B4-BE49-F238E27FC236}">
                <a16:creationId xmlns:a16="http://schemas.microsoft.com/office/drawing/2014/main" id="{C5570DE1-E1BA-4B7B-8C15-E6A8DF467188}"/>
              </a:ext>
            </a:extLst>
          </p:cNvPr>
          <p:cNvSpPr>
            <a:spLocks xmlns:a="http://schemas.openxmlformats.org/drawingml/2006/main" noGrp="1"/>
          </p:cNvSpPr>
          <p:nvPr/>
        </p:nvSpPr>
        <p:spPr>
          <a:xfrm xmlns:a="http://schemas.openxmlformats.org/drawingml/2006/main">
            <a:off x="685800" y="57340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938" b="1" i="0">
                <a:solidFill>
                  <a:srgbClr val="192442"/>
                </a:solidFill>
                <a:latin typeface="Lato"/>
                <a:ea typeface="Lato"/>
                <a:cs typeface="Lato"/>
              </a:defRPr>
            </a:pPr>
            <a:r>
              <a:rPr sz="938" b="1" i="0">
                <a:solidFill>
                  <a:srgbClr val="192442"/>
                </a:solidFill>
                <a:latin typeface="Lato"/>
                <a:ea typeface="Lato"/>
                <a:cs typeface="Lato"/>
              </a:rPr>
              <a:t>Flavor or fat</a:t>
            </a:r>
          </a:p>
        </p:txBody>
      </p:sp>
      <p:sp>
        <p:nvSpPr>
          <p:cNvPr id="21" name="">
            <a:extLst xmlns:a="http://schemas.openxmlformats.org/drawingml/2006/main">
              <a:ext uri="{FF2B5EF4-FFF2-40B4-BE49-F238E27FC236}">
                <a16:creationId xmlns:a16="http://schemas.microsoft.com/office/drawing/2014/main" id="{F9CCA33A-2949-4CF2-83CA-DE34AA15B935}"/>
              </a:ext>
            </a:extLst>
          </p:cNvPr>
          <p:cNvSpPr>
            <a:spLocks xmlns:a="http://schemas.openxmlformats.org/drawingml/2006/main" noGrp="1"/>
          </p:cNvSpPr>
          <p:nvPr/>
        </p:nvSpPr>
        <p:spPr>
          <a:xfrm xmlns:a="http://schemas.openxmlformats.org/drawingml/2006/main">
            <a:off x="2828925" y="5619750"/>
            <a:ext cx="4238625"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11430">
            <a:solidFill>
              <a:srgbClr val="D6DED8"/>
            </a:solidFill>
            <a:prstDash val="solid"/>
          </a:ln>
        </p:spPr>
      </p:sp>
      <p:sp>
        <p:nvSpPr>
          <p:cNvPr id="22" name="">
            <a:extLst xmlns:a="http://schemas.openxmlformats.org/drawingml/2006/main">
              <a:ext uri="{FF2B5EF4-FFF2-40B4-BE49-F238E27FC236}">
                <a16:creationId xmlns:a16="http://schemas.microsoft.com/office/drawing/2014/main" id="{E297ADEE-ED43-46D2-9598-88A45B25D53F}"/>
              </a:ext>
            </a:extLst>
          </p:cNvPr>
          <p:cNvSpPr>
            <a:spLocks xmlns:a="http://schemas.openxmlformats.org/drawingml/2006/main" noGrp="1"/>
          </p:cNvSpPr>
          <p:nvPr/>
        </p:nvSpPr>
        <p:spPr>
          <a:xfrm xmlns:a="http://schemas.openxmlformats.org/drawingml/2006/main">
            <a:off x="685800" y="64960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938" b="1" i="0">
                <a:solidFill>
                  <a:srgbClr val="192442"/>
                </a:solidFill>
                <a:latin typeface="Lato"/>
                <a:ea typeface="Lato"/>
                <a:cs typeface="Lato"/>
              </a:defRPr>
            </a:pPr>
            <a:r>
              <a:rPr sz="938" b="1" i="0">
                <a:solidFill>
                  <a:srgbClr val="192442"/>
                </a:solidFill>
                <a:latin typeface="Lato"/>
                <a:ea typeface="Lato"/>
                <a:cs typeface="Lato"/>
              </a:rPr>
              <a:t>What I can prep ahead</a:t>
            </a:r>
          </a:p>
        </p:txBody>
      </p:sp>
      <p:sp>
        <p:nvSpPr>
          <p:cNvPr id="23" name="">
            <a:extLst xmlns:a="http://schemas.openxmlformats.org/drawingml/2006/main">
              <a:ext uri="{FF2B5EF4-FFF2-40B4-BE49-F238E27FC236}">
                <a16:creationId xmlns:a16="http://schemas.microsoft.com/office/drawing/2014/main" id="{0BA37832-6B11-455E-9B60-D52FA5F110C4}"/>
              </a:ext>
            </a:extLst>
          </p:cNvPr>
          <p:cNvSpPr>
            <a:spLocks xmlns:a="http://schemas.openxmlformats.org/drawingml/2006/main" noGrp="1"/>
          </p:cNvSpPr>
          <p:nvPr/>
        </p:nvSpPr>
        <p:spPr>
          <a:xfrm xmlns:a="http://schemas.openxmlformats.org/drawingml/2006/main">
            <a:off x="2828925" y="6381750"/>
            <a:ext cx="4238625"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11430">
            <a:solidFill>
              <a:srgbClr val="D6DED8"/>
            </a:solidFill>
            <a:prstDash val="solid"/>
          </a:ln>
        </p:spPr>
      </p:sp>
      <p:sp>
        <p:nvSpPr>
          <p:cNvPr id="24" name="">
            <a:extLst xmlns:a="http://schemas.openxmlformats.org/drawingml/2006/main">
              <a:ext uri="{FF2B5EF4-FFF2-40B4-BE49-F238E27FC236}">
                <a16:creationId xmlns:a16="http://schemas.microsoft.com/office/drawing/2014/main" id="{B3577E2C-A6F9-4782-B67C-E0985630320A}"/>
              </a:ext>
            </a:extLst>
          </p:cNvPr>
          <p:cNvSpPr>
            <a:spLocks xmlns:a="http://schemas.openxmlformats.org/drawingml/2006/main" noGrp="1"/>
          </p:cNvSpPr>
          <p:nvPr/>
        </p:nvSpPr>
        <p:spPr>
          <a:xfrm xmlns:a="http://schemas.openxmlformats.org/drawingml/2006/main">
            <a:off x="685800" y="74866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938" b="1" i="0">
                <a:solidFill>
                  <a:srgbClr val="192442"/>
                </a:solidFill>
                <a:latin typeface="Lato"/>
                <a:ea typeface="Lato"/>
                <a:cs typeface="Lato"/>
              </a:defRPr>
            </a:pPr>
            <a:r>
              <a:rPr sz="938" b="1" i="0">
                <a:solidFill>
                  <a:srgbClr val="192442"/>
                </a:solidFill>
                <a:latin typeface="Lato"/>
                <a:ea typeface="Lato"/>
                <a:cs typeface="Lato"/>
              </a:rPr>
              <a:t>One change to try this week</a:t>
            </a:r>
          </a:p>
        </p:txBody>
      </p:sp>
      <p:sp>
        <p:nvSpPr>
          <p:cNvPr id="25" name="">
            <a:extLst xmlns:a="http://schemas.openxmlformats.org/drawingml/2006/main">
              <a:ext uri="{FF2B5EF4-FFF2-40B4-BE49-F238E27FC236}">
                <a16:creationId xmlns:a16="http://schemas.microsoft.com/office/drawing/2014/main" id="{0E31D3C3-4857-45DB-9DFF-327EC8BA2EBD}"/>
              </a:ext>
            </a:extLst>
          </p:cNvPr>
          <p:cNvSpPr>
            <a:spLocks xmlns:a="http://schemas.openxmlformats.org/drawingml/2006/main" noGrp="1"/>
          </p:cNvSpPr>
          <p:nvPr/>
        </p:nvSpPr>
        <p:spPr>
          <a:xfrm xmlns:a="http://schemas.openxmlformats.org/drawingml/2006/main">
            <a:off x="2828925" y="7372350"/>
            <a:ext cx="4238625" cy="819150"/>
          </a:xfrm>
          <a:prstGeom xmlns:a="http://schemas.openxmlformats.org/drawingml/2006/main" prst="roundRect">
            <a:avLst>
              <a:gd name="adj" fmla="val 9302"/>
            </a:avLst>
          </a:prstGeom>
          <a:solidFill xmlns:a="http://schemas.openxmlformats.org/drawingml/2006/main">
            <a:srgbClr val="FFFFFF"/>
          </a:solidFill>
          <a:ln xmlns:a="http://schemas.openxmlformats.org/drawingml/2006/main" w="11430">
            <a:solidFill>
              <a:srgbClr val="D6DED8"/>
            </a:solidFill>
            <a:prstDash val="solid"/>
          </a:ln>
        </p:spPr>
      </p:sp>
      <p:sp>
        <p:nvSpPr>
          <p:cNvPr id="26" name="">
            <a:extLst xmlns:a="http://schemas.openxmlformats.org/drawingml/2006/main">
              <a:ext uri="{FF2B5EF4-FFF2-40B4-BE49-F238E27FC236}">
                <a16:creationId xmlns:a16="http://schemas.microsoft.com/office/drawing/2014/main" id="{83E9B30B-6675-421E-85FA-D1ED03FDF349}"/>
              </a:ext>
            </a:extLst>
          </p:cNvPr>
          <p:cNvSpPr>
            <a:spLocks xmlns:a="http://schemas.openxmlformats.org/drawingml/2006/main" noGrp="1"/>
          </p:cNvSpPr>
          <p:nvPr/>
        </p:nvSpPr>
        <p:spPr>
          <a:xfrm xmlns:a="http://schemas.openxmlformats.org/drawingml/2006/main">
            <a:off x="685800" y="8515350"/>
            <a:ext cx="609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lnSpc>
                <a:spcPct val="116000"/>
              </a:lnSpc>
              <a:buNone/>
              <a:defRPr sz="1125" b="1" i="0">
                <a:solidFill>
                  <a:srgbClr val="034B2F"/>
                </a:solidFill>
                <a:latin typeface="Lora"/>
                <a:ea typeface="Lora"/>
                <a:cs typeface="Lora"/>
              </a:defRPr>
            </a:pPr>
            <a:r>
              <a:rPr sz="1125" b="1" i="0">
                <a:solidFill>
                  <a:srgbClr val="034B2F"/>
                </a:solidFill>
                <a:latin typeface="Lora"/>
                <a:ea typeface="Lora"/>
                <a:cs typeface="Lora"/>
              </a:rPr>
              <a:t>Small enough to try. Useful enough to notice.</a:t>
            </a:r>
          </a:p>
        </p:txBody>
      </p:sp>
    </p:spTree>
    <p:extLst>
      <p:ext uri="{BB962C8B-B14F-4D97-AF65-F5344CB8AC3E}">
        <p14:creationId xmlns:p14="http://schemas.microsoft.com/office/powerpoint/2010/main" val="1770417198"/>
      </p:ext>
    </p:extLst>
  </p:cSld>
</p:sld>
</file>

<file path=ppt/slides/slide18.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c3aa5c82a7174ff9"/>
          <a:srcRect xmlns:a="http://schemas.openxmlformats.org/drawingml/2006/main" l="699" t="0" r="699" b="0"/>
          <a:stretch xmlns:a="http://schemas.openxmlformats.org/drawingml/2006/main">
            <a:fillRect l="0" t="0" r="0" b="0"/>
          </a:stretch>
        </p:blipFill>
        <p:spPr>
          <a:xfrm xmlns:a="http://schemas.openxmlformats.org/drawingml/2006/main">
            <a:off x="552450" y="285750"/>
            <a:ext cx="257175" cy="276225"/>
          </a:xfrm>
          <a:prstGeom xmlns:a="http://schemas.openxmlformats.org/drawingml/2006/main" prst="roundRect">
            <a:avLst>
              <a:gd name="adj" fmla="val 29630"/>
            </a:avLst>
          </a:prstGeom>
        </p:spPr>
      </p:pic>
      <p:sp>
        <p:nvSpPr>
          <p:cNvPr id="2" name="">
            <a:extLst xmlns:a="http://schemas.openxmlformats.org/drawingml/2006/main">
              <a:ext uri="{FF2B5EF4-FFF2-40B4-BE49-F238E27FC236}">
                <a16:creationId xmlns:a16="http://schemas.microsoft.com/office/drawing/2014/main" id="{3DC67895-CB93-408C-B22B-6322B5590018}"/>
              </a:ext>
            </a:extLst>
          </p:cNvPr>
          <p:cNvSpPr>
            <a:spLocks xmlns:a="http://schemas.openxmlformats.org/drawingml/2006/main" noGrp="1"/>
          </p:cNvSpPr>
          <p:nvPr/>
        </p:nvSpPr>
        <p:spPr>
          <a:xfrm xmlns:a="http://schemas.openxmlformats.org/drawingml/2006/main">
            <a:off x="876300" y="3333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788" b="1" i="0">
                <a:solidFill>
                  <a:srgbClr val="034B2F"/>
                </a:solidFill>
                <a:latin typeface="Lora"/>
                <a:ea typeface="Lora"/>
                <a:cs typeface="Lora"/>
              </a:defRPr>
            </a:pPr>
            <a:r>
              <a:rPr sz="788" b="1" i="0">
                <a:solidFill>
                  <a:srgbClr val="034B2F"/>
                </a:solidFill>
                <a:latin typeface="Lora"/>
                <a:ea typeface="Lora"/>
                <a:cs typeface="Lora"/>
              </a:rPr>
              <a:t>The Mindful Plate</a:t>
            </a:r>
          </a:p>
        </p:txBody>
      </p:sp>
      <p:sp>
        <p:nvSpPr>
          <p:cNvPr id="3" name="">
            <a:extLst xmlns:a="http://schemas.openxmlformats.org/drawingml/2006/main">
              <a:ext uri="{FF2B5EF4-FFF2-40B4-BE49-F238E27FC236}">
                <a16:creationId xmlns:a16="http://schemas.microsoft.com/office/drawing/2014/main" id="{60144AF0-ABF9-4FAD-8341-9BC43B5C807C}"/>
              </a:ext>
            </a:extLst>
          </p:cNvPr>
          <p:cNvSpPr>
            <a:spLocks xmlns:a="http://schemas.openxmlformats.org/drawingml/2006/main" noGrp="1"/>
          </p:cNvSpPr>
          <p:nvPr/>
        </p:nvSpPr>
        <p:spPr>
          <a:xfrm xmlns:a="http://schemas.openxmlformats.org/drawingml/2006/main">
            <a:off x="876300" y="485775"/>
            <a:ext cx="2190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660" b="0" i="0">
                <a:solidFill>
                  <a:srgbClr val="5C6C67"/>
                </a:solidFill>
                <a:latin typeface="Lato"/>
                <a:ea typeface="Lato"/>
                <a:cs typeface="Lato"/>
              </a:defRPr>
            </a:pPr>
            <a:r>
              <a:rPr sz="660" b="0" i="0">
                <a:solidFill>
                  <a:srgbClr val="5C6C67"/>
                </a:solidFill>
                <a:latin typeface="Lato"/>
                <a:ea typeface="Lato"/>
                <a:cs typeface="Lato"/>
              </a:rPr>
              <a:t>Shopping</a:t>
            </a:r>
          </a:p>
        </p:txBody>
      </p:sp>
      <p:sp>
        <p:nvSpPr>
          <p:cNvPr id="4" name="">
            <a:extLst xmlns:a="http://schemas.openxmlformats.org/drawingml/2006/main">
              <a:ext uri="{FF2B5EF4-FFF2-40B4-BE49-F238E27FC236}">
                <a16:creationId xmlns:a16="http://schemas.microsoft.com/office/drawing/2014/main" id="{8E4650A1-788F-4737-918A-A5319BD82AEE}"/>
              </a:ext>
            </a:extLst>
          </p:cNvPr>
          <p:cNvSpPr>
            <a:spLocks xmlns:a="http://schemas.openxmlformats.org/drawingml/2006/main" noGrp="1"/>
          </p:cNvSpPr>
          <p:nvPr/>
        </p:nvSpPr>
        <p:spPr>
          <a:xfrm xmlns:a="http://schemas.openxmlformats.org/drawingml/2006/main">
            <a:off x="552450" y="714375"/>
            <a:ext cx="6667500" cy="0"/>
          </a:xfrm>
          <a:prstGeom xmlns:a="http://schemas.openxmlformats.org/drawingml/2006/main" prst="line">
            <a:avLst/>
          </a:prstGeom>
          <a:noFill xmlns:a="http://schemas.openxmlformats.org/drawingml/2006/main"/>
          <a:ln xmlns:a="http://schemas.openxmlformats.org/drawingml/2006/main" w="11430">
            <a:solidFill>
              <a:srgbClr val="D9E2DA"/>
            </a:solidFill>
            <a:prstDash val="solid"/>
          </a:ln>
        </p:spPr>
      </p:sp>
      <p:sp>
        <p:nvSpPr>
          <p:cNvPr id="5" name="">
            <a:extLst xmlns:a="http://schemas.openxmlformats.org/drawingml/2006/main">
              <a:ext uri="{FF2B5EF4-FFF2-40B4-BE49-F238E27FC236}">
                <a16:creationId xmlns:a16="http://schemas.microsoft.com/office/drawing/2014/main" id="{F4973F3E-1027-4934-9672-0364759A4524}"/>
              </a:ext>
            </a:extLst>
          </p:cNvPr>
          <p:cNvSpPr>
            <a:spLocks xmlns:a="http://schemas.openxmlformats.org/drawingml/2006/main" noGrp="1"/>
          </p:cNvSpPr>
          <p:nvPr/>
        </p:nvSpPr>
        <p:spPr>
          <a:xfrm xmlns:a="http://schemas.openxmlformats.org/drawingml/2006/main">
            <a:off x="552450" y="9610725"/>
            <a:ext cx="6667500" cy="0"/>
          </a:xfrm>
          <a:prstGeom xmlns:a="http://schemas.openxmlformats.org/drawingml/2006/main" prst="line">
            <a:avLst/>
          </a:prstGeom>
          <a:noFill xmlns:a="http://schemas.openxmlformats.org/drawingml/2006/main"/>
          <a:ln xmlns:a="http://schemas.openxmlformats.org/drawingml/2006/main" w="11430">
            <a:solidFill>
              <a:srgbClr val="D9E2DA"/>
            </a:solidFill>
            <a:prstDash val="solid"/>
          </a:ln>
        </p:spPr>
      </p:sp>
      <p:sp>
        <p:nvSpPr>
          <p:cNvPr id="6" name="">
            <a:extLst xmlns:a="http://schemas.openxmlformats.org/drawingml/2006/main">
              <a:ext uri="{FF2B5EF4-FFF2-40B4-BE49-F238E27FC236}">
                <a16:creationId xmlns:a16="http://schemas.microsoft.com/office/drawing/2014/main" id="{55B1123A-F60D-412D-A3F4-87C4CEB1CAE3}"/>
              </a:ext>
            </a:extLst>
          </p:cNvPr>
          <p:cNvSpPr>
            <a:spLocks xmlns:a="http://schemas.openxmlformats.org/drawingml/2006/main" noGrp="1"/>
          </p:cNvSpPr>
          <p:nvPr/>
        </p:nvSpPr>
        <p:spPr>
          <a:xfrm xmlns:a="http://schemas.openxmlformats.org/drawingml/2006/main">
            <a:off x="552450" y="9715500"/>
            <a:ext cx="1762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660" b="0" i="0">
                <a:solidFill>
                  <a:srgbClr val="5C6C67"/>
                </a:solidFill>
                <a:latin typeface="Lato"/>
                <a:ea typeface="Lato"/>
                <a:cs typeface="Lato"/>
              </a:defRPr>
            </a:pPr>
            <a:r>
              <a:rPr sz="660" b="0" i="0">
                <a:solidFill>
                  <a:srgbClr val="5C6C67"/>
                </a:solidFill>
                <a:latin typeface="Lato"/>
                <a:ea typeface="Lato"/>
                <a:cs typeface="Lato"/>
              </a:rPr>
              <a:t>Mindful Diabetes Inc.</a:t>
            </a:r>
          </a:p>
        </p:txBody>
      </p:sp>
      <p:sp>
        <p:nvSpPr>
          <p:cNvPr id="7" name="">
            <a:extLst xmlns:a="http://schemas.openxmlformats.org/drawingml/2006/main">
              <a:ext uri="{FF2B5EF4-FFF2-40B4-BE49-F238E27FC236}">
                <a16:creationId xmlns:a16="http://schemas.microsoft.com/office/drawing/2014/main" id="{4554A3B4-1EF5-4E51-B27C-E1236CE5BB1F}"/>
              </a:ext>
            </a:extLst>
          </p:cNvPr>
          <p:cNvSpPr>
            <a:spLocks xmlns:a="http://schemas.openxmlformats.org/drawingml/2006/main" noGrp="1"/>
          </p:cNvSpPr>
          <p:nvPr/>
        </p:nvSpPr>
        <p:spPr>
          <a:xfrm xmlns:a="http://schemas.openxmlformats.org/drawingml/2006/main">
            <a:off x="3162300" y="9715500"/>
            <a:ext cx="14763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lnSpc>
                <a:spcPct val="116000"/>
              </a:lnSpc>
              <a:buNone/>
              <a:defRPr sz="660" b="0" i="0">
                <a:solidFill>
                  <a:srgbClr val="5C6C67"/>
                </a:solidFill>
                <a:latin typeface="Lato"/>
                <a:ea typeface="Lato"/>
                <a:cs typeface="Lato"/>
              </a:defRPr>
            </a:pPr>
            <a:r>
              <a:rPr sz="660" b="0" i="0">
                <a:solidFill>
                  <a:srgbClr val="5C6C67"/>
                </a:solidFill>
                <a:latin typeface="Lato"/>
                <a:ea typeface="Lato"/>
                <a:cs typeface="Lato"/>
              </a:rPr>
              <a:t>mindfuldiabetes.org</a:t>
            </a:r>
          </a:p>
        </p:txBody>
      </p:sp>
      <p:sp>
        <p:nvSpPr>
          <p:cNvPr id="8" name="">
            <a:extLst xmlns:a="http://schemas.openxmlformats.org/drawingml/2006/main">
              <a:ext uri="{FF2B5EF4-FFF2-40B4-BE49-F238E27FC236}">
                <a16:creationId xmlns:a16="http://schemas.microsoft.com/office/drawing/2014/main" id="{AF1D6926-AF42-460D-932E-6BBAEEBEF4B4}"/>
              </a:ext>
            </a:extLst>
          </p:cNvPr>
          <p:cNvSpPr>
            <a:spLocks xmlns:a="http://schemas.openxmlformats.org/drawingml/2006/main" noGrp="1"/>
          </p:cNvSpPr>
          <p:nvPr/>
        </p:nvSpPr>
        <p:spPr>
          <a:xfrm xmlns:a="http://schemas.openxmlformats.org/drawingml/2006/main">
            <a:off x="6886575" y="9715500"/>
            <a:ext cx="3333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r">
              <a:lnSpc>
                <a:spcPct val="116000"/>
              </a:lnSpc>
              <a:buNone/>
              <a:defRPr sz="660" b="0" i="0">
                <a:solidFill>
                  <a:srgbClr val="F26A2E"/>
                </a:solidFill>
                <a:latin typeface="Lato"/>
                <a:ea typeface="Lato"/>
                <a:cs typeface="Lato"/>
              </a:defRPr>
            </a:pPr>
            <a:r>
              <a:rPr sz="660" b="0" i="0">
                <a:solidFill>
                  <a:srgbClr val="F26A2E"/>
                </a:solidFill>
                <a:latin typeface="Lato"/>
                <a:ea typeface="Lato"/>
                <a:cs typeface="Lato"/>
              </a:rPr>
              <a:t>18</a:t>
            </a:r>
          </a:p>
        </p:txBody>
      </p:sp>
      <p:sp>
        <p:nvSpPr>
          <p:cNvPr id="9" name="">
            <a:extLst xmlns:a="http://schemas.openxmlformats.org/drawingml/2006/main">
              <a:ext uri="{FF2B5EF4-FFF2-40B4-BE49-F238E27FC236}">
                <a16:creationId xmlns:a16="http://schemas.microsoft.com/office/drawing/2014/main" id="{EA09820D-22B5-45AE-B1A7-E2C227492F89}"/>
              </a:ext>
            </a:extLst>
          </p:cNvPr>
          <p:cNvSpPr>
            <a:spLocks xmlns:a="http://schemas.openxmlformats.org/drawingml/2006/main" noGrp="1"/>
          </p:cNvSpPr>
          <p:nvPr/>
        </p:nvSpPr>
        <p:spPr>
          <a:xfrm xmlns:a="http://schemas.openxmlformats.org/drawingml/2006/main">
            <a:off x="628650" y="790575"/>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900" b="1" i="0">
                <a:solidFill>
                  <a:srgbClr val="F26A2E"/>
                </a:solidFill>
                <a:latin typeface="Lato"/>
                <a:ea typeface="Lato"/>
                <a:cs typeface="Lato"/>
              </a:defRPr>
            </a:pPr>
            <a:r>
              <a:rPr sz="900" b="1" i="0">
                <a:solidFill>
                  <a:srgbClr val="F26A2E"/>
                </a:solidFill>
                <a:latin typeface="Lato"/>
                <a:ea typeface="Lato"/>
                <a:cs typeface="Lato"/>
              </a:rPr>
              <a:t>SHOPPING</a:t>
            </a:r>
          </a:p>
        </p:txBody>
      </p:sp>
      <p:sp>
        <p:nvSpPr>
          <p:cNvPr id="10" name="">
            <a:extLst xmlns:a="http://schemas.openxmlformats.org/drawingml/2006/main">
              <a:ext uri="{FF2B5EF4-FFF2-40B4-BE49-F238E27FC236}">
                <a16:creationId xmlns:a16="http://schemas.microsoft.com/office/drawing/2014/main" id="{18E00809-63BB-4B39-9042-902152439286}"/>
              </a:ext>
            </a:extLst>
          </p:cNvPr>
          <p:cNvSpPr>
            <a:spLocks xmlns:a="http://schemas.openxmlformats.org/drawingml/2006/main" noGrp="1"/>
          </p:cNvSpPr>
          <p:nvPr/>
        </p:nvSpPr>
        <p:spPr>
          <a:xfrm xmlns:a="http://schemas.openxmlformats.org/drawingml/2006/main">
            <a:off x="590550" y="1066800"/>
            <a:ext cx="619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03000"/>
              </a:lnSpc>
              <a:buNone/>
              <a:defRPr sz="2550" b="1" i="0">
                <a:solidFill>
                  <a:srgbClr val="192442"/>
                </a:solidFill>
                <a:latin typeface="Lora"/>
                <a:ea typeface="Lora"/>
                <a:cs typeface="Lora"/>
              </a:defRPr>
            </a:pPr>
            <a:r>
              <a:rPr sz="2550" b="1" i="0">
                <a:solidFill>
                  <a:srgbClr val="192442"/>
                </a:solidFill>
                <a:latin typeface="Lora"/>
                <a:ea typeface="Lora"/>
                <a:cs typeface="Lora"/>
              </a:rPr>
              <a:t>Grocery starter list</a:t>
            </a:r>
          </a:p>
        </p:txBody>
      </p:sp>
      <p:sp>
        <p:nvSpPr>
          <p:cNvPr id="11" name="">
            <a:extLst xmlns:a="http://schemas.openxmlformats.org/drawingml/2006/main">
              <a:ext uri="{FF2B5EF4-FFF2-40B4-BE49-F238E27FC236}">
                <a16:creationId xmlns:a16="http://schemas.microsoft.com/office/drawing/2014/main" id="{8D5F8AFF-FD71-479B-B580-08C385898E21}"/>
              </a:ext>
            </a:extLst>
          </p:cNvPr>
          <p:cNvSpPr>
            <a:spLocks xmlns:a="http://schemas.openxmlformats.org/drawingml/2006/main" noGrp="1"/>
          </p:cNvSpPr>
          <p:nvPr/>
        </p:nvSpPr>
        <p:spPr>
          <a:xfrm xmlns:a="http://schemas.openxmlformats.org/drawingml/2006/main">
            <a:off x="628650" y="1866900"/>
            <a:ext cx="6381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25000"/>
              </a:lnSpc>
              <a:buNone/>
              <a:defRPr sz="1125" b="0" i="0">
                <a:solidFill>
                  <a:srgbClr val="5C6C67"/>
                </a:solidFill>
                <a:latin typeface="Lato"/>
                <a:ea typeface="Lato"/>
                <a:cs typeface="Lato"/>
              </a:defRPr>
            </a:pPr>
            <a:r>
              <a:rPr sz="1125" b="0" i="0">
                <a:solidFill>
                  <a:srgbClr val="5C6C67"/>
                </a:solidFill>
                <a:latin typeface="Lato"/>
                <a:ea typeface="Lato"/>
                <a:cs typeface="Lato"/>
              </a:rPr>
              <a:t>Use this as a starter list, not a rule. Frozen, canned, dried, and store-brand foods can be practical.</a:t>
            </a:r>
          </a:p>
        </p:txBody>
      </p:sp>
      <p:sp>
        <p:nvSpPr>
          <p:cNvPr id="12" name="">
            <a:extLst xmlns:a="http://schemas.openxmlformats.org/drawingml/2006/main">
              <a:ext uri="{FF2B5EF4-FFF2-40B4-BE49-F238E27FC236}">
                <a16:creationId xmlns:a16="http://schemas.microsoft.com/office/drawing/2014/main" id="{904AE071-1F29-41A0-B85A-C09FA92390B9}"/>
              </a:ext>
            </a:extLst>
          </p:cNvPr>
          <p:cNvSpPr>
            <a:spLocks xmlns:a="http://schemas.openxmlformats.org/drawingml/2006/main" noGrp="1"/>
          </p:cNvSpPr>
          <p:nvPr/>
        </p:nvSpPr>
        <p:spPr>
          <a:xfrm xmlns:a="http://schemas.openxmlformats.org/drawingml/2006/main">
            <a:off x="628650" y="2800350"/>
            <a:ext cx="3028950" cy="819150"/>
          </a:xfrm>
          <a:prstGeom xmlns:a="http://schemas.openxmlformats.org/drawingml/2006/main" prst="roundRect">
            <a:avLst>
              <a:gd name="adj" fmla="val 11628"/>
            </a:avLst>
          </a:prstGeom>
          <a:solidFill xmlns:a="http://schemas.openxmlformats.org/drawingml/2006/main">
            <a:srgbClr val="FFFFFF"/>
          </a:solidFill>
          <a:ln xmlns:a="http://schemas.openxmlformats.org/drawingml/2006/main" w="11430">
            <a:solidFill>
              <a:srgbClr val="D9E2DA"/>
            </a:solidFill>
            <a:prstDash val="solid"/>
          </a:ln>
        </p:spPr>
      </p:sp>
      <p:sp>
        <p:nvSpPr>
          <p:cNvPr id="13" name="">
            <a:extLst xmlns:a="http://schemas.openxmlformats.org/drawingml/2006/main">
              <a:ext uri="{FF2B5EF4-FFF2-40B4-BE49-F238E27FC236}">
                <a16:creationId xmlns:a16="http://schemas.microsoft.com/office/drawing/2014/main" id="{8DBCC142-DB62-4CAD-A18E-E102E1FF2ABE}"/>
              </a:ext>
            </a:extLst>
          </p:cNvPr>
          <p:cNvSpPr>
            <a:spLocks xmlns:a="http://schemas.openxmlformats.org/drawingml/2006/main" noGrp="1"/>
          </p:cNvSpPr>
          <p:nvPr/>
        </p:nvSpPr>
        <p:spPr>
          <a:xfrm xmlns:a="http://schemas.openxmlformats.org/drawingml/2006/main">
            <a:off x="781050" y="2990850"/>
            <a:ext cx="190500" cy="190500"/>
          </a:xfrm>
          <a:prstGeom xmlns:a="http://schemas.openxmlformats.org/drawingml/2006/main" prst="ellipse">
            <a:avLst/>
          </a:prstGeom>
          <a:solidFill xmlns:a="http://schemas.openxmlformats.org/drawingml/2006/main">
            <a:srgbClr val="E6F2EC"/>
          </a:solidFill>
          <a:ln xmlns:a="http://schemas.openxmlformats.org/drawingml/2006/main" w="11430">
            <a:solidFill>
              <a:srgbClr val="034B2F"/>
            </a:solidFill>
            <a:prstDash val="solid"/>
          </a:ln>
        </p:spPr>
      </p:sp>
      <p:sp>
        <p:nvSpPr>
          <p:cNvPr id="14" name="">
            <a:extLst xmlns:a="http://schemas.openxmlformats.org/drawingml/2006/main">
              <a:ext uri="{FF2B5EF4-FFF2-40B4-BE49-F238E27FC236}">
                <a16:creationId xmlns:a16="http://schemas.microsoft.com/office/drawing/2014/main" id="{8EF6A88A-2594-4429-A89A-44097AF80A6C}"/>
              </a:ext>
            </a:extLst>
          </p:cNvPr>
          <p:cNvSpPr>
            <a:spLocks xmlns:a="http://schemas.openxmlformats.org/drawingml/2006/main" noGrp="1"/>
          </p:cNvSpPr>
          <p:nvPr/>
        </p:nvSpPr>
        <p:spPr>
          <a:xfrm xmlns:a="http://schemas.openxmlformats.org/drawingml/2006/main">
            <a:off x="1085850" y="2952750"/>
            <a:ext cx="2419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1013" b="1" i="0">
                <a:solidFill>
                  <a:srgbClr val="192442"/>
                </a:solidFill>
                <a:latin typeface="Lato"/>
                <a:ea typeface="Lato"/>
                <a:cs typeface="Lato"/>
              </a:defRPr>
            </a:pPr>
            <a:r>
              <a:rPr sz="1013" b="1" i="0">
                <a:solidFill>
                  <a:srgbClr val="192442"/>
                </a:solidFill>
                <a:latin typeface="Lato"/>
                <a:ea typeface="Lato"/>
                <a:cs typeface="Lato"/>
              </a:rPr>
              <a:t>Vegetables</a:t>
            </a:r>
          </a:p>
        </p:txBody>
      </p:sp>
      <p:sp>
        <p:nvSpPr>
          <p:cNvPr id="15" name="">
            <a:extLst xmlns:a="http://schemas.openxmlformats.org/drawingml/2006/main">
              <a:ext uri="{FF2B5EF4-FFF2-40B4-BE49-F238E27FC236}">
                <a16:creationId xmlns:a16="http://schemas.microsoft.com/office/drawing/2014/main" id="{5A60D718-064B-4BF6-9484-9842E4AA99BA}"/>
              </a:ext>
            </a:extLst>
          </p:cNvPr>
          <p:cNvSpPr>
            <a:spLocks xmlns:a="http://schemas.openxmlformats.org/drawingml/2006/main" noGrp="1"/>
          </p:cNvSpPr>
          <p:nvPr/>
        </p:nvSpPr>
        <p:spPr>
          <a:xfrm xmlns:a="http://schemas.openxmlformats.org/drawingml/2006/main">
            <a:off x="1085850" y="3171825"/>
            <a:ext cx="2419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0000"/>
              </a:lnSpc>
              <a:buNone/>
              <a:defRPr sz="788" b="0" i="0">
                <a:solidFill>
                  <a:srgbClr val="5C6C67"/>
                </a:solidFill>
                <a:latin typeface="Lato"/>
                <a:ea typeface="Lato"/>
                <a:cs typeface="Lato"/>
              </a:defRPr>
            </a:pPr>
            <a:r>
              <a:rPr sz="788" b="0" i="0">
                <a:solidFill>
                  <a:srgbClr val="5C6C67"/>
                </a:solidFill>
                <a:latin typeface="Lato"/>
                <a:ea typeface="Lato"/>
                <a:cs typeface="Lato"/>
              </a:rPr>
              <a:t>fresh, frozen, canned</a:t>
            </a:r>
          </a:p>
        </p:txBody>
      </p:sp>
      <p:sp>
        <p:nvSpPr>
          <p:cNvPr id="16" name="">
            <a:extLst xmlns:a="http://schemas.openxmlformats.org/drawingml/2006/main">
              <a:ext uri="{FF2B5EF4-FFF2-40B4-BE49-F238E27FC236}">
                <a16:creationId xmlns:a16="http://schemas.microsoft.com/office/drawing/2014/main" id="{BCCEF71F-7D24-471F-8031-D1125554AC60}"/>
              </a:ext>
            </a:extLst>
          </p:cNvPr>
          <p:cNvSpPr>
            <a:spLocks xmlns:a="http://schemas.openxmlformats.org/drawingml/2006/main" noGrp="1"/>
          </p:cNvSpPr>
          <p:nvPr/>
        </p:nvSpPr>
        <p:spPr>
          <a:xfrm xmlns:a="http://schemas.openxmlformats.org/drawingml/2006/main">
            <a:off x="3924300" y="2800350"/>
            <a:ext cx="3028950" cy="819150"/>
          </a:xfrm>
          <a:prstGeom xmlns:a="http://schemas.openxmlformats.org/drawingml/2006/main" prst="roundRect">
            <a:avLst>
              <a:gd name="adj" fmla="val 11628"/>
            </a:avLst>
          </a:prstGeom>
          <a:solidFill xmlns:a="http://schemas.openxmlformats.org/drawingml/2006/main">
            <a:srgbClr val="FFFFFF"/>
          </a:solidFill>
          <a:ln xmlns:a="http://schemas.openxmlformats.org/drawingml/2006/main" w="11430">
            <a:solidFill>
              <a:srgbClr val="D9E2DA"/>
            </a:solidFill>
            <a:prstDash val="solid"/>
          </a:ln>
        </p:spPr>
      </p:sp>
      <p:sp>
        <p:nvSpPr>
          <p:cNvPr id="17" name="">
            <a:extLst xmlns:a="http://schemas.openxmlformats.org/drawingml/2006/main">
              <a:ext uri="{FF2B5EF4-FFF2-40B4-BE49-F238E27FC236}">
                <a16:creationId xmlns:a16="http://schemas.microsoft.com/office/drawing/2014/main" id="{F2731450-BC82-4294-B8DA-325434E15229}"/>
              </a:ext>
            </a:extLst>
          </p:cNvPr>
          <p:cNvSpPr>
            <a:spLocks xmlns:a="http://schemas.openxmlformats.org/drawingml/2006/main" noGrp="1"/>
          </p:cNvSpPr>
          <p:nvPr/>
        </p:nvSpPr>
        <p:spPr>
          <a:xfrm xmlns:a="http://schemas.openxmlformats.org/drawingml/2006/main">
            <a:off x="4076700" y="2990850"/>
            <a:ext cx="190500" cy="190500"/>
          </a:xfrm>
          <a:prstGeom xmlns:a="http://schemas.openxmlformats.org/drawingml/2006/main" prst="ellipse">
            <a:avLst/>
          </a:prstGeom>
          <a:solidFill xmlns:a="http://schemas.openxmlformats.org/drawingml/2006/main">
            <a:srgbClr val="EEF7FA"/>
          </a:solidFill>
          <a:ln xmlns:a="http://schemas.openxmlformats.org/drawingml/2006/main" w="11430">
            <a:solidFill>
              <a:srgbClr val="034B2F"/>
            </a:solidFill>
            <a:prstDash val="solid"/>
          </a:ln>
        </p:spPr>
      </p:sp>
      <p:sp>
        <p:nvSpPr>
          <p:cNvPr id="18" name="">
            <a:extLst xmlns:a="http://schemas.openxmlformats.org/drawingml/2006/main">
              <a:ext uri="{FF2B5EF4-FFF2-40B4-BE49-F238E27FC236}">
                <a16:creationId xmlns:a16="http://schemas.microsoft.com/office/drawing/2014/main" id="{72952F7D-EFE4-4259-A421-9DBBEA8709F2}"/>
              </a:ext>
            </a:extLst>
          </p:cNvPr>
          <p:cNvSpPr>
            <a:spLocks xmlns:a="http://schemas.openxmlformats.org/drawingml/2006/main" noGrp="1"/>
          </p:cNvSpPr>
          <p:nvPr/>
        </p:nvSpPr>
        <p:spPr>
          <a:xfrm xmlns:a="http://schemas.openxmlformats.org/drawingml/2006/main">
            <a:off x="4381500" y="2952750"/>
            <a:ext cx="2419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1013" b="1" i="0">
                <a:solidFill>
                  <a:srgbClr val="192442"/>
                </a:solidFill>
                <a:latin typeface="Lato"/>
                <a:ea typeface="Lato"/>
                <a:cs typeface="Lato"/>
              </a:defRPr>
            </a:pPr>
            <a:r>
              <a:rPr sz="1013" b="1" i="0">
                <a:solidFill>
                  <a:srgbClr val="192442"/>
                </a:solidFill>
                <a:latin typeface="Lato"/>
                <a:ea typeface="Lato"/>
                <a:cs typeface="Lato"/>
              </a:rPr>
              <a:t>Fruit</a:t>
            </a:r>
          </a:p>
        </p:txBody>
      </p:sp>
      <p:sp>
        <p:nvSpPr>
          <p:cNvPr id="19" name="">
            <a:extLst xmlns:a="http://schemas.openxmlformats.org/drawingml/2006/main">
              <a:ext uri="{FF2B5EF4-FFF2-40B4-BE49-F238E27FC236}">
                <a16:creationId xmlns:a16="http://schemas.microsoft.com/office/drawing/2014/main" id="{FF5152D4-4C0B-4901-A57B-D77FF9E3852B}"/>
              </a:ext>
            </a:extLst>
          </p:cNvPr>
          <p:cNvSpPr>
            <a:spLocks xmlns:a="http://schemas.openxmlformats.org/drawingml/2006/main" noGrp="1"/>
          </p:cNvSpPr>
          <p:nvPr/>
        </p:nvSpPr>
        <p:spPr>
          <a:xfrm xmlns:a="http://schemas.openxmlformats.org/drawingml/2006/main">
            <a:off x="4381500" y="3171825"/>
            <a:ext cx="2419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0000"/>
              </a:lnSpc>
              <a:buNone/>
              <a:defRPr sz="788" b="0" i="0">
                <a:solidFill>
                  <a:srgbClr val="5C6C67"/>
                </a:solidFill>
                <a:latin typeface="Lato"/>
                <a:ea typeface="Lato"/>
                <a:cs typeface="Lato"/>
              </a:defRPr>
            </a:pPr>
            <a:r>
              <a:rPr sz="788" b="0" i="0">
                <a:solidFill>
                  <a:srgbClr val="5C6C67"/>
                </a:solidFill>
                <a:latin typeface="Lato"/>
                <a:ea typeface="Lato"/>
                <a:cs typeface="Lato"/>
              </a:rPr>
              <a:t>fresh or frozen</a:t>
            </a:r>
          </a:p>
        </p:txBody>
      </p:sp>
      <p:sp>
        <p:nvSpPr>
          <p:cNvPr id="20" name="">
            <a:extLst xmlns:a="http://schemas.openxmlformats.org/drawingml/2006/main">
              <a:ext uri="{FF2B5EF4-FFF2-40B4-BE49-F238E27FC236}">
                <a16:creationId xmlns:a16="http://schemas.microsoft.com/office/drawing/2014/main" id="{4283A7A7-4920-4524-82FE-2116F2DE5A8D}"/>
              </a:ext>
            </a:extLst>
          </p:cNvPr>
          <p:cNvSpPr>
            <a:spLocks xmlns:a="http://schemas.openxmlformats.org/drawingml/2006/main" noGrp="1"/>
          </p:cNvSpPr>
          <p:nvPr/>
        </p:nvSpPr>
        <p:spPr>
          <a:xfrm xmlns:a="http://schemas.openxmlformats.org/drawingml/2006/main">
            <a:off x="628650" y="3810000"/>
            <a:ext cx="3028950" cy="819150"/>
          </a:xfrm>
          <a:prstGeom xmlns:a="http://schemas.openxmlformats.org/drawingml/2006/main" prst="roundRect">
            <a:avLst>
              <a:gd name="adj" fmla="val 11628"/>
            </a:avLst>
          </a:prstGeom>
          <a:solidFill xmlns:a="http://schemas.openxmlformats.org/drawingml/2006/main">
            <a:srgbClr val="FFFFFF"/>
          </a:solidFill>
          <a:ln xmlns:a="http://schemas.openxmlformats.org/drawingml/2006/main" w="11430">
            <a:solidFill>
              <a:srgbClr val="D9E2DA"/>
            </a:solidFill>
            <a:prstDash val="solid"/>
          </a:ln>
        </p:spPr>
      </p:sp>
      <p:sp>
        <p:nvSpPr>
          <p:cNvPr id="21" name="">
            <a:extLst xmlns:a="http://schemas.openxmlformats.org/drawingml/2006/main">
              <a:ext uri="{FF2B5EF4-FFF2-40B4-BE49-F238E27FC236}">
                <a16:creationId xmlns:a16="http://schemas.microsoft.com/office/drawing/2014/main" id="{12B1B0B6-7967-4073-A7B7-0DF6B1C7ADCD}"/>
              </a:ext>
            </a:extLst>
          </p:cNvPr>
          <p:cNvSpPr>
            <a:spLocks xmlns:a="http://schemas.openxmlformats.org/drawingml/2006/main" noGrp="1"/>
          </p:cNvSpPr>
          <p:nvPr/>
        </p:nvSpPr>
        <p:spPr>
          <a:xfrm xmlns:a="http://schemas.openxmlformats.org/drawingml/2006/main">
            <a:off x="781050" y="4000500"/>
            <a:ext cx="190500" cy="190500"/>
          </a:xfrm>
          <a:prstGeom xmlns:a="http://schemas.openxmlformats.org/drawingml/2006/main" prst="ellipse">
            <a:avLst/>
          </a:prstGeom>
          <a:solidFill xmlns:a="http://schemas.openxmlformats.org/drawingml/2006/main">
            <a:srgbClr val="FCE4D8"/>
          </a:solidFill>
          <a:ln xmlns:a="http://schemas.openxmlformats.org/drawingml/2006/main" w="11430">
            <a:solidFill>
              <a:srgbClr val="034B2F"/>
            </a:solidFill>
            <a:prstDash val="solid"/>
          </a:ln>
        </p:spPr>
      </p:sp>
      <p:sp>
        <p:nvSpPr>
          <p:cNvPr id="22" name="">
            <a:extLst xmlns:a="http://schemas.openxmlformats.org/drawingml/2006/main">
              <a:ext uri="{FF2B5EF4-FFF2-40B4-BE49-F238E27FC236}">
                <a16:creationId xmlns:a16="http://schemas.microsoft.com/office/drawing/2014/main" id="{9FB7AA47-2756-42C0-A1C0-C6E566D1E657}"/>
              </a:ext>
            </a:extLst>
          </p:cNvPr>
          <p:cNvSpPr>
            <a:spLocks xmlns:a="http://schemas.openxmlformats.org/drawingml/2006/main" noGrp="1"/>
          </p:cNvSpPr>
          <p:nvPr/>
        </p:nvSpPr>
        <p:spPr>
          <a:xfrm xmlns:a="http://schemas.openxmlformats.org/drawingml/2006/main">
            <a:off x="1085850" y="3962400"/>
            <a:ext cx="2419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1013" b="1" i="0">
                <a:solidFill>
                  <a:srgbClr val="192442"/>
                </a:solidFill>
                <a:latin typeface="Lato"/>
                <a:ea typeface="Lato"/>
                <a:cs typeface="Lato"/>
              </a:defRPr>
            </a:pPr>
            <a:r>
              <a:rPr sz="1013" b="1" i="0">
                <a:solidFill>
                  <a:srgbClr val="192442"/>
                </a:solidFill>
                <a:latin typeface="Lato"/>
                <a:ea typeface="Lato"/>
                <a:cs typeface="Lato"/>
              </a:rPr>
              <a:t>Protein</a:t>
            </a:r>
          </a:p>
        </p:txBody>
      </p:sp>
      <p:sp>
        <p:nvSpPr>
          <p:cNvPr id="23" name="">
            <a:extLst xmlns:a="http://schemas.openxmlformats.org/drawingml/2006/main">
              <a:ext uri="{FF2B5EF4-FFF2-40B4-BE49-F238E27FC236}">
                <a16:creationId xmlns:a16="http://schemas.microsoft.com/office/drawing/2014/main" id="{08F223A9-0522-44D7-811E-1A7FBF7D76D8}"/>
              </a:ext>
            </a:extLst>
          </p:cNvPr>
          <p:cNvSpPr>
            <a:spLocks xmlns:a="http://schemas.openxmlformats.org/drawingml/2006/main" noGrp="1"/>
          </p:cNvSpPr>
          <p:nvPr/>
        </p:nvSpPr>
        <p:spPr>
          <a:xfrm xmlns:a="http://schemas.openxmlformats.org/drawingml/2006/main">
            <a:off x="1085850" y="4181475"/>
            <a:ext cx="2419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0000"/>
              </a:lnSpc>
              <a:buNone/>
              <a:defRPr sz="788" b="0" i="0">
                <a:solidFill>
                  <a:srgbClr val="5C6C67"/>
                </a:solidFill>
                <a:latin typeface="Lato"/>
                <a:ea typeface="Lato"/>
                <a:cs typeface="Lato"/>
              </a:defRPr>
            </a:pPr>
            <a:r>
              <a:rPr sz="788" b="0" i="0">
                <a:solidFill>
                  <a:srgbClr val="5C6C67"/>
                </a:solidFill>
                <a:latin typeface="Lato"/>
                <a:ea typeface="Lato"/>
                <a:cs typeface="Lato"/>
              </a:rPr>
              <a:t>eggs, beans, fish, tofu</a:t>
            </a:r>
          </a:p>
        </p:txBody>
      </p:sp>
      <p:sp>
        <p:nvSpPr>
          <p:cNvPr id="24" name="">
            <a:extLst xmlns:a="http://schemas.openxmlformats.org/drawingml/2006/main">
              <a:ext uri="{FF2B5EF4-FFF2-40B4-BE49-F238E27FC236}">
                <a16:creationId xmlns:a16="http://schemas.microsoft.com/office/drawing/2014/main" id="{735304F5-121F-44B7-A913-5C09C7A1DD62}"/>
              </a:ext>
            </a:extLst>
          </p:cNvPr>
          <p:cNvSpPr>
            <a:spLocks xmlns:a="http://schemas.openxmlformats.org/drawingml/2006/main" noGrp="1"/>
          </p:cNvSpPr>
          <p:nvPr/>
        </p:nvSpPr>
        <p:spPr>
          <a:xfrm xmlns:a="http://schemas.openxmlformats.org/drawingml/2006/main">
            <a:off x="3924300" y="3810000"/>
            <a:ext cx="3028950" cy="819150"/>
          </a:xfrm>
          <a:prstGeom xmlns:a="http://schemas.openxmlformats.org/drawingml/2006/main" prst="roundRect">
            <a:avLst>
              <a:gd name="adj" fmla="val 11628"/>
            </a:avLst>
          </a:prstGeom>
          <a:solidFill xmlns:a="http://schemas.openxmlformats.org/drawingml/2006/main">
            <a:srgbClr val="FFFFFF"/>
          </a:solidFill>
          <a:ln xmlns:a="http://schemas.openxmlformats.org/drawingml/2006/main" w="11430">
            <a:solidFill>
              <a:srgbClr val="D9E2DA"/>
            </a:solidFill>
            <a:prstDash val="solid"/>
          </a:ln>
        </p:spPr>
      </p:sp>
      <p:sp>
        <p:nvSpPr>
          <p:cNvPr id="25" name="">
            <a:extLst xmlns:a="http://schemas.openxmlformats.org/drawingml/2006/main">
              <a:ext uri="{FF2B5EF4-FFF2-40B4-BE49-F238E27FC236}">
                <a16:creationId xmlns:a16="http://schemas.microsoft.com/office/drawing/2014/main" id="{1B21EED7-8ABA-4BA1-B613-ED69F756062B}"/>
              </a:ext>
            </a:extLst>
          </p:cNvPr>
          <p:cNvSpPr>
            <a:spLocks xmlns:a="http://schemas.openxmlformats.org/drawingml/2006/main" noGrp="1"/>
          </p:cNvSpPr>
          <p:nvPr/>
        </p:nvSpPr>
        <p:spPr>
          <a:xfrm xmlns:a="http://schemas.openxmlformats.org/drawingml/2006/main">
            <a:off x="4076700" y="4000500"/>
            <a:ext cx="190500" cy="190500"/>
          </a:xfrm>
          <a:prstGeom xmlns:a="http://schemas.openxmlformats.org/drawingml/2006/main" prst="ellipse">
            <a:avLst/>
          </a:prstGeom>
          <a:solidFill xmlns:a="http://schemas.openxmlformats.org/drawingml/2006/main">
            <a:srgbClr val="E6F2EC"/>
          </a:solidFill>
          <a:ln xmlns:a="http://schemas.openxmlformats.org/drawingml/2006/main" w="11430">
            <a:solidFill>
              <a:srgbClr val="034B2F"/>
            </a:solidFill>
            <a:prstDash val="solid"/>
          </a:ln>
        </p:spPr>
      </p:sp>
      <p:sp>
        <p:nvSpPr>
          <p:cNvPr id="26" name="">
            <a:extLst xmlns:a="http://schemas.openxmlformats.org/drawingml/2006/main">
              <a:ext uri="{FF2B5EF4-FFF2-40B4-BE49-F238E27FC236}">
                <a16:creationId xmlns:a16="http://schemas.microsoft.com/office/drawing/2014/main" id="{F68A0DBD-CF16-40E6-B95A-7522A6B5ECEC}"/>
              </a:ext>
            </a:extLst>
          </p:cNvPr>
          <p:cNvSpPr>
            <a:spLocks xmlns:a="http://schemas.openxmlformats.org/drawingml/2006/main" noGrp="1"/>
          </p:cNvSpPr>
          <p:nvPr/>
        </p:nvSpPr>
        <p:spPr>
          <a:xfrm xmlns:a="http://schemas.openxmlformats.org/drawingml/2006/main">
            <a:off x="4381500" y="3962400"/>
            <a:ext cx="2419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1013" b="1" i="0">
                <a:solidFill>
                  <a:srgbClr val="192442"/>
                </a:solidFill>
                <a:latin typeface="Lato"/>
                <a:ea typeface="Lato"/>
                <a:cs typeface="Lato"/>
              </a:defRPr>
            </a:pPr>
            <a:r>
              <a:rPr sz="1013" b="1" i="0">
                <a:solidFill>
                  <a:srgbClr val="192442"/>
                </a:solidFill>
                <a:latin typeface="Lato"/>
                <a:ea typeface="Lato"/>
                <a:cs typeface="Lato"/>
              </a:rPr>
              <a:t>Carbs</a:t>
            </a:r>
          </a:p>
        </p:txBody>
      </p:sp>
      <p:sp>
        <p:nvSpPr>
          <p:cNvPr id="27" name="">
            <a:extLst xmlns:a="http://schemas.openxmlformats.org/drawingml/2006/main">
              <a:ext uri="{FF2B5EF4-FFF2-40B4-BE49-F238E27FC236}">
                <a16:creationId xmlns:a16="http://schemas.microsoft.com/office/drawing/2014/main" id="{58288815-69C7-41D3-92BA-F0CD3AD88F5C}"/>
              </a:ext>
            </a:extLst>
          </p:cNvPr>
          <p:cNvSpPr>
            <a:spLocks xmlns:a="http://schemas.openxmlformats.org/drawingml/2006/main" noGrp="1"/>
          </p:cNvSpPr>
          <p:nvPr/>
        </p:nvSpPr>
        <p:spPr>
          <a:xfrm xmlns:a="http://schemas.openxmlformats.org/drawingml/2006/main">
            <a:off x="4381500" y="4181475"/>
            <a:ext cx="2419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0000"/>
              </a:lnSpc>
              <a:buNone/>
              <a:defRPr sz="788" b="0" i="0">
                <a:solidFill>
                  <a:srgbClr val="5C6C67"/>
                </a:solidFill>
                <a:latin typeface="Lato"/>
                <a:ea typeface="Lato"/>
                <a:cs typeface="Lato"/>
              </a:defRPr>
            </a:pPr>
            <a:r>
              <a:rPr sz="788" b="0" i="0">
                <a:solidFill>
                  <a:srgbClr val="5C6C67"/>
                </a:solidFill>
                <a:latin typeface="Lato"/>
                <a:ea typeface="Lato"/>
                <a:cs typeface="Lato"/>
              </a:rPr>
              <a:t>oats, rice, potatoes, bread</a:t>
            </a:r>
          </a:p>
        </p:txBody>
      </p:sp>
      <p:sp>
        <p:nvSpPr>
          <p:cNvPr id="28" name="">
            <a:extLst xmlns:a="http://schemas.openxmlformats.org/drawingml/2006/main">
              <a:ext uri="{FF2B5EF4-FFF2-40B4-BE49-F238E27FC236}">
                <a16:creationId xmlns:a16="http://schemas.microsoft.com/office/drawing/2014/main" id="{1BA46729-74D4-4038-B5A0-8761B0876653}"/>
              </a:ext>
            </a:extLst>
          </p:cNvPr>
          <p:cNvSpPr>
            <a:spLocks xmlns:a="http://schemas.openxmlformats.org/drawingml/2006/main" noGrp="1"/>
          </p:cNvSpPr>
          <p:nvPr/>
        </p:nvSpPr>
        <p:spPr>
          <a:xfrm xmlns:a="http://schemas.openxmlformats.org/drawingml/2006/main">
            <a:off x="628650" y="4819650"/>
            <a:ext cx="3028950" cy="819150"/>
          </a:xfrm>
          <a:prstGeom xmlns:a="http://schemas.openxmlformats.org/drawingml/2006/main" prst="roundRect">
            <a:avLst>
              <a:gd name="adj" fmla="val 11628"/>
            </a:avLst>
          </a:prstGeom>
          <a:solidFill xmlns:a="http://schemas.openxmlformats.org/drawingml/2006/main">
            <a:srgbClr val="FFFFFF"/>
          </a:solidFill>
          <a:ln xmlns:a="http://schemas.openxmlformats.org/drawingml/2006/main" w="11430">
            <a:solidFill>
              <a:srgbClr val="D9E2DA"/>
            </a:solidFill>
            <a:prstDash val="solid"/>
          </a:ln>
        </p:spPr>
      </p:sp>
      <p:sp>
        <p:nvSpPr>
          <p:cNvPr id="29" name="">
            <a:extLst xmlns:a="http://schemas.openxmlformats.org/drawingml/2006/main">
              <a:ext uri="{FF2B5EF4-FFF2-40B4-BE49-F238E27FC236}">
                <a16:creationId xmlns:a16="http://schemas.microsoft.com/office/drawing/2014/main" id="{043890C4-6B79-478D-A039-D5DC3326793D}"/>
              </a:ext>
            </a:extLst>
          </p:cNvPr>
          <p:cNvSpPr>
            <a:spLocks xmlns:a="http://schemas.openxmlformats.org/drawingml/2006/main" noGrp="1"/>
          </p:cNvSpPr>
          <p:nvPr/>
        </p:nvSpPr>
        <p:spPr>
          <a:xfrm xmlns:a="http://schemas.openxmlformats.org/drawingml/2006/main">
            <a:off x="781050" y="5010150"/>
            <a:ext cx="190500" cy="190500"/>
          </a:xfrm>
          <a:prstGeom xmlns:a="http://schemas.openxmlformats.org/drawingml/2006/main" prst="ellipse">
            <a:avLst/>
          </a:prstGeom>
          <a:solidFill xmlns:a="http://schemas.openxmlformats.org/drawingml/2006/main">
            <a:srgbClr val="EEF7FA"/>
          </a:solidFill>
          <a:ln xmlns:a="http://schemas.openxmlformats.org/drawingml/2006/main" w="11430">
            <a:solidFill>
              <a:srgbClr val="034B2F"/>
            </a:solidFill>
            <a:prstDash val="solid"/>
          </a:ln>
        </p:spPr>
      </p:sp>
      <p:sp>
        <p:nvSpPr>
          <p:cNvPr id="30" name="">
            <a:extLst xmlns:a="http://schemas.openxmlformats.org/drawingml/2006/main">
              <a:ext uri="{FF2B5EF4-FFF2-40B4-BE49-F238E27FC236}">
                <a16:creationId xmlns:a16="http://schemas.microsoft.com/office/drawing/2014/main" id="{C7F83B26-1C4E-4CE8-BB4E-ADF8128CF674}"/>
              </a:ext>
            </a:extLst>
          </p:cNvPr>
          <p:cNvSpPr>
            <a:spLocks xmlns:a="http://schemas.openxmlformats.org/drawingml/2006/main" noGrp="1"/>
          </p:cNvSpPr>
          <p:nvPr/>
        </p:nvSpPr>
        <p:spPr>
          <a:xfrm xmlns:a="http://schemas.openxmlformats.org/drawingml/2006/main">
            <a:off x="1085850" y="4972050"/>
            <a:ext cx="2419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1013" b="1" i="0">
                <a:solidFill>
                  <a:srgbClr val="192442"/>
                </a:solidFill>
                <a:latin typeface="Lato"/>
                <a:ea typeface="Lato"/>
                <a:cs typeface="Lato"/>
              </a:defRPr>
            </a:pPr>
            <a:r>
              <a:rPr sz="1013" b="1" i="0">
                <a:solidFill>
                  <a:srgbClr val="192442"/>
                </a:solidFill>
                <a:latin typeface="Lato"/>
                <a:ea typeface="Lato"/>
                <a:cs typeface="Lato"/>
              </a:rPr>
              <a:t>Fats</a:t>
            </a:r>
          </a:p>
        </p:txBody>
      </p:sp>
      <p:sp>
        <p:nvSpPr>
          <p:cNvPr id="31" name="">
            <a:extLst xmlns:a="http://schemas.openxmlformats.org/drawingml/2006/main">
              <a:ext uri="{FF2B5EF4-FFF2-40B4-BE49-F238E27FC236}">
                <a16:creationId xmlns:a16="http://schemas.microsoft.com/office/drawing/2014/main" id="{53354E82-683A-443E-904E-0F4CEA93B9F2}"/>
              </a:ext>
            </a:extLst>
          </p:cNvPr>
          <p:cNvSpPr>
            <a:spLocks xmlns:a="http://schemas.openxmlformats.org/drawingml/2006/main" noGrp="1"/>
          </p:cNvSpPr>
          <p:nvPr/>
        </p:nvSpPr>
        <p:spPr>
          <a:xfrm xmlns:a="http://schemas.openxmlformats.org/drawingml/2006/main">
            <a:off x="1085850" y="5191125"/>
            <a:ext cx="2419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0000"/>
              </a:lnSpc>
              <a:buNone/>
              <a:defRPr sz="788" b="0" i="0">
                <a:solidFill>
                  <a:srgbClr val="5C6C67"/>
                </a:solidFill>
                <a:latin typeface="Lato"/>
                <a:ea typeface="Lato"/>
                <a:cs typeface="Lato"/>
              </a:defRPr>
            </a:pPr>
            <a:r>
              <a:rPr sz="788" b="0" i="0">
                <a:solidFill>
                  <a:srgbClr val="5C6C67"/>
                </a:solidFill>
                <a:latin typeface="Lato"/>
                <a:ea typeface="Lato"/>
                <a:cs typeface="Lato"/>
              </a:rPr>
              <a:t>nuts, seeds, avocado, oils</a:t>
            </a:r>
          </a:p>
        </p:txBody>
      </p:sp>
      <p:sp>
        <p:nvSpPr>
          <p:cNvPr id="32" name="">
            <a:extLst xmlns:a="http://schemas.openxmlformats.org/drawingml/2006/main">
              <a:ext uri="{FF2B5EF4-FFF2-40B4-BE49-F238E27FC236}">
                <a16:creationId xmlns:a16="http://schemas.microsoft.com/office/drawing/2014/main" id="{8293ACB0-31DC-4F8F-98EE-B38DC43D6829}"/>
              </a:ext>
            </a:extLst>
          </p:cNvPr>
          <p:cNvSpPr>
            <a:spLocks xmlns:a="http://schemas.openxmlformats.org/drawingml/2006/main" noGrp="1"/>
          </p:cNvSpPr>
          <p:nvPr/>
        </p:nvSpPr>
        <p:spPr>
          <a:xfrm xmlns:a="http://schemas.openxmlformats.org/drawingml/2006/main">
            <a:off x="3924300" y="4819650"/>
            <a:ext cx="3028950" cy="819150"/>
          </a:xfrm>
          <a:prstGeom xmlns:a="http://schemas.openxmlformats.org/drawingml/2006/main" prst="roundRect">
            <a:avLst>
              <a:gd name="adj" fmla="val 11628"/>
            </a:avLst>
          </a:prstGeom>
          <a:solidFill xmlns:a="http://schemas.openxmlformats.org/drawingml/2006/main">
            <a:srgbClr val="FFFFFF"/>
          </a:solidFill>
          <a:ln xmlns:a="http://schemas.openxmlformats.org/drawingml/2006/main" w="11430">
            <a:solidFill>
              <a:srgbClr val="D9E2DA"/>
            </a:solidFill>
            <a:prstDash val="solid"/>
          </a:ln>
        </p:spPr>
      </p:sp>
      <p:sp>
        <p:nvSpPr>
          <p:cNvPr id="33" name="">
            <a:extLst xmlns:a="http://schemas.openxmlformats.org/drawingml/2006/main">
              <a:ext uri="{FF2B5EF4-FFF2-40B4-BE49-F238E27FC236}">
                <a16:creationId xmlns:a16="http://schemas.microsoft.com/office/drawing/2014/main" id="{24CECA9C-6305-4C5D-9DC2-1A0644B76F79}"/>
              </a:ext>
            </a:extLst>
          </p:cNvPr>
          <p:cNvSpPr>
            <a:spLocks xmlns:a="http://schemas.openxmlformats.org/drawingml/2006/main" noGrp="1"/>
          </p:cNvSpPr>
          <p:nvPr/>
        </p:nvSpPr>
        <p:spPr>
          <a:xfrm xmlns:a="http://schemas.openxmlformats.org/drawingml/2006/main">
            <a:off x="4076700" y="5010150"/>
            <a:ext cx="190500" cy="190500"/>
          </a:xfrm>
          <a:prstGeom xmlns:a="http://schemas.openxmlformats.org/drawingml/2006/main" prst="ellipse">
            <a:avLst/>
          </a:prstGeom>
          <a:solidFill xmlns:a="http://schemas.openxmlformats.org/drawingml/2006/main">
            <a:srgbClr val="E6F2EC"/>
          </a:solidFill>
          <a:ln xmlns:a="http://schemas.openxmlformats.org/drawingml/2006/main" w="11430">
            <a:solidFill>
              <a:srgbClr val="034B2F"/>
            </a:solidFill>
            <a:prstDash val="solid"/>
          </a:ln>
        </p:spPr>
      </p:sp>
      <p:sp>
        <p:nvSpPr>
          <p:cNvPr id="34" name="">
            <a:extLst xmlns:a="http://schemas.openxmlformats.org/drawingml/2006/main">
              <a:ext uri="{FF2B5EF4-FFF2-40B4-BE49-F238E27FC236}">
                <a16:creationId xmlns:a16="http://schemas.microsoft.com/office/drawing/2014/main" id="{0FE36AA4-CA3A-425A-8F20-70E9410C2D56}"/>
              </a:ext>
            </a:extLst>
          </p:cNvPr>
          <p:cNvSpPr>
            <a:spLocks xmlns:a="http://schemas.openxmlformats.org/drawingml/2006/main" noGrp="1"/>
          </p:cNvSpPr>
          <p:nvPr/>
        </p:nvSpPr>
        <p:spPr>
          <a:xfrm xmlns:a="http://schemas.openxmlformats.org/drawingml/2006/main">
            <a:off x="4381500" y="4972050"/>
            <a:ext cx="2419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1013" b="1" i="0">
                <a:solidFill>
                  <a:srgbClr val="192442"/>
                </a:solidFill>
                <a:latin typeface="Lato"/>
                <a:ea typeface="Lato"/>
                <a:cs typeface="Lato"/>
              </a:defRPr>
            </a:pPr>
            <a:r>
              <a:rPr sz="1013" b="1" i="0">
                <a:solidFill>
                  <a:srgbClr val="192442"/>
                </a:solidFill>
                <a:latin typeface="Lato"/>
                <a:ea typeface="Lato"/>
                <a:cs typeface="Lato"/>
              </a:rPr>
              <a:t>Flavor</a:t>
            </a:r>
          </a:p>
        </p:txBody>
      </p:sp>
      <p:sp>
        <p:nvSpPr>
          <p:cNvPr id="35" name="">
            <a:extLst xmlns:a="http://schemas.openxmlformats.org/drawingml/2006/main">
              <a:ext uri="{FF2B5EF4-FFF2-40B4-BE49-F238E27FC236}">
                <a16:creationId xmlns:a16="http://schemas.microsoft.com/office/drawing/2014/main" id="{D6E6D334-3715-48BB-84B3-B08EE5D0831B}"/>
              </a:ext>
            </a:extLst>
          </p:cNvPr>
          <p:cNvSpPr>
            <a:spLocks xmlns:a="http://schemas.openxmlformats.org/drawingml/2006/main" noGrp="1"/>
          </p:cNvSpPr>
          <p:nvPr/>
        </p:nvSpPr>
        <p:spPr>
          <a:xfrm xmlns:a="http://schemas.openxmlformats.org/drawingml/2006/main">
            <a:off x="4381500" y="5191125"/>
            <a:ext cx="2419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0000"/>
              </a:lnSpc>
              <a:buNone/>
              <a:defRPr sz="788" b="0" i="0">
                <a:solidFill>
                  <a:srgbClr val="5C6C67"/>
                </a:solidFill>
                <a:latin typeface="Lato"/>
                <a:ea typeface="Lato"/>
                <a:cs typeface="Lato"/>
              </a:defRPr>
            </a:pPr>
            <a:r>
              <a:rPr sz="788" b="0" i="0">
                <a:solidFill>
                  <a:srgbClr val="5C6C67"/>
                </a:solidFill>
                <a:latin typeface="Lato"/>
                <a:ea typeface="Lato"/>
                <a:cs typeface="Lato"/>
              </a:rPr>
              <a:t>garlic, herbs, vinegar, salsa</a:t>
            </a:r>
          </a:p>
        </p:txBody>
      </p:sp>
      <p:sp>
        <p:nvSpPr>
          <p:cNvPr id="36" name="">
            <a:extLst xmlns:a="http://schemas.openxmlformats.org/drawingml/2006/main">
              <a:ext uri="{FF2B5EF4-FFF2-40B4-BE49-F238E27FC236}">
                <a16:creationId xmlns:a16="http://schemas.microsoft.com/office/drawing/2014/main" id="{8DCBBF19-1EE5-47CA-BEE7-29A1A49D2216}"/>
              </a:ext>
            </a:extLst>
          </p:cNvPr>
          <p:cNvSpPr>
            <a:spLocks xmlns:a="http://schemas.openxmlformats.org/drawingml/2006/main" noGrp="1"/>
          </p:cNvSpPr>
          <p:nvPr/>
        </p:nvSpPr>
        <p:spPr>
          <a:xfrm xmlns:a="http://schemas.openxmlformats.org/drawingml/2006/main">
            <a:off x="762000" y="7591425"/>
            <a:ext cx="95250" cy="95250"/>
          </a:xfrm>
          <a:prstGeom xmlns:a="http://schemas.openxmlformats.org/drawingml/2006/main" prst="ellipse">
            <a:avLst/>
          </a:prstGeom>
          <a:solidFill xmlns:a="http://schemas.openxmlformats.org/drawingml/2006/main">
            <a:srgbClr val="F26A2E"/>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AEED4D6F-AE3B-4D01-83E6-7CF5E8466221}"/>
              </a:ext>
            </a:extLst>
          </p:cNvPr>
          <p:cNvSpPr>
            <a:spLocks xmlns:a="http://schemas.openxmlformats.org/drawingml/2006/main" noGrp="1"/>
          </p:cNvSpPr>
          <p:nvPr/>
        </p:nvSpPr>
        <p:spPr>
          <a:xfrm xmlns:a="http://schemas.openxmlformats.org/drawingml/2006/main">
            <a:off x="971550" y="7543800"/>
            <a:ext cx="5791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8000"/>
              </a:lnSpc>
              <a:buNone/>
              <a:defRPr sz="1013" b="0" i="0">
                <a:solidFill>
                  <a:srgbClr val="16211D"/>
                </a:solidFill>
                <a:latin typeface="Lato"/>
                <a:ea typeface="Lato"/>
                <a:cs typeface="Lato"/>
              </a:defRPr>
            </a:pPr>
            <a:r>
              <a:rPr sz="1013" b="0" i="0">
                <a:solidFill>
                  <a:srgbClr val="16211D"/>
                </a:solidFill>
                <a:latin typeface="Lato"/>
                <a:ea typeface="Lato"/>
                <a:cs typeface="Lato"/>
              </a:rPr>
              <a:t>Rinse canned beans or vegetables when you want less sodium.</a:t>
            </a:r>
          </a:p>
        </p:txBody>
      </p:sp>
      <p:sp>
        <p:nvSpPr>
          <p:cNvPr id="38" name="">
            <a:extLst xmlns:a="http://schemas.openxmlformats.org/drawingml/2006/main">
              <a:ext uri="{FF2B5EF4-FFF2-40B4-BE49-F238E27FC236}">
                <a16:creationId xmlns:a16="http://schemas.microsoft.com/office/drawing/2014/main" id="{233642C5-B301-4C6E-BB2E-995A32EC8BC1}"/>
              </a:ext>
            </a:extLst>
          </p:cNvPr>
          <p:cNvSpPr>
            <a:spLocks xmlns:a="http://schemas.openxmlformats.org/drawingml/2006/main" noGrp="1"/>
          </p:cNvSpPr>
          <p:nvPr/>
        </p:nvSpPr>
        <p:spPr>
          <a:xfrm xmlns:a="http://schemas.openxmlformats.org/drawingml/2006/main">
            <a:off x="762000" y="7953375"/>
            <a:ext cx="95250" cy="95250"/>
          </a:xfrm>
          <a:prstGeom xmlns:a="http://schemas.openxmlformats.org/drawingml/2006/main" prst="ellipse">
            <a:avLst/>
          </a:prstGeom>
          <a:solidFill xmlns:a="http://schemas.openxmlformats.org/drawingml/2006/main">
            <a:srgbClr val="F26A2E"/>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C7061BA8-A4F9-49AB-A238-DA7959B5399C}"/>
              </a:ext>
            </a:extLst>
          </p:cNvPr>
          <p:cNvSpPr>
            <a:spLocks xmlns:a="http://schemas.openxmlformats.org/drawingml/2006/main" noGrp="1"/>
          </p:cNvSpPr>
          <p:nvPr/>
        </p:nvSpPr>
        <p:spPr>
          <a:xfrm xmlns:a="http://schemas.openxmlformats.org/drawingml/2006/main">
            <a:off x="971550" y="7905750"/>
            <a:ext cx="5791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8000"/>
              </a:lnSpc>
              <a:buNone/>
              <a:defRPr sz="1013" b="0" i="0">
                <a:solidFill>
                  <a:srgbClr val="16211D"/>
                </a:solidFill>
                <a:latin typeface="Lato"/>
                <a:ea typeface="Lato"/>
                <a:cs typeface="Lato"/>
              </a:defRPr>
            </a:pPr>
            <a:r>
              <a:rPr sz="1013" b="0" i="0">
                <a:solidFill>
                  <a:srgbClr val="16211D"/>
                </a:solidFill>
                <a:latin typeface="Lato"/>
                <a:ea typeface="Lato"/>
                <a:cs typeface="Lato"/>
              </a:rPr>
              <a:t>Frozen produce can reduce waste and cost.</a:t>
            </a:r>
          </a:p>
        </p:txBody>
      </p:sp>
      <p:sp>
        <p:nvSpPr>
          <p:cNvPr id="40" name="">
            <a:extLst xmlns:a="http://schemas.openxmlformats.org/drawingml/2006/main">
              <a:ext uri="{FF2B5EF4-FFF2-40B4-BE49-F238E27FC236}">
                <a16:creationId xmlns:a16="http://schemas.microsoft.com/office/drawing/2014/main" id="{E9903E99-B6C8-4221-80A8-E47816114A9B}"/>
              </a:ext>
            </a:extLst>
          </p:cNvPr>
          <p:cNvSpPr>
            <a:spLocks xmlns:a="http://schemas.openxmlformats.org/drawingml/2006/main" noGrp="1"/>
          </p:cNvSpPr>
          <p:nvPr/>
        </p:nvSpPr>
        <p:spPr>
          <a:xfrm xmlns:a="http://schemas.openxmlformats.org/drawingml/2006/main">
            <a:off x="762000" y="8315325"/>
            <a:ext cx="95250" cy="95250"/>
          </a:xfrm>
          <a:prstGeom xmlns:a="http://schemas.openxmlformats.org/drawingml/2006/main" prst="ellipse">
            <a:avLst/>
          </a:prstGeom>
          <a:solidFill xmlns:a="http://schemas.openxmlformats.org/drawingml/2006/main">
            <a:srgbClr val="F26A2E"/>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456D55A0-2098-4810-A52C-D429F14FAA1F}"/>
              </a:ext>
            </a:extLst>
          </p:cNvPr>
          <p:cNvSpPr>
            <a:spLocks xmlns:a="http://schemas.openxmlformats.org/drawingml/2006/main" noGrp="1"/>
          </p:cNvSpPr>
          <p:nvPr/>
        </p:nvSpPr>
        <p:spPr>
          <a:xfrm xmlns:a="http://schemas.openxmlformats.org/drawingml/2006/main">
            <a:off x="971550" y="8267700"/>
            <a:ext cx="5791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8000"/>
              </a:lnSpc>
              <a:buNone/>
              <a:defRPr sz="1013" b="0" i="0">
                <a:solidFill>
                  <a:srgbClr val="16211D"/>
                </a:solidFill>
                <a:latin typeface="Lato"/>
                <a:ea typeface="Lato"/>
                <a:cs typeface="Lato"/>
              </a:defRPr>
            </a:pPr>
            <a:r>
              <a:rPr sz="1013" b="0" i="0">
                <a:solidFill>
                  <a:srgbClr val="16211D"/>
                </a:solidFill>
                <a:latin typeface="Lato"/>
                <a:ea typeface="Lato"/>
                <a:cs typeface="Lato"/>
              </a:rPr>
              <a:t>Store-brand staples can be just as useful.</a:t>
            </a:r>
          </a:p>
        </p:txBody>
      </p:sp>
      <p:sp>
        <p:nvSpPr>
          <p:cNvPr id="42" name="">
            <a:extLst xmlns:a="http://schemas.openxmlformats.org/drawingml/2006/main">
              <a:ext uri="{FF2B5EF4-FFF2-40B4-BE49-F238E27FC236}">
                <a16:creationId xmlns:a16="http://schemas.microsoft.com/office/drawing/2014/main" id="{346B71D9-7A21-444C-B375-1431FCF80D66}"/>
              </a:ext>
            </a:extLst>
          </p:cNvPr>
          <p:cNvSpPr>
            <a:spLocks xmlns:a="http://schemas.openxmlformats.org/drawingml/2006/main" noGrp="1"/>
          </p:cNvSpPr>
          <p:nvPr/>
        </p:nvSpPr>
        <p:spPr>
          <a:xfrm xmlns:a="http://schemas.openxmlformats.org/drawingml/2006/main">
            <a:off x="628650" y="8572500"/>
            <a:ext cx="6515100" cy="571500"/>
          </a:xfrm>
          <a:prstGeom xmlns:a="http://schemas.openxmlformats.org/drawingml/2006/main" prst="roundRect">
            <a:avLst>
              <a:gd name="adj" fmla="val 16667"/>
            </a:avLst>
          </a:prstGeom>
          <a:solidFill xmlns:a="http://schemas.openxmlformats.org/drawingml/2006/main">
            <a:srgbClr val="E6F2EC"/>
          </a:solidFill>
          <a:ln xmlns:a="http://schemas.openxmlformats.org/drawingml/2006/main" w="11430">
            <a:solidFill>
              <a:srgbClr val="B8D8C8"/>
            </a:solidFill>
            <a:prstDash val="solid"/>
          </a:ln>
        </p:spPr>
      </p:sp>
      <p:sp>
        <p:nvSpPr>
          <p:cNvPr id="43" name="">
            <a:extLst xmlns:a="http://schemas.openxmlformats.org/drawingml/2006/main">
              <a:ext uri="{FF2B5EF4-FFF2-40B4-BE49-F238E27FC236}">
                <a16:creationId xmlns:a16="http://schemas.microsoft.com/office/drawing/2014/main" id="{AFC41040-160A-42BC-AD98-B1EC636812DA}"/>
              </a:ext>
            </a:extLst>
          </p:cNvPr>
          <p:cNvSpPr>
            <a:spLocks xmlns:a="http://schemas.openxmlformats.org/drawingml/2006/main" noGrp="1"/>
          </p:cNvSpPr>
          <p:nvPr/>
        </p:nvSpPr>
        <p:spPr>
          <a:xfrm xmlns:a="http://schemas.openxmlformats.org/drawingml/2006/main">
            <a:off x="790575" y="87058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975" b="1" i="0">
                <a:solidFill>
                  <a:srgbClr val="034B2F"/>
                </a:solidFill>
                <a:latin typeface="Lato"/>
                <a:ea typeface="Lato"/>
                <a:cs typeface="Lato"/>
              </a:defRPr>
            </a:pPr>
            <a:r>
              <a:rPr sz="975" b="1" i="0">
                <a:solidFill>
                  <a:srgbClr val="034B2F"/>
                </a:solidFill>
                <a:latin typeface="Lato"/>
                <a:ea typeface="Lato"/>
                <a:cs typeface="Lato"/>
              </a:rPr>
              <a:t>Budget note</a:t>
            </a:r>
          </a:p>
        </p:txBody>
      </p:sp>
      <p:sp>
        <p:nvSpPr>
          <p:cNvPr id="44" name="">
            <a:extLst xmlns:a="http://schemas.openxmlformats.org/drawingml/2006/main">
              <a:ext uri="{FF2B5EF4-FFF2-40B4-BE49-F238E27FC236}">
                <a16:creationId xmlns:a16="http://schemas.microsoft.com/office/drawing/2014/main" id="{A47741C6-B348-4436-9466-FCB4EE300881}"/>
              </a:ext>
            </a:extLst>
          </p:cNvPr>
          <p:cNvSpPr>
            <a:spLocks xmlns:a="http://schemas.openxmlformats.org/drawingml/2006/main" noGrp="1"/>
          </p:cNvSpPr>
          <p:nvPr/>
        </p:nvSpPr>
        <p:spPr>
          <a:xfrm xmlns:a="http://schemas.openxmlformats.org/drawingml/2006/main">
            <a:off x="790575" y="8972550"/>
            <a:ext cx="6191250" cy="76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7000"/>
              </a:lnSpc>
              <a:buNone/>
              <a:defRPr sz="900" b="0" i="0">
                <a:solidFill>
                  <a:srgbClr val="16211D"/>
                </a:solidFill>
                <a:latin typeface="Lato"/>
                <a:ea typeface="Lato"/>
                <a:cs typeface="Lato"/>
              </a:defRPr>
            </a:pPr>
            <a:r>
              <a:rPr sz="900" b="0" i="0">
                <a:solidFill>
                  <a:srgbClr val="16211D"/>
                </a:solidFill>
                <a:latin typeface="Lato"/>
                <a:ea typeface="Lato"/>
                <a:cs typeface="Lato"/>
              </a:rPr>
              <a:t>Frozen, canned, dried, and store-brand foods can reduce waste and cost.</a:t>
            </a:r>
          </a:p>
        </p:txBody>
      </p:sp>
    </p:spTree>
    <p:extLst>
      <p:ext uri="{BB962C8B-B14F-4D97-AF65-F5344CB8AC3E}">
        <p14:creationId xmlns:p14="http://schemas.microsoft.com/office/powerpoint/2010/main" val="2057656855"/>
      </p:ext>
    </p:extLst>
  </p:cSld>
</p:sld>
</file>

<file path=ppt/slides/slide19.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7ebbfd8b77914670"/>
          <a:srcRect xmlns:a="http://schemas.openxmlformats.org/drawingml/2006/main" l="699" t="0" r="699" b="0"/>
          <a:stretch xmlns:a="http://schemas.openxmlformats.org/drawingml/2006/main">
            <a:fillRect l="0" t="0" r="0" b="0"/>
          </a:stretch>
        </p:blipFill>
        <p:spPr>
          <a:xfrm xmlns:a="http://schemas.openxmlformats.org/drawingml/2006/main">
            <a:off x="552450" y="285750"/>
            <a:ext cx="257175" cy="276225"/>
          </a:xfrm>
          <a:prstGeom xmlns:a="http://schemas.openxmlformats.org/drawingml/2006/main" prst="roundRect">
            <a:avLst>
              <a:gd name="adj" fmla="val 29630"/>
            </a:avLst>
          </a:prstGeom>
        </p:spPr>
      </p:pic>
      <p:sp>
        <p:nvSpPr>
          <p:cNvPr id="2" name="">
            <a:extLst xmlns:a="http://schemas.openxmlformats.org/drawingml/2006/main">
              <a:ext uri="{FF2B5EF4-FFF2-40B4-BE49-F238E27FC236}">
                <a16:creationId xmlns:a16="http://schemas.microsoft.com/office/drawing/2014/main" id="{DC6EB09B-5133-4336-A64F-E3C68F9A4AA7}"/>
              </a:ext>
            </a:extLst>
          </p:cNvPr>
          <p:cNvSpPr>
            <a:spLocks xmlns:a="http://schemas.openxmlformats.org/drawingml/2006/main" noGrp="1"/>
          </p:cNvSpPr>
          <p:nvPr/>
        </p:nvSpPr>
        <p:spPr>
          <a:xfrm xmlns:a="http://schemas.openxmlformats.org/drawingml/2006/main">
            <a:off x="876300" y="3333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788" b="1" i="0">
                <a:solidFill>
                  <a:srgbClr val="034B2F"/>
                </a:solidFill>
                <a:latin typeface="Lora"/>
                <a:ea typeface="Lora"/>
                <a:cs typeface="Lora"/>
              </a:defRPr>
            </a:pPr>
            <a:r>
              <a:rPr sz="788" b="1" i="0">
                <a:solidFill>
                  <a:srgbClr val="034B2F"/>
                </a:solidFill>
                <a:latin typeface="Lora"/>
                <a:ea typeface="Lora"/>
                <a:cs typeface="Lora"/>
              </a:rPr>
              <a:t>The Mindful Plate</a:t>
            </a:r>
          </a:p>
        </p:txBody>
      </p:sp>
      <p:sp>
        <p:nvSpPr>
          <p:cNvPr id="3" name="">
            <a:extLst xmlns:a="http://schemas.openxmlformats.org/drawingml/2006/main">
              <a:ext uri="{FF2B5EF4-FFF2-40B4-BE49-F238E27FC236}">
                <a16:creationId xmlns:a16="http://schemas.microsoft.com/office/drawing/2014/main" id="{C93552DD-CEE2-4F66-92D3-7D2F2497E319}"/>
              </a:ext>
            </a:extLst>
          </p:cNvPr>
          <p:cNvSpPr>
            <a:spLocks xmlns:a="http://schemas.openxmlformats.org/drawingml/2006/main" noGrp="1"/>
          </p:cNvSpPr>
          <p:nvPr/>
        </p:nvSpPr>
        <p:spPr>
          <a:xfrm xmlns:a="http://schemas.openxmlformats.org/drawingml/2006/main">
            <a:off x="876300" y="485775"/>
            <a:ext cx="2190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660" b="0" i="0">
                <a:solidFill>
                  <a:srgbClr val="5C6C67"/>
                </a:solidFill>
                <a:latin typeface="Lato"/>
                <a:ea typeface="Lato"/>
                <a:cs typeface="Lato"/>
              </a:defRPr>
            </a:pPr>
            <a:r>
              <a:rPr sz="660" b="0" i="0">
                <a:solidFill>
                  <a:srgbClr val="5C6C67"/>
                </a:solidFill>
                <a:latin typeface="Lato"/>
                <a:ea typeface="Lato"/>
                <a:cs typeface="Lato"/>
              </a:rPr>
              <a:t>Questions and myths</a:t>
            </a:r>
          </a:p>
        </p:txBody>
      </p:sp>
      <p:sp>
        <p:nvSpPr>
          <p:cNvPr id="4" name="">
            <a:extLst xmlns:a="http://schemas.openxmlformats.org/drawingml/2006/main">
              <a:ext uri="{FF2B5EF4-FFF2-40B4-BE49-F238E27FC236}">
                <a16:creationId xmlns:a16="http://schemas.microsoft.com/office/drawing/2014/main" id="{82BBE503-1DA8-43AD-94AC-30D7A9FAD01E}"/>
              </a:ext>
            </a:extLst>
          </p:cNvPr>
          <p:cNvSpPr>
            <a:spLocks xmlns:a="http://schemas.openxmlformats.org/drawingml/2006/main" noGrp="1"/>
          </p:cNvSpPr>
          <p:nvPr/>
        </p:nvSpPr>
        <p:spPr>
          <a:xfrm xmlns:a="http://schemas.openxmlformats.org/drawingml/2006/main">
            <a:off x="552450" y="714375"/>
            <a:ext cx="6667500" cy="0"/>
          </a:xfrm>
          <a:prstGeom xmlns:a="http://schemas.openxmlformats.org/drawingml/2006/main" prst="line">
            <a:avLst/>
          </a:prstGeom>
          <a:noFill xmlns:a="http://schemas.openxmlformats.org/drawingml/2006/main"/>
          <a:ln xmlns:a="http://schemas.openxmlformats.org/drawingml/2006/main" w="11430">
            <a:solidFill>
              <a:srgbClr val="D9E2DA"/>
            </a:solidFill>
            <a:prstDash val="solid"/>
          </a:ln>
        </p:spPr>
      </p:sp>
      <p:sp>
        <p:nvSpPr>
          <p:cNvPr id="5" name="">
            <a:extLst xmlns:a="http://schemas.openxmlformats.org/drawingml/2006/main">
              <a:ext uri="{FF2B5EF4-FFF2-40B4-BE49-F238E27FC236}">
                <a16:creationId xmlns:a16="http://schemas.microsoft.com/office/drawing/2014/main" id="{B7BB4A69-D4FA-4D2A-9202-164145334F1A}"/>
              </a:ext>
            </a:extLst>
          </p:cNvPr>
          <p:cNvSpPr>
            <a:spLocks xmlns:a="http://schemas.openxmlformats.org/drawingml/2006/main" noGrp="1"/>
          </p:cNvSpPr>
          <p:nvPr/>
        </p:nvSpPr>
        <p:spPr>
          <a:xfrm xmlns:a="http://schemas.openxmlformats.org/drawingml/2006/main">
            <a:off x="552450" y="9610725"/>
            <a:ext cx="6667500" cy="0"/>
          </a:xfrm>
          <a:prstGeom xmlns:a="http://schemas.openxmlformats.org/drawingml/2006/main" prst="line">
            <a:avLst/>
          </a:prstGeom>
          <a:noFill xmlns:a="http://schemas.openxmlformats.org/drawingml/2006/main"/>
          <a:ln xmlns:a="http://schemas.openxmlformats.org/drawingml/2006/main" w="11430">
            <a:solidFill>
              <a:srgbClr val="D9E2DA"/>
            </a:solidFill>
            <a:prstDash val="solid"/>
          </a:ln>
        </p:spPr>
      </p:sp>
      <p:sp>
        <p:nvSpPr>
          <p:cNvPr id="6" name="">
            <a:extLst xmlns:a="http://schemas.openxmlformats.org/drawingml/2006/main">
              <a:ext uri="{FF2B5EF4-FFF2-40B4-BE49-F238E27FC236}">
                <a16:creationId xmlns:a16="http://schemas.microsoft.com/office/drawing/2014/main" id="{0CA36612-E6FE-45EE-B0CF-84F4EB892E45}"/>
              </a:ext>
            </a:extLst>
          </p:cNvPr>
          <p:cNvSpPr>
            <a:spLocks xmlns:a="http://schemas.openxmlformats.org/drawingml/2006/main" noGrp="1"/>
          </p:cNvSpPr>
          <p:nvPr/>
        </p:nvSpPr>
        <p:spPr>
          <a:xfrm xmlns:a="http://schemas.openxmlformats.org/drawingml/2006/main">
            <a:off x="552450" y="9715500"/>
            <a:ext cx="1762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660" b="0" i="0">
                <a:solidFill>
                  <a:srgbClr val="5C6C67"/>
                </a:solidFill>
                <a:latin typeface="Lato"/>
                <a:ea typeface="Lato"/>
                <a:cs typeface="Lato"/>
              </a:defRPr>
            </a:pPr>
            <a:r>
              <a:rPr sz="660" b="0" i="0">
                <a:solidFill>
                  <a:srgbClr val="5C6C67"/>
                </a:solidFill>
                <a:latin typeface="Lato"/>
                <a:ea typeface="Lato"/>
                <a:cs typeface="Lato"/>
              </a:rPr>
              <a:t>Mindful Diabetes Inc.</a:t>
            </a:r>
          </a:p>
        </p:txBody>
      </p:sp>
      <p:sp>
        <p:nvSpPr>
          <p:cNvPr id="7" name="">
            <a:extLst xmlns:a="http://schemas.openxmlformats.org/drawingml/2006/main">
              <a:ext uri="{FF2B5EF4-FFF2-40B4-BE49-F238E27FC236}">
                <a16:creationId xmlns:a16="http://schemas.microsoft.com/office/drawing/2014/main" id="{64070F38-593E-499A-8F9A-9853E92022F6}"/>
              </a:ext>
            </a:extLst>
          </p:cNvPr>
          <p:cNvSpPr>
            <a:spLocks xmlns:a="http://schemas.openxmlformats.org/drawingml/2006/main" noGrp="1"/>
          </p:cNvSpPr>
          <p:nvPr/>
        </p:nvSpPr>
        <p:spPr>
          <a:xfrm xmlns:a="http://schemas.openxmlformats.org/drawingml/2006/main">
            <a:off x="3162300" y="9715500"/>
            <a:ext cx="14763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lnSpc>
                <a:spcPct val="116000"/>
              </a:lnSpc>
              <a:buNone/>
              <a:defRPr sz="660" b="0" i="0">
                <a:solidFill>
                  <a:srgbClr val="5C6C67"/>
                </a:solidFill>
                <a:latin typeface="Lato"/>
                <a:ea typeface="Lato"/>
                <a:cs typeface="Lato"/>
              </a:defRPr>
            </a:pPr>
            <a:r>
              <a:rPr sz="660" b="0" i="0">
                <a:solidFill>
                  <a:srgbClr val="5C6C67"/>
                </a:solidFill>
                <a:latin typeface="Lato"/>
                <a:ea typeface="Lato"/>
                <a:cs typeface="Lato"/>
              </a:rPr>
              <a:t>mindfuldiabetes.org</a:t>
            </a:r>
          </a:p>
        </p:txBody>
      </p:sp>
      <p:sp>
        <p:nvSpPr>
          <p:cNvPr id="8" name="">
            <a:extLst xmlns:a="http://schemas.openxmlformats.org/drawingml/2006/main">
              <a:ext uri="{FF2B5EF4-FFF2-40B4-BE49-F238E27FC236}">
                <a16:creationId xmlns:a16="http://schemas.microsoft.com/office/drawing/2014/main" id="{B3085652-44F8-402E-AC5C-6068E8B175B3}"/>
              </a:ext>
            </a:extLst>
          </p:cNvPr>
          <p:cNvSpPr>
            <a:spLocks xmlns:a="http://schemas.openxmlformats.org/drawingml/2006/main" noGrp="1"/>
          </p:cNvSpPr>
          <p:nvPr/>
        </p:nvSpPr>
        <p:spPr>
          <a:xfrm xmlns:a="http://schemas.openxmlformats.org/drawingml/2006/main">
            <a:off x="6886575" y="9715500"/>
            <a:ext cx="3333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r">
              <a:lnSpc>
                <a:spcPct val="116000"/>
              </a:lnSpc>
              <a:buNone/>
              <a:defRPr sz="660" b="0" i="0">
                <a:solidFill>
                  <a:srgbClr val="F26A2E"/>
                </a:solidFill>
                <a:latin typeface="Lato"/>
                <a:ea typeface="Lato"/>
                <a:cs typeface="Lato"/>
              </a:defRPr>
            </a:pPr>
            <a:r>
              <a:rPr sz="660" b="0" i="0">
                <a:solidFill>
                  <a:srgbClr val="F26A2E"/>
                </a:solidFill>
                <a:latin typeface="Lato"/>
                <a:ea typeface="Lato"/>
                <a:cs typeface="Lato"/>
              </a:rPr>
              <a:t>19</a:t>
            </a:r>
          </a:p>
        </p:txBody>
      </p:sp>
      <p:sp>
        <p:nvSpPr>
          <p:cNvPr id="9" name="">
            <a:extLst xmlns:a="http://schemas.openxmlformats.org/drawingml/2006/main">
              <a:ext uri="{FF2B5EF4-FFF2-40B4-BE49-F238E27FC236}">
                <a16:creationId xmlns:a16="http://schemas.microsoft.com/office/drawing/2014/main" id="{23119D78-D706-4C8C-A3DD-9130A90288C1}"/>
              </a:ext>
            </a:extLst>
          </p:cNvPr>
          <p:cNvSpPr>
            <a:spLocks xmlns:a="http://schemas.openxmlformats.org/drawingml/2006/main" noGrp="1"/>
          </p:cNvSpPr>
          <p:nvPr/>
        </p:nvSpPr>
        <p:spPr>
          <a:xfrm xmlns:a="http://schemas.openxmlformats.org/drawingml/2006/main">
            <a:off x="628650" y="790575"/>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900" b="1" i="0">
                <a:solidFill>
                  <a:srgbClr val="F26A2E"/>
                </a:solidFill>
                <a:latin typeface="Lato"/>
                <a:ea typeface="Lato"/>
                <a:cs typeface="Lato"/>
              </a:defRPr>
            </a:pPr>
            <a:r>
              <a:rPr sz="900" b="1" i="0">
                <a:solidFill>
                  <a:srgbClr val="F26A2E"/>
                </a:solidFill>
                <a:latin typeface="Lato"/>
                <a:ea typeface="Lato"/>
                <a:cs typeface="Lato"/>
              </a:rPr>
              <a:t>QUESTIONS AND MYTHS</a:t>
            </a:r>
          </a:p>
        </p:txBody>
      </p:sp>
      <p:sp>
        <p:nvSpPr>
          <p:cNvPr id="10" name="">
            <a:extLst xmlns:a="http://schemas.openxmlformats.org/drawingml/2006/main">
              <a:ext uri="{FF2B5EF4-FFF2-40B4-BE49-F238E27FC236}">
                <a16:creationId xmlns:a16="http://schemas.microsoft.com/office/drawing/2014/main" id="{BF928F1F-4730-47EB-A95E-947EB54B7EB9}"/>
              </a:ext>
            </a:extLst>
          </p:cNvPr>
          <p:cNvSpPr>
            <a:spLocks xmlns:a="http://schemas.openxmlformats.org/drawingml/2006/main" noGrp="1"/>
          </p:cNvSpPr>
          <p:nvPr/>
        </p:nvSpPr>
        <p:spPr>
          <a:xfrm xmlns:a="http://schemas.openxmlformats.org/drawingml/2006/main">
            <a:off x="590550" y="1066800"/>
            <a:ext cx="619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03000"/>
              </a:lnSpc>
              <a:buNone/>
              <a:defRPr sz="2550" b="1" i="0">
                <a:solidFill>
                  <a:srgbClr val="192442"/>
                </a:solidFill>
                <a:latin typeface="Lora"/>
                <a:ea typeface="Lora"/>
                <a:cs typeface="Lora"/>
              </a:defRPr>
            </a:pPr>
            <a:r>
              <a:rPr sz="2550" b="1" i="0">
                <a:solidFill>
                  <a:srgbClr val="192442"/>
                </a:solidFill>
                <a:latin typeface="Lora"/>
                <a:ea typeface="Lora"/>
                <a:cs typeface="Lora"/>
              </a:rPr>
              <a:t>A few food questions people ask all the time</a:t>
            </a:r>
          </a:p>
        </p:txBody>
      </p:sp>
      <p:sp>
        <p:nvSpPr>
          <p:cNvPr id="11" name="">
            <a:extLst xmlns:a="http://schemas.openxmlformats.org/drawingml/2006/main">
              <a:ext uri="{FF2B5EF4-FFF2-40B4-BE49-F238E27FC236}">
                <a16:creationId xmlns:a16="http://schemas.microsoft.com/office/drawing/2014/main" id="{E0CD4DF6-E426-4FF4-8363-583F384345B4}"/>
              </a:ext>
            </a:extLst>
          </p:cNvPr>
          <p:cNvSpPr>
            <a:spLocks xmlns:a="http://schemas.openxmlformats.org/drawingml/2006/main" noGrp="1"/>
          </p:cNvSpPr>
          <p:nvPr/>
        </p:nvSpPr>
        <p:spPr>
          <a:xfrm xmlns:a="http://schemas.openxmlformats.org/drawingml/2006/main">
            <a:off x="628650" y="1866900"/>
            <a:ext cx="6381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25000"/>
              </a:lnSpc>
              <a:buNone/>
              <a:defRPr sz="1125" b="0" i="0">
                <a:solidFill>
                  <a:srgbClr val="5C6C67"/>
                </a:solidFill>
                <a:latin typeface="Lato"/>
                <a:ea typeface="Lato"/>
                <a:cs typeface="Lato"/>
              </a:defRPr>
            </a:pPr>
            <a:r>
              <a:rPr sz="1125" b="0" i="0">
                <a:solidFill>
                  <a:srgbClr val="5C6C67"/>
                </a:solidFill>
                <a:latin typeface="Lato"/>
                <a:ea typeface="Lato"/>
                <a:cs typeface="Lato"/>
              </a:rPr>
              <a:t>Food questions are normal because nutrition advice can be noisy. These short answers are designed to reduce fear, not replace personal guidance.</a:t>
            </a:r>
          </a:p>
        </p:txBody>
      </p:sp>
      <p:sp>
        <p:nvSpPr>
          <p:cNvPr id="12" name="">
            <a:extLst xmlns:a="http://schemas.openxmlformats.org/drawingml/2006/main">
              <a:ext uri="{FF2B5EF4-FFF2-40B4-BE49-F238E27FC236}">
                <a16:creationId xmlns:a16="http://schemas.microsoft.com/office/drawing/2014/main" id="{5018C14A-0BBB-4496-8AD3-85475A175DE5}"/>
              </a:ext>
            </a:extLst>
          </p:cNvPr>
          <p:cNvSpPr>
            <a:spLocks xmlns:a="http://schemas.openxmlformats.org/drawingml/2006/main" noGrp="1"/>
          </p:cNvSpPr>
          <p:nvPr/>
        </p:nvSpPr>
        <p:spPr>
          <a:xfrm xmlns:a="http://schemas.openxmlformats.org/drawingml/2006/main">
            <a:off x="628650" y="2857500"/>
            <a:ext cx="6515100" cy="838200"/>
          </a:xfrm>
          <a:prstGeom xmlns:a="http://schemas.openxmlformats.org/drawingml/2006/main" prst="roundRect">
            <a:avLst>
              <a:gd name="adj" fmla="val 11364"/>
            </a:avLst>
          </a:prstGeom>
          <a:solidFill xmlns:a="http://schemas.openxmlformats.org/drawingml/2006/main">
            <a:srgbClr val="FFFFFF"/>
          </a:solidFill>
          <a:ln xmlns:a="http://schemas.openxmlformats.org/drawingml/2006/main" w="11430">
            <a:solidFill>
              <a:srgbClr val="D9E2DA"/>
            </a:solidFill>
            <a:prstDash val="solid"/>
          </a:ln>
        </p:spPr>
      </p:sp>
      <p:sp>
        <p:nvSpPr>
          <p:cNvPr id="13" name="">
            <a:extLst xmlns:a="http://schemas.openxmlformats.org/drawingml/2006/main">
              <a:ext uri="{FF2B5EF4-FFF2-40B4-BE49-F238E27FC236}">
                <a16:creationId xmlns:a16="http://schemas.microsoft.com/office/drawing/2014/main" id="{C2219072-863A-4E15-B46C-CE3359A88EF9}"/>
              </a:ext>
            </a:extLst>
          </p:cNvPr>
          <p:cNvSpPr>
            <a:spLocks xmlns:a="http://schemas.openxmlformats.org/drawingml/2006/main" noGrp="1"/>
          </p:cNvSpPr>
          <p:nvPr/>
        </p:nvSpPr>
        <p:spPr>
          <a:xfrm xmlns:a="http://schemas.openxmlformats.org/drawingml/2006/main">
            <a:off x="781050" y="3048000"/>
            <a:ext cx="190500" cy="190500"/>
          </a:xfrm>
          <a:prstGeom xmlns:a="http://schemas.openxmlformats.org/drawingml/2006/main" prst="ellipse">
            <a:avLst/>
          </a:prstGeom>
          <a:solidFill xmlns:a="http://schemas.openxmlformats.org/drawingml/2006/main">
            <a:srgbClr val="FCE4D8"/>
          </a:solidFill>
          <a:ln xmlns:a="http://schemas.openxmlformats.org/drawingml/2006/main" w="11430">
            <a:solidFill>
              <a:srgbClr val="034B2F"/>
            </a:solidFill>
            <a:prstDash val="solid"/>
          </a:ln>
        </p:spPr>
      </p:sp>
      <p:sp>
        <p:nvSpPr>
          <p:cNvPr id="14" name="">
            <a:extLst xmlns:a="http://schemas.openxmlformats.org/drawingml/2006/main">
              <a:ext uri="{FF2B5EF4-FFF2-40B4-BE49-F238E27FC236}">
                <a16:creationId xmlns:a16="http://schemas.microsoft.com/office/drawing/2014/main" id="{3A4256B2-08D9-4960-B246-D669926D43D7}"/>
              </a:ext>
            </a:extLst>
          </p:cNvPr>
          <p:cNvSpPr>
            <a:spLocks xmlns:a="http://schemas.openxmlformats.org/drawingml/2006/main" noGrp="1"/>
          </p:cNvSpPr>
          <p:nvPr/>
        </p:nvSpPr>
        <p:spPr>
          <a:xfrm xmlns:a="http://schemas.openxmlformats.org/drawingml/2006/main">
            <a:off x="1085850" y="3009900"/>
            <a:ext cx="590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1013" b="1" i="0">
                <a:solidFill>
                  <a:srgbClr val="192442"/>
                </a:solidFill>
                <a:latin typeface="Lato"/>
                <a:ea typeface="Lato"/>
                <a:cs typeface="Lato"/>
              </a:defRPr>
            </a:pPr>
            <a:r>
              <a:rPr sz="1013" b="1" i="0">
                <a:solidFill>
                  <a:srgbClr val="192442"/>
                </a:solidFill>
                <a:latin typeface="Lato"/>
                <a:ea typeface="Lato"/>
                <a:cs typeface="Lato"/>
              </a:rPr>
              <a:t>Do I stop carbohydrates?</a:t>
            </a:r>
          </a:p>
        </p:txBody>
      </p:sp>
      <p:sp>
        <p:nvSpPr>
          <p:cNvPr id="15" name="">
            <a:extLst xmlns:a="http://schemas.openxmlformats.org/drawingml/2006/main">
              <a:ext uri="{FF2B5EF4-FFF2-40B4-BE49-F238E27FC236}">
                <a16:creationId xmlns:a16="http://schemas.microsoft.com/office/drawing/2014/main" id="{E7CDE854-8C20-434E-9D6F-AA1CF8AEDE38}"/>
              </a:ext>
            </a:extLst>
          </p:cNvPr>
          <p:cNvSpPr>
            <a:spLocks xmlns:a="http://schemas.openxmlformats.org/drawingml/2006/main" noGrp="1"/>
          </p:cNvSpPr>
          <p:nvPr/>
        </p:nvSpPr>
        <p:spPr>
          <a:xfrm xmlns:a="http://schemas.openxmlformats.org/drawingml/2006/main">
            <a:off x="1085850" y="3228975"/>
            <a:ext cx="590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0000"/>
              </a:lnSpc>
              <a:buNone/>
              <a:defRPr sz="788" b="0" i="0">
                <a:solidFill>
                  <a:srgbClr val="5C6C67"/>
                </a:solidFill>
                <a:latin typeface="Lato"/>
                <a:ea typeface="Lato"/>
                <a:cs typeface="Lato"/>
              </a:defRPr>
            </a:pPr>
            <a:r>
              <a:rPr sz="788" b="0" i="0">
                <a:solidFill>
                  <a:srgbClr val="5C6C67"/>
                </a:solidFill>
                <a:latin typeface="Lato"/>
                <a:ea typeface="Lato"/>
                <a:cs typeface="Lato"/>
              </a:rPr>
              <a:t>No. Type, amount, and pairing matter.</a:t>
            </a:r>
          </a:p>
        </p:txBody>
      </p:sp>
      <p:sp>
        <p:nvSpPr>
          <p:cNvPr id="16" name="">
            <a:extLst xmlns:a="http://schemas.openxmlformats.org/drawingml/2006/main">
              <a:ext uri="{FF2B5EF4-FFF2-40B4-BE49-F238E27FC236}">
                <a16:creationId xmlns:a16="http://schemas.microsoft.com/office/drawing/2014/main" id="{7B928BBF-4815-4992-B10B-5918AA633FA1}"/>
              </a:ext>
            </a:extLst>
          </p:cNvPr>
          <p:cNvSpPr>
            <a:spLocks xmlns:a="http://schemas.openxmlformats.org/drawingml/2006/main" noGrp="1"/>
          </p:cNvSpPr>
          <p:nvPr/>
        </p:nvSpPr>
        <p:spPr>
          <a:xfrm xmlns:a="http://schemas.openxmlformats.org/drawingml/2006/main">
            <a:off x="628650" y="3867150"/>
            <a:ext cx="6515100" cy="838200"/>
          </a:xfrm>
          <a:prstGeom xmlns:a="http://schemas.openxmlformats.org/drawingml/2006/main" prst="roundRect">
            <a:avLst>
              <a:gd name="adj" fmla="val 11364"/>
            </a:avLst>
          </a:prstGeom>
          <a:solidFill xmlns:a="http://schemas.openxmlformats.org/drawingml/2006/main">
            <a:srgbClr val="FFFFFF"/>
          </a:solidFill>
          <a:ln xmlns:a="http://schemas.openxmlformats.org/drawingml/2006/main" w="11430">
            <a:solidFill>
              <a:srgbClr val="D9E2DA"/>
            </a:solidFill>
            <a:prstDash val="solid"/>
          </a:ln>
        </p:spPr>
      </p:sp>
      <p:sp>
        <p:nvSpPr>
          <p:cNvPr id="17" name="">
            <a:extLst xmlns:a="http://schemas.openxmlformats.org/drawingml/2006/main">
              <a:ext uri="{FF2B5EF4-FFF2-40B4-BE49-F238E27FC236}">
                <a16:creationId xmlns:a16="http://schemas.microsoft.com/office/drawing/2014/main" id="{7449743E-D690-43DA-B14C-65A4EF9F18BE}"/>
              </a:ext>
            </a:extLst>
          </p:cNvPr>
          <p:cNvSpPr>
            <a:spLocks xmlns:a="http://schemas.openxmlformats.org/drawingml/2006/main" noGrp="1"/>
          </p:cNvSpPr>
          <p:nvPr/>
        </p:nvSpPr>
        <p:spPr>
          <a:xfrm xmlns:a="http://schemas.openxmlformats.org/drawingml/2006/main">
            <a:off x="781050" y="4057650"/>
            <a:ext cx="190500" cy="190500"/>
          </a:xfrm>
          <a:prstGeom xmlns:a="http://schemas.openxmlformats.org/drawingml/2006/main" prst="ellipse">
            <a:avLst/>
          </a:prstGeom>
          <a:solidFill xmlns:a="http://schemas.openxmlformats.org/drawingml/2006/main">
            <a:srgbClr val="E6F2EC"/>
          </a:solidFill>
          <a:ln xmlns:a="http://schemas.openxmlformats.org/drawingml/2006/main" w="11430">
            <a:solidFill>
              <a:srgbClr val="034B2F"/>
            </a:solidFill>
            <a:prstDash val="solid"/>
          </a:ln>
        </p:spPr>
      </p:sp>
      <p:sp>
        <p:nvSpPr>
          <p:cNvPr id="18" name="">
            <a:extLst xmlns:a="http://schemas.openxmlformats.org/drawingml/2006/main">
              <a:ext uri="{FF2B5EF4-FFF2-40B4-BE49-F238E27FC236}">
                <a16:creationId xmlns:a16="http://schemas.microsoft.com/office/drawing/2014/main" id="{A23EC700-A7AE-4892-8D4C-FBC27D69B527}"/>
              </a:ext>
            </a:extLst>
          </p:cNvPr>
          <p:cNvSpPr>
            <a:spLocks xmlns:a="http://schemas.openxmlformats.org/drawingml/2006/main" noGrp="1"/>
          </p:cNvSpPr>
          <p:nvPr/>
        </p:nvSpPr>
        <p:spPr>
          <a:xfrm xmlns:a="http://schemas.openxmlformats.org/drawingml/2006/main">
            <a:off x="1085850" y="4019550"/>
            <a:ext cx="590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1013" b="1" i="0">
                <a:solidFill>
                  <a:srgbClr val="192442"/>
                </a:solidFill>
                <a:latin typeface="Lato"/>
                <a:ea typeface="Lato"/>
                <a:cs typeface="Lato"/>
              </a:defRPr>
            </a:pPr>
            <a:r>
              <a:rPr sz="1013" b="1" i="0">
                <a:solidFill>
                  <a:srgbClr val="192442"/>
                </a:solidFill>
                <a:latin typeface="Lato"/>
                <a:ea typeface="Lato"/>
                <a:cs typeface="Lato"/>
              </a:rPr>
              <a:t>Is fruit too sugary?</a:t>
            </a:r>
          </a:p>
        </p:txBody>
      </p:sp>
      <p:sp>
        <p:nvSpPr>
          <p:cNvPr id="19" name="">
            <a:extLst xmlns:a="http://schemas.openxmlformats.org/drawingml/2006/main">
              <a:ext uri="{FF2B5EF4-FFF2-40B4-BE49-F238E27FC236}">
                <a16:creationId xmlns:a16="http://schemas.microsoft.com/office/drawing/2014/main" id="{6FC9042A-C23A-45E3-8749-878DE907AC7B}"/>
              </a:ext>
            </a:extLst>
          </p:cNvPr>
          <p:cNvSpPr>
            <a:spLocks xmlns:a="http://schemas.openxmlformats.org/drawingml/2006/main" noGrp="1"/>
          </p:cNvSpPr>
          <p:nvPr/>
        </p:nvSpPr>
        <p:spPr>
          <a:xfrm xmlns:a="http://schemas.openxmlformats.org/drawingml/2006/main">
            <a:off x="1085850" y="4238625"/>
            <a:ext cx="590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0000"/>
              </a:lnSpc>
              <a:buNone/>
              <a:defRPr sz="788" b="0" i="0">
                <a:solidFill>
                  <a:srgbClr val="5C6C67"/>
                </a:solidFill>
                <a:latin typeface="Lato"/>
                <a:ea typeface="Lato"/>
                <a:cs typeface="Lato"/>
              </a:defRPr>
            </a:pPr>
            <a:r>
              <a:rPr sz="788" b="0" i="0">
                <a:solidFill>
                  <a:srgbClr val="5C6C67"/>
                </a:solidFill>
                <a:latin typeface="Lato"/>
                <a:ea typeface="Lato"/>
                <a:cs typeface="Lato"/>
              </a:rPr>
              <a:t>Whole fruit can fit for many people.</a:t>
            </a:r>
          </a:p>
        </p:txBody>
      </p:sp>
      <p:sp>
        <p:nvSpPr>
          <p:cNvPr id="20" name="">
            <a:extLst xmlns:a="http://schemas.openxmlformats.org/drawingml/2006/main">
              <a:ext uri="{FF2B5EF4-FFF2-40B4-BE49-F238E27FC236}">
                <a16:creationId xmlns:a16="http://schemas.microsoft.com/office/drawing/2014/main" id="{E23C1026-CDF6-4957-A732-651593338FB2}"/>
              </a:ext>
            </a:extLst>
          </p:cNvPr>
          <p:cNvSpPr>
            <a:spLocks xmlns:a="http://schemas.openxmlformats.org/drawingml/2006/main" noGrp="1"/>
          </p:cNvSpPr>
          <p:nvPr/>
        </p:nvSpPr>
        <p:spPr>
          <a:xfrm xmlns:a="http://schemas.openxmlformats.org/drawingml/2006/main">
            <a:off x="628650" y="4876800"/>
            <a:ext cx="6515100" cy="838200"/>
          </a:xfrm>
          <a:prstGeom xmlns:a="http://schemas.openxmlformats.org/drawingml/2006/main" prst="roundRect">
            <a:avLst>
              <a:gd name="adj" fmla="val 11364"/>
            </a:avLst>
          </a:prstGeom>
          <a:solidFill xmlns:a="http://schemas.openxmlformats.org/drawingml/2006/main">
            <a:srgbClr val="FFFFFF"/>
          </a:solidFill>
          <a:ln xmlns:a="http://schemas.openxmlformats.org/drawingml/2006/main" w="11430">
            <a:solidFill>
              <a:srgbClr val="D9E2DA"/>
            </a:solidFill>
            <a:prstDash val="solid"/>
          </a:ln>
        </p:spPr>
      </p:sp>
      <p:sp>
        <p:nvSpPr>
          <p:cNvPr id="21" name="">
            <a:extLst xmlns:a="http://schemas.openxmlformats.org/drawingml/2006/main">
              <a:ext uri="{FF2B5EF4-FFF2-40B4-BE49-F238E27FC236}">
                <a16:creationId xmlns:a16="http://schemas.microsoft.com/office/drawing/2014/main" id="{BE37A060-CA1B-4318-B946-A7E04CCAEC97}"/>
              </a:ext>
            </a:extLst>
          </p:cNvPr>
          <p:cNvSpPr>
            <a:spLocks xmlns:a="http://schemas.openxmlformats.org/drawingml/2006/main" noGrp="1"/>
          </p:cNvSpPr>
          <p:nvPr/>
        </p:nvSpPr>
        <p:spPr>
          <a:xfrm xmlns:a="http://schemas.openxmlformats.org/drawingml/2006/main">
            <a:off x="781050" y="5067300"/>
            <a:ext cx="190500" cy="190500"/>
          </a:xfrm>
          <a:prstGeom xmlns:a="http://schemas.openxmlformats.org/drawingml/2006/main" prst="ellipse">
            <a:avLst/>
          </a:prstGeom>
          <a:solidFill xmlns:a="http://schemas.openxmlformats.org/drawingml/2006/main">
            <a:srgbClr val="EEF7FA"/>
          </a:solidFill>
          <a:ln xmlns:a="http://schemas.openxmlformats.org/drawingml/2006/main" w="11430">
            <a:solidFill>
              <a:srgbClr val="034B2F"/>
            </a:solidFill>
            <a:prstDash val="solid"/>
          </a:ln>
        </p:spPr>
      </p:sp>
      <p:sp>
        <p:nvSpPr>
          <p:cNvPr id="22" name="">
            <a:extLst xmlns:a="http://schemas.openxmlformats.org/drawingml/2006/main">
              <a:ext uri="{FF2B5EF4-FFF2-40B4-BE49-F238E27FC236}">
                <a16:creationId xmlns:a16="http://schemas.microsoft.com/office/drawing/2014/main" id="{D17BE94F-E743-467D-AE86-500BC334222C}"/>
              </a:ext>
            </a:extLst>
          </p:cNvPr>
          <p:cNvSpPr>
            <a:spLocks xmlns:a="http://schemas.openxmlformats.org/drawingml/2006/main" noGrp="1"/>
          </p:cNvSpPr>
          <p:nvPr/>
        </p:nvSpPr>
        <p:spPr>
          <a:xfrm xmlns:a="http://schemas.openxmlformats.org/drawingml/2006/main">
            <a:off x="1085850" y="5029200"/>
            <a:ext cx="590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1013" b="1" i="0">
                <a:solidFill>
                  <a:srgbClr val="192442"/>
                </a:solidFill>
                <a:latin typeface="Lato"/>
                <a:ea typeface="Lato"/>
                <a:cs typeface="Lato"/>
              </a:defRPr>
            </a:pPr>
            <a:r>
              <a:rPr sz="1013" b="1" i="0">
                <a:solidFill>
                  <a:srgbClr val="192442"/>
                </a:solidFill>
                <a:latin typeface="Lato"/>
                <a:ea typeface="Lato"/>
                <a:cs typeface="Lato"/>
              </a:rPr>
              <a:t>Are potatoes forbidden?</a:t>
            </a:r>
          </a:p>
        </p:txBody>
      </p:sp>
      <p:sp>
        <p:nvSpPr>
          <p:cNvPr id="23" name="">
            <a:extLst xmlns:a="http://schemas.openxmlformats.org/drawingml/2006/main">
              <a:ext uri="{FF2B5EF4-FFF2-40B4-BE49-F238E27FC236}">
                <a16:creationId xmlns:a16="http://schemas.microsoft.com/office/drawing/2014/main" id="{E6761409-853E-457F-8EAB-D3EFCFAFA880}"/>
              </a:ext>
            </a:extLst>
          </p:cNvPr>
          <p:cNvSpPr>
            <a:spLocks xmlns:a="http://schemas.openxmlformats.org/drawingml/2006/main" noGrp="1"/>
          </p:cNvSpPr>
          <p:nvPr/>
        </p:nvSpPr>
        <p:spPr>
          <a:xfrm xmlns:a="http://schemas.openxmlformats.org/drawingml/2006/main">
            <a:off x="1085850" y="5248275"/>
            <a:ext cx="590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0000"/>
              </a:lnSpc>
              <a:buNone/>
              <a:defRPr sz="788" b="0" i="0">
                <a:solidFill>
                  <a:srgbClr val="5C6C67"/>
                </a:solidFill>
                <a:latin typeface="Lato"/>
                <a:ea typeface="Lato"/>
                <a:cs typeface="Lato"/>
              </a:defRPr>
            </a:pPr>
            <a:r>
              <a:rPr sz="788" b="0" i="0">
                <a:solidFill>
                  <a:srgbClr val="5C6C67"/>
                </a:solidFill>
                <a:latin typeface="Lato"/>
                <a:ea typeface="Lato"/>
                <a:cs typeface="Lato"/>
              </a:rPr>
              <a:t>No. Preparation and portion matter.</a:t>
            </a:r>
          </a:p>
        </p:txBody>
      </p:sp>
      <p:sp>
        <p:nvSpPr>
          <p:cNvPr id="24" name="">
            <a:extLst xmlns:a="http://schemas.openxmlformats.org/drawingml/2006/main">
              <a:ext uri="{FF2B5EF4-FFF2-40B4-BE49-F238E27FC236}">
                <a16:creationId xmlns:a16="http://schemas.microsoft.com/office/drawing/2014/main" id="{569F20D5-F144-4AC9-B9CB-3D995E00957F}"/>
              </a:ext>
            </a:extLst>
          </p:cNvPr>
          <p:cNvSpPr>
            <a:spLocks xmlns:a="http://schemas.openxmlformats.org/drawingml/2006/main" noGrp="1"/>
          </p:cNvSpPr>
          <p:nvPr/>
        </p:nvSpPr>
        <p:spPr>
          <a:xfrm xmlns:a="http://schemas.openxmlformats.org/drawingml/2006/main">
            <a:off x="628650" y="5886450"/>
            <a:ext cx="6515100" cy="838200"/>
          </a:xfrm>
          <a:prstGeom xmlns:a="http://schemas.openxmlformats.org/drawingml/2006/main" prst="roundRect">
            <a:avLst>
              <a:gd name="adj" fmla="val 11364"/>
            </a:avLst>
          </a:prstGeom>
          <a:solidFill xmlns:a="http://schemas.openxmlformats.org/drawingml/2006/main">
            <a:srgbClr val="FFFFFF"/>
          </a:solidFill>
          <a:ln xmlns:a="http://schemas.openxmlformats.org/drawingml/2006/main" w="11430">
            <a:solidFill>
              <a:srgbClr val="D9E2DA"/>
            </a:solidFill>
            <a:prstDash val="solid"/>
          </a:ln>
        </p:spPr>
      </p:sp>
      <p:sp>
        <p:nvSpPr>
          <p:cNvPr id="25" name="">
            <a:extLst xmlns:a="http://schemas.openxmlformats.org/drawingml/2006/main">
              <a:ext uri="{FF2B5EF4-FFF2-40B4-BE49-F238E27FC236}">
                <a16:creationId xmlns:a16="http://schemas.microsoft.com/office/drawing/2014/main" id="{F875D40F-9AE5-4ACA-805B-8E45580646FC}"/>
              </a:ext>
            </a:extLst>
          </p:cNvPr>
          <p:cNvSpPr>
            <a:spLocks xmlns:a="http://schemas.openxmlformats.org/drawingml/2006/main" noGrp="1"/>
          </p:cNvSpPr>
          <p:nvPr/>
        </p:nvSpPr>
        <p:spPr>
          <a:xfrm xmlns:a="http://schemas.openxmlformats.org/drawingml/2006/main">
            <a:off x="781050" y="6076950"/>
            <a:ext cx="190500" cy="190500"/>
          </a:xfrm>
          <a:prstGeom xmlns:a="http://schemas.openxmlformats.org/drawingml/2006/main" prst="ellipse">
            <a:avLst/>
          </a:prstGeom>
          <a:solidFill xmlns:a="http://schemas.openxmlformats.org/drawingml/2006/main">
            <a:srgbClr val="E6F2EC"/>
          </a:solidFill>
          <a:ln xmlns:a="http://schemas.openxmlformats.org/drawingml/2006/main" w="11430">
            <a:solidFill>
              <a:srgbClr val="034B2F"/>
            </a:solidFill>
            <a:prstDash val="solid"/>
          </a:ln>
        </p:spPr>
      </p:sp>
      <p:sp>
        <p:nvSpPr>
          <p:cNvPr id="26" name="">
            <a:extLst xmlns:a="http://schemas.openxmlformats.org/drawingml/2006/main">
              <a:ext uri="{FF2B5EF4-FFF2-40B4-BE49-F238E27FC236}">
                <a16:creationId xmlns:a16="http://schemas.microsoft.com/office/drawing/2014/main" id="{013D3E2F-D52C-4986-9EB9-FB16342FA5FD}"/>
              </a:ext>
            </a:extLst>
          </p:cNvPr>
          <p:cNvSpPr>
            <a:spLocks xmlns:a="http://schemas.openxmlformats.org/drawingml/2006/main" noGrp="1"/>
          </p:cNvSpPr>
          <p:nvPr/>
        </p:nvSpPr>
        <p:spPr>
          <a:xfrm xmlns:a="http://schemas.openxmlformats.org/drawingml/2006/main">
            <a:off x="1085850" y="6038850"/>
            <a:ext cx="590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1013" b="1" i="0">
                <a:solidFill>
                  <a:srgbClr val="192442"/>
                </a:solidFill>
                <a:latin typeface="Lato"/>
                <a:ea typeface="Lato"/>
                <a:cs typeface="Lato"/>
              </a:defRPr>
            </a:pPr>
            <a:r>
              <a:rPr sz="1013" b="1" i="0">
                <a:solidFill>
                  <a:srgbClr val="192442"/>
                </a:solidFill>
                <a:latin typeface="Lato"/>
                <a:ea typeface="Lato"/>
                <a:cs typeface="Lato"/>
              </a:rPr>
              <a:t>Do I need expensive food?</a:t>
            </a:r>
          </a:p>
        </p:txBody>
      </p:sp>
      <p:sp>
        <p:nvSpPr>
          <p:cNvPr id="27" name="">
            <a:extLst xmlns:a="http://schemas.openxmlformats.org/drawingml/2006/main">
              <a:ext uri="{FF2B5EF4-FFF2-40B4-BE49-F238E27FC236}">
                <a16:creationId xmlns:a16="http://schemas.microsoft.com/office/drawing/2014/main" id="{FABED143-EDBA-4C6D-A160-C129E1579941}"/>
              </a:ext>
            </a:extLst>
          </p:cNvPr>
          <p:cNvSpPr>
            <a:spLocks xmlns:a="http://schemas.openxmlformats.org/drawingml/2006/main" noGrp="1"/>
          </p:cNvSpPr>
          <p:nvPr/>
        </p:nvSpPr>
        <p:spPr>
          <a:xfrm xmlns:a="http://schemas.openxmlformats.org/drawingml/2006/main">
            <a:off x="1085850" y="6257925"/>
            <a:ext cx="590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0000"/>
              </a:lnSpc>
              <a:buNone/>
              <a:defRPr sz="788" b="0" i="0">
                <a:solidFill>
                  <a:srgbClr val="5C6C67"/>
                </a:solidFill>
                <a:latin typeface="Lato"/>
                <a:ea typeface="Lato"/>
                <a:cs typeface="Lato"/>
              </a:defRPr>
            </a:pPr>
            <a:r>
              <a:rPr sz="788" b="0" i="0">
                <a:solidFill>
                  <a:srgbClr val="5C6C67"/>
                </a:solidFill>
                <a:latin typeface="Lato"/>
                <a:ea typeface="Lato"/>
                <a:cs typeface="Lato"/>
              </a:rPr>
              <a:t>No. Basic pantry foods count.</a:t>
            </a:r>
          </a:p>
        </p:txBody>
      </p:sp>
      <p:sp>
        <p:nvSpPr>
          <p:cNvPr id="28" name="">
            <a:extLst xmlns:a="http://schemas.openxmlformats.org/drawingml/2006/main">
              <a:ext uri="{FF2B5EF4-FFF2-40B4-BE49-F238E27FC236}">
                <a16:creationId xmlns:a16="http://schemas.microsoft.com/office/drawing/2014/main" id="{5B6D83BB-5BE9-4ACA-9917-878365C68AC3}"/>
              </a:ext>
            </a:extLst>
          </p:cNvPr>
          <p:cNvSpPr>
            <a:spLocks xmlns:a="http://schemas.openxmlformats.org/drawingml/2006/main" noGrp="1"/>
          </p:cNvSpPr>
          <p:nvPr/>
        </p:nvSpPr>
        <p:spPr>
          <a:xfrm xmlns:a="http://schemas.openxmlformats.org/drawingml/2006/main">
            <a:off x="628650" y="6896100"/>
            <a:ext cx="6515100" cy="838200"/>
          </a:xfrm>
          <a:prstGeom xmlns:a="http://schemas.openxmlformats.org/drawingml/2006/main" prst="roundRect">
            <a:avLst>
              <a:gd name="adj" fmla="val 11364"/>
            </a:avLst>
          </a:prstGeom>
          <a:solidFill xmlns:a="http://schemas.openxmlformats.org/drawingml/2006/main">
            <a:srgbClr val="FFFFFF"/>
          </a:solidFill>
          <a:ln xmlns:a="http://schemas.openxmlformats.org/drawingml/2006/main" w="11430">
            <a:solidFill>
              <a:srgbClr val="D9E2DA"/>
            </a:solidFill>
            <a:prstDash val="solid"/>
          </a:ln>
        </p:spPr>
      </p:sp>
      <p:sp>
        <p:nvSpPr>
          <p:cNvPr id="29" name="">
            <a:extLst xmlns:a="http://schemas.openxmlformats.org/drawingml/2006/main">
              <a:ext uri="{FF2B5EF4-FFF2-40B4-BE49-F238E27FC236}">
                <a16:creationId xmlns:a16="http://schemas.microsoft.com/office/drawing/2014/main" id="{84F19352-57E5-4DA5-86AC-BE9B37525CEF}"/>
              </a:ext>
            </a:extLst>
          </p:cNvPr>
          <p:cNvSpPr>
            <a:spLocks xmlns:a="http://schemas.openxmlformats.org/drawingml/2006/main" noGrp="1"/>
          </p:cNvSpPr>
          <p:nvPr/>
        </p:nvSpPr>
        <p:spPr>
          <a:xfrm xmlns:a="http://schemas.openxmlformats.org/drawingml/2006/main">
            <a:off x="781050" y="7086600"/>
            <a:ext cx="190500" cy="190500"/>
          </a:xfrm>
          <a:prstGeom xmlns:a="http://schemas.openxmlformats.org/drawingml/2006/main" prst="ellipse">
            <a:avLst/>
          </a:prstGeom>
          <a:solidFill xmlns:a="http://schemas.openxmlformats.org/drawingml/2006/main">
            <a:srgbClr val="FCE4D8"/>
          </a:solidFill>
          <a:ln xmlns:a="http://schemas.openxmlformats.org/drawingml/2006/main" w="11430">
            <a:solidFill>
              <a:srgbClr val="034B2F"/>
            </a:solidFill>
            <a:prstDash val="solid"/>
          </a:ln>
        </p:spPr>
      </p:sp>
      <p:sp>
        <p:nvSpPr>
          <p:cNvPr id="30" name="">
            <a:extLst xmlns:a="http://schemas.openxmlformats.org/drawingml/2006/main">
              <a:ext uri="{FF2B5EF4-FFF2-40B4-BE49-F238E27FC236}">
                <a16:creationId xmlns:a16="http://schemas.microsoft.com/office/drawing/2014/main" id="{0F11DB9E-6031-46B9-AF98-8B6BB8ED90A4}"/>
              </a:ext>
            </a:extLst>
          </p:cNvPr>
          <p:cNvSpPr>
            <a:spLocks xmlns:a="http://schemas.openxmlformats.org/drawingml/2006/main" noGrp="1"/>
          </p:cNvSpPr>
          <p:nvPr/>
        </p:nvSpPr>
        <p:spPr>
          <a:xfrm xmlns:a="http://schemas.openxmlformats.org/drawingml/2006/main">
            <a:off x="1085850" y="7048500"/>
            <a:ext cx="590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1013" b="1" i="0">
                <a:solidFill>
                  <a:srgbClr val="192442"/>
                </a:solidFill>
                <a:latin typeface="Lato"/>
                <a:ea typeface="Lato"/>
                <a:cs typeface="Lato"/>
              </a:defRPr>
            </a:pPr>
            <a:r>
              <a:rPr sz="1013" b="1" i="0">
                <a:solidFill>
                  <a:srgbClr val="192442"/>
                </a:solidFill>
                <a:latin typeface="Lato"/>
                <a:ea typeface="Lato"/>
                <a:cs typeface="Lato"/>
              </a:rPr>
              <a:t>Can I keep cultural foods?</a:t>
            </a:r>
          </a:p>
        </p:txBody>
      </p:sp>
      <p:sp>
        <p:nvSpPr>
          <p:cNvPr id="31" name="">
            <a:extLst xmlns:a="http://schemas.openxmlformats.org/drawingml/2006/main">
              <a:ext uri="{FF2B5EF4-FFF2-40B4-BE49-F238E27FC236}">
                <a16:creationId xmlns:a16="http://schemas.microsoft.com/office/drawing/2014/main" id="{124A5268-63AF-4D78-9CE7-33893D8D985C}"/>
              </a:ext>
            </a:extLst>
          </p:cNvPr>
          <p:cNvSpPr>
            <a:spLocks xmlns:a="http://schemas.openxmlformats.org/drawingml/2006/main" noGrp="1"/>
          </p:cNvSpPr>
          <p:nvPr/>
        </p:nvSpPr>
        <p:spPr>
          <a:xfrm xmlns:a="http://schemas.openxmlformats.org/drawingml/2006/main">
            <a:off x="1085850" y="7267575"/>
            <a:ext cx="590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0000"/>
              </a:lnSpc>
              <a:buNone/>
              <a:defRPr sz="788" b="0" i="0">
                <a:solidFill>
                  <a:srgbClr val="5C6C67"/>
                </a:solidFill>
                <a:latin typeface="Lato"/>
                <a:ea typeface="Lato"/>
                <a:cs typeface="Lato"/>
              </a:defRPr>
            </a:pPr>
            <a:r>
              <a:rPr sz="788" b="0" i="0">
                <a:solidFill>
                  <a:srgbClr val="5C6C67"/>
                </a:solidFill>
                <a:latin typeface="Lato"/>
                <a:ea typeface="Lato"/>
                <a:cs typeface="Lato"/>
              </a:rPr>
              <a:t>Yes. Adapt portions, sides, and drinks.</a:t>
            </a:r>
          </a:p>
        </p:txBody>
      </p:sp>
      <p:sp>
        <p:nvSpPr>
          <p:cNvPr id="32" name="">
            <a:extLst xmlns:a="http://schemas.openxmlformats.org/drawingml/2006/main">
              <a:ext uri="{FF2B5EF4-FFF2-40B4-BE49-F238E27FC236}">
                <a16:creationId xmlns:a16="http://schemas.microsoft.com/office/drawing/2014/main" id="{9079D031-E11B-402B-B6EF-9451A469A3AB}"/>
              </a:ext>
            </a:extLst>
          </p:cNvPr>
          <p:cNvSpPr>
            <a:spLocks xmlns:a="http://schemas.openxmlformats.org/drawingml/2006/main" noGrp="1"/>
          </p:cNvSpPr>
          <p:nvPr/>
        </p:nvSpPr>
        <p:spPr>
          <a:xfrm xmlns:a="http://schemas.openxmlformats.org/drawingml/2006/main">
            <a:off x="742950" y="8172450"/>
            <a:ext cx="600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8000"/>
              </a:lnSpc>
              <a:buNone/>
              <a:defRPr sz="1013" b="0" i="0">
                <a:solidFill>
                  <a:srgbClr val="16211D"/>
                </a:solidFill>
                <a:latin typeface="Lato"/>
                <a:ea typeface="Lato"/>
                <a:cs typeface="Lato"/>
              </a:defRPr>
            </a:pPr>
            <a:r>
              <a:rPr sz="1013" b="0" i="0">
                <a:solidFill>
                  <a:srgbClr val="16211D"/>
                </a:solidFill>
                <a:latin typeface="Lato"/>
                <a:ea typeface="Lato"/>
                <a:cs typeface="Lato"/>
              </a:rPr>
              <a:t>If a food question is connected to medication, kidney disease, pregnancy, allergies, gastrointestinal symptoms, or disordered eating, ask for personal guidance.</a:t>
            </a:r>
          </a:p>
        </p:txBody>
      </p:sp>
    </p:spTree>
    <p:extLst>
      <p:ext uri="{BB962C8B-B14F-4D97-AF65-F5344CB8AC3E}">
        <p14:creationId xmlns:p14="http://schemas.microsoft.com/office/powerpoint/2010/main" val="1595125911"/>
      </p:ext>
    </p:extLst>
  </p:cSld>
</p:sld>
</file>

<file path=ppt/slides/slide20.xml><?xml version="1.0" encoding="utf-8"?>
<p:sld xmlns:p="http://schemas.openxmlformats.org/presentationml/2006/main">
  <p:cSld>
    <p:bg>
      <p:bgPr>
        <a:solidFill xmlns:a="http://schemas.openxmlformats.org/drawingml/2006/main">
          <a:srgbClr val="034B2F"/>
        </a:solidFill>
      </p:bgPr>
    </p:bg>
    <p:spTree>
      <p:nvGrpSpPr>
        <p:cNvPr id="1" name=""/>
        <p:cNvGrpSpPr/>
        <p:nvPr/>
      </p:nvGrpSpPr>
      <p:grpSpPr>
        <a:xfrm xmlns:a="http://schemas.openxmlformats.org/drawingml/2006/main"/>
      </p:grpSpPr>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dd27d527d2924f30"/>
          <a:srcRect xmlns:a="http://schemas.openxmlformats.org/drawingml/2006/main" l="699" t="0" r="699" b="0"/>
          <a:stretch xmlns:a="http://schemas.openxmlformats.org/drawingml/2006/main">
            <a:fillRect l="0" t="0" r="0" b="0"/>
          </a:stretch>
        </p:blipFill>
        <p:spPr>
          <a:xfrm xmlns:a="http://schemas.openxmlformats.org/drawingml/2006/main">
            <a:off x="552450" y="285750"/>
            <a:ext cx="257175" cy="276225"/>
          </a:xfrm>
          <a:prstGeom xmlns:a="http://schemas.openxmlformats.org/drawingml/2006/main" prst="roundRect">
            <a:avLst>
              <a:gd name="adj" fmla="val 29630"/>
            </a:avLst>
          </a:prstGeom>
        </p:spPr>
      </p:pic>
      <p:sp>
        <p:nvSpPr>
          <p:cNvPr id="2" name="">
            <a:extLst xmlns:a="http://schemas.openxmlformats.org/drawingml/2006/main">
              <a:ext uri="{FF2B5EF4-FFF2-40B4-BE49-F238E27FC236}">
                <a16:creationId xmlns:a16="http://schemas.microsoft.com/office/drawing/2014/main" id="{BA64740C-3308-424B-8075-FD31140FAD0E}"/>
              </a:ext>
            </a:extLst>
          </p:cNvPr>
          <p:cNvSpPr>
            <a:spLocks xmlns:a="http://schemas.openxmlformats.org/drawingml/2006/main" noGrp="1"/>
          </p:cNvSpPr>
          <p:nvPr/>
        </p:nvSpPr>
        <p:spPr>
          <a:xfrm xmlns:a="http://schemas.openxmlformats.org/drawingml/2006/main">
            <a:off x="876300" y="3333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788" b="1" i="0">
                <a:solidFill>
                  <a:srgbClr val="034B2F"/>
                </a:solidFill>
                <a:latin typeface="Lora"/>
                <a:ea typeface="Lora"/>
                <a:cs typeface="Lora"/>
              </a:defRPr>
            </a:pPr>
            <a:r>
              <a:rPr sz="788" b="1" i="0">
                <a:solidFill>
                  <a:srgbClr val="034B2F"/>
                </a:solidFill>
                <a:latin typeface="Lora"/>
                <a:ea typeface="Lora"/>
                <a:cs typeface="Lora"/>
              </a:rPr>
              <a:t>The Mindful Plate</a:t>
            </a:r>
          </a:p>
        </p:txBody>
      </p:sp>
      <p:sp>
        <p:nvSpPr>
          <p:cNvPr id="3" name="">
            <a:extLst xmlns:a="http://schemas.openxmlformats.org/drawingml/2006/main">
              <a:ext uri="{FF2B5EF4-FFF2-40B4-BE49-F238E27FC236}">
                <a16:creationId xmlns:a16="http://schemas.microsoft.com/office/drawing/2014/main" id="{D3D8840B-1522-44F6-A076-2F4ABA1E5293}"/>
              </a:ext>
            </a:extLst>
          </p:cNvPr>
          <p:cNvSpPr>
            <a:spLocks xmlns:a="http://schemas.openxmlformats.org/drawingml/2006/main" noGrp="1"/>
          </p:cNvSpPr>
          <p:nvPr/>
        </p:nvSpPr>
        <p:spPr>
          <a:xfrm xmlns:a="http://schemas.openxmlformats.org/drawingml/2006/main">
            <a:off x="876300" y="485775"/>
            <a:ext cx="2190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660" b="0" i="0">
                <a:solidFill>
                  <a:srgbClr val="5C6C67"/>
                </a:solidFill>
                <a:latin typeface="Lato"/>
                <a:ea typeface="Lato"/>
                <a:cs typeface="Lato"/>
              </a:defRPr>
            </a:pPr>
            <a:r>
              <a:rPr sz="660" b="0" i="0">
                <a:solidFill>
                  <a:srgbClr val="5C6C67"/>
                </a:solidFill>
                <a:latin typeface="Lato"/>
                <a:ea typeface="Lato"/>
                <a:cs typeface="Lato"/>
              </a:rPr>
              <a:t>Next steps</a:t>
            </a:r>
          </a:p>
        </p:txBody>
      </p:sp>
      <p:sp>
        <p:nvSpPr>
          <p:cNvPr id="4" name="">
            <a:extLst xmlns:a="http://schemas.openxmlformats.org/drawingml/2006/main">
              <a:ext uri="{FF2B5EF4-FFF2-40B4-BE49-F238E27FC236}">
                <a16:creationId xmlns:a16="http://schemas.microsoft.com/office/drawing/2014/main" id="{F428EB79-63A5-4096-ADB8-71B3DABA3246}"/>
              </a:ext>
            </a:extLst>
          </p:cNvPr>
          <p:cNvSpPr>
            <a:spLocks xmlns:a="http://schemas.openxmlformats.org/drawingml/2006/main" noGrp="1"/>
          </p:cNvSpPr>
          <p:nvPr/>
        </p:nvSpPr>
        <p:spPr>
          <a:xfrm xmlns:a="http://schemas.openxmlformats.org/drawingml/2006/main">
            <a:off x="552450" y="714375"/>
            <a:ext cx="6667500" cy="0"/>
          </a:xfrm>
          <a:prstGeom xmlns:a="http://schemas.openxmlformats.org/drawingml/2006/main" prst="line">
            <a:avLst/>
          </a:prstGeom>
          <a:noFill xmlns:a="http://schemas.openxmlformats.org/drawingml/2006/main"/>
          <a:ln xmlns:a="http://schemas.openxmlformats.org/drawingml/2006/main" w="11430">
            <a:solidFill>
              <a:srgbClr val="D9E2DA"/>
            </a:solidFill>
            <a:prstDash val="solid"/>
          </a:ln>
        </p:spPr>
      </p:sp>
      <p:sp>
        <p:nvSpPr>
          <p:cNvPr id="5" name="">
            <a:extLst xmlns:a="http://schemas.openxmlformats.org/drawingml/2006/main">
              <a:ext uri="{FF2B5EF4-FFF2-40B4-BE49-F238E27FC236}">
                <a16:creationId xmlns:a16="http://schemas.microsoft.com/office/drawing/2014/main" id="{71E4412D-F52B-4B8A-8EE7-C325512C19A4}"/>
              </a:ext>
            </a:extLst>
          </p:cNvPr>
          <p:cNvSpPr>
            <a:spLocks xmlns:a="http://schemas.openxmlformats.org/drawingml/2006/main" noGrp="1"/>
          </p:cNvSpPr>
          <p:nvPr/>
        </p:nvSpPr>
        <p:spPr>
          <a:xfrm xmlns:a="http://schemas.openxmlformats.org/drawingml/2006/main">
            <a:off x="552450" y="9610725"/>
            <a:ext cx="6667500" cy="0"/>
          </a:xfrm>
          <a:prstGeom xmlns:a="http://schemas.openxmlformats.org/drawingml/2006/main" prst="line">
            <a:avLst/>
          </a:prstGeom>
          <a:noFill xmlns:a="http://schemas.openxmlformats.org/drawingml/2006/main"/>
          <a:ln xmlns:a="http://schemas.openxmlformats.org/drawingml/2006/main" w="11430">
            <a:solidFill>
              <a:srgbClr val="D9E2DA"/>
            </a:solidFill>
            <a:prstDash val="solid"/>
          </a:ln>
        </p:spPr>
      </p:sp>
      <p:sp>
        <p:nvSpPr>
          <p:cNvPr id="6" name="">
            <a:extLst xmlns:a="http://schemas.openxmlformats.org/drawingml/2006/main">
              <a:ext uri="{FF2B5EF4-FFF2-40B4-BE49-F238E27FC236}">
                <a16:creationId xmlns:a16="http://schemas.microsoft.com/office/drawing/2014/main" id="{A08EF5D7-0C78-4665-830A-BD2D5079EFFF}"/>
              </a:ext>
            </a:extLst>
          </p:cNvPr>
          <p:cNvSpPr>
            <a:spLocks xmlns:a="http://schemas.openxmlformats.org/drawingml/2006/main" noGrp="1"/>
          </p:cNvSpPr>
          <p:nvPr/>
        </p:nvSpPr>
        <p:spPr>
          <a:xfrm xmlns:a="http://schemas.openxmlformats.org/drawingml/2006/main">
            <a:off x="552450" y="9715500"/>
            <a:ext cx="1762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660" b="0" i="0">
                <a:solidFill>
                  <a:srgbClr val="5C6C67"/>
                </a:solidFill>
                <a:latin typeface="Lato"/>
                <a:ea typeface="Lato"/>
                <a:cs typeface="Lato"/>
              </a:defRPr>
            </a:pPr>
            <a:r>
              <a:rPr sz="660" b="0" i="0">
                <a:solidFill>
                  <a:srgbClr val="5C6C67"/>
                </a:solidFill>
                <a:latin typeface="Lato"/>
                <a:ea typeface="Lato"/>
                <a:cs typeface="Lato"/>
              </a:rPr>
              <a:t>Mindful Diabetes Inc.</a:t>
            </a:r>
          </a:p>
        </p:txBody>
      </p:sp>
      <p:sp>
        <p:nvSpPr>
          <p:cNvPr id="7" name="">
            <a:extLst xmlns:a="http://schemas.openxmlformats.org/drawingml/2006/main">
              <a:ext uri="{FF2B5EF4-FFF2-40B4-BE49-F238E27FC236}">
                <a16:creationId xmlns:a16="http://schemas.microsoft.com/office/drawing/2014/main" id="{C5FF0F80-98AD-4E65-819F-C6C21C4B8953}"/>
              </a:ext>
            </a:extLst>
          </p:cNvPr>
          <p:cNvSpPr>
            <a:spLocks xmlns:a="http://schemas.openxmlformats.org/drawingml/2006/main" noGrp="1"/>
          </p:cNvSpPr>
          <p:nvPr/>
        </p:nvSpPr>
        <p:spPr>
          <a:xfrm xmlns:a="http://schemas.openxmlformats.org/drawingml/2006/main">
            <a:off x="3162300" y="9715500"/>
            <a:ext cx="14763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lnSpc>
                <a:spcPct val="116000"/>
              </a:lnSpc>
              <a:buNone/>
              <a:defRPr sz="660" b="0" i="0">
                <a:solidFill>
                  <a:srgbClr val="5C6C67"/>
                </a:solidFill>
                <a:latin typeface="Lato"/>
                <a:ea typeface="Lato"/>
                <a:cs typeface="Lato"/>
              </a:defRPr>
            </a:pPr>
            <a:r>
              <a:rPr sz="660" b="0" i="0">
                <a:solidFill>
                  <a:srgbClr val="5C6C67"/>
                </a:solidFill>
                <a:latin typeface="Lato"/>
                <a:ea typeface="Lato"/>
                <a:cs typeface="Lato"/>
              </a:rPr>
              <a:t>mindfuldiabetes.org</a:t>
            </a:r>
          </a:p>
        </p:txBody>
      </p:sp>
      <p:sp>
        <p:nvSpPr>
          <p:cNvPr id="8" name="">
            <a:extLst xmlns:a="http://schemas.openxmlformats.org/drawingml/2006/main">
              <a:ext uri="{FF2B5EF4-FFF2-40B4-BE49-F238E27FC236}">
                <a16:creationId xmlns:a16="http://schemas.microsoft.com/office/drawing/2014/main" id="{27340861-F88B-4CA6-A82C-AE93A00A47FB}"/>
              </a:ext>
            </a:extLst>
          </p:cNvPr>
          <p:cNvSpPr>
            <a:spLocks xmlns:a="http://schemas.openxmlformats.org/drawingml/2006/main" noGrp="1"/>
          </p:cNvSpPr>
          <p:nvPr/>
        </p:nvSpPr>
        <p:spPr>
          <a:xfrm xmlns:a="http://schemas.openxmlformats.org/drawingml/2006/main">
            <a:off x="6886575" y="9715500"/>
            <a:ext cx="3333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r">
              <a:lnSpc>
                <a:spcPct val="116000"/>
              </a:lnSpc>
              <a:buNone/>
              <a:defRPr sz="660" b="0" i="0">
                <a:solidFill>
                  <a:srgbClr val="F26A2E"/>
                </a:solidFill>
                <a:latin typeface="Lato"/>
                <a:ea typeface="Lato"/>
                <a:cs typeface="Lato"/>
              </a:defRPr>
            </a:pPr>
            <a:r>
              <a:rPr sz="660" b="0" i="0">
                <a:solidFill>
                  <a:srgbClr val="F26A2E"/>
                </a:solidFill>
                <a:latin typeface="Lato"/>
                <a:ea typeface="Lato"/>
                <a:cs typeface="Lato"/>
              </a:rPr>
              <a:t>20</a:t>
            </a:r>
          </a:p>
        </p:txBody>
      </p:sp>
      <p:sp>
        <p:nvSpPr>
          <p:cNvPr id="9" name="">
            <a:extLst xmlns:a="http://schemas.openxmlformats.org/drawingml/2006/main">
              <a:ext uri="{FF2B5EF4-FFF2-40B4-BE49-F238E27FC236}">
                <a16:creationId xmlns:a16="http://schemas.microsoft.com/office/drawing/2014/main" id="{CE224C2F-F9A9-4EDC-82AF-0B1C5F5687B6}"/>
              </a:ext>
            </a:extLst>
          </p:cNvPr>
          <p:cNvSpPr>
            <a:spLocks xmlns:a="http://schemas.openxmlformats.org/drawingml/2006/main" noGrp="1"/>
          </p:cNvSpPr>
          <p:nvPr/>
        </p:nvSpPr>
        <p:spPr>
          <a:xfrm xmlns:a="http://schemas.openxmlformats.org/drawingml/2006/main">
            <a:off x="0" y="0"/>
            <a:ext cx="7772400" cy="10058400"/>
          </a:xfrm>
          <a:prstGeom xmlns:a="http://schemas.openxmlformats.org/drawingml/2006/main" prst="rect">
            <a:avLst/>
          </a:prstGeom>
          <a:solidFill xmlns:a="http://schemas.openxmlformats.org/drawingml/2006/main">
            <a:srgbClr val="034B2F"/>
          </a:solidFill>
          <a:ln xmlns:a="http://schemas.openxmlformats.org/drawingml/2006/main" w="0">
            <a:noFill/>
            <a:prstDash val="solid"/>
          </a:ln>
        </p:spPr>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8dd59fa85b0549ad"/>
          <a:srcRect xmlns:a="http://schemas.openxmlformats.org/drawingml/2006/main" l="463" t="0" r="463" b="0"/>
          <a:stretch xmlns:a="http://schemas.openxmlformats.org/drawingml/2006/main">
            <a:fillRect l="0" t="0" r="0" b="0"/>
          </a:stretch>
        </p:blipFill>
        <p:spPr>
          <a:xfrm xmlns:a="http://schemas.openxmlformats.org/drawingml/2006/main">
            <a:off x="628650" y="666750"/>
            <a:ext cx="552450" cy="590550"/>
          </a:xfrm>
          <a:prstGeom xmlns:a="http://schemas.openxmlformats.org/drawingml/2006/main" prst="roundRect">
            <a:avLst>
              <a:gd name="adj" fmla="val 17241"/>
            </a:avLst>
          </a:prstGeom>
        </p:spPr>
      </p:pic>
      <p:sp>
        <p:nvSpPr>
          <p:cNvPr id="11" name="">
            <a:extLst xmlns:a="http://schemas.openxmlformats.org/drawingml/2006/main">
              <a:ext uri="{FF2B5EF4-FFF2-40B4-BE49-F238E27FC236}">
                <a16:creationId xmlns:a16="http://schemas.microsoft.com/office/drawing/2014/main" id="{388FF6DD-036A-415A-B61A-7AA39E1F947D}"/>
              </a:ext>
            </a:extLst>
          </p:cNvPr>
          <p:cNvSpPr>
            <a:spLocks xmlns:a="http://schemas.openxmlformats.org/drawingml/2006/main" noGrp="1"/>
          </p:cNvSpPr>
          <p:nvPr/>
        </p:nvSpPr>
        <p:spPr>
          <a:xfrm xmlns:a="http://schemas.openxmlformats.org/drawingml/2006/main">
            <a:off x="628650" y="1790700"/>
            <a:ext cx="6096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3600" b="1" i="0">
                <a:solidFill>
                  <a:srgbClr val="FFFFFF"/>
                </a:solidFill>
                <a:latin typeface="Lora"/>
                <a:ea typeface="Lora"/>
                <a:cs typeface="Lora"/>
              </a:defRPr>
            </a:pPr>
            <a:r>
              <a:rPr sz="3600" b="1" i="0">
                <a:solidFill>
                  <a:srgbClr val="FFFFFF"/>
                </a:solidFill>
                <a:latin typeface="Lora"/>
                <a:ea typeface="Lora"/>
                <a:cs typeface="Lora"/>
              </a:rPr>
              <a:t>The Mindful Plate</a:t>
            </a:r>
          </a:p>
        </p:txBody>
      </p:sp>
      <p:sp>
        <p:nvSpPr>
          <p:cNvPr id="12" name="">
            <a:extLst xmlns:a="http://schemas.openxmlformats.org/drawingml/2006/main">
              <a:ext uri="{FF2B5EF4-FFF2-40B4-BE49-F238E27FC236}">
                <a16:creationId xmlns:a16="http://schemas.microsoft.com/office/drawing/2014/main" id="{B2B47FE1-9044-48D8-A21C-8446554A4305}"/>
              </a:ext>
            </a:extLst>
          </p:cNvPr>
          <p:cNvSpPr>
            <a:spLocks xmlns:a="http://schemas.openxmlformats.org/drawingml/2006/main" noGrp="1"/>
          </p:cNvSpPr>
          <p:nvPr/>
        </p:nvSpPr>
        <p:spPr>
          <a:xfrm xmlns:a="http://schemas.openxmlformats.org/drawingml/2006/main">
            <a:off x="666750" y="2647950"/>
            <a:ext cx="5905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20000"/>
              </a:lnSpc>
              <a:buNone/>
              <a:defRPr sz="1275" b="0" i="0">
                <a:solidFill>
                  <a:srgbClr val="E6F2EC"/>
                </a:solidFill>
                <a:latin typeface="Lato"/>
                <a:ea typeface="Lato"/>
                <a:cs typeface="Lato"/>
              </a:defRPr>
            </a:pPr>
            <a:r>
              <a:rPr sz="1275" b="0" i="0">
                <a:solidFill>
                  <a:srgbClr val="E6F2EC"/>
                </a:solidFill>
                <a:latin typeface="Lato"/>
                <a:ea typeface="Lato"/>
                <a:cs typeface="Lato"/>
              </a:rPr>
              <a:t>Pick one page to use this week. You might build one balanced dinner, improve one drink, or complete the meal worksheet.</a:t>
            </a:r>
          </a:p>
        </p:txBody>
      </p:sp>
      <p:sp>
        <p:nvSpPr>
          <p:cNvPr id="13" name="">
            <a:extLst xmlns:a="http://schemas.openxmlformats.org/drawingml/2006/main">
              <a:ext uri="{FF2B5EF4-FFF2-40B4-BE49-F238E27FC236}">
                <a16:creationId xmlns:a16="http://schemas.microsoft.com/office/drawing/2014/main" id="{60A88B9E-542F-4344-A822-4E644A524F08}"/>
              </a:ext>
            </a:extLst>
          </p:cNvPr>
          <p:cNvSpPr>
            <a:spLocks xmlns:a="http://schemas.openxmlformats.org/drawingml/2006/main" noGrp="1"/>
          </p:cNvSpPr>
          <p:nvPr/>
        </p:nvSpPr>
        <p:spPr>
          <a:xfrm xmlns:a="http://schemas.openxmlformats.org/drawingml/2006/main">
            <a:off x="781050" y="3733800"/>
            <a:ext cx="5334000" cy="5334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B49FCF0-CF79-4DA1-9353-B1A182CCB2FE}"/>
              </a:ext>
            </a:extLst>
          </p:cNvPr>
          <p:cNvSpPr>
            <a:spLocks xmlns:a="http://schemas.openxmlformats.org/drawingml/2006/main" noGrp="1"/>
          </p:cNvSpPr>
          <p:nvPr/>
        </p:nvSpPr>
        <p:spPr>
          <a:xfrm xmlns:a="http://schemas.openxmlformats.org/drawingml/2006/main">
            <a:off x="1028700" y="3867150"/>
            <a:ext cx="2143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1125" b="1" i="0">
                <a:solidFill>
                  <a:srgbClr val="034B2F"/>
                </a:solidFill>
                <a:latin typeface="Lato"/>
                <a:ea typeface="Lato"/>
                <a:cs typeface="Lato"/>
              </a:defRPr>
            </a:pPr>
            <a:r>
              <a:rPr sz="1125" b="1" i="0">
                <a:solidFill>
                  <a:srgbClr val="034B2F"/>
                </a:solidFill>
                <a:latin typeface="Lato"/>
                <a:ea typeface="Lato"/>
                <a:cs typeface="Lato"/>
              </a:rPr>
              <a:t>Explore free guides</a:t>
            </a:r>
          </a:p>
        </p:txBody>
      </p:sp>
      <p:sp>
        <p:nvSpPr>
          <p:cNvPr id="15" name="">
            <a:extLst xmlns:a="http://schemas.openxmlformats.org/drawingml/2006/main">
              <a:ext uri="{FF2B5EF4-FFF2-40B4-BE49-F238E27FC236}">
                <a16:creationId xmlns:a16="http://schemas.microsoft.com/office/drawing/2014/main" id="{72B79475-87E7-4630-A253-274B9794CD9B}"/>
              </a:ext>
            </a:extLst>
          </p:cNvPr>
          <p:cNvSpPr>
            <a:spLocks xmlns:a="http://schemas.openxmlformats.org/drawingml/2006/main" noGrp="1"/>
          </p:cNvSpPr>
          <p:nvPr/>
        </p:nvSpPr>
        <p:spPr>
          <a:xfrm xmlns:a="http://schemas.openxmlformats.org/drawingml/2006/main">
            <a:off x="3390900" y="3876675"/>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r">
              <a:lnSpc>
                <a:spcPct val="116000"/>
              </a:lnSpc>
              <a:buNone/>
              <a:defRPr sz="900" b="0" i="0">
                <a:solidFill>
                  <a:srgbClr val="5C6C67"/>
                </a:solidFill>
                <a:latin typeface="Lato"/>
                <a:ea typeface="Lato"/>
                <a:cs typeface="Lato"/>
              </a:defRPr>
            </a:pPr>
            <a:r>
              <a:rPr sz="900" b="0" i="0">
                <a:solidFill>
                  <a:srgbClr val="5C6C67"/>
                </a:solidFill>
                <a:latin typeface="Lato"/>
                <a:ea typeface="Lato"/>
                <a:cs typeface="Lato"/>
              </a:rPr>
              <a:t>mindfuldiabetes.org/free-guides/</a:t>
            </a:r>
          </a:p>
        </p:txBody>
      </p:sp>
      <p:sp>
        <p:nvSpPr>
          <p:cNvPr id="16" name="">
            <a:extLst xmlns:a="http://schemas.openxmlformats.org/drawingml/2006/main">
              <a:ext uri="{FF2B5EF4-FFF2-40B4-BE49-F238E27FC236}">
                <a16:creationId xmlns:a16="http://schemas.microsoft.com/office/drawing/2014/main" id="{875D74DA-0AF7-463E-B678-EBA4C7B10F47}"/>
              </a:ext>
            </a:extLst>
          </p:cNvPr>
          <p:cNvSpPr>
            <a:spLocks xmlns:a="http://schemas.openxmlformats.org/drawingml/2006/main" noGrp="1"/>
          </p:cNvSpPr>
          <p:nvPr/>
        </p:nvSpPr>
        <p:spPr>
          <a:xfrm xmlns:a="http://schemas.openxmlformats.org/drawingml/2006/main">
            <a:off x="781050" y="4610100"/>
            <a:ext cx="5334000" cy="5334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A2EF491-6C20-47F6-A43D-EA715111FA59}"/>
              </a:ext>
            </a:extLst>
          </p:cNvPr>
          <p:cNvSpPr>
            <a:spLocks xmlns:a="http://schemas.openxmlformats.org/drawingml/2006/main" noGrp="1"/>
          </p:cNvSpPr>
          <p:nvPr/>
        </p:nvSpPr>
        <p:spPr>
          <a:xfrm xmlns:a="http://schemas.openxmlformats.org/drawingml/2006/main">
            <a:off x="1028700" y="4743450"/>
            <a:ext cx="2143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1125" b="1" i="0">
                <a:solidFill>
                  <a:srgbClr val="034B2F"/>
                </a:solidFill>
                <a:latin typeface="Lato"/>
                <a:ea typeface="Lato"/>
                <a:cs typeface="Lato"/>
              </a:defRPr>
            </a:pPr>
            <a:r>
              <a:rPr sz="1125" b="1" i="0">
                <a:solidFill>
                  <a:srgbClr val="034B2F"/>
                </a:solidFill>
                <a:latin typeface="Lato"/>
                <a:ea typeface="Lato"/>
                <a:cs typeface="Lato"/>
              </a:rPr>
              <a:t>Join the newsletter</a:t>
            </a:r>
          </a:p>
        </p:txBody>
      </p:sp>
      <p:sp>
        <p:nvSpPr>
          <p:cNvPr id="18" name="">
            <a:extLst xmlns:a="http://schemas.openxmlformats.org/drawingml/2006/main">
              <a:ext uri="{FF2B5EF4-FFF2-40B4-BE49-F238E27FC236}">
                <a16:creationId xmlns:a16="http://schemas.microsoft.com/office/drawing/2014/main" id="{2D84E3F5-FBD9-448F-AFDA-6792396D12B4}"/>
              </a:ext>
            </a:extLst>
          </p:cNvPr>
          <p:cNvSpPr>
            <a:spLocks xmlns:a="http://schemas.openxmlformats.org/drawingml/2006/main" noGrp="1"/>
          </p:cNvSpPr>
          <p:nvPr/>
        </p:nvSpPr>
        <p:spPr>
          <a:xfrm xmlns:a="http://schemas.openxmlformats.org/drawingml/2006/main">
            <a:off x="3390900" y="4752975"/>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r">
              <a:lnSpc>
                <a:spcPct val="116000"/>
              </a:lnSpc>
              <a:buNone/>
              <a:defRPr sz="900" b="0" i="0">
                <a:solidFill>
                  <a:srgbClr val="5C6C67"/>
                </a:solidFill>
                <a:latin typeface="Lato"/>
                <a:ea typeface="Lato"/>
                <a:cs typeface="Lato"/>
              </a:defRPr>
            </a:pPr>
            <a:r>
              <a:rPr sz="900" b="0" i="0">
                <a:solidFill>
                  <a:srgbClr val="5C6C67"/>
                </a:solidFill>
                <a:latin typeface="Lato"/>
                <a:ea typeface="Lato"/>
                <a:cs typeface="Lato"/>
              </a:rPr>
              <a:t>mindfuldiabetes.org/newsletter/</a:t>
            </a:r>
          </a:p>
        </p:txBody>
      </p:sp>
      <p:sp>
        <p:nvSpPr>
          <p:cNvPr id="19" name="">
            <a:extLst xmlns:a="http://schemas.openxmlformats.org/drawingml/2006/main">
              <a:ext uri="{FF2B5EF4-FFF2-40B4-BE49-F238E27FC236}">
                <a16:creationId xmlns:a16="http://schemas.microsoft.com/office/drawing/2014/main" id="{250F52E8-DCB2-4232-ABBD-082CB83A1AC6}"/>
              </a:ext>
            </a:extLst>
          </p:cNvPr>
          <p:cNvSpPr>
            <a:spLocks xmlns:a="http://schemas.openxmlformats.org/drawingml/2006/main" noGrp="1"/>
          </p:cNvSpPr>
          <p:nvPr/>
        </p:nvSpPr>
        <p:spPr>
          <a:xfrm xmlns:a="http://schemas.openxmlformats.org/drawingml/2006/main">
            <a:off x="781050" y="5486400"/>
            <a:ext cx="5334000" cy="5334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4DB01DC-685A-4EEB-8926-BAA8DBCF7E13}"/>
              </a:ext>
            </a:extLst>
          </p:cNvPr>
          <p:cNvSpPr>
            <a:spLocks xmlns:a="http://schemas.openxmlformats.org/drawingml/2006/main" noGrp="1"/>
          </p:cNvSpPr>
          <p:nvPr/>
        </p:nvSpPr>
        <p:spPr>
          <a:xfrm xmlns:a="http://schemas.openxmlformats.org/drawingml/2006/main">
            <a:off x="1028700" y="5619750"/>
            <a:ext cx="2143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1125" b="1" i="0">
                <a:solidFill>
                  <a:srgbClr val="034B2F"/>
                </a:solidFill>
                <a:latin typeface="Lato"/>
                <a:ea typeface="Lato"/>
                <a:cs typeface="Lato"/>
              </a:defRPr>
            </a:pPr>
            <a:r>
              <a:rPr sz="1125" b="1" i="0">
                <a:solidFill>
                  <a:srgbClr val="034B2F"/>
                </a:solidFill>
                <a:latin typeface="Lato"/>
                <a:ea typeface="Lato"/>
                <a:cs typeface="Lato"/>
              </a:rPr>
              <a:t>Visit Health Tools</a:t>
            </a:r>
          </a:p>
        </p:txBody>
      </p:sp>
      <p:sp>
        <p:nvSpPr>
          <p:cNvPr id="21" name="">
            <a:extLst xmlns:a="http://schemas.openxmlformats.org/drawingml/2006/main">
              <a:ext uri="{FF2B5EF4-FFF2-40B4-BE49-F238E27FC236}">
                <a16:creationId xmlns:a16="http://schemas.microsoft.com/office/drawing/2014/main" id="{B8A556DC-299E-4D47-85D2-4BA694049F48}"/>
              </a:ext>
            </a:extLst>
          </p:cNvPr>
          <p:cNvSpPr>
            <a:spLocks xmlns:a="http://schemas.openxmlformats.org/drawingml/2006/main" noGrp="1"/>
          </p:cNvSpPr>
          <p:nvPr/>
        </p:nvSpPr>
        <p:spPr>
          <a:xfrm xmlns:a="http://schemas.openxmlformats.org/drawingml/2006/main">
            <a:off x="3390900" y="5629275"/>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r">
              <a:lnSpc>
                <a:spcPct val="116000"/>
              </a:lnSpc>
              <a:buNone/>
              <a:defRPr sz="900" b="0" i="0">
                <a:solidFill>
                  <a:srgbClr val="5C6C67"/>
                </a:solidFill>
                <a:latin typeface="Lato"/>
                <a:ea typeface="Lato"/>
                <a:cs typeface="Lato"/>
              </a:defRPr>
            </a:pPr>
            <a:r>
              <a:rPr sz="900" b="0" i="0">
                <a:solidFill>
                  <a:srgbClr val="5C6C67"/>
                </a:solidFill>
                <a:latin typeface="Lato"/>
                <a:ea typeface="Lato"/>
                <a:cs typeface="Lato"/>
              </a:rPr>
              <a:t>mindfuldiabetes.org/health-tools/</a:t>
            </a:r>
          </a:p>
        </p:txBody>
      </p:sp>
      <p:sp>
        <p:nvSpPr>
          <p:cNvPr id="22" name="">
            <a:extLst xmlns:a="http://schemas.openxmlformats.org/drawingml/2006/main">
              <a:ext uri="{FF2B5EF4-FFF2-40B4-BE49-F238E27FC236}">
                <a16:creationId xmlns:a16="http://schemas.microsoft.com/office/drawing/2014/main" id="{95DF5858-8FC1-4033-9A29-3A5EEFC14CC4}"/>
              </a:ext>
            </a:extLst>
          </p:cNvPr>
          <p:cNvSpPr>
            <a:spLocks xmlns:a="http://schemas.openxmlformats.org/drawingml/2006/main" noGrp="1"/>
          </p:cNvSpPr>
          <p:nvPr/>
        </p:nvSpPr>
        <p:spPr>
          <a:xfrm xmlns:a="http://schemas.openxmlformats.org/drawingml/2006/main">
            <a:off x="781050" y="6362700"/>
            <a:ext cx="5334000" cy="533400"/>
          </a:xfrm>
          <a:prstGeom xmlns:a="http://schemas.openxmlformats.org/drawingml/2006/main" prst="roundRect">
            <a:avLst>
              <a:gd name="adj" fmla="val 25000"/>
            </a:avLst>
          </a:prstGeom>
          <a:solidFill xmlns:a="http://schemas.openxmlformats.org/drawingml/2006/main">
            <a:srgbClr val="F26A2E"/>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916EC522-7A87-47EF-AC62-D563AF65BA95}"/>
              </a:ext>
            </a:extLst>
          </p:cNvPr>
          <p:cNvSpPr>
            <a:spLocks xmlns:a="http://schemas.openxmlformats.org/drawingml/2006/main" noGrp="1"/>
          </p:cNvSpPr>
          <p:nvPr/>
        </p:nvSpPr>
        <p:spPr>
          <a:xfrm xmlns:a="http://schemas.openxmlformats.org/drawingml/2006/main">
            <a:off x="1028700" y="6496050"/>
            <a:ext cx="2143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1125" b="1" i="0">
                <a:solidFill>
                  <a:srgbClr val="FFFFFF"/>
                </a:solidFill>
                <a:latin typeface="Lato"/>
                <a:ea typeface="Lato"/>
                <a:cs typeface="Lato"/>
              </a:defRPr>
            </a:pPr>
            <a:r>
              <a:rPr sz="1125" b="1" i="0">
                <a:solidFill>
                  <a:srgbClr val="FFFFFF"/>
                </a:solidFill>
                <a:latin typeface="Lato"/>
                <a:ea typeface="Lato"/>
                <a:cs typeface="Lato"/>
              </a:rPr>
              <a:t>Support free education</a:t>
            </a:r>
          </a:p>
        </p:txBody>
      </p:sp>
      <p:sp>
        <p:nvSpPr>
          <p:cNvPr id="24" name="">
            <a:extLst xmlns:a="http://schemas.openxmlformats.org/drawingml/2006/main">
              <a:ext uri="{FF2B5EF4-FFF2-40B4-BE49-F238E27FC236}">
                <a16:creationId xmlns:a16="http://schemas.microsoft.com/office/drawing/2014/main" id="{2541A287-7E09-4DD9-AE7A-ECA30F3E7BE4}"/>
              </a:ext>
            </a:extLst>
          </p:cNvPr>
          <p:cNvSpPr>
            <a:spLocks xmlns:a="http://schemas.openxmlformats.org/drawingml/2006/main" noGrp="1"/>
          </p:cNvSpPr>
          <p:nvPr/>
        </p:nvSpPr>
        <p:spPr>
          <a:xfrm xmlns:a="http://schemas.openxmlformats.org/drawingml/2006/main">
            <a:off x="3390900" y="6505575"/>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r">
              <a:lnSpc>
                <a:spcPct val="116000"/>
              </a:lnSpc>
              <a:buNone/>
              <a:defRPr sz="900" b="0" i="0">
                <a:solidFill>
                  <a:srgbClr val="FFF4EC"/>
                </a:solidFill>
                <a:latin typeface="Lato"/>
                <a:ea typeface="Lato"/>
                <a:cs typeface="Lato"/>
              </a:defRPr>
            </a:pPr>
            <a:r>
              <a:rPr sz="900" b="0" i="0">
                <a:solidFill>
                  <a:srgbClr val="FFF4EC"/>
                </a:solidFill>
                <a:latin typeface="Lato"/>
                <a:ea typeface="Lato"/>
                <a:cs typeface="Lato"/>
              </a:rPr>
              <a:t>mindfuldiabetes.org/donation/</a:t>
            </a:r>
          </a:p>
        </p:txBody>
      </p:sp>
      <p:sp>
        <p:nvSpPr>
          <p:cNvPr id="25" name="">
            <a:extLst xmlns:a="http://schemas.openxmlformats.org/drawingml/2006/main">
              <a:ext uri="{FF2B5EF4-FFF2-40B4-BE49-F238E27FC236}">
                <a16:creationId xmlns:a16="http://schemas.microsoft.com/office/drawing/2014/main" id="{DB93F328-2ECD-4902-8519-8D302AB5921C}"/>
              </a:ext>
            </a:extLst>
          </p:cNvPr>
          <p:cNvSpPr>
            <a:spLocks xmlns:a="http://schemas.openxmlformats.org/drawingml/2006/main" noGrp="1"/>
          </p:cNvSpPr>
          <p:nvPr/>
        </p:nvSpPr>
        <p:spPr>
          <a:xfrm xmlns:a="http://schemas.openxmlformats.org/drawingml/2006/main">
            <a:off x="781050" y="7543800"/>
            <a:ext cx="5334000" cy="838200"/>
          </a:xfrm>
          <a:prstGeom xmlns:a="http://schemas.openxmlformats.org/drawingml/2006/main" prst="roundRect">
            <a:avLst>
              <a:gd name="adj" fmla="val 11364"/>
            </a:avLst>
          </a:prstGeom>
          <a:solidFill xmlns:a="http://schemas.openxmlformats.org/drawingml/2006/main">
            <a:srgbClr val="FCE4D8"/>
          </a:solidFill>
          <a:ln xmlns:a="http://schemas.openxmlformats.org/drawingml/2006/main" w="11430">
            <a:solidFill>
              <a:srgbClr val="F3B499"/>
            </a:solidFill>
            <a:prstDash val="solid"/>
          </a:ln>
        </p:spPr>
      </p:sp>
      <p:sp>
        <p:nvSpPr>
          <p:cNvPr id="26" name="">
            <a:extLst xmlns:a="http://schemas.openxmlformats.org/drawingml/2006/main">
              <a:ext uri="{FF2B5EF4-FFF2-40B4-BE49-F238E27FC236}">
                <a16:creationId xmlns:a16="http://schemas.microsoft.com/office/drawing/2014/main" id="{4E6F805D-3AC9-4E1D-80F3-2F53B7E9D678}"/>
              </a:ext>
            </a:extLst>
          </p:cNvPr>
          <p:cNvSpPr>
            <a:spLocks xmlns:a="http://schemas.openxmlformats.org/drawingml/2006/main" noGrp="1"/>
          </p:cNvSpPr>
          <p:nvPr/>
        </p:nvSpPr>
        <p:spPr>
          <a:xfrm xmlns:a="http://schemas.openxmlformats.org/drawingml/2006/main">
            <a:off x="942975" y="7677150"/>
            <a:ext cx="5010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975" b="1" i="0">
                <a:solidFill>
                  <a:srgbClr val="8F3519"/>
                </a:solidFill>
                <a:latin typeface="Lato"/>
                <a:ea typeface="Lato"/>
                <a:cs typeface="Lato"/>
              </a:defRPr>
            </a:pPr>
            <a:r>
              <a:rPr sz="975" b="1" i="0">
                <a:solidFill>
                  <a:srgbClr val="8F3519"/>
                </a:solidFill>
                <a:latin typeface="Lato"/>
                <a:ea typeface="Lato"/>
                <a:cs typeface="Lato"/>
              </a:rPr>
              <a:t>Medical disclaimer</a:t>
            </a:r>
          </a:p>
        </p:txBody>
      </p:sp>
      <p:sp>
        <p:nvSpPr>
          <p:cNvPr id="27" name="">
            <a:extLst xmlns:a="http://schemas.openxmlformats.org/drawingml/2006/main">
              <a:ext uri="{FF2B5EF4-FFF2-40B4-BE49-F238E27FC236}">
                <a16:creationId xmlns:a16="http://schemas.microsoft.com/office/drawing/2014/main" id="{FF8CEB57-1FF8-435C-B9CF-AE61AE562290}"/>
              </a:ext>
            </a:extLst>
          </p:cNvPr>
          <p:cNvSpPr>
            <a:spLocks xmlns:a="http://schemas.openxmlformats.org/drawingml/2006/main" noGrp="1"/>
          </p:cNvSpPr>
          <p:nvPr/>
        </p:nvSpPr>
        <p:spPr>
          <a:xfrm xmlns:a="http://schemas.openxmlformats.org/drawingml/2006/main">
            <a:off x="942975" y="7943850"/>
            <a:ext cx="5010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7000"/>
              </a:lnSpc>
              <a:buNone/>
              <a:defRPr sz="900" b="0" i="0">
                <a:solidFill>
                  <a:srgbClr val="16211D"/>
                </a:solidFill>
                <a:latin typeface="Lato"/>
                <a:ea typeface="Lato"/>
                <a:cs typeface="Lato"/>
              </a:defRPr>
            </a:pPr>
            <a:r>
              <a:rPr sz="900" b="0" i="0">
                <a:solidFill>
                  <a:srgbClr val="16211D"/>
                </a:solidFill>
                <a:latin typeface="Lato"/>
                <a:ea typeface="Lato"/>
                <a:cs typeface="Lato"/>
              </a:rPr>
              <a:t>This guide is general education, not medical advice, diagnosis, or treatment. Do not change medication, insulin, or glucose targets based on this guide.</a:t>
            </a:r>
          </a:p>
        </p:txBody>
      </p:sp>
      <p:sp>
        <p:nvSpPr>
          <p:cNvPr id="28" name="">
            <a:extLst xmlns:a="http://schemas.openxmlformats.org/drawingml/2006/main">
              <a:ext uri="{FF2B5EF4-FFF2-40B4-BE49-F238E27FC236}">
                <a16:creationId xmlns:a16="http://schemas.microsoft.com/office/drawing/2014/main" id="{4DC9AAD6-9372-4E41-8957-C344C70E7A84}"/>
              </a:ext>
            </a:extLst>
          </p:cNvPr>
          <p:cNvSpPr>
            <a:spLocks xmlns:a="http://schemas.openxmlformats.org/drawingml/2006/main" noGrp="1"/>
          </p:cNvSpPr>
          <p:nvPr/>
        </p:nvSpPr>
        <p:spPr>
          <a:xfrm xmlns:a="http://schemas.openxmlformats.org/drawingml/2006/main">
            <a:off x="781050" y="89725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863" b="0" i="0">
                <a:solidFill>
                  <a:srgbClr val="DDEBE5"/>
                </a:solidFill>
                <a:latin typeface="Lato"/>
                <a:ea typeface="Lato"/>
                <a:cs typeface="Lato"/>
              </a:defRPr>
            </a:pPr>
            <a:r>
              <a:rPr sz="863" b="0" i="0">
                <a:solidFill>
                  <a:srgbClr val="DDEBE5"/>
                </a:solidFill>
                <a:latin typeface="Lato"/>
                <a:ea typeface="Lato"/>
                <a:cs typeface="Lato"/>
              </a:rPr>
              <a:t>Mindful Diabetes Inc. | 501(c)(3) nonprofit | Free to share for education</a:t>
            </a:r>
          </a:p>
        </p:txBody>
      </p:sp>
    </p:spTree>
    <p:extLst>
      <p:ext uri="{BB962C8B-B14F-4D97-AF65-F5344CB8AC3E}">
        <p14:creationId xmlns:p14="http://schemas.microsoft.com/office/powerpoint/2010/main" val="393906789"/>
      </p:ext>
    </p:extLst>
  </p:cSld>
</p:sld>
</file>

<file path=ppt/slides/slide21.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f353d69c587d4a96"/>
          <a:srcRect xmlns:a="http://schemas.openxmlformats.org/drawingml/2006/main" l="699" t="0" r="699" b="0"/>
          <a:stretch xmlns:a="http://schemas.openxmlformats.org/drawingml/2006/main">
            <a:fillRect l="0" t="0" r="0" b="0"/>
          </a:stretch>
        </p:blipFill>
        <p:spPr>
          <a:xfrm xmlns:a="http://schemas.openxmlformats.org/drawingml/2006/main">
            <a:off x="552450" y="285750"/>
            <a:ext cx="257175" cy="276225"/>
          </a:xfrm>
          <a:prstGeom xmlns:a="http://schemas.openxmlformats.org/drawingml/2006/main" prst="roundRect">
            <a:avLst>
              <a:gd name="adj" fmla="val 29630"/>
            </a:avLst>
          </a:prstGeom>
        </p:spPr>
      </p:pic>
      <p:sp>
        <p:nvSpPr>
          <p:cNvPr id="2" name="">
            <a:extLst xmlns:a="http://schemas.openxmlformats.org/drawingml/2006/main">
              <a:ext uri="{FF2B5EF4-FFF2-40B4-BE49-F238E27FC236}">
                <a16:creationId xmlns:a16="http://schemas.microsoft.com/office/drawing/2014/main" id="{7970C640-803D-4D0E-9497-28A6186C01DE}"/>
              </a:ext>
            </a:extLst>
          </p:cNvPr>
          <p:cNvSpPr>
            <a:spLocks xmlns:a="http://schemas.openxmlformats.org/drawingml/2006/main" noGrp="1"/>
          </p:cNvSpPr>
          <p:nvPr/>
        </p:nvSpPr>
        <p:spPr>
          <a:xfrm xmlns:a="http://schemas.openxmlformats.org/drawingml/2006/main">
            <a:off x="876300" y="3333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788" b="1" i="0">
                <a:solidFill>
                  <a:srgbClr val="034B2F"/>
                </a:solidFill>
                <a:latin typeface="Lora"/>
                <a:ea typeface="Lora"/>
                <a:cs typeface="Lora"/>
              </a:defRPr>
            </a:pPr>
            <a:r>
              <a:rPr sz="788" b="1" i="0">
                <a:solidFill>
                  <a:srgbClr val="034B2F"/>
                </a:solidFill>
                <a:latin typeface="Lora"/>
                <a:ea typeface="Lora"/>
                <a:cs typeface="Lora"/>
              </a:rPr>
              <a:t>The Mindful Plate</a:t>
            </a:r>
          </a:p>
        </p:txBody>
      </p:sp>
      <p:sp>
        <p:nvSpPr>
          <p:cNvPr id="3" name="">
            <a:extLst xmlns:a="http://schemas.openxmlformats.org/drawingml/2006/main">
              <a:ext uri="{FF2B5EF4-FFF2-40B4-BE49-F238E27FC236}">
                <a16:creationId xmlns:a16="http://schemas.microsoft.com/office/drawing/2014/main" id="{0BBC0D84-E51C-4051-9E37-DE719DF1DE82}"/>
              </a:ext>
            </a:extLst>
          </p:cNvPr>
          <p:cNvSpPr>
            <a:spLocks xmlns:a="http://schemas.openxmlformats.org/drawingml/2006/main" noGrp="1"/>
          </p:cNvSpPr>
          <p:nvPr/>
        </p:nvSpPr>
        <p:spPr>
          <a:xfrm xmlns:a="http://schemas.openxmlformats.org/drawingml/2006/main">
            <a:off x="876300" y="485775"/>
            <a:ext cx="2190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660" b="0" i="0">
                <a:solidFill>
                  <a:srgbClr val="5C6C67"/>
                </a:solidFill>
                <a:latin typeface="Lato"/>
                <a:ea typeface="Lato"/>
                <a:cs typeface="Lato"/>
              </a:defRPr>
            </a:pPr>
            <a:r>
              <a:rPr sz="660" b="0" i="0">
                <a:solidFill>
                  <a:srgbClr val="5C6C67"/>
                </a:solidFill>
                <a:latin typeface="Lato"/>
                <a:ea typeface="Lato"/>
                <a:cs typeface="Lato"/>
              </a:rPr>
              <a:t>References and safety</a:t>
            </a:r>
          </a:p>
        </p:txBody>
      </p:sp>
      <p:sp>
        <p:nvSpPr>
          <p:cNvPr id="4" name="">
            <a:extLst xmlns:a="http://schemas.openxmlformats.org/drawingml/2006/main">
              <a:ext uri="{FF2B5EF4-FFF2-40B4-BE49-F238E27FC236}">
                <a16:creationId xmlns:a16="http://schemas.microsoft.com/office/drawing/2014/main" id="{5B677B56-CAF7-4E4C-87B7-C4AFE47DC7BB}"/>
              </a:ext>
            </a:extLst>
          </p:cNvPr>
          <p:cNvSpPr>
            <a:spLocks xmlns:a="http://schemas.openxmlformats.org/drawingml/2006/main" noGrp="1"/>
          </p:cNvSpPr>
          <p:nvPr/>
        </p:nvSpPr>
        <p:spPr>
          <a:xfrm xmlns:a="http://schemas.openxmlformats.org/drawingml/2006/main">
            <a:off x="552450" y="714375"/>
            <a:ext cx="6667500" cy="0"/>
          </a:xfrm>
          <a:prstGeom xmlns:a="http://schemas.openxmlformats.org/drawingml/2006/main" prst="line">
            <a:avLst/>
          </a:prstGeom>
          <a:noFill xmlns:a="http://schemas.openxmlformats.org/drawingml/2006/main"/>
          <a:ln xmlns:a="http://schemas.openxmlformats.org/drawingml/2006/main" w="11430">
            <a:solidFill>
              <a:srgbClr val="D9E2DA"/>
            </a:solidFill>
            <a:prstDash val="solid"/>
          </a:ln>
        </p:spPr>
      </p:sp>
      <p:sp>
        <p:nvSpPr>
          <p:cNvPr id="5" name="">
            <a:extLst xmlns:a="http://schemas.openxmlformats.org/drawingml/2006/main">
              <a:ext uri="{FF2B5EF4-FFF2-40B4-BE49-F238E27FC236}">
                <a16:creationId xmlns:a16="http://schemas.microsoft.com/office/drawing/2014/main" id="{8B7C95E7-5298-4BF4-8B5B-D73976DAB37E}"/>
              </a:ext>
            </a:extLst>
          </p:cNvPr>
          <p:cNvSpPr>
            <a:spLocks xmlns:a="http://schemas.openxmlformats.org/drawingml/2006/main" noGrp="1"/>
          </p:cNvSpPr>
          <p:nvPr/>
        </p:nvSpPr>
        <p:spPr>
          <a:xfrm xmlns:a="http://schemas.openxmlformats.org/drawingml/2006/main">
            <a:off x="552450" y="9610725"/>
            <a:ext cx="6667500" cy="0"/>
          </a:xfrm>
          <a:prstGeom xmlns:a="http://schemas.openxmlformats.org/drawingml/2006/main" prst="line">
            <a:avLst/>
          </a:prstGeom>
          <a:noFill xmlns:a="http://schemas.openxmlformats.org/drawingml/2006/main"/>
          <a:ln xmlns:a="http://schemas.openxmlformats.org/drawingml/2006/main" w="11430">
            <a:solidFill>
              <a:srgbClr val="D9E2DA"/>
            </a:solidFill>
            <a:prstDash val="solid"/>
          </a:ln>
        </p:spPr>
      </p:sp>
      <p:sp>
        <p:nvSpPr>
          <p:cNvPr id="6" name="">
            <a:extLst xmlns:a="http://schemas.openxmlformats.org/drawingml/2006/main">
              <a:ext uri="{FF2B5EF4-FFF2-40B4-BE49-F238E27FC236}">
                <a16:creationId xmlns:a16="http://schemas.microsoft.com/office/drawing/2014/main" id="{00B05694-695C-4EA3-B349-13D00705B623}"/>
              </a:ext>
            </a:extLst>
          </p:cNvPr>
          <p:cNvSpPr>
            <a:spLocks xmlns:a="http://schemas.openxmlformats.org/drawingml/2006/main" noGrp="1"/>
          </p:cNvSpPr>
          <p:nvPr/>
        </p:nvSpPr>
        <p:spPr>
          <a:xfrm xmlns:a="http://schemas.openxmlformats.org/drawingml/2006/main">
            <a:off x="552450" y="9715500"/>
            <a:ext cx="1762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660" b="0" i="0">
                <a:solidFill>
                  <a:srgbClr val="5C6C67"/>
                </a:solidFill>
                <a:latin typeface="Lato"/>
                <a:ea typeface="Lato"/>
                <a:cs typeface="Lato"/>
              </a:defRPr>
            </a:pPr>
            <a:r>
              <a:rPr sz="660" b="0" i="0">
                <a:solidFill>
                  <a:srgbClr val="5C6C67"/>
                </a:solidFill>
                <a:latin typeface="Lato"/>
                <a:ea typeface="Lato"/>
                <a:cs typeface="Lato"/>
              </a:rPr>
              <a:t>Mindful Diabetes Inc.</a:t>
            </a:r>
          </a:p>
        </p:txBody>
      </p:sp>
      <p:sp>
        <p:nvSpPr>
          <p:cNvPr id="7" name="">
            <a:extLst xmlns:a="http://schemas.openxmlformats.org/drawingml/2006/main">
              <a:ext uri="{FF2B5EF4-FFF2-40B4-BE49-F238E27FC236}">
                <a16:creationId xmlns:a16="http://schemas.microsoft.com/office/drawing/2014/main" id="{651C4BC3-AF30-4A79-827C-DBFC205BC0FE}"/>
              </a:ext>
            </a:extLst>
          </p:cNvPr>
          <p:cNvSpPr>
            <a:spLocks xmlns:a="http://schemas.openxmlformats.org/drawingml/2006/main" noGrp="1"/>
          </p:cNvSpPr>
          <p:nvPr/>
        </p:nvSpPr>
        <p:spPr>
          <a:xfrm xmlns:a="http://schemas.openxmlformats.org/drawingml/2006/main">
            <a:off x="3162300" y="9715500"/>
            <a:ext cx="14763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lnSpc>
                <a:spcPct val="116000"/>
              </a:lnSpc>
              <a:buNone/>
              <a:defRPr sz="660" b="0" i="0">
                <a:solidFill>
                  <a:srgbClr val="5C6C67"/>
                </a:solidFill>
                <a:latin typeface="Lato"/>
                <a:ea typeface="Lato"/>
                <a:cs typeface="Lato"/>
              </a:defRPr>
            </a:pPr>
            <a:r>
              <a:rPr sz="660" b="0" i="0">
                <a:solidFill>
                  <a:srgbClr val="5C6C67"/>
                </a:solidFill>
                <a:latin typeface="Lato"/>
                <a:ea typeface="Lato"/>
                <a:cs typeface="Lato"/>
              </a:rPr>
              <a:t>mindfuldiabetes.org</a:t>
            </a:r>
          </a:p>
        </p:txBody>
      </p:sp>
      <p:sp>
        <p:nvSpPr>
          <p:cNvPr id="8" name="">
            <a:extLst xmlns:a="http://schemas.openxmlformats.org/drawingml/2006/main">
              <a:ext uri="{FF2B5EF4-FFF2-40B4-BE49-F238E27FC236}">
                <a16:creationId xmlns:a16="http://schemas.microsoft.com/office/drawing/2014/main" id="{A0132504-5124-48D2-9879-395E49D0C8A4}"/>
              </a:ext>
            </a:extLst>
          </p:cNvPr>
          <p:cNvSpPr>
            <a:spLocks xmlns:a="http://schemas.openxmlformats.org/drawingml/2006/main" noGrp="1"/>
          </p:cNvSpPr>
          <p:nvPr/>
        </p:nvSpPr>
        <p:spPr>
          <a:xfrm xmlns:a="http://schemas.openxmlformats.org/drawingml/2006/main">
            <a:off x="6886575" y="9715500"/>
            <a:ext cx="3333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r">
              <a:lnSpc>
                <a:spcPct val="116000"/>
              </a:lnSpc>
              <a:buNone/>
              <a:defRPr sz="660" b="0" i="0">
                <a:solidFill>
                  <a:srgbClr val="F26A2E"/>
                </a:solidFill>
                <a:latin typeface="Lato"/>
                <a:ea typeface="Lato"/>
                <a:cs typeface="Lato"/>
              </a:defRPr>
            </a:pPr>
            <a:r>
              <a:rPr sz="660" b="0" i="0">
                <a:solidFill>
                  <a:srgbClr val="F26A2E"/>
                </a:solidFill>
                <a:latin typeface="Lato"/>
                <a:ea typeface="Lato"/>
                <a:cs typeface="Lato"/>
              </a:rPr>
              <a:t>21</a:t>
            </a:r>
          </a:p>
        </p:txBody>
      </p:sp>
      <p:sp>
        <p:nvSpPr>
          <p:cNvPr id="9" name="">
            <a:extLst xmlns:a="http://schemas.openxmlformats.org/drawingml/2006/main">
              <a:ext uri="{FF2B5EF4-FFF2-40B4-BE49-F238E27FC236}">
                <a16:creationId xmlns:a16="http://schemas.microsoft.com/office/drawing/2014/main" id="{EC9ED5D4-630C-4880-A009-8DD2679D9B2A}"/>
              </a:ext>
            </a:extLst>
          </p:cNvPr>
          <p:cNvSpPr>
            <a:spLocks xmlns:a="http://schemas.openxmlformats.org/drawingml/2006/main" noGrp="1"/>
          </p:cNvSpPr>
          <p:nvPr/>
        </p:nvSpPr>
        <p:spPr>
          <a:xfrm xmlns:a="http://schemas.openxmlformats.org/drawingml/2006/main">
            <a:off x="628650" y="790575"/>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900" b="1" i="0">
                <a:solidFill>
                  <a:srgbClr val="F26A2E"/>
                </a:solidFill>
                <a:latin typeface="Lato"/>
                <a:ea typeface="Lato"/>
                <a:cs typeface="Lato"/>
              </a:defRPr>
            </a:pPr>
            <a:r>
              <a:rPr sz="900" b="1" i="0">
                <a:solidFill>
                  <a:srgbClr val="F26A2E"/>
                </a:solidFill>
                <a:latin typeface="Lato"/>
                <a:ea typeface="Lato"/>
                <a:cs typeface="Lato"/>
              </a:rPr>
              <a:t>REFERENCES AND SAFETY</a:t>
            </a:r>
          </a:p>
        </p:txBody>
      </p:sp>
      <p:sp>
        <p:nvSpPr>
          <p:cNvPr id="10" name="">
            <a:extLst xmlns:a="http://schemas.openxmlformats.org/drawingml/2006/main">
              <a:ext uri="{FF2B5EF4-FFF2-40B4-BE49-F238E27FC236}">
                <a16:creationId xmlns:a16="http://schemas.microsoft.com/office/drawing/2014/main" id="{806EF8C7-24D2-49F7-B63D-6F611CD93E32}"/>
              </a:ext>
            </a:extLst>
          </p:cNvPr>
          <p:cNvSpPr>
            <a:spLocks xmlns:a="http://schemas.openxmlformats.org/drawingml/2006/main" noGrp="1"/>
          </p:cNvSpPr>
          <p:nvPr/>
        </p:nvSpPr>
        <p:spPr>
          <a:xfrm xmlns:a="http://schemas.openxmlformats.org/drawingml/2006/main">
            <a:off x="590550" y="1066800"/>
            <a:ext cx="619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03000"/>
              </a:lnSpc>
              <a:buNone/>
              <a:defRPr sz="2550" b="1" i="0">
                <a:solidFill>
                  <a:srgbClr val="192442"/>
                </a:solidFill>
                <a:latin typeface="Lora"/>
                <a:ea typeface="Lora"/>
                <a:cs typeface="Lora"/>
              </a:defRPr>
            </a:pPr>
            <a:r>
              <a:rPr sz="2550" b="1" i="0">
                <a:solidFill>
                  <a:srgbClr val="192442"/>
                </a:solidFill>
                <a:latin typeface="Lora"/>
                <a:ea typeface="Lora"/>
                <a:cs typeface="Lora"/>
              </a:rPr>
              <a:t>References and medical disclaimer</a:t>
            </a:r>
          </a:p>
        </p:txBody>
      </p:sp>
      <p:sp>
        <p:nvSpPr>
          <p:cNvPr id="11" name="">
            <a:extLst xmlns:a="http://schemas.openxmlformats.org/drawingml/2006/main">
              <a:ext uri="{FF2B5EF4-FFF2-40B4-BE49-F238E27FC236}">
                <a16:creationId xmlns:a16="http://schemas.microsoft.com/office/drawing/2014/main" id="{38B41F45-349B-4E99-B2C5-46CEF2FCA1C2}"/>
              </a:ext>
            </a:extLst>
          </p:cNvPr>
          <p:cNvSpPr>
            <a:spLocks xmlns:a="http://schemas.openxmlformats.org/drawingml/2006/main" noGrp="1"/>
          </p:cNvSpPr>
          <p:nvPr/>
        </p:nvSpPr>
        <p:spPr>
          <a:xfrm xmlns:a="http://schemas.openxmlformats.org/drawingml/2006/main">
            <a:off x="628650" y="1866900"/>
            <a:ext cx="6381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25000"/>
              </a:lnSpc>
              <a:buNone/>
              <a:defRPr sz="1125" b="0" i="0">
                <a:solidFill>
                  <a:srgbClr val="5C6C67"/>
                </a:solidFill>
                <a:latin typeface="Lato"/>
                <a:ea typeface="Lato"/>
                <a:cs typeface="Lato"/>
              </a:defRPr>
            </a:pPr>
            <a:r>
              <a:rPr sz="1125" b="0" i="0">
                <a:solidFill>
                  <a:srgbClr val="5C6C67"/>
                </a:solidFill>
                <a:latin typeface="Lato"/>
                <a:ea typeface="Lato"/>
                <a:cs typeface="Lato"/>
              </a:rPr>
              <a:t>Human-readable sources and the boundaries of this guide.</a:t>
            </a:r>
          </a:p>
        </p:txBody>
      </p:sp>
      <p:sp>
        <p:nvSpPr>
          <p:cNvPr id="12" name="">
            <a:extLst xmlns:a="http://schemas.openxmlformats.org/drawingml/2006/main">
              <a:ext uri="{FF2B5EF4-FFF2-40B4-BE49-F238E27FC236}">
                <a16:creationId xmlns:a16="http://schemas.microsoft.com/office/drawing/2014/main" id="{2640219F-9F3E-4113-8029-77D12D6F1D68}"/>
              </a:ext>
            </a:extLst>
          </p:cNvPr>
          <p:cNvSpPr>
            <a:spLocks xmlns:a="http://schemas.openxmlformats.org/drawingml/2006/main" noGrp="1"/>
          </p:cNvSpPr>
          <p:nvPr/>
        </p:nvSpPr>
        <p:spPr>
          <a:xfrm xmlns:a="http://schemas.openxmlformats.org/drawingml/2006/main">
            <a:off x="628650" y="2190750"/>
            <a:ext cx="647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1050" b="1" i="0">
                <a:solidFill>
                  <a:srgbClr val="F26A2E"/>
                </a:solidFill>
                <a:latin typeface="Lato"/>
                <a:ea typeface="Lato"/>
                <a:cs typeface="Lato"/>
              </a:defRPr>
            </a:pPr>
            <a:r>
              <a:rPr sz="1050" b="1" i="0">
                <a:solidFill>
                  <a:srgbClr val="F26A2E"/>
                </a:solidFill>
                <a:latin typeface="Lato"/>
                <a:ea typeface="Lato"/>
                <a:cs typeface="Lato"/>
              </a:rPr>
              <a:t>Medical disclaimer</a:t>
            </a:r>
          </a:p>
        </p:txBody>
      </p:sp>
      <p:sp>
        <p:nvSpPr>
          <p:cNvPr id="13" name="">
            <a:extLst xmlns:a="http://schemas.openxmlformats.org/drawingml/2006/main">
              <a:ext uri="{FF2B5EF4-FFF2-40B4-BE49-F238E27FC236}">
                <a16:creationId xmlns:a16="http://schemas.microsoft.com/office/drawing/2014/main" id="{A27546C9-51A9-4508-A03D-906CEDAA86E0}"/>
              </a:ext>
            </a:extLst>
          </p:cNvPr>
          <p:cNvSpPr>
            <a:spLocks xmlns:a="http://schemas.openxmlformats.org/drawingml/2006/main" noGrp="1"/>
          </p:cNvSpPr>
          <p:nvPr/>
        </p:nvSpPr>
        <p:spPr>
          <a:xfrm xmlns:a="http://schemas.openxmlformats.org/drawingml/2006/main">
            <a:off x="628650" y="2438400"/>
            <a:ext cx="6477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9000"/>
              </a:lnSpc>
              <a:buNone/>
              <a:defRPr sz="938" b="0" i="0">
                <a:solidFill>
                  <a:srgbClr val="16211D"/>
                </a:solidFill>
                <a:latin typeface="Lato"/>
                <a:ea typeface="Lato"/>
                <a:cs typeface="Lato"/>
              </a:defRPr>
            </a:pPr>
            <a:r>
              <a:rPr sz="938" b="0" i="0">
                <a:solidFill>
                  <a:srgbClr val="16211D"/>
                </a:solidFill>
                <a:latin typeface="Lato"/>
                <a:ea typeface="Lato"/>
                <a:cs typeface="Lato"/>
              </a:rPr>
              <a:t>This guide provides general health education. It is not medical advice, diagnosis, treatment, nutrition therapy, or a medication plan. Do not change insulin, diabetes medication, glucose targets, pregnancy care, kidney-disease care, or any prescribed medical diet because of this guide. For symptoms of severe low blood sugar, severe high blood sugar, chest pain, trouble breathing, confusion, fainting, or another emergency, seek urgent medical care.</a:t>
            </a:r>
          </a:p>
        </p:txBody>
      </p:sp>
      <p:sp>
        <p:nvSpPr>
          <p:cNvPr id="14" name="">
            <a:extLst xmlns:a="http://schemas.openxmlformats.org/drawingml/2006/main">
              <a:ext uri="{FF2B5EF4-FFF2-40B4-BE49-F238E27FC236}">
                <a16:creationId xmlns:a16="http://schemas.microsoft.com/office/drawing/2014/main" id="{3F1D802F-3B9E-4CAB-BBEE-C4D39E011DE6}"/>
              </a:ext>
            </a:extLst>
          </p:cNvPr>
          <p:cNvSpPr>
            <a:spLocks xmlns:a="http://schemas.openxmlformats.org/drawingml/2006/main" noGrp="1"/>
          </p:cNvSpPr>
          <p:nvPr/>
        </p:nvSpPr>
        <p:spPr>
          <a:xfrm xmlns:a="http://schemas.openxmlformats.org/drawingml/2006/main">
            <a:off x="628650" y="3638550"/>
            <a:ext cx="647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1050" b="1" i="0">
                <a:solidFill>
                  <a:srgbClr val="034B2F"/>
                </a:solidFill>
                <a:latin typeface="Lato"/>
                <a:ea typeface="Lato"/>
                <a:cs typeface="Lato"/>
              </a:defRPr>
            </a:pPr>
            <a:r>
              <a:rPr sz="1050" b="1" i="0">
                <a:solidFill>
                  <a:srgbClr val="034B2F"/>
                </a:solidFill>
                <a:latin typeface="Lato"/>
                <a:ea typeface="Lato"/>
                <a:cs typeface="Lato"/>
              </a:rPr>
              <a:t>References</a:t>
            </a:r>
          </a:p>
        </p:txBody>
      </p:sp>
      <p:sp>
        <p:nvSpPr>
          <p:cNvPr id="15" name="">
            <a:extLst xmlns:a="http://schemas.openxmlformats.org/drawingml/2006/main">
              <a:ext uri="{FF2B5EF4-FFF2-40B4-BE49-F238E27FC236}">
                <a16:creationId xmlns:a16="http://schemas.microsoft.com/office/drawing/2014/main" id="{0FDBD168-483E-4CA3-8D5C-CC1F0DE406C4}"/>
              </a:ext>
            </a:extLst>
          </p:cNvPr>
          <p:cNvSpPr>
            <a:spLocks xmlns:a="http://schemas.openxmlformats.org/drawingml/2006/main" noGrp="1"/>
          </p:cNvSpPr>
          <p:nvPr/>
        </p:nvSpPr>
        <p:spPr>
          <a:xfrm xmlns:a="http://schemas.openxmlformats.org/drawingml/2006/main">
            <a:off x="628650" y="3943350"/>
            <a:ext cx="6477000"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22000"/>
              </a:lnSpc>
              <a:buNone/>
              <a:defRPr sz="803" b="0" i="0">
                <a:solidFill>
                  <a:srgbClr val="16211D"/>
                </a:solidFill>
                <a:latin typeface="Lato"/>
                <a:ea typeface="Lato"/>
                <a:cs typeface="Lato"/>
              </a:defRPr>
            </a:pPr>
            <a:r>
              <a:rPr sz="803" b="0" i="0">
                <a:solidFill>
                  <a:srgbClr val="16211D"/>
                </a:solidFill>
                <a:latin typeface="Lato"/>
                <a:ea typeface="Lato"/>
                <a:cs typeface="Lato"/>
              </a:rPr>
              <a:t>1. American Diabetes Association. Standards of Care in Diabetes - 2026. Diabetes Care; 2026. https://diabetesjournals.org/care/issue/49/Supplement_1</a:t>
            </a:r>
          </a:p>
          <a:p xmlns:a="http://schemas.openxmlformats.org/drawingml/2006/main">
            <a:pPr algn="l">
              <a:lnSpc>
                <a:spcPct val="122000"/>
              </a:lnSpc>
              <a:buNone/>
              <a:defRPr sz="803" b="0" i="0">
                <a:solidFill>
                  <a:srgbClr val="16211D"/>
                </a:solidFill>
                <a:latin typeface="Lato"/>
                <a:ea typeface="Lato"/>
                <a:cs typeface="Lato"/>
              </a:defRPr>
            </a:pPr>
            <a:r>
              <a:rPr sz="803" b="0" i="0">
                <a:solidFill>
                  <a:srgbClr val="16211D"/>
                </a:solidFill>
                <a:latin typeface="Lato"/>
                <a:ea typeface="Lato"/>
                <a:cs typeface="Lato"/>
              </a:rPr>
              <a:t>2. American Diabetes Association Nutrition &amp; Wellness Team. What is the Diabetes Plate?. ADA Diabetes Food Hub; 2026. https://diabetesfoodhub.org/blog/what-diabetes-plate</a:t>
            </a:r>
          </a:p>
          <a:p xmlns:a="http://schemas.openxmlformats.org/drawingml/2006/main">
            <a:pPr algn="l">
              <a:lnSpc>
                <a:spcPct val="122000"/>
              </a:lnSpc>
              <a:buNone/>
              <a:defRPr sz="803" b="0" i="0">
                <a:solidFill>
                  <a:srgbClr val="16211D"/>
                </a:solidFill>
                <a:latin typeface="Lato"/>
                <a:ea typeface="Lato"/>
                <a:cs typeface="Lato"/>
              </a:defRPr>
            </a:pPr>
            <a:r>
              <a:rPr sz="803" b="0" i="0">
                <a:solidFill>
                  <a:srgbClr val="16211D"/>
                </a:solidFill>
                <a:latin typeface="Lato"/>
                <a:ea typeface="Lato"/>
                <a:cs typeface="Lato"/>
              </a:rPr>
              <a:t>3. U.S. Food and Drug Administration. How to Understand and Use the Nutrition Facts Label. FDA; 2024. https://www.fda.gov/food/nutrition-facts-label/how-understand-and-use-nutrition-facts-label</a:t>
            </a:r>
          </a:p>
          <a:p xmlns:a="http://schemas.openxmlformats.org/drawingml/2006/main">
            <a:pPr algn="l">
              <a:lnSpc>
                <a:spcPct val="122000"/>
              </a:lnSpc>
              <a:buNone/>
              <a:defRPr sz="803" b="0" i="0">
                <a:solidFill>
                  <a:srgbClr val="16211D"/>
                </a:solidFill>
                <a:latin typeface="Lato"/>
                <a:ea typeface="Lato"/>
                <a:cs typeface="Lato"/>
              </a:defRPr>
            </a:pPr>
            <a:r>
              <a:rPr sz="803" b="0" i="0">
                <a:solidFill>
                  <a:srgbClr val="16211D"/>
                </a:solidFill>
                <a:latin typeface="Lato"/>
                <a:ea typeface="Lato"/>
                <a:cs typeface="Lato"/>
              </a:rPr>
              <a:t>4. U.S. Food and Drug Administration. Added Sugars on the Nutrition Facts Label. FDA; 2026. https://www.fda.gov/food/nutrition-facts-label/added-sugars-nutrition-facts-label</a:t>
            </a:r>
          </a:p>
          <a:p xmlns:a="http://schemas.openxmlformats.org/drawingml/2006/main">
            <a:pPr algn="l">
              <a:lnSpc>
                <a:spcPct val="122000"/>
              </a:lnSpc>
              <a:buNone/>
              <a:defRPr sz="803" b="0" i="0">
                <a:solidFill>
                  <a:srgbClr val="16211D"/>
                </a:solidFill>
                <a:latin typeface="Lato"/>
                <a:ea typeface="Lato"/>
                <a:cs typeface="Lato"/>
              </a:defRPr>
            </a:pPr>
            <a:r>
              <a:rPr sz="803" b="0" i="0">
                <a:solidFill>
                  <a:srgbClr val="16211D"/>
                </a:solidFill>
                <a:latin typeface="Lato"/>
                <a:ea typeface="Lato"/>
                <a:cs typeface="Lato"/>
              </a:rPr>
              <a:t>5. American Heart Association. The Facts on Fats. AHA; 2025. https://www.heart.org/en/healthy-living/healthy-eating/eat-smart/fats/the-facts-on-fats</a:t>
            </a:r>
          </a:p>
          <a:p xmlns:a="http://schemas.openxmlformats.org/drawingml/2006/main">
            <a:pPr algn="l">
              <a:lnSpc>
                <a:spcPct val="122000"/>
              </a:lnSpc>
              <a:buNone/>
              <a:defRPr sz="803" b="0" i="0">
                <a:solidFill>
                  <a:srgbClr val="16211D"/>
                </a:solidFill>
                <a:latin typeface="Lato"/>
                <a:ea typeface="Lato"/>
                <a:cs typeface="Lato"/>
              </a:defRPr>
            </a:pPr>
            <a:r>
              <a:rPr sz="803" b="0" i="0">
                <a:solidFill>
                  <a:srgbClr val="16211D"/>
                </a:solidFill>
                <a:latin typeface="Lato"/>
                <a:ea typeface="Lato"/>
                <a:cs typeface="Lato"/>
              </a:rPr>
              <a:t>6. Centers for Disease Control and Prevention. About the Lifestyle Change Program. CDC; 2024. https://www.cdc.gov/diabetes-prevention/lifestyle-change-program/lifestyle-change-program-details.html</a:t>
            </a:r>
          </a:p>
        </p:txBody>
      </p:sp>
      <p:sp>
        <p:nvSpPr>
          <p:cNvPr id="16" name="">
            <a:extLst xmlns:a="http://schemas.openxmlformats.org/drawingml/2006/main">
              <a:ext uri="{FF2B5EF4-FFF2-40B4-BE49-F238E27FC236}">
                <a16:creationId xmlns:a16="http://schemas.microsoft.com/office/drawing/2014/main" id="{CF78971D-E0A4-4E93-B11C-9B6D3E9DF5EE}"/>
              </a:ext>
            </a:extLst>
          </p:cNvPr>
          <p:cNvSpPr>
            <a:spLocks xmlns:a="http://schemas.openxmlformats.org/drawingml/2006/main" noGrp="1"/>
          </p:cNvSpPr>
          <p:nvPr/>
        </p:nvSpPr>
        <p:spPr>
          <a:xfrm xmlns:a="http://schemas.openxmlformats.org/drawingml/2006/main">
            <a:off x="628650" y="8096250"/>
            <a:ext cx="6477000" cy="895350"/>
          </a:xfrm>
          <a:prstGeom xmlns:a="http://schemas.openxmlformats.org/drawingml/2006/main" prst="roundRect">
            <a:avLst>
              <a:gd name="adj" fmla="val 10638"/>
            </a:avLst>
          </a:prstGeom>
          <a:solidFill xmlns:a="http://schemas.openxmlformats.org/drawingml/2006/main">
            <a:srgbClr val="E6F2EC"/>
          </a:solidFill>
          <a:ln xmlns:a="http://schemas.openxmlformats.org/drawingml/2006/main" w="11430">
            <a:solidFill>
              <a:srgbClr val="B8D8C8"/>
            </a:solidFill>
            <a:prstDash val="solid"/>
          </a:ln>
        </p:spPr>
      </p:sp>
      <p:sp>
        <p:nvSpPr>
          <p:cNvPr id="17" name="">
            <a:extLst xmlns:a="http://schemas.openxmlformats.org/drawingml/2006/main">
              <a:ext uri="{FF2B5EF4-FFF2-40B4-BE49-F238E27FC236}">
                <a16:creationId xmlns:a16="http://schemas.microsoft.com/office/drawing/2014/main" id="{38F48979-2146-4FFC-ABB4-E9C5DFA1B5DF}"/>
              </a:ext>
            </a:extLst>
          </p:cNvPr>
          <p:cNvSpPr>
            <a:spLocks xmlns:a="http://schemas.openxmlformats.org/drawingml/2006/main" noGrp="1"/>
          </p:cNvSpPr>
          <p:nvPr/>
        </p:nvSpPr>
        <p:spPr>
          <a:xfrm xmlns:a="http://schemas.openxmlformats.org/drawingml/2006/main">
            <a:off x="800100" y="8267700"/>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6000"/>
              </a:lnSpc>
              <a:buNone/>
              <a:defRPr sz="938" b="1" i="0">
                <a:solidFill>
                  <a:srgbClr val="034B2F"/>
                </a:solidFill>
                <a:latin typeface="Lato"/>
                <a:ea typeface="Lato"/>
                <a:cs typeface="Lato"/>
              </a:defRPr>
            </a:pPr>
            <a:r>
              <a:rPr sz="938" b="1" i="0">
                <a:solidFill>
                  <a:srgbClr val="034B2F"/>
                </a:solidFill>
                <a:latin typeface="Lato"/>
                <a:ea typeface="Lato"/>
                <a:cs typeface="Lato"/>
              </a:rPr>
              <a:t>Publication information</a:t>
            </a:r>
          </a:p>
        </p:txBody>
      </p:sp>
      <p:sp>
        <p:nvSpPr>
          <p:cNvPr id="18" name="">
            <a:extLst xmlns:a="http://schemas.openxmlformats.org/drawingml/2006/main">
              <a:ext uri="{FF2B5EF4-FFF2-40B4-BE49-F238E27FC236}">
                <a16:creationId xmlns:a16="http://schemas.microsoft.com/office/drawing/2014/main" id="{CC1CA91E-CBDE-4E6E-886F-F5517D6544F6}"/>
              </a:ext>
            </a:extLst>
          </p:cNvPr>
          <p:cNvSpPr>
            <a:spLocks xmlns:a="http://schemas.openxmlformats.org/drawingml/2006/main" noGrp="1"/>
          </p:cNvSpPr>
          <p:nvPr/>
        </p:nvSpPr>
        <p:spPr>
          <a:xfrm xmlns:a="http://schemas.openxmlformats.org/drawingml/2006/main">
            <a:off x="800100" y="8524875"/>
            <a:ext cx="590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18000"/>
              </a:lnSpc>
              <a:buNone/>
              <a:defRPr sz="863" b="0" i="0">
                <a:solidFill>
                  <a:srgbClr val="16211D"/>
                </a:solidFill>
                <a:latin typeface="Lato"/>
                <a:ea typeface="Lato"/>
                <a:cs typeface="Lato"/>
              </a:defRPr>
            </a:pPr>
            <a:r>
              <a:rPr sz="863" b="0" i="0">
                <a:solidFill>
                  <a:srgbClr val="16211D"/>
                </a:solidFill>
                <a:latin typeface="Lato"/>
                <a:ea typeface="Lato"/>
                <a:cs typeface="Lato"/>
              </a:rPr>
              <a:t>Published: July 30, 2026 | Medical review: pending | Next scheduled review: July 2027</a:t>
            </a:r>
          </a:p>
          <a:p xmlns:a="http://schemas.openxmlformats.org/drawingml/2006/main">
            <a:pPr algn="l">
              <a:lnSpc>
                <a:spcPct val="118000"/>
              </a:lnSpc>
              <a:buNone/>
              <a:defRPr sz="863" b="0" i="0">
                <a:solidFill>
                  <a:srgbClr val="16211D"/>
                </a:solidFill>
                <a:latin typeface="Lato"/>
                <a:ea typeface="Lato"/>
                <a:cs typeface="Lato"/>
              </a:defRPr>
            </a:pPr>
            <a:r>
              <a:rPr sz="863" b="0" i="0">
                <a:solidFill>
                  <a:srgbClr val="16211D"/>
                </a:solidFill>
                <a:latin typeface="Lato"/>
                <a:ea typeface="Lato"/>
                <a:cs typeface="Lato"/>
              </a:rPr>
              <a:t>Mindful Diabetes Inc., 501(c)(3) nonprofit | Free to share for education, with attribution.</a:t>
            </a:r>
          </a:p>
        </p:txBody>
      </p:sp>
    </p:spTree>
    <p:extLst>
      <p:ext uri="{BB962C8B-B14F-4D97-AF65-F5344CB8AC3E}">
        <p14:creationId xmlns:p14="http://schemas.microsoft.com/office/powerpoint/2010/main" val="432595363"/>
      </p:ext>
    </p:extLst>
  </p:cSld>
</p:sld>
</file>

<file path=ppt/theme/theme1.xml><?xml version="1.0" encoding="utf-8"?>
<a:theme xmlns:a="http://schemas.openxmlformats.org/drawingml/2006/main" name="ChatGPT">
  <a:themeElements>
    <a:clrScheme name="Mindful Diabetes">
      <a:dk1>
        <a:srgbClr val="16211D"/>
      </a:dk1>
      <a:lt1>
        <a:srgbClr val="FFFDF7"/>
      </a:lt1>
      <a:dk2>
        <a:srgbClr val="192442"/>
      </a:dk2>
      <a:lt2>
        <a:srgbClr val="FBF3EA"/>
      </a:lt2>
      <a:accent1>
        <a:srgbClr val="034B2F"/>
      </a:accent1>
      <a:accent2>
        <a:srgbClr val="F26A2E"/>
      </a:accent2>
      <a:accent3>
        <a:srgbClr val="E6F2EC"/>
      </a:accent3>
      <a:accent4>
        <a:srgbClr val="EEF7FA"/>
      </a:accent4>
      <a:accent5>
        <a:srgbClr val="F5C66B"/>
      </a:accent5>
      <a:accent6>
        <a:srgbClr val="5C6C67"/>
      </a:accent6>
      <a:hlink>
        <a:srgbClr val="034B2F"/>
      </a:hlink>
      <a:folHlink>
        <a:srgbClr val="192442"/>
      </a:folHlink>
    </a:clrScheme>
    <a:fontScheme name="Office">
      <a:majorFont>
        <a:latin typeface="Calibri Light"/>
        <a:ea typeface="Calibri Light"/>
        <a:cs typeface="Calibri Light"/>
      </a:majorFont>
      <a:minorFont>
        <a:latin typeface="Calibri"/>
        <a:ea typeface="Calibri"/>
        <a:cs typeface="Calibri"/>
      </a:minorFont>
    </a:fontScheme>
    <a:fmtScheme name="Mindful Diabete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2026-07-30T17:45:34.8160000Z</dcterms:created>
  <dcterms:modified xsi:type="dcterms:W3CDTF">2026-07-30T17:45:34.8160000Z</dcterms:modified>
</coreProperties>
</file>