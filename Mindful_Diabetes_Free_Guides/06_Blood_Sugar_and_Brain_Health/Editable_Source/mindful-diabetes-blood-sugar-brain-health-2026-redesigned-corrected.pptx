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375339383e47c6" /><Relationship Type="http://schemas.openxmlformats.org/officeDocument/2006/relationships/extended-properties" Target="/docProps/app.xml" Id="R6ea7ed6701e74a24" /><Relationship Type="http://schemas.openxmlformats.org/officeDocument/2006/relationships/officeDocument" Target="/ppt/presentation.xml" Id="R21534e9f758e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7db2b7d9e4c2d"/>
  </p:sldMasterIdLst>
  <p:notesMasterIdLst>
    <p:notesMasterId xmlns:r="http://schemas.openxmlformats.org/officeDocument/2006/relationships" r:id="R42394836e3e2411a"/>
  </p:notesMasterIdLst>
  <p:sldIdLst>
    <p:sldId xmlns:r="http://schemas.openxmlformats.org/officeDocument/2006/relationships" id="256" r:id="R99b1e18fd18b4b91"/>
    <p:sldId xmlns:r="http://schemas.openxmlformats.org/officeDocument/2006/relationships" id="257" r:id="R3ba51d4eb2fe4359"/>
    <p:sldId xmlns:r="http://schemas.openxmlformats.org/officeDocument/2006/relationships" id="258" r:id="R2bbb1b3430174f2c"/>
    <p:sldId xmlns:r="http://schemas.openxmlformats.org/officeDocument/2006/relationships" id="259" r:id="R8d26c1d44f5343e6"/>
    <p:sldId xmlns:r="http://schemas.openxmlformats.org/officeDocument/2006/relationships" id="260" r:id="R2ecd857d215e4a3d"/>
    <p:sldId xmlns:r="http://schemas.openxmlformats.org/officeDocument/2006/relationships" id="261" r:id="Rf413a40b9ce44658"/>
    <p:sldId xmlns:r="http://schemas.openxmlformats.org/officeDocument/2006/relationships" id="262" r:id="R0136d0b335944ceb"/>
    <p:sldId xmlns:r="http://schemas.openxmlformats.org/officeDocument/2006/relationships" id="263" r:id="R97f3186c561f46be"/>
    <p:sldId xmlns:r="http://schemas.openxmlformats.org/officeDocument/2006/relationships" id="264" r:id="R9c834ec25fef4bbd"/>
    <p:sldId xmlns:r="http://schemas.openxmlformats.org/officeDocument/2006/relationships" id="265" r:id="R983883e0846e4103"/>
    <p:sldId xmlns:r="http://schemas.openxmlformats.org/officeDocument/2006/relationships" id="266" r:id="R3ed19b71063e4d2e"/>
    <p:sldId xmlns:r="http://schemas.openxmlformats.org/officeDocument/2006/relationships" id="267" r:id="R6e045e14d23b499e"/>
    <p:sldId xmlns:r="http://schemas.openxmlformats.org/officeDocument/2006/relationships" id="268" r:id="R823a898a81f24415"/>
    <p:sldId xmlns:r="http://schemas.openxmlformats.org/officeDocument/2006/relationships" id="269" r:id="Rb41ef3c9bb294d84"/>
    <p:sldId xmlns:r="http://schemas.openxmlformats.org/officeDocument/2006/relationships" id="270" r:id="R46e1dbd0c722412b"/>
    <p:sldId xmlns:r="http://schemas.openxmlformats.org/officeDocument/2006/relationships" id="271" r:id="R1fde5433c4924989"/>
    <p:sldId xmlns:r="http://schemas.openxmlformats.org/officeDocument/2006/relationships" id="272" r:id="R8e069cc526024fc4"/>
    <p:sldId xmlns:r="http://schemas.openxmlformats.org/officeDocument/2006/relationships" id="273" r:id="R671d4c0757554046"/>
    <p:sldId xmlns:r="http://schemas.openxmlformats.org/officeDocument/2006/relationships" id="274" r:id="Rdb7f552a7d5245b9"/>
    <p:sldId xmlns:r="http://schemas.openxmlformats.org/officeDocument/2006/relationships" id="275" r:id="R2572b3211b454800"/>
    <p:sldId xmlns:r="http://schemas.openxmlformats.org/officeDocument/2006/relationships" id="276" r:id="R459b28a53d8d4883"/>
    <p:sldId xmlns:r="http://schemas.openxmlformats.org/officeDocument/2006/relationships" id="277" r:id="R7bf9ff5a827c4edc"/>
    <p:sldId xmlns:r="http://schemas.openxmlformats.org/officeDocument/2006/relationships" id="278" r:id="R8b2c17624b044f86"/>
    <p:sldId xmlns:r="http://schemas.openxmlformats.org/officeDocument/2006/relationships" id="279" r:id="R2c4ac359216b47e3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a297e931c475f" /><Relationship Type="http://schemas.openxmlformats.org/officeDocument/2006/relationships/slideMaster" Target="/ppt/slideMasters/slideMaster1.xml" Id="R14b7db2b7d9e4c2d" /><Relationship Type="http://schemas.openxmlformats.org/officeDocument/2006/relationships/notesMaster" Target="/ppt/notesMasters/notesMaster1.xml" Id="R42394836e3e2411a" /><Relationship Type="http://schemas.openxmlformats.org/officeDocument/2006/relationships/presProps" Target="/ppt/presProps.xml" Id="Ra80af9bb849e405d" /><Relationship Type="http://schemas.openxmlformats.org/officeDocument/2006/relationships/tableStyles" Target="/ppt/tableStyles.xml" Id="R1305ed2aeede4d67" /><Relationship Type="http://schemas.openxmlformats.org/officeDocument/2006/relationships/slide" Target="/ppt/slides/slide1.xml" Id="R99b1e18fd18b4b91" /><Relationship Type="http://schemas.openxmlformats.org/officeDocument/2006/relationships/slide" Target="/ppt/slides/slide2.xml" Id="R3ba51d4eb2fe4359" /><Relationship Type="http://schemas.openxmlformats.org/officeDocument/2006/relationships/slide" Target="/ppt/slides/slide3.xml" Id="R2bbb1b3430174f2c" /><Relationship Type="http://schemas.openxmlformats.org/officeDocument/2006/relationships/slide" Target="/ppt/slides/slide4.xml" Id="R8d26c1d44f5343e6" /><Relationship Type="http://schemas.openxmlformats.org/officeDocument/2006/relationships/slide" Target="/ppt/slides/slide5.xml" Id="R2ecd857d215e4a3d" /><Relationship Type="http://schemas.openxmlformats.org/officeDocument/2006/relationships/slide" Target="/ppt/slides/slide6.xml" Id="Rf413a40b9ce44658" /><Relationship Type="http://schemas.openxmlformats.org/officeDocument/2006/relationships/slide" Target="/ppt/slides/slide7.xml" Id="R0136d0b335944ceb" /><Relationship Type="http://schemas.openxmlformats.org/officeDocument/2006/relationships/slide" Target="/ppt/slides/slide8.xml" Id="R97f3186c561f46be" /><Relationship Type="http://schemas.openxmlformats.org/officeDocument/2006/relationships/slide" Target="/ppt/slides/slide9.xml" Id="R9c834ec25fef4bbd" /><Relationship Type="http://schemas.openxmlformats.org/officeDocument/2006/relationships/slide" Target="/ppt/slides/slide10.xml" Id="R983883e0846e4103" /><Relationship Type="http://schemas.openxmlformats.org/officeDocument/2006/relationships/slide" Target="/ppt/slides/slide11.xml" Id="R3ed19b71063e4d2e" /><Relationship Type="http://schemas.openxmlformats.org/officeDocument/2006/relationships/slide" Target="/ppt/slides/slide12.xml" Id="R6e045e14d23b499e" /><Relationship Type="http://schemas.openxmlformats.org/officeDocument/2006/relationships/slide" Target="/ppt/slides/slide13.xml" Id="R823a898a81f24415" /><Relationship Type="http://schemas.openxmlformats.org/officeDocument/2006/relationships/slide" Target="/ppt/slides/slide14.xml" Id="Rb41ef3c9bb294d84" /><Relationship Type="http://schemas.openxmlformats.org/officeDocument/2006/relationships/slide" Target="/ppt/slides/slide15.xml" Id="R46e1dbd0c722412b" /><Relationship Type="http://schemas.openxmlformats.org/officeDocument/2006/relationships/slide" Target="/ppt/slides/slide16.xml" Id="R1fde5433c4924989" /><Relationship Type="http://schemas.openxmlformats.org/officeDocument/2006/relationships/slide" Target="/ppt/slides/slide17.xml" Id="R8e069cc526024fc4" /><Relationship Type="http://schemas.openxmlformats.org/officeDocument/2006/relationships/slide" Target="/ppt/slides/slide18.xml" Id="R671d4c0757554046" /><Relationship Type="http://schemas.openxmlformats.org/officeDocument/2006/relationships/slide" Target="/ppt/slides/slide19.xml" Id="Rdb7f552a7d5245b9" /><Relationship Type="http://schemas.openxmlformats.org/officeDocument/2006/relationships/slide" Target="/ppt/slides/slide20.xml" Id="R2572b3211b454800" /><Relationship Type="http://schemas.openxmlformats.org/officeDocument/2006/relationships/slide" Target="/ppt/slides/slide21.xml" Id="R459b28a53d8d4883" /><Relationship Type="http://schemas.openxmlformats.org/officeDocument/2006/relationships/slide" Target="/ppt/slides/slide22.xml" Id="R7bf9ff5a827c4edc" /><Relationship Type="http://schemas.openxmlformats.org/officeDocument/2006/relationships/slide" Target="/ppt/slides/slide23.xml" Id="R8b2c17624b044f86" /><Relationship Type="http://schemas.openxmlformats.org/officeDocument/2006/relationships/slide" Target="/ppt/slides/slide24.xml" Id="R2c4ac359216b47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c829e852046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8981fc11e4551" /><Relationship Type="http://schemas.openxmlformats.org/officeDocument/2006/relationships/notesMaster" Target="/ppt/notesMasters/notesMaster1.xml" Id="R5b033d7473824d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abc8bb6594da3" /><Relationship Type="http://schemas.openxmlformats.org/officeDocument/2006/relationships/notesMaster" Target="/ppt/notesMasters/notesMaster1.xml" Id="R5685ccfaaedb49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d5ce0b6134ce5" /><Relationship Type="http://schemas.openxmlformats.org/officeDocument/2006/relationships/notesMaster" Target="/ppt/notesMasters/notesMaster1.xml" Id="R12adeec6eba449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557f4e1f234fc5" /><Relationship Type="http://schemas.openxmlformats.org/officeDocument/2006/relationships/notesMaster" Target="/ppt/notesMasters/notesMaster1.xml" Id="Re38093ed371044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9ab5ccd85476d" /><Relationship Type="http://schemas.openxmlformats.org/officeDocument/2006/relationships/notesMaster" Target="/ppt/notesMasters/notesMaster1.xml" Id="R7238375caf1e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18da97e720439c" /><Relationship Type="http://schemas.openxmlformats.org/officeDocument/2006/relationships/notesMaster" Target="/ppt/notesMasters/notesMaster1.xml" Id="R2ce055e46f91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468a9f1ecb4301" /><Relationship Type="http://schemas.openxmlformats.org/officeDocument/2006/relationships/notesMaster" Target="/ppt/notesMasters/notesMaster1.xml" Id="R9a80a221400247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9f49a24c294752" /><Relationship Type="http://schemas.openxmlformats.org/officeDocument/2006/relationships/notesMaster" Target="/ppt/notesMasters/notesMaster1.xml" Id="Ra29161f8d44043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f815a5163945f0" /><Relationship Type="http://schemas.openxmlformats.org/officeDocument/2006/relationships/notesMaster" Target="/ppt/notesMasters/notesMaster1.xml" Id="R185eb78c568046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c48be3efb645f9" /><Relationship Type="http://schemas.openxmlformats.org/officeDocument/2006/relationships/notesMaster" Target="/ppt/notesMasters/notesMaster1.xml" Id="Rf79f2ed5dfe247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c1c968748942e2" /><Relationship Type="http://schemas.openxmlformats.org/officeDocument/2006/relationships/notesMaster" Target="/ppt/notesMasters/notesMaster1.xml" Id="R8283dee91f114c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1ceb6fe6fb42df" /><Relationship Type="http://schemas.openxmlformats.org/officeDocument/2006/relationships/notesMaster" Target="/ppt/notesMasters/notesMaster1.xml" Id="Rd6e3caa11db240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1d4050e86146f0" /><Relationship Type="http://schemas.openxmlformats.org/officeDocument/2006/relationships/notesMaster" Target="/ppt/notesMasters/notesMaster1.xml" Id="R4749c18eba9f4e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76ae009d404334" /><Relationship Type="http://schemas.openxmlformats.org/officeDocument/2006/relationships/notesMaster" Target="/ppt/notesMasters/notesMaster1.xml" Id="Rd19da992a85f4f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97faaf6eb44051" /><Relationship Type="http://schemas.openxmlformats.org/officeDocument/2006/relationships/notesMaster" Target="/ppt/notesMasters/notesMaster1.xml" Id="R2ce8e1bd1ae245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6a9c7660b549a4" /><Relationship Type="http://schemas.openxmlformats.org/officeDocument/2006/relationships/notesMaster" Target="/ppt/notesMasters/notesMaster1.xml" Id="R2a1a633637ba42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4b176cc4124bef" /><Relationship Type="http://schemas.openxmlformats.org/officeDocument/2006/relationships/notesMaster" Target="/ppt/notesMasters/notesMaster1.xml" Id="R6536b0d690434f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ea509cfa3a4a82" /><Relationship Type="http://schemas.openxmlformats.org/officeDocument/2006/relationships/notesMaster" Target="/ppt/notesMasters/notesMaster1.xml" Id="Ra7b7b8363fc542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9a954a8bf44664" /><Relationship Type="http://schemas.openxmlformats.org/officeDocument/2006/relationships/notesMaster" Target="/ppt/notesMasters/notesMaster1.xml" Id="R78bbea4062ca4c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15a7ff8cfa4c13" /><Relationship Type="http://schemas.openxmlformats.org/officeDocument/2006/relationships/notesMaster" Target="/ppt/notesMasters/notesMaster1.xml" Id="R65b1917691ee4c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f1e46d2ddd42cb" /><Relationship Type="http://schemas.openxmlformats.org/officeDocument/2006/relationships/notesMaster" Target="/ppt/notesMasters/notesMaster1.xml" Id="Rc6b71707586c42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5922ea9b464988" /><Relationship Type="http://schemas.openxmlformats.org/officeDocument/2006/relationships/notesMaster" Target="/ppt/notesMasters/notesMaster1.xml" Id="Raddd96ab5cda425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d613bd7bb644bd4" /><Relationship Type="http://schemas.openxmlformats.org/officeDocument/2006/relationships/notesMaster" Target="/ppt/notesMasters/notesMaster1.xml" Id="Rfc60dcc6a87d44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f7b68f2e744ee1" /><Relationship Type="http://schemas.openxmlformats.org/officeDocument/2006/relationships/notesMaster" Target="/ppt/notesMasters/notesMaster1.xml" Id="R52243a1838ac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Cover uses Mindful Diabetes brand assets and original editable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[4] 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>[7] 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National Institute of Diabetes and Digestive and Kidney Diseases. Symptoms &amp; Causes of Diabetes. Last reviewed October 2024. https://www.niddk.nih.gov/health-information/diabetes/overview/symptoms-causes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[4] 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National Institute of Diabetes and Digestive and Kidney Diseases. Symptoms &amp; Causes of Diabetes. Last reviewed October 2024. https://www.niddk.nih.gov/health-information/diabetes/overview/symptoms-causes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National Institute of Diabetes and Digestive and Kidney Diseases. Symptoms &amp; Causes of Diabetes. Last reviewed October 2024. https://www.niddk.nih.gov/health-information/diabetes/overview/symptoms-causes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[3] Centers for Disease Control and Prevention. Low Blood Sugar (Hypoglycemia). Updated May 15, 2024. https://www.cdc.gov/diabetes/about/low-blood-sugar-hypoglycemia.html</a:t>
            </a:r>
          </a:p>
          <a:p xmlns:a="http://schemas.openxmlformats.org/drawingml/2006/main">
            <a:r>
              <a:t>[4] 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[4] 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>[9] National Heart, Lung, and Blood Institute. High Blood Pressure - Treatment. Updated May 2024. https://www.nhlbi.nih.gov/health/high-blood-pressure/treatment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[4] 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[3] Centers for Disease Control and Prevention. Low Blood Sugar (Hypoglycemia). Updated May 15, 2024. https://www.cdc.gov/diabetes/about/low-blood-sugar-hypoglycemia.html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[5] American Diabetes Association Professional Practice Committee for Diabetes. 13. Older Adults: Standards of Care in Diabetes - 2026. Diabetes Care. 2026;49(Suppl. 1):S277-S296. doi:10.2337/dc26-S013. https://diabetesjournals.org/care/article/49/Supplement_1/S277/163921/13-Older-Adults-Standards-of-Care-in-Diabetes-2026</a:t>
            </a:r>
          </a:p>
          <a:p xmlns:a="http://schemas.openxmlformats.org/drawingml/2006/main">
            <a:r>
              <a:t>[7] 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>[13] Centers for Disease Control and Prevention. Health Effects of Social Isolation and Loneliness. Updated May 15, 2024. https://www.cdc.gov/social-connectedness/risk-factors/index.html</a:t>
            </a:r>
          </a:p>
          <a:p xmlns:a="http://schemas.openxmlformats.org/drawingml/2006/main">
            <a:r>
              <a:t>[15] National Institute on Deafness and Other Communication Disorders. Age-Related Hearing Loss (Presbycusis). Updated March 2023. https://www.nidcd.nih.gov/health/age-related-hearing-loss</a:t>
            </a:r>
          </a:p>
          <a:p xmlns:a="http://schemas.openxmlformats.org/drawingml/2006/main">
            <a:r>
              <a:t>[16] Centers for Disease Control and Prevention. About Mental Health. Updated May 2026. https://www.cdc.gov/mental-health/about/index.html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>[7] 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[9] National Heart, Lung, and Blood Institute. High Blood Pressure - Treatment. Updated May 2024. https://www.nhlbi.nih.gov/health/high-blood-pressure/treatment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[11] U.S. Department of Health and Human Services. Physical Activity Guidelines for Americans, 2nd edition. 2018. https://health.gov/sites/default/files/2019-09/Physical_Activity_Guidelines_2nd_edition.pdf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[10] Centers for Disease Control and Prevention. Diabetes Meal Planning. Updated May 15, 2024. https://www.cdc.gov/diabetes/healthy-eating/diabetes-meal-planning.html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[12] National Heart, Lung, and Blood Institute. What Is Sleep Apnea? Updated November 2024. https://www.nhlbi.nih.gov/health/sleep-apnea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[7] 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>[18] Centers for Disease Control and Prevention. Manage Blood Sugar. Updated May 15, 2024. https://www.cdc.gov/diabetes/treatment/index.html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[13] Centers for Disease Control and Prevention. Health Effects of Social Isolation and Loneliness. Updated May 15, 2024. https://www.cdc.gov/social-connectedness/risk-factors/index.html</a:t>
            </a:r>
          </a:p>
          <a:p xmlns:a="http://schemas.openxmlformats.org/drawingml/2006/main">
            <a:r>
              <a:t>[14] National Eye Institute. Diabetic Retinopathy. Updated September 2025. https://www.nei.nih.gov/eye-health-information/eye-conditions-and-diseases/diabetic-retinopathy</a:t>
            </a:r>
          </a:p>
          <a:p xmlns:a="http://schemas.openxmlformats.org/drawingml/2006/main">
            <a:r>
              <a:t>[15] National Institute on Deafness and Other Communication Disorders. Age-Related Hearing Loss (Presbycusis). Updated March 2023. https://www.nidcd.nih.gov/health/age-related-hearing-loss</a:t>
            </a:r>
          </a:p>
          <a:p xmlns:a="http://schemas.openxmlformats.org/drawingml/2006/main">
            <a:r>
              <a:t>[16] Centers for Disease Control and Prevention. About Mental Health. Updated May 2026. https://www.cdc.gov/mental-health/about/index.html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[5] American Diabetes Association Professional Practice Committee for Diabetes. 13. Older Adults: Standards of Care in Diabetes - 2026. Diabetes Care. 2026;49(Suppl. 1):S277-S296. doi:10.2337/dc26-S013. https://diabetesjournals.org/care/article/49/Supplement_1/S277/163921/13-Older-Adults-Standards-of-Care-in-Diabetes-2026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[5] American Diabetes Association Professional Practice Committee for Diabetes. 13. Older Adults: Standards of Care in Diabetes - 2026. Diabetes Care. 2026;49(Suppl. 1):S277-S296. doi:10.2337/dc26-S013. https://diabetesjournals.org/care/article/49/Supplement_1/S277/163921/13-Older-Adults-Standards-of-Care-in-Diabetes-2026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[9] National Heart, Lung, and Blood Institute. High Blood Pressure - Treatment. Updated May 2024. https://www.nhlbi.nih.gov/health/high-blood-pressure/treatment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>[7] 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[3] Centers for Disease Control and Prevention. Low Blood Sugar (Hypoglycemia). Updated May 15, 2024. https://www.cdc.gov/diabetes/about/low-blood-sugar-hypoglycemia.html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National Institute of Diabetes and Digestive and Kidney Diseases. Symptoms &amp; Causes of Diabetes. Last reviewed October 2024. https://www.niddk.nih.gov/health-information/diabetes/overview/symptoms-causes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[3] Centers for Disease Control and Prevention. Low Blood Sugar (Hypoglycemia). Updated May 15, 2024. https://www.cdc.gov/diabetes/about/low-blood-sugar-hypoglycemia.html</a:t>
            </a:r>
          </a:p>
          <a:p xmlns:a="http://schemas.openxmlformats.org/drawingml/2006/main">
            <a:r>
              <a:t>[4] 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r>
              <a:t>[5] American Diabetes Association Professional Practice Committee for Diabetes. 13. Older Adults: Standards of Care in Diabetes - 2026. Diabetes Care. 2026;49(Suppl. 1):S277-S296. doi:10.2337/dc26-S013. https://diabetesjournals.org/care/article/49/Supplement_1/S277/163921/13-Older-Adults-Standards-of-Care-in-Diabetes-2026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>[7] 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>[9] National Heart, Lung, and Blood Institute. High Blood Pressure - Treatment. Updated May 2024. https://www.nhlbi.nih.gov/health/high-blood-pressure/treatment</a:t>
            </a:r>
          </a:p>
          <a:p xmlns:a="http://schemas.openxmlformats.org/drawingml/2006/main">
            <a:r>
              <a:t>[10] Centers for Disease Control and Prevention. Diabetes Meal Planning. Updated May 15, 2024. https://www.cdc.gov/diabetes/healthy-eating/diabetes-meal-planning.html</a:t>
            </a:r>
          </a:p>
          <a:p xmlns:a="http://schemas.openxmlformats.org/drawingml/2006/main">
            <a:r>
              <a:t>[11] U.S. Department of Health and Human Services. Physical Activity Guidelines for Americans, 2nd edition. 2018. https://health.gov/sites/default/files/2019-09/Physical_Activity_Guidelines_2nd_edition.pdf</a:t>
            </a:r>
          </a:p>
          <a:p xmlns:a="http://schemas.openxmlformats.org/drawingml/2006/main">
            <a:r>
              <a:t>[12] National Heart, Lung, and Blood Institute. What Is Sleep Apnea? Updated November 2024. https://www.nhlbi.nih.gov/health/sleep-apnea</a:t>
            </a:r>
          </a:p>
          <a:p xmlns:a="http://schemas.openxmlformats.org/drawingml/2006/main">
            <a:r>
              <a:t>[13] Centers for Disease Control and Prevention. Health Effects of Social Isolation and Loneliness. Updated May 15, 2024. https://www.cdc.gov/social-connectedness/risk-factors/index.html</a:t>
            </a:r>
          </a:p>
          <a:p xmlns:a="http://schemas.openxmlformats.org/drawingml/2006/main">
            <a:r>
              <a:t>[14] National Eye Institute. Diabetic Retinopathy. Updated September 2025. https://www.nei.nih.gov/eye-health-information/eye-conditions-and-diseases/diabetic-retinopathy</a:t>
            </a:r>
          </a:p>
          <a:p xmlns:a="http://schemas.openxmlformats.org/drawingml/2006/main">
            <a:r>
              <a:t>[15] National Institute on Deafness and Other Communication Disorders. Age-Related Hearing Loss (Presbycusis). Updated March 2023. https://www.nidcd.nih.gov/health/age-related-hearing-loss</a:t>
            </a:r>
          </a:p>
          <a:p xmlns:a="http://schemas.openxmlformats.org/drawingml/2006/main">
            <a:r>
              <a:t>[16] Centers for Disease Control and Prevention. About Mental Health. Updated May 2026. https://www.cdc.gov/mental-health/about/index.html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>[18] Centers for Disease Control and Prevention. Manage Blood Sugar. Updated May 15, 2024. https://www.cdc.gov/diabetes/treatment/index.html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National Institute of Diabetes and Digestive and Kidney Diseases. Symptoms &amp; Causes of Diabetes. Last reviewed October 2024. https://www.niddk.nih.gov/health-information/diabetes/overview/symptoms-causes</a:t>
            </a:r>
          </a:p>
          <a:p xmlns:a="http://schemas.openxmlformats.org/drawingml/2006/main">
            <a:r>
              <a:t>[2] 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r>
              <a:t>[3] Centers for Disease Control and Prevention. Low Blood Sugar (Hypoglycemia). Updated May 15, 2024. https://www.cdc.gov/diabetes/about/low-blood-sugar-hypoglycemia.html</a:t>
            </a:r>
          </a:p>
          <a:p xmlns:a="http://schemas.openxmlformats.org/drawingml/2006/main">
            <a:r>
              <a:t>[4] 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r>
              <a:t>[5] American Diabetes Association Professional Practice Committee for Diabetes. 13. Older Adults: Standards of Care in Diabetes - 2026. Diabetes Care. 2026;49(Suppl. 1):S277-S296. doi:10.2337/dc26-S013. https://diabetesjournals.org/care/article/49/Supplement_1/S277/163921/13-Older-Adults-Standards-of-Care-in-Diabetes-2026</a:t>
            </a:r>
          </a:p>
          <a:p xmlns:a="http://schemas.openxmlformats.org/drawingml/2006/main">
            <a:r>
              <a:t>[6] 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r>
              <a:t>[7] 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r>
              <a:t>[8] 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r>
              <a:t>[9] National Heart, Lung, and Blood Institute. High Blood Pressure - Treatment. Updated May 2024. https://www.nhlbi.nih.gov/health/high-blood-pressure/treatment</a:t>
            </a:r>
          </a:p>
          <a:p xmlns:a="http://schemas.openxmlformats.org/drawingml/2006/main">
            <a:r>
              <a:t>[10] Centers for Disease Control and Prevention. Diabetes Meal Planning. Updated May 15, 2024. https://www.cdc.gov/diabetes/healthy-eating/diabetes-meal-planning.html</a:t>
            </a:r>
          </a:p>
          <a:p xmlns:a="http://schemas.openxmlformats.org/drawingml/2006/main">
            <a:r>
              <a:t>[11] U.S. Department of Health and Human Services. Physical Activity Guidelines for Americans, 2nd edition. 2018. https://health.gov/sites/default/files/2019-09/Physical_Activity_Guidelines_2nd_edition.pdf</a:t>
            </a:r>
          </a:p>
          <a:p xmlns:a="http://schemas.openxmlformats.org/drawingml/2006/main">
            <a:r>
              <a:t>[12] National Heart, Lung, and Blood Institute. What Is Sleep Apnea? Updated November 2024. https://www.nhlbi.nih.gov/health/sleep-apnea</a:t>
            </a:r>
          </a:p>
          <a:p xmlns:a="http://schemas.openxmlformats.org/drawingml/2006/main">
            <a:r>
              <a:t>[13] Centers for Disease Control and Prevention. Health Effects of Social Isolation and Loneliness. Updated May 15, 2024. https://www.cdc.gov/social-connectedness/risk-factors/index.html</a:t>
            </a:r>
          </a:p>
          <a:p xmlns:a="http://schemas.openxmlformats.org/drawingml/2006/main">
            <a:r>
              <a:t>[14] National Eye Institute. Diabetic Retinopathy. Updated September 2025. https://www.nei.nih.gov/eye-health-information/eye-conditions-and-diseases/diabetic-retinopathy</a:t>
            </a:r>
          </a:p>
          <a:p xmlns:a="http://schemas.openxmlformats.org/drawingml/2006/main">
            <a:r>
              <a:t>[15] National Institute on Deafness and Other Communication Disorders. Age-Related Hearing Loss (Presbycusis). Updated March 2023. https://www.nidcd.nih.gov/health/age-related-hearing-loss</a:t>
            </a:r>
          </a:p>
          <a:p xmlns:a="http://schemas.openxmlformats.org/drawingml/2006/main">
            <a:r>
              <a:t>[16] Centers for Disease Control and Prevention. About Mental Health. Updated May 2026. https://www.cdc.gov/mental-health/about/index.html</a:t>
            </a:r>
          </a:p>
          <a:p xmlns:a="http://schemas.openxmlformats.org/drawingml/2006/main">
            <a:r>
              <a:t>[17] 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r>
              <a:t>[18] Centers for Disease Control and Prevention. Manage Blood Sugar. Updated May 15, 2024. https://www.cdc.gov/diabetes/treatment/index.html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Visible copy was reviewed for patient education, overstatement, and citation support. Medical review status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4a2479a0c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fceaef805418d" /><Relationship Type="http://schemas.openxmlformats.org/officeDocument/2006/relationships/slideLayout" Target="/ppt/slideLayouts/slideLayout1.xml" Id="R51bc0353a87145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bc0353a87145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860ea3f5041af" /><Relationship Type="http://schemas.openxmlformats.org/officeDocument/2006/relationships/image" Target="/ppt/media/image.jpeg" Id="R94a1ba466fce4d9a" /><Relationship Type="http://schemas.openxmlformats.org/officeDocument/2006/relationships/notesSlide" Target="/ppt/notesSlides/notesSlide1.xml" Id="R38d93f19072149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e7cff11564421" /><Relationship Type="http://schemas.openxmlformats.org/officeDocument/2006/relationships/hyperlink" Target="https://www.mindfuldiabetes.org/" TargetMode="External" Id="R01ba1c8024f74f22" /><Relationship Type="http://schemas.openxmlformats.org/officeDocument/2006/relationships/notesSlide" Target="/ppt/notesSlides/notesSlide2.xml" Id="R103cee032c1a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29fefd0d84294" /><Relationship Type="http://schemas.openxmlformats.org/officeDocument/2006/relationships/hyperlink" Target="https://www.mindfuldiabetes.org/" TargetMode="External" Id="Rfd7a1892d7894335" /><Relationship Type="http://schemas.openxmlformats.org/officeDocument/2006/relationships/notesSlide" Target="/ppt/notesSlides/notesSlide3.xml" Id="R82ac5aa8d77e4a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29ce3fef144a3" /><Relationship Type="http://schemas.openxmlformats.org/officeDocument/2006/relationships/hyperlink" Target="https://www.mindfuldiabetes.org/" TargetMode="External" Id="R12e7bda92ce94e2f" /><Relationship Type="http://schemas.openxmlformats.org/officeDocument/2006/relationships/notesSlide" Target="/ppt/notesSlides/notesSlide4.xml" Id="R81d3d2d32a514e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2df4071364d9b" /><Relationship Type="http://schemas.openxmlformats.org/officeDocument/2006/relationships/hyperlink" Target="https://www.mindfuldiabetes.org/" TargetMode="External" Id="R454cb6e1545a4a1b" /><Relationship Type="http://schemas.openxmlformats.org/officeDocument/2006/relationships/notesSlide" Target="/ppt/notesSlides/notesSlide5.xml" Id="Rafe683cbe6cb44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c792c40b4432c" /><Relationship Type="http://schemas.openxmlformats.org/officeDocument/2006/relationships/hyperlink" Target="https://www.mindfuldiabetes.org/" TargetMode="External" Id="Rf53acada771f48b8" /><Relationship Type="http://schemas.openxmlformats.org/officeDocument/2006/relationships/notesSlide" Target="/ppt/notesSlides/notesSlide6.xml" Id="R1a0b95fd627048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da487a4354b7d" /><Relationship Type="http://schemas.openxmlformats.org/officeDocument/2006/relationships/hyperlink" Target="https://www.mindfuldiabetes.org/" TargetMode="External" Id="R079a1808d5ef4492" /><Relationship Type="http://schemas.openxmlformats.org/officeDocument/2006/relationships/notesSlide" Target="/ppt/notesSlides/notesSlide7.xml" Id="Rf0a672fb9790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9cab3b7d94619" /><Relationship Type="http://schemas.openxmlformats.org/officeDocument/2006/relationships/hyperlink" Target="https://www.mindfuldiabetes.org/" TargetMode="External" Id="R993476ce313b4982" /><Relationship Type="http://schemas.openxmlformats.org/officeDocument/2006/relationships/notesSlide" Target="/ppt/notesSlides/notesSlide8.xml" Id="R8c942d709c7442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4e4dca3b349fd" /><Relationship Type="http://schemas.openxmlformats.org/officeDocument/2006/relationships/hyperlink" Target="https://www.mindfuldiabetes.org/" TargetMode="External" Id="Ra43a73b9daa44997" /><Relationship Type="http://schemas.openxmlformats.org/officeDocument/2006/relationships/notesSlide" Target="/ppt/notesSlides/notesSlide9.xml" Id="Rc28dcf7df9134c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29a2c05334ab9" /><Relationship Type="http://schemas.openxmlformats.org/officeDocument/2006/relationships/hyperlink" Target="https://www.mindfuldiabetes.org/" TargetMode="External" Id="R72950357193b440c" /><Relationship Type="http://schemas.openxmlformats.org/officeDocument/2006/relationships/notesSlide" Target="/ppt/notesSlides/notesSlide10.xml" Id="R4322d33ec62348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90cbca5d247f1" /><Relationship Type="http://schemas.openxmlformats.org/officeDocument/2006/relationships/hyperlink" Target="https://www.mindfuldiabetes.org/" TargetMode="External" Id="R4ab624c22b324100" /><Relationship Type="http://schemas.openxmlformats.org/officeDocument/2006/relationships/notesSlide" Target="/ppt/notesSlides/notesSlide11.xml" Id="R884d400c7a1e4b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b75565d154fe3" /><Relationship Type="http://schemas.openxmlformats.org/officeDocument/2006/relationships/hyperlink" Target="https://www.mindfuldiabetes.org/" TargetMode="External" Id="R0b009958d90f471b" /><Relationship Type="http://schemas.openxmlformats.org/officeDocument/2006/relationships/notesSlide" Target="/ppt/notesSlides/notesSlide12.xml" Id="Rd03ca73a83da4a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7c59dc51b495a" /><Relationship Type="http://schemas.openxmlformats.org/officeDocument/2006/relationships/hyperlink" Target="https://www.mindfuldiabetes.org/" TargetMode="External" Id="Rb8989aed97b341ac" /><Relationship Type="http://schemas.openxmlformats.org/officeDocument/2006/relationships/notesSlide" Target="/ppt/notesSlides/notesSlide13.xml" Id="Rc2c0c0909f964a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97313ccf34b4c" /><Relationship Type="http://schemas.openxmlformats.org/officeDocument/2006/relationships/hyperlink" Target="https://www.mindfuldiabetes.org/" TargetMode="External" Id="Rad621ba4b2834619" /><Relationship Type="http://schemas.openxmlformats.org/officeDocument/2006/relationships/notesSlide" Target="/ppt/notesSlides/notesSlide14.xml" Id="R3313fd053b6944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47c30dc174081" /><Relationship Type="http://schemas.openxmlformats.org/officeDocument/2006/relationships/hyperlink" Target="https://www.mindfuldiabetes.org/" TargetMode="External" Id="Rc190de09f67a4657" /><Relationship Type="http://schemas.openxmlformats.org/officeDocument/2006/relationships/notesSlide" Target="/ppt/notesSlides/notesSlide15.xml" Id="R029f013a076940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843e1372448b9" /><Relationship Type="http://schemas.openxmlformats.org/officeDocument/2006/relationships/hyperlink" Target="https://www.mindfuldiabetes.org/" TargetMode="External" Id="R9ee4c6791eea4fed" /><Relationship Type="http://schemas.openxmlformats.org/officeDocument/2006/relationships/notesSlide" Target="/ppt/notesSlides/notesSlide16.xml" Id="R0a6a247b024b45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f4b3ac54345cc" /><Relationship Type="http://schemas.openxmlformats.org/officeDocument/2006/relationships/hyperlink" Target="https://www.mindfuldiabetes.org/" TargetMode="External" Id="Rc1c2a52de29946f0" /><Relationship Type="http://schemas.openxmlformats.org/officeDocument/2006/relationships/notesSlide" Target="/ppt/notesSlides/notesSlide17.xml" Id="Rdedf987330bf4d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7019b5c254da8" /><Relationship Type="http://schemas.openxmlformats.org/officeDocument/2006/relationships/hyperlink" Target="https://www.mindfuldiabetes.org/" TargetMode="External" Id="R988686eb03034898" /><Relationship Type="http://schemas.openxmlformats.org/officeDocument/2006/relationships/notesSlide" Target="/ppt/notesSlides/notesSlide18.xml" Id="R5fc463f6c8d34d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908be7aeb4af4" /><Relationship Type="http://schemas.openxmlformats.org/officeDocument/2006/relationships/hyperlink" Target="https://www.mindfuldiabetes.org/" TargetMode="External" Id="Ra1edbd93ff1a4af3" /><Relationship Type="http://schemas.openxmlformats.org/officeDocument/2006/relationships/notesSlide" Target="/ppt/notesSlides/notesSlide19.xml" Id="R42f38bf4d1ad40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fb1f1e5984733" /><Relationship Type="http://schemas.openxmlformats.org/officeDocument/2006/relationships/hyperlink" Target="https://www.mindfuldiabetes.org/" TargetMode="External" Id="R2839c28ee1924aad" /><Relationship Type="http://schemas.openxmlformats.org/officeDocument/2006/relationships/notesSlide" Target="/ppt/notesSlides/notesSlide20.xml" Id="Rf1a17ee7c38840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2a6e59f744827" /><Relationship Type="http://schemas.openxmlformats.org/officeDocument/2006/relationships/hyperlink" Target="https://www.mindfuldiabetes.org/" TargetMode="External" Id="R3d4a196637fd4d4b" /><Relationship Type="http://schemas.openxmlformats.org/officeDocument/2006/relationships/notesSlide" Target="/ppt/notesSlides/notesSlide21.xml" Id="Rebff413977b54b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a36a45a634ac7" /><Relationship Type="http://schemas.openxmlformats.org/officeDocument/2006/relationships/hyperlink" Target="https://www.mindfuldiabetes.org/free-guides/blood-sugar-brain-health/" TargetMode="External" Id="R9792f9e0679d407c" /><Relationship Type="http://schemas.openxmlformats.org/officeDocument/2006/relationships/hyperlink" Target="https://www.mindfuldiabetes.org/health-tools/" TargetMode="External" Id="R46cb47c2b3e84717" /><Relationship Type="http://schemas.openxmlformats.org/officeDocument/2006/relationships/hyperlink" Target="https://www.mindfuldiabetes.ai/" TargetMode="External" Id="R3d646cb0dfd940e6" /><Relationship Type="http://schemas.openxmlformats.org/officeDocument/2006/relationships/hyperlink" Target="https://www.mindfuldiabetes.org/donation/" TargetMode="External" Id="R1e2745646ada42ed" /><Relationship Type="http://schemas.openxmlformats.org/officeDocument/2006/relationships/hyperlink" Target="https://www.mindfuldiabetes.org/" TargetMode="External" Id="R3d95c1b244574a1a" /><Relationship Type="http://schemas.openxmlformats.org/officeDocument/2006/relationships/notesSlide" Target="/ppt/notesSlides/notesSlide22.xml" Id="Rcf5ce56444fd4c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ac25aeb214b06" /><Relationship Type="http://schemas.openxmlformats.org/officeDocument/2006/relationships/hyperlink" Target="https://www.mindfuldiabetes.org/" TargetMode="External" Id="Rad8f3a406e6244e9" /><Relationship Type="http://schemas.openxmlformats.org/officeDocument/2006/relationships/notesSlide" Target="/ppt/notesSlides/notesSlide23.xml" Id="Rcebc6f0a082a49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a6fb1a31a4592" /><Relationship Type="http://schemas.openxmlformats.org/officeDocument/2006/relationships/hyperlink" Target="https://www.mindfuldiabetes.org/" TargetMode="External" Id="Ra9602cf4c10f45f2" /><Relationship Type="http://schemas.openxmlformats.org/officeDocument/2006/relationships/notesSlide" Target="/ppt/notesSlides/notesSlide24.xml" Id="R876734a2ed7a4e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07C3A-4AF5-425F-8C1F-A28962E3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01AD7-40FE-419E-8758-C6E7FF58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7772400" cy="777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0">
            <a:solidFill>
              <a:srgbClr val="FFFAF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1ba466fce4d9a"/>
          <a:stretch xmlns:a="http://schemas.openxmlformats.org/drawingml/2006/main"/>
        </p:blipFill>
        <p:spPr>
          <a:xfrm xmlns:a="http://schemas.openxmlformats.org/drawingml/2006/main">
            <a:off x="571574" y="361950"/>
            <a:ext cx="647552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36127-249C-4E19-A650-F849A53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MINDFUL DIABETES FREE GUIDES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9D0F1-98D7-4D1A-8707-3662884F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9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E8F4EF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E8F4EF"/>
                </a:solidFill>
                <a:latin typeface="Lato"/>
                <a:ea typeface="Lato"/>
                <a:cs typeface="Lato"/>
              </a:rPr>
              <a:t>Simple, practical guidance for metabolic and brain health.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4BE77-E371-4979-8FFB-5521844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24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A24FA-B5F5-476A-AB49-F4845FE1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191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FREE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DDDD5-68DE-4173-ACC2-D5779A34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75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3375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Blood Sugar &amp;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75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3375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Brain 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30003-8EB2-40FA-ADAF-058DBC88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Understanding the Everyday Connection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950EF-E0E6-42EC-B840-E36F3EB7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995" y="3090863"/>
            <a:ext cx="185166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19050">
            <a:solidFill>
              <a:srgbClr val="3A8F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728C0-C47D-4E2C-A4BA-5E2836B4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48" y="3193732"/>
            <a:ext cx="617220" cy="6172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69A1C-B158-4B73-B206-9F19C07E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215" y="3116580"/>
            <a:ext cx="720090" cy="7200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EBA89-D420-44EA-8D26-E29DC792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2343"/>
            <a:ext cx="565785" cy="56578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E2912-E2DA-4A00-B2DB-B113CE90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899" y="3669506"/>
            <a:ext cx="642938" cy="6429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90212-4DF5-45DC-B8A2-63B58F75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390" y="3193733"/>
            <a:ext cx="0" cy="10801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A8F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EAC88-AFF0-44E3-942E-CB3C05C4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34050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6422B-05C1-4E17-BDB2-2568F12C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867400"/>
            <a:ext cx="1371600" cy="13716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005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BA342-6DBA-4B63-BDA2-1147C211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867400"/>
            <a:ext cx="1371600" cy="13716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F0723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DF7C4-00CC-44ED-982F-0093C90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134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C9A8"/>
          </a:solidFill>
          <a:ln xmlns:a="http://schemas.openxmlformats.org/drawingml/2006/main" w="0">
            <a:solidFill>
              <a:srgbClr val="95C9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82089-18B5-4951-A87B-BF095F73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09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82"/>
          </a:solidFill>
          <a:ln xmlns:a="http://schemas.openxmlformats.org/drawingml/2006/main" w="0">
            <a:solidFill>
              <a:srgbClr val="F4B4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5849B-06CC-44B6-9E19-493898EB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8F7B"/>
            </a:solidFill>
            <a:prstDash val="solid"/>
          </a:ln>
        </p:spPr>
      </p:sp>
      <p:cxnSp>
        <p:nvCxnSpPr>
          <p:cNvPr id="50" name=""/>
          <p:cNvCxnSpPr>
            <a:stCxn xmlns:a="http://schemas.openxmlformats.org/drawingml/2006/main" id="16" idx="0"/>
            <a:endCxn xmlns:a="http://schemas.openxmlformats.org/drawingml/2006/main" id="21" idx="4"/>
          </p:cNvCxnSpPr>
          <p:nvPr/>
        </p:nvCxnSpPr>
        <p:spPr>
          <a:xfrm xmlns:a="http://schemas.openxmlformats.org/drawingml/2006/main" rot="16200000" flipH="1">
            <a:off x="4433888" y="4586288"/>
            <a:ext cx="2209800" cy="857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8F7B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098C3-A6BC-4BF6-838F-C5967C6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3543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52290-CAB3-481B-BFF0-DBB419A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AF270-A982-497F-9EEE-6A33108C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A calm guide to connected care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D2A92-52F4-422F-90D0-34C11B36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Glucose, blood vessels, daily routines, sensory health, and clinical care all fit into the same bigger conversation.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299BA-35B1-4A84-A147-09625733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Mindful Diabetes Inc. | 501(c)(3) nonprofit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F45D4A-FC48-4293-B275-239A49D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220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Published: July 31, 2026 | Medical review: pending</a:t>
            </a:r>
          </a:p>
        </p:txBody>
      </p:sp>
    </p:spTree>
    <p:extLst>
      <p:ext uri="{BB962C8B-B14F-4D97-AF65-F5344CB8AC3E}">
        <p14:creationId xmlns:p14="http://schemas.microsoft.com/office/powerpoint/2010/main" val="762606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526389-33A2-41E9-9AF8-8864F441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6C1CF-FDCF-469F-8607-882F3474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The everyday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C6E2B-3D67-493D-A622-25684E8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This guide is for people with and without diabetes, families, caregivers, and educators.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426FA-2CF4-4D06-8D92-A6E2ED81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8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8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Brain health is not controlled by one number or one habit. It is shaped by a wider pattern of metabolic health, vascular health, sensory access, sleep, mood, connection, and qualified care. [4,6-8]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02A6D-0618-4834-B490-84854F9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FB28D-A1F2-4674-AF62-C8D2A70D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958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Whole-person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brain 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94E71-EDE7-4E5C-9139-86E4D0B5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28875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50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1F9BC-BE6D-4170-BE9A-C34BFF3D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Glucose care</a:t>
            </a:r>
          </a:p>
        </p:txBody>
      </p:sp>
      <p:cxnSp>
        <p:nvCxnSpPr>
          <p:cNvPr id="56" name=""/>
          <p:cNvCxnSpPr>
            <a:stCxn xmlns:a="http://schemas.openxmlformats.org/drawingml/2006/main" id="5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886200" y="2886075"/>
            <a:ext cx="47625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2C1C8-1D71-4991-9C22-76A81189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83956-4157-465F-B129-7632E76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337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Blood pressure</a:t>
            </a:r>
          </a:p>
        </p:txBody>
      </p:sp>
      <p:cxnSp>
        <p:nvCxnSpPr>
          <p:cNvPr id="59" name=""/>
          <p:cNvCxnSpPr>
            <a:stCxn xmlns:a="http://schemas.openxmlformats.org/drawingml/2006/main" id="5" idx="7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438486" y="3238500"/>
            <a:ext cx="876464" cy="97171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0ADEA-297F-4B98-8556-A57F56F8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3395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773C4-C9C5-4B29-AD02-9FCF045E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577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Cholesterol</a:t>
            </a:r>
          </a:p>
        </p:txBody>
      </p:sp>
      <p:cxnSp>
        <p:nvCxnSpPr>
          <p:cNvPr id="62" name=""/>
          <p:cNvCxnSpPr>
            <a:stCxn xmlns:a="http://schemas.openxmlformats.org/drawingml/2006/main" id="5" idx="6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67250" y="4762500"/>
            <a:ext cx="12001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6CBCC-8E39-43A3-9C52-BDB7BBBC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55320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4A3AA-CB89-49B4-B8DE-847FCF04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6770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Movement</a:t>
            </a:r>
          </a:p>
        </p:txBody>
      </p:sp>
      <p:cxnSp>
        <p:nvCxnSpPr>
          <p:cNvPr id="65" name=""/>
          <p:cNvCxnSpPr>
            <a:stCxn xmlns:a="http://schemas.openxmlformats.org/drawingml/2006/main" id="5" idx="4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86200" y="5543550"/>
            <a:ext cx="7620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B4FB1-577F-4D9F-907F-E30B761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68655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D13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1D8B4-E799-4BDC-A720-84F8B6BA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8103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Sleep</a:t>
            </a:r>
          </a:p>
        </p:txBody>
      </p:sp>
      <p:cxnSp>
        <p:nvCxnSpPr>
          <p:cNvPr id="68" name=""/>
          <p:cNvCxnSpPr>
            <a:stCxn xmlns:a="http://schemas.openxmlformats.org/drawingml/2006/main" id="5" idx="4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3476625" y="5543550"/>
            <a:ext cx="40957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A8AC9-8EDF-476E-B001-6E9570C9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4355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072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87D69-ECFD-47EC-AB33-21F5E3A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Hearing</a:t>
            </a:r>
          </a:p>
        </p:txBody>
      </p:sp>
      <p:cxnSp>
        <p:nvCxnSpPr>
          <p:cNvPr id="71" name=""/>
          <p:cNvCxnSpPr>
            <a:stCxn xmlns:a="http://schemas.openxmlformats.org/drawingml/2006/main" id="5" idx="3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2552700" y="5314786"/>
            <a:ext cx="781214" cy="45736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D4AA1-7825-44DC-A5F3-2B91FE8C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072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751C1-C266-4318-B185-8AE3A3E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957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Vision</a:t>
            </a:r>
          </a:p>
        </p:txBody>
      </p:sp>
      <p:cxnSp>
        <p:nvCxnSpPr>
          <p:cNvPr id="74" name=""/>
          <p:cNvCxnSpPr>
            <a:stCxn xmlns:a="http://schemas.openxmlformats.org/drawingml/2006/main" id="5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 flipV="1">
            <a:off x="2457450" y="4000500"/>
            <a:ext cx="876464" cy="20971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510E0-D530-4771-AA8E-EE9BA6FB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3840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A5C9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C1393-7C0B-4F7F-A674-7BB62104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7A5C9E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7A5C9E"/>
                </a:solidFill>
                <a:latin typeface="Lato"/>
                <a:ea typeface="Lato"/>
                <a:cs typeface="Lato"/>
              </a:rPr>
              <a:t>Mood</a:t>
            </a:r>
          </a:p>
        </p:txBody>
      </p:sp>
      <p:cxnSp>
        <p:nvCxnSpPr>
          <p:cNvPr id="77" name=""/>
          <p:cNvCxnSpPr>
            <a:stCxn xmlns:a="http://schemas.openxmlformats.org/drawingml/2006/main" id="5" idx="0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 flipV="1">
            <a:off x="3638550" y="2667000"/>
            <a:ext cx="24765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48C5B-A561-494D-99C0-84F0C3BB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D70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7A122-EBEB-415C-B40B-1EB25F33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907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8D704F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8D704F"/>
                </a:solidFill>
                <a:latin typeface="Lato"/>
                <a:ea typeface="Lato"/>
                <a:cs typeface="Lato"/>
              </a:rPr>
              <a:t>Social connection</a:t>
            </a:r>
          </a:p>
        </p:txBody>
      </p:sp>
      <p:cxnSp>
        <p:nvCxnSpPr>
          <p:cNvPr id="80" name=""/>
          <p:cNvCxnSpPr>
            <a:stCxn xmlns:a="http://schemas.openxmlformats.org/drawingml/2006/main" id="5" idx="0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3886200" y="2324100"/>
            <a:ext cx="828675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EB641-F128-4E69-934E-D1A37692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503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A2A772-AF66-407F-94E8-B988C394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1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Medical care</a:t>
            </a:r>
          </a:p>
        </p:txBody>
      </p:sp>
      <p:cxnSp>
        <p:nvCxnSpPr>
          <p:cNvPr id="83" name=""/>
          <p:cNvCxnSpPr>
            <a:stCxn xmlns:a="http://schemas.openxmlformats.org/drawingml/2006/main" id="5" idx="6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4667250" y="4343400"/>
            <a:ext cx="160020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5C7C0"/>
            </a:solidFill>
            <a:prstDash val="solid"/>
            <a:headEnd type="non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3EDF99-99B0-4870-870F-59FF04ED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0"/>
            <a:ext cx="666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00503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27275C-7B3E-4DD1-9822-A65C15E8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2D2989-AB6C-4864-AA5E-B5FBCA4F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248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Risk can sometimes be influenced, but it cannot be perfectly controlled.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5ADC9D-3EE1-4FDB-8186-2DC0F612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72450"/>
            <a:ext cx="632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Use this guide to organize questions, not to predict the future. Memory concerns deserve qualified evaluation.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06EBB2-BDB6-43B3-BAAD-D801CF04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C39B2C-EB41-404E-B542-9AFC37CB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A935B7-8AD2-4429-A6E6-CC6FA6F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Everyday connection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4C1735-B98B-460C-9088-A8A3A7A6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627B9A-0528-4EBB-A4DD-F13C282A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EF966E-073E-4455-9BE2-D1FBFC29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01ba1c8024f74f22"/>
              </a:rPr>
              <a:t>mindfuldiabetes.org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63FC81-9199-45CC-B19D-FD95D6CE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5544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D99C02-4BB0-48FA-AAD5-809C4635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GLUCOSE BASICS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0A73C-4FD5-403A-BD98-73E6D02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What glucose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64BC9-C3FA-485E-A32A-A4E4DF1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Glucose is one useful energy source. Diabetes care is not about eliminating glucose.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509BE-1B32-432B-832D-F18FEB70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6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During digestion, many carbohydrate-containing foods are broken into glucose, which enters the bloodstream. Fiber is not fully digested into glucose, and different carbohydrate foods can affect people differently. [1,2,10]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10AB4-3336-4CE9-A321-2F0031D4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81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194D2-DD86-4CBC-AB70-BE7B71F9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9051A-5179-4A5F-894A-39F6499E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D6DB0-915B-4AD0-A911-AC78FA2F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 meal is eaten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ECA4B-0FB8-446F-A8AC-BFD8138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81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14936-5CB9-414D-A07C-4ABFA0F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47FE0-E5BE-4D54-8C13-8E88D046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14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6EF34-37C4-48CC-88F6-10056344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Food is digested</a:t>
            </a:r>
          </a:p>
        </p:txBody>
      </p:sp>
      <p:cxnSp>
        <p:nvCxnSpPr>
          <p:cNvPr id="5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71850" y="28479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EB7AE"/>
            </a:solidFill>
            <a:prstDash val="solid"/>
            <a:head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6C72C-208C-4DFC-9A2D-364D633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281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E8B1F-12E0-4EE8-9548-DA5F3024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2D237-CFBA-4F35-904E-5482E68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78631-7BFF-493E-8261-9A96DF03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Many carbohydrates are broken into glucose</a:t>
            </a:r>
          </a:p>
        </p:txBody>
      </p:sp>
      <p:cxnSp>
        <p:nvCxnSpPr>
          <p:cNvPr id="62" name=""/>
          <p:cNvCxnSpPr>
            <a:stCxn xmlns:a="http://schemas.openxmlformats.org/drawingml/2006/main" id="9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3371850" y="2847975"/>
            <a:ext cx="51435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EB7AE"/>
            </a:solidFill>
            <a:prstDash val="solid"/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3D62C-BCCB-4376-85E7-F1FA0FF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281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F5633-2703-45D6-9376-7C01F98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C5ADD-2E17-4827-B3F6-20731569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766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59944-09CD-4146-8BAF-7F166293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Glucose enters the bloodstream</a:t>
            </a:r>
          </a:p>
        </p:txBody>
      </p:sp>
      <p:cxnSp>
        <p:nvCxnSpPr>
          <p:cNvPr id="67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371850" y="40100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EB7AE"/>
            </a:solidFill>
            <a:prstDash val="solid"/>
            <a:headEnd type="non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479D8-D40A-499A-8282-9974942E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281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594AC-9B68-4FF5-9C43-30C2EA3B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CA66A-B57C-4056-92AB-6748CABE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38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27357-0D38-46BE-A650-51AAD9F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Insulin helps regulate use and storage</a:t>
            </a:r>
          </a:p>
        </p:txBody>
      </p:sp>
      <p:cxnSp>
        <p:nvCxnSpPr>
          <p:cNvPr id="72" name=""/>
          <p:cNvCxnSpPr>
            <a:stCxn xmlns:a="http://schemas.openxmlformats.org/drawingml/2006/main" id="19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3371850" y="4010025"/>
            <a:ext cx="51435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EB7AE"/>
            </a:solidFill>
            <a:prstDash val="solid"/>
            <a:headEnd type="non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52A5FB-1672-40C2-9826-32D11A4F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00600"/>
            <a:ext cx="281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CF69E-2D18-4A0E-88A8-F19668E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72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D2C19-538E-44B4-A61F-B6BAA85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38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E35BA-9BC7-4E2F-8B7B-C6046A3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91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Cells use available energy</a:t>
            </a:r>
          </a:p>
        </p:txBody>
      </p:sp>
      <p:cxnSp>
        <p:nvCxnSpPr>
          <p:cNvPr id="77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371850" y="51720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EB7AE"/>
            </a:solidFill>
            <a:prstDash val="solid"/>
            <a:headEnd type="non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5A09AD-D908-42CC-8686-4E4DAFDA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0"/>
            <a:ext cx="666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8C89DD-F7C5-4A99-8109-27996AC0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E96992-3B3A-4D14-BDD6-798AA34F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The brain needs more than glucose.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9E5E5D-A781-4932-80EF-A162DD9B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00950"/>
            <a:ext cx="632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Thinking and memory also depend on oxygen, blood flow, sleep, medications, sensory access, mood, and broader health. [4,6]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7A341B-ABF0-46DE-9FC9-CE13396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BEE85-D291-4DF8-96E3-384D249C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B899B8-4B02-424B-8833-D0484CF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Glucose basics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42E85-50B1-4282-A0F1-70AEFCF7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47A709-5DAC-44CE-A04D-04897ADF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30336D-CC28-4D6F-9DC1-22C73D7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fd7a1892d7894335"/>
              </a:rPr>
              <a:t>mindfuldiabetes.org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3A3113-A24E-444D-9F83-FDEF844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3915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F42B81-7397-487A-B163-B3B69CAA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INSULIN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97275-1ACF-4488-8878-55E3D9BE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How insulin helps regulate glucose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1390D-B679-4072-88DE-7C24D413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Insulin is a hormone. For some people, it is also a prescribed medicine.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46557-20F9-4957-80EB-42219081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6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Insulin helps regulate how glucose moves from the bloodstream into cells and how the body stores energy in tissues such as muscle and liver. Personal glucose targets vary; medicine decisions belong with the care team. [1,2]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47FA6-5C3D-4EFB-9E35-E9556318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" cy="68580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D9C4"/>
          </a:solidFill>
          <a:ln xmlns:a="http://schemas.openxmlformats.org/drawingml/2006/main" w="19050">
            <a:solidFill>
              <a:srgbClr val="F072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99474-F30C-4AEB-87D5-01323FD3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Pancreas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A7EFC-D3F2-4A2A-AF95-D0569DB0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52750"/>
            <a:ext cx="34290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14288">
            <a:solidFill>
              <a:srgbClr val="F072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001B5-2A18-4A46-93F2-3EF55E6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Bloodstream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AF03E-5A64-4693-B75A-F5BB774F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FBD10-BE7F-44C7-AFBA-85428BE8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7EA02-C46F-4F65-93CE-C80D512E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4F5DE-2D8B-4803-928D-7DD0F7F4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2CB53-C314-4C80-AF18-00442DD7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17199-DDCB-4BB5-B7FF-B10782A4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62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328AF-0308-4AC8-93CC-A11AA34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10B92-62D8-4CA4-BD4F-E743241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62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074"/>
          </a:solidFill>
          <a:ln xmlns:a="http://schemas.openxmlformats.org/drawingml/2006/main" w="0">
            <a:solidFill>
              <a:srgbClr val="F7A0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AC696-9D60-4BBA-B24D-7DA8080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10075"/>
            <a:ext cx="819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14288">
            <a:solidFill>
              <a:srgbClr val="3A8F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573DE-591F-4D08-BF60-34FF8AB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855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855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Insulin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855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855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F776B-B1F2-41A6-8B9A-9FAC00D2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4288">
            <a:solidFill>
              <a:srgbClr val="005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3AE14-BF59-4353-A32A-3C303C3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813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Muscle cells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83186-59C9-40D6-B44B-036E1679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Glucose can be used for energy.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E0966-9162-4095-953F-40544B8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6720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4288">
            <a:solidFill>
              <a:srgbClr val="B483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9E083-5A58-436B-9626-ED310C2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577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8D641D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8D641D"/>
                </a:solidFill>
                <a:latin typeface="Lato"/>
                <a:ea typeface="Lato"/>
                <a:cs typeface="Lato"/>
              </a:rPr>
              <a:t>Liver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9BA68-2204-4B41-BE97-0C970370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815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Glucose can be stored and released as needed.</a:t>
            </a:r>
          </a:p>
        </p:txBody>
      </p:sp>
      <p:cxnSp>
        <p:nvCxnSpPr>
          <p:cNvPr id="70" name=""/>
          <p:cNvCxnSpPr>
            <a:stCxn xmlns:a="http://schemas.openxmlformats.org/drawingml/2006/main" id="5" idx="0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714500" y="3409950"/>
            <a:ext cx="4000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7239"/>
            </a:solidFill>
            <a:prstDash val="solid"/>
            <a:headEnd type="none" w="med" len="med"/>
          </a:ln>
        </p:spPr>
      </p:cxnSp>
      <p:cxnSp>
        <p:nvCxnSpPr>
          <p:cNvPr id="71" name=""/>
          <p:cNvCxnSpPr>
            <a:stCxn xmlns:a="http://schemas.openxmlformats.org/drawingml/2006/main" id="7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724275" y="3867150"/>
            <a:ext cx="104775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8F7B"/>
            </a:solidFill>
            <a:prstDash val="solid"/>
            <a:headEnd type="none" w="med" len="med"/>
          </a:ln>
        </p:spPr>
      </p:cxnSp>
      <p:cxnSp>
        <p:nvCxnSpPr>
          <p:cNvPr id="72" name=""/>
          <p:cNvCxnSpPr>
            <a:stCxn xmlns:a="http://schemas.openxmlformats.org/drawingml/2006/main" id="17" idx="6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133850" y="3200400"/>
            <a:ext cx="14478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8F7B"/>
            </a:solidFill>
            <a:prstDash val="solid"/>
            <a:headEnd type="none" w="med" len="med"/>
          </a:ln>
        </p:spPr>
      </p:cxnSp>
      <p:cxnSp>
        <p:nvCxnSpPr>
          <p:cNvPr id="73" name=""/>
          <p:cNvCxnSpPr>
            <a:stCxn xmlns:a="http://schemas.openxmlformats.org/drawingml/2006/main" id="17" idx="6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133850" y="4629150"/>
            <a:ext cx="144780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8F7B"/>
            </a:solidFill>
            <a:prstDash val="solid"/>
            <a:headEnd type="non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B43C2-DEFB-4B93-A792-6DAEC54B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2194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8B22E-0543-4118-A3B7-B330ADA1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4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EE59E4-C99D-4033-AF77-9FF51B8E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198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What is personal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80879-BB5A-49EF-9374-1DF706BB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24675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FC262-BC7B-4B5E-B927-C0DA4CA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104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Glucose targets vary by age, diabetes type, medicines, pregnancy status, health history, and hypoglycemia risk.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A target range is a care-plan decision, not a moral score.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AE4F7-685D-49DC-93F3-DD3A4780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96050"/>
            <a:ext cx="32194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5D32C-76C6-4BA8-9124-14E5A74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64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FA7C2F-C588-41A3-B769-1BA9C257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6198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What insulin is not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A0250A-4EF9-40CC-90DF-6B25F5B7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924675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A82A28-DCE9-40D1-AE9C-F222C36C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0104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Insulin is not a punishment or failure.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People with diabetes do not all have the same insulin needs or the same treatment plan.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D255D-1231-475C-8281-7F3B71FC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B5A695-E881-455D-B2C4-8802B4BC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43B139-1837-4CC2-A88D-6E5C6253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Insulin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ABEC48-A6A6-496C-A4F7-98A67A7B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659CCB-0E21-4913-99D4-BBDF230C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4A4311-7582-4198-B1EF-21289842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12e7bda92ce94e2f"/>
              </a:rPr>
              <a:t>mindfuldiabetes.org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A60A3A-92F6-4359-A944-AFE3F59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8147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3D0660-ECD3-42A7-A770-78DD92F0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INSULIN RESISTANCE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B48D9-1DF9-40D3-8CF5-65FE707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Insulin resistance is biology, not blame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28FD0-5E04-40E4-ACA7-486E71DF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Certain tissues may respond less effectively to insulin signals.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22A46-B961-4A34-AB73-A0CA637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94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8F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A912B-53F6-4D91-8E8B-908EC59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F61C9-8C2A-4064-88BD-41A926A7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6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6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Insulin sends a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3E7D4-D36E-48C5-A5F1-3F69C0B3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94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8F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1B387-8538-4961-BAA8-8549159F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DEFA3-5A28-4FE8-BDE8-300D2266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193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6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6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Certain tissues respond less effectively.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35602-22A2-49DD-A4B9-A8AAB9C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194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72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CEDB9-5DF0-4CEA-8BD0-E7248CD7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EB6D-A322-4607-AF42-E3168AD3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193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6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6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The body may produce more insulin for a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8B7A3-6381-4357-8CC4-3BC131D9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94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72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1163C-45A5-43F6-ACF4-488040C4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BBADA-0642-479E-9B00-8303760A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6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6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Glucose may remain elevated when compensation is not enough.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73F86-F11A-4B83-918F-4E4C97C2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194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50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B5229-9280-40F3-BD6B-2727C32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52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1395C-C4C4-4009-B6E8-412870C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671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6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6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Clinical support and sustainable changes may help manage risk.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04C5D-A0C7-4A51-8C44-49AF303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666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005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BC817-A9E5-4380-B0E2-CACA5E4E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4999F-BC7D-45C3-9F97-046D24DB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Not a character judgment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E6047-7E86-4649-A82F-EBF3C4AE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632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Insulin resistance is influenced by biology, health conditions, medicines, sleep, movement, genetics, aging, and other factors. One food or one habit does not explain the whole picture. [1,17]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9AD2E-DB01-40BD-B6A5-C7E7E7D8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Helpful questions are practical: What patterns matter for me? What care-plan changes are appropriate? What support is realistic in my life?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A4CA5-B892-4A11-A45F-72C31E72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19950"/>
            <a:ext cx="3143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E8828-065F-40A0-9ABB-2FF3B61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7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CD0A6-F99B-44A1-9343-B09E542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437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Avoid overpromising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F5E93-575C-4357-891F-5F3D994A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No routine, food, supplement, or single number guarantees reversal of insulin resistance or prevention of dementia.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C61DE-84BA-4044-8C71-874F9803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7219950"/>
            <a:ext cx="3143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9E14A-40EB-4A86-8FC7-7E9DC357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37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3E1A9-DF82-45DB-B635-E859FF3B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3437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Use care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6080E2-B866-48FE-9DCA-DFF50F96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648575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Care teams can interpret labs, medicines, sleep, activity, symptoms, and goals together.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AA08D4-F38E-4C64-8E2C-30B0331D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51603-2513-41A2-93BB-C7556AD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131576-C819-446B-9AF1-ADFBC507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Insulin resistance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A919A0-61F4-4008-BF77-A3D82AD0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9F1593-97A4-439F-B32B-4F6338AA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9AF8B0-BBFF-444E-98D8-03CF83C9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454cb6e1545a4a1b"/>
              </a:rPr>
              <a:t>mindfuldiabetes.org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51E688-1923-487C-8923-203F0AB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888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3E5354-3ABA-4C5E-B022-9C3096E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BRAIN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18BD7-BD27-4EE8-BBB7-71E51D94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The brain needs reliable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1081D-C59E-4E3F-BEB6-9D58F783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Brain function depends on energy delivery, oxygen, blood flow, sleep, and broader health.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A6AE8-84B6-459F-93B8-E81DA5DF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3014663"/>
            <a:ext cx="157734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E"/>
          </a:solidFill>
          <a:ln xmlns:a="http://schemas.openxmlformats.org/drawingml/2006/main" w="19050">
            <a:solidFill>
              <a:srgbClr val="3A8F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9FE48-4EFF-4439-90B3-EFD831F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252" y="3102293"/>
            <a:ext cx="525780" cy="5257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18A88-0959-4991-A167-0E653FEC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10" y="3036570"/>
            <a:ext cx="613410" cy="6134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F2686-161E-470F-A08D-7944B135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65183"/>
            <a:ext cx="481965" cy="48196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9DAE-F973-4086-9EAD-F958E4D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89" y="3507581"/>
            <a:ext cx="547687" cy="54768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59C92-D220-4827-9493-42F4E54C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385" y="3102293"/>
            <a:ext cx="0" cy="920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A8F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10D79-7D42-47DF-9F6C-7C39864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73F55-657D-44A5-BCEE-5326A373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50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9C0BC-7722-4DF2-93D9-4BE7C0B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526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Adequate energy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2457450"/>
            <a:ext cx="658463" cy="829913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7C9C2"/>
            </a:solidFill>
            <a:prstDash val="solid"/>
            <a:head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4314B-F4E9-4CE8-87A0-0DF8FE3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6F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63B9D-7001-446C-864A-3F597296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193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Oxygen</a:t>
            </a:r>
          </a:p>
        </p:txBody>
      </p:sp>
      <p:cxnSp>
        <p:nvCxnSpPr>
          <p:cNvPr id="61" name=""/>
          <p:cNvCxnSpPr>
            <a:stCxn xmlns:a="http://schemas.openxmlformats.org/drawingml/2006/main" id="14" idx="1"/>
            <a:endCxn xmlns:a="http://schemas.openxmlformats.org/drawingml/2006/main" id="10" idx="7"/>
          </p:cNvCxnSpPr>
          <p:nvPr/>
        </p:nvCxnSpPr>
        <p:spPr>
          <a:xfrm xmlns:a="http://schemas.openxmlformats.org/drawingml/2006/main" flipH="1">
            <a:off x="4142137" y="2324100"/>
            <a:ext cx="620363" cy="963263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7C9C2"/>
            </a:solidFill>
            <a:prstDash val="solid"/>
            <a:headEnd type="non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F2FC0-25B4-4EA8-95ED-9AE4E782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9570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072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A4CEF-15A4-4414-B5BD-AB509478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95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Blood flow</a:t>
            </a:r>
          </a:p>
        </p:txBody>
      </p:sp>
      <p:cxnSp>
        <p:nvCxnSpPr>
          <p:cNvPr id="64" name=""/>
          <p:cNvCxnSpPr>
            <a:stCxn xmlns:a="http://schemas.openxmlformats.org/drawingml/2006/main" id="17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 flipV="1">
            <a:off x="4248150" y="3543300"/>
            <a:ext cx="14097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7C9C2"/>
            </a:solidFill>
            <a:prstDash val="solid"/>
            <a:head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A5AB7-8EA4-48F9-BF78-8D81DFB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3400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A8F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C7466-2676-4A65-A469-4F1DC6D8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578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Healthy vessels</a:t>
            </a:r>
          </a:p>
        </p:txBody>
      </p:sp>
      <p:cxnSp>
        <p:nvCxnSpPr>
          <p:cNvPr id="67" name=""/>
          <p:cNvCxnSpPr>
            <a:stCxn xmlns:a="http://schemas.openxmlformats.org/drawingml/2006/main" id="20" idx="1"/>
            <a:endCxn xmlns:a="http://schemas.openxmlformats.org/drawingml/2006/main" id="10" idx="4"/>
          </p:cNvCxnSpPr>
          <p:nvPr/>
        </p:nvCxnSpPr>
        <p:spPr>
          <a:xfrm xmlns:a="http://schemas.openxmlformats.org/drawingml/2006/main" flipH="1" flipV="1">
            <a:off x="3886200" y="3905250"/>
            <a:ext cx="514350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7C9C2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43AEF-DF7B-4FA8-8920-E510F1B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D13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58A57-6BC3-4C41-9123-66439BAB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578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Sleep</a:t>
            </a:r>
          </a:p>
        </p:txBody>
      </p: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10" idx="4"/>
          </p:cNvCxnSpPr>
          <p:nvPr/>
        </p:nvCxnSpPr>
        <p:spPr>
          <a:xfrm xmlns:a="http://schemas.openxmlformats.org/drawingml/2006/main" flipV="1">
            <a:off x="3257550" y="3905250"/>
            <a:ext cx="628650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7C9C2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5B112-28E9-4F17-9169-619B1FAD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A5C9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7DAE1-8170-4C17-8F72-3F6B2FAC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195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7A5C9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7A5C9E"/>
                </a:solidFill>
                <a:latin typeface="Lato"/>
                <a:ea typeface="Lato"/>
                <a:cs typeface="Lato"/>
              </a:rPr>
              <a:t>Metabolic health</a:t>
            </a:r>
          </a:p>
        </p:txBody>
      </p:sp>
      <p:cxnSp>
        <p:nvCxnSpPr>
          <p:cNvPr id="73" name=""/>
          <p:cNvCxnSpPr>
            <a:stCxn xmlns:a="http://schemas.openxmlformats.org/drawingml/2006/main" id="26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162175" y="3543300"/>
            <a:ext cx="13620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7C9C2"/>
            </a:solidFill>
            <a:prstDash val="solid"/>
            <a:headEnd type="non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3F6AE-2DAD-470A-AD5C-E01CA2B2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32194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26024-533D-4E29-81F3-BA48A636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622C0E-EDAF-4C05-84F0-BF4536A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294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Sudden low glucose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1B6A4-8047-4553-A05C-20D2200D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34225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28BC73-1363-41E9-9815-7A3A11DD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9950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Can affect attention, speech, judgment, coordination, or consciousness quickly.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Can become urgent; follow the personal low-glucose plan.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2D8710-97A6-416C-8A2E-8EDEDDB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05600"/>
            <a:ext cx="32194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744693-7285-4B82-8BB9-9FE19631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85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45A63A-78D7-42F3-B0C5-C29AEEA8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8294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High glucose patterns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D0B36-8FBF-4CDC-8A93-64D1DEC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134225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34FEB5-DD4F-452F-B79E-B2B32900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219950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May contribute to complications over time depending on severity, duration, and individual context.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Patterns deserve support, not shame.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0D06B4-5D46-4C5C-B3FB-3405FE74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C1621F-14DA-4390-8338-0676DCD5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F784A4-AAE5-4D81-B710-7DA4B82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Brain support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D617CA-33AC-420A-AE7E-04517A63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42AE49-B67B-4359-8E05-85349027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EA9347-2161-4F09-A0DF-01B3D076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f53acada771f48b8"/>
              </a:rPr>
              <a:t>mindfuldiabetes.org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551AD5-FB28-4552-B360-C4758A8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8328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1B9E1C-6C2B-4D19-9F4F-51628E2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BLOOD VESSELS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960CC-547E-4D3B-97D4-6002DD05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Blood vessels deliver what brain tissue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83435-46B3-44C7-B6BB-BB484A4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Vascular health is one part of cognitive-health care; it is not a diagnosis.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EBEE6-3047-4D70-95CE-BECD6071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838200" cy="723900"/>
          </a:xfrm>
          <a:prstGeom xmlns:a="http://schemas.openxmlformats.org/drawingml/2006/main" prst="heart">
            <a:avLst/>
          </a:prstGeom>
          <a:solidFill xmlns:a="http://schemas.openxmlformats.org/drawingml/2006/main">
            <a:srgbClr val="FFE5D8"/>
          </a:solidFill>
          <a:ln xmlns:a="http://schemas.openxmlformats.org/drawingml/2006/main" w="19050">
            <a:solidFill>
              <a:srgbClr val="F072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EE0F1-6AD9-4E2F-94C7-10FC118F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Heart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B0B01-F15C-4B4C-B93E-4F2B9E9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7180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4288">
            <a:solidFill>
              <a:srgbClr val="3A8F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B568F-7E8B-4333-8583-6E196867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384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Arteries carry blood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6A8A4-FAAA-43FB-994A-2602E733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1676400" cy="200025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4288">
            <a:solidFill>
              <a:srgbClr val="2F6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C867E-D615-4DB5-AF17-F08C90AE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Brain tissue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88DF3-541F-4456-9B88-449FD0D1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337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77F0E-1579-4BFB-888B-07C9B4B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147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A8F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54A2A-EBDA-40A1-8238-E89D016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337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E0A2C-3192-48BB-8E91-9A426A6B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147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A8F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886C5-9207-4B27-B928-35A259B6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CDF48-90D3-45F0-8620-7869F15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147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A8F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463C4-30C9-4E14-B5C1-F1ED351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337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2B816-E8D5-4032-85B7-227179CA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147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A8F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17064-2558-48F0-BDD8-B6B83F2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C0560-608B-4FF8-8D1E-05817277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A8F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C7961-594A-4690-99FE-50895A4B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37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A8F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3EC2A-E0DA-40E7-AA03-148BAC6A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A8F7B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4" idx="0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200150" y="2962275"/>
            <a:ext cx="8382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07239"/>
            </a:solidFill>
            <a:prstDash val="solid"/>
            <a:headEnd type="none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29150" y="3133725"/>
            <a:ext cx="5334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A8F7B"/>
            </a:solidFill>
            <a:prstDash val="solid"/>
            <a:headEnd type="non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332CC-0110-432A-8B32-36E9C4F8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Oxygen and nutrients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7F70C-E1F7-4619-95F5-0A3162C5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9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90">
                <a:solidFill>
                  <a:srgbClr val="2B3142"/>
                </a:solidFill>
                <a:latin typeface="Lato"/>
                <a:ea typeface="Lato"/>
                <a:cs typeface="Lato"/>
              </a:rPr>
              <a:t>Blood pressure, diabetes, cholesterol, smoking, physical activity, and other clinical or environmental factors can affect vascular health. [4,8,9]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9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90">
                <a:solidFill>
                  <a:srgbClr val="2B3142"/>
                </a:solidFill>
                <a:latin typeface="Lato"/>
                <a:ea typeface="Lato"/>
                <a:cs typeface="Lato"/>
              </a:rPr>
              <a:t>Vascular cognitive impairment is not the same thing as ordinary forgetfulness.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2C1CC-4034-432A-B53F-F3598747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666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0723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95A10-D855-4106-9F42-4C4CE9E9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216028-4516-4311-A922-DE6F3DB3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199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Potentially urgent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D5B3E-855C-42B1-BC70-C0A0FBA8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6755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Sudden confusion, new weakness, facial drooping, trouble speaking, severe headache, chest pain, or stroke-like symptoms should be treated as urgent.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29CE9E-C38C-48DE-85BD-BEB33E0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56ECB-806E-4EAC-BBDF-16E9EB22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40C1C4-C570-43F6-AD70-8227715E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Blood vessels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A5F5A8-EC20-4562-9A78-63853DC1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5D1F32-7A75-42EC-9183-2162DA5B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30EC9-070D-4F4D-8D3C-956659D4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079a1808d5ef4492"/>
              </a:rPr>
              <a:t>mindfuldiabetes.org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2DEF5F-93A3-4C46-8A72-099D37D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53003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B86B68-D9E0-4541-A6E3-277A0B3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HYPERGLYCEMIA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91D2B-9B5F-4912-9DE7-0069A7B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High blood sugar over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2B0D3-6770-4EB9-8EBC-50F96A91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Patterns are information, not grades.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62C02-4E7E-40F6-AE03-51DF586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6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6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One isolated reading does not define a person. Repeated or prolonged high glucose may contribute to vascular and nerve complications over time, depending on severity, duration, and individual circumstances. [2,4]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BD6B9-FD6B-41FC-9A01-560AD325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324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0A8B5-B8A2-44C1-BF45-7F19955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579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989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790AF-0E31-40EF-A4BF-7DA964B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98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68AF6-A4E8-4CD6-8B99-A58FE40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F51C6-F518-4C28-A672-936AC803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glucose 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FFF74-F74C-417D-8E36-D8E0334A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E0007-2C0E-47DB-A61D-3C948E01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5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038225" y="3276600"/>
            <a:ext cx="57150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A8F7B"/>
            </a:solidFill>
            <a:prstDash val="solid"/>
            <a:head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0CE91-3B73-416A-82BA-59323656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1704975" y="3219450"/>
            <a:ext cx="61912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A8F7B"/>
            </a:solidFill>
            <a:prstDash val="solid"/>
            <a:head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02756-8F7C-49EC-AB4D-37CAAD0F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13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05401" y="3253126"/>
            <a:ext cx="742273" cy="59939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7239"/>
            </a:solidFill>
            <a:prstDash val="solid"/>
            <a:headEnd type="non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06245-F3AF-450D-BEB0-38AC7A12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1" name=""/>
          <p:cNvCxnSpPr>
            <a:stCxn xmlns:a="http://schemas.openxmlformats.org/drawingml/2006/main" id="15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3228975" y="3886200"/>
            <a:ext cx="6667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7239"/>
            </a:solidFill>
            <a:prstDash val="solid"/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6F0D2-320F-4DEA-A6A2-5BF145BA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17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990975" y="3676650"/>
            <a:ext cx="6858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7239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5A704-8302-4179-9B54-290CF468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19" idx="5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758076" y="3710326"/>
            <a:ext cx="694648" cy="37079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7239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1DDA4-DA3A-43C3-B4A1-97B6E1F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1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534025" y="4000500"/>
            <a:ext cx="74295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7239"/>
            </a:solidFill>
            <a:prstDash val="solid"/>
            <a:head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7DCEF-0A0B-4F89-9F93-89356323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67050"/>
            <a:ext cx="32956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072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D38FB-589B-41B1-BD5C-5B3BF579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A repeated pattern deserves care-team review.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53D20-D58A-48E8-87BE-0819A0E9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0"/>
            <a:ext cx="32194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8A6AF-9ED5-4047-97D6-CE303082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96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1D4FD-1B4F-40AF-B45A-4D2EB861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67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Bring the pattern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10FBB-EDCA-4580-9FF5-954E0BCF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72375"/>
            <a:ext cx="287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3CE99-07A8-407D-8EB1-28BC6D7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58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What do these readings mean in my care plan?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Could medicines, illness, sleep, stress, food timing, or activity be involved?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0528D0-D9A4-4A5E-94D1-35FAB8B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43750"/>
            <a:ext cx="32194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C02777-8873-4FAF-A930-7ECA3DC5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7296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46230F-37C8-4982-8EBE-1BD35B2F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267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Keep it nonjudgmental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D37354-C8D1-4016-A1B1-9953683B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572375"/>
            <a:ext cx="287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B51A1-2A32-4A11-9CAB-01EB91C9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658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Do not change medicines from this guide.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Ask what symptoms or patterns should prompt a call.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CE7CA5-433F-43F5-9ECC-6D0045A8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FEC18A-3A7B-48B8-8114-5D2CB5F3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8474B9-193F-46EE-934C-0198E236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Hyperglycemia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CD3B25-8C85-44F7-A311-17F2945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17F4B7-F741-49BE-8FCB-BF9774E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E37BB-51AF-4485-BD61-E03958E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993476ce313b4982"/>
              </a:rPr>
              <a:t>mindfuldiabetes.org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5E9216-5F76-4860-8F6E-8EAD4DB2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24600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B011FB-7965-4CCB-8B05-C4C4E6F9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HYPOGLYCEMIA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C57A6-89CF-41CB-A786-60F752B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Low blood sugar can affect the brain quickly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F9A99-ED12-48E2-BBF3-DE12A5A6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Symptoms vary. People using insulin or certain medicines may be at greater risk. [2,3]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3695-ED15-4D8F-9162-EF1B33A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50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A6AFE-83AF-49E7-BDE1-DB3D5A8C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Early or common warning symptoms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5C3E9-C53E-4F5E-AEDE-1A3C4F67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000F3-454B-48FA-A710-DA6AFBDE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shaking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C4666-87E1-4B5B-AD3C-BDD91A91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63F04-7C6C-4CA4-8C85-A4B03EDF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sweating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DD3C2-F8C8-4905-8286-B84627DE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A523F-B82A-4291-9AE7-DBB1E44A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hunger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A06D2-83AA-400E-A5C6-CE9FB8E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9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B83C5-C968-44D5-AC9C-151E4602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dizziness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9D92B-969B-4E2D-8994-F64CDEC4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666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D9ABA-D75A-4BF8-BA21-2F78B663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Thinking and coordination symptoms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AA571-FF0D-42D4-A550-F444C3AC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D7B9A-F5A2-4DFB-8FA4-293E7D3B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confusion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013BA-5A16-4B99-8322-6EC95390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81BDF-B8A2-4FCF-84D9-0F639003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behavior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59E48-DB13-4755-852F-510CF0A6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8B8DB-9655-4DDA-AED3-BAA18016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difficulty speaking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9733E-5081-4476-87F7-36E96B86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0B8F8-0753-40CE-8D3B-D9499D5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24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weakness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23AC8-7ECF-4494-9527-675511A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666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0723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A0A8A-2D6A-4E72-9087-B5253679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Severe symptoms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D14BE-1B82-4649-8AC5-F21CD10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2AA03-28FF-4F79-8425-8438666D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seizure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C4AD70-413F-45D2-992A-1F824BE8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72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05610-AD2E-4946-8661-B6324FAC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43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fainting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FC26E7-B61A-41DA-AD6F-5C44A336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9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A8AB36-23D9-4BEF-A703-66C7A7E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67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inability to safely self-treat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8D6B4C-C676-4DF3-8B93-0EAD0570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9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842FD7-C303-4065-BE62-14A3A4F5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67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loss of consciousness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7069EE-9D6E-4D31-88FF-4AE644CB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0"/>
            <a:ext cx="666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0723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C80E59-D233-4CB2-A551-E261240D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F4FC2F-114D-4E23-80B9-2F35F0C3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675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Safety actions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86B51C-A224-4B0C-BC3C-066028D8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15200"/>
            <a:ext cx="632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Follow your individual low-glucose plan. Do not drive during significant symptoms. Severe confusion, seizure, fainting, or inability to safely self-treat requires appropriate emergency assistance.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FDEECA-D93D-4C7D-B392-39EE79F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897580-ECED-446C-9C4B-5811C54C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10FB51-66BB-4B3F-9B44-2BDAD29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Hypoglycemia safety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EC6A29-536A-4CC2-AA5D-86C2FC0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6178D4-1F60-4E5E-9824-7AE3D4F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FD1DDF-594D-4969-8714-5038AD0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a43a73b9daa44997"/>
              </a:rPr>
              <a:t>mindfuldiabetes.org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4D0BE7-60F0-4660-AD30-9DBFF39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251543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DF291F-84B8-423B-AF3F-A7CE5406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COGNITIVE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D9FE6-4524-4F5A-B845-7986125D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Diabetes is associated with increased risk; it is not destiny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B1170-297F-42CF-A13F-4859D9AE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Dementia has multiple causes and contributors. Risk factors can interact across a life course. [5,7,8]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02199-992F-48FF-856B-C41E10FE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32194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263DC-4E6B-4CA9-B54C-27DF4E6E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2CD4D-C9CA-42AE-87AA-C7E34700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Potentially modifiable or treatable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0C8A4-9E74-45B4-96B6-B74DCD94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80A04-CBFD-4384-800E-63972D59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76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Blood pressure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Cholesterol and vascular risk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Smoking and excessive alcohol use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Physical inactivity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Hearing or vision concerns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Depression and social 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404CA-C87B-49A7-8E68-413F3963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62150"/>
            <a:ext cx="32194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E482D-8754-4C69-B923-6D68C39C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C6466-687F-4AEA-A756-1CB14668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859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Not fully controllable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6A651-7C70-4499-89E2-3062CAD3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31463-6F14-48C0-AB8F-79390755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2876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Age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Genetics and family history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Early-life conditions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Environmental exposures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Access to care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Existing medical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C6C64-3AAA-4060-941C-474E4A6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666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005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66378-80D1-4D2B-A6BC-6CE09212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D48BE-5DDA-4CFD-9C45-BAF968CB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Important distinction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5A73B-845D-4CE7-A7E1-E5969C33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632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Population-level association does not mean every person with diabetes will develop dementia. Memory or thinking changes deserve professional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3C7DA-DC9B-41ED-BA50-352E1478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7162800"/>
            <a:ext cx="109728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19050">
            <a:solidFill>
              <a:srgbClr val="D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00D8A-DC8D-410D-8ED2-2DA5EF4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7223760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E1C68-18FA-413A-BF97-BA2A9623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7178040"/>
            <a:ext cx="426720" cy="4267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BD833-3538-4417-9569-9F73412C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406640"/>
            <a:ext cx="335280" cy="335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8ADFC-54A5-4194-9505-0F83F8DA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7505700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E6D7F-97B5-4224-9D0C-20A18E2D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20" y="7223760"/>
            <a:ext cx="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6348F-7774-49BA-8A9A-84B2630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748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A7821-77DA-43A7-95AD-CA74799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5438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AD00F-A203-4FFF-B735-4279BC4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088" y="782553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0EFFC-6518-45D8-9E40-C9468660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543800"/>
            <a:ext cx="1579038" cy="338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F3B98-C98B-42F0-96FA-4E3AFDC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778" y="809729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FED8A-B3F4-4618-91A1-E5D77242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543800"/>
            <a:ext cx="1092728" cy="6106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E2A3B-6D2C-4A14-A234-3A7A1CD2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040" y="824811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05D3BC-A493-4583-802B-A6990E38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543800"/>
            <a:ext cx="389990" cy="761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71D656-8371-49F6-A448-2A7EEBA2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060" y="824811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FE75C4-2355-4E95-BED4-367CB4B0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496210" y="7543800"/>
            <a:ext cx="389990" cy="761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18C0D1-3E0F-4092-AAC3-7B6E1857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322" y="809729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C599A-9413-4F46-9406-533DAB19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93472" y="7543800"/>
            <a:ext cx="1092728" cy="6106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A8F9E2-0A4E-49AE-9303-B354AC0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012" y="782553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FB6451-0612-45E9-84DA-8AD244D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07162" y="7543800"/>
            <a:ext cx="1579038" cy="338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08E553-A29F-477D-9141-08229DE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48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455B01-EE78-42D8-8EAE-EAB8FCA9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33600" y="75438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3EC369-D561-4C6A-9A93-4A39979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012" y="714776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D348B7-648F-4565-AFEC-8630575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307162" y="7204915"/>
            <a:ext cx="1579038" cy="338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5217FF-0A13-4C9C-B6D6-980139F8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322" y="687600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6D34AE-398E-457D-B9F0-595974F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793472" y="6933151"/>
            <a:ext cx="1092728" cy="6106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4F1153-2858-4E17-9854-6DBEEF7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060" y="672518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3CD23F-DC67-4A5A-BD01-01A4BA7F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496210" y="6782333"/>
            <a:ext cx="389990" cy="761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8706C9-9159-47B8-915E-5542CC44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040" y="672518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CDE039-B949-4574-BECD-44D2DBA8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86200" y="6782333"/>
            <a:ext cx="389990" cy="761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2EB045-DFDD-4970-815F-889EF874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778" y="687600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658D64-FA85-4066-A10B-E0450ACE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86200" y="6933151"/>
            <a:ext cx="1092728" cy="6106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AA3A0D-C4C8-4DB9-99B2-2980F695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088" y="714776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C5491E-6556-4EEA-AB91-E8E1FCD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86200" y="7204915"/>
            <a:ext cx="1579038" cy="338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F6E61B-CC6D-43F9-9254-3A3DF4DF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D6E069-37E6-4BA7-A03A-9391137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A7F820-D56D-40CB-BBE8-6E24F49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Cognitive risk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A7C762-9FF9-4FD1-96DB-454F5C37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EA9B83-0EA8-4BE1-9A18-53BF330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3D4412-3357-4CEB-9306-8156A417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72950357193b440c"/>
              </a:rPr>
              <a:t>mindfuldiabetes.org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A3CE3F-3DDE-44D6-89C0-7D2FD74E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5608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A00DA2C-D404-41E2-A2F0-7ED8BDA2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RISK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02176-252D-42D3-868B-FBD082F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Risk information should guide questions, not panic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98FE4-66CA-42F4-ABFD-51621F8D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A risk estimate describes patterns in groups; it does not predict one person's future with certainty. [6-8]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9337E-A855-49B1-BC69-588E5048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2194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08C6-3043-42E3-9F57-B3AC9CF6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2E5AC-93A5-4BE5-833E-B91CFA36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Group-level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2F737-416C-465E-8EEF-7B86A496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B889A-B17D-4B29-A78B-BC5E3189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Describes patterns across many people.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Supports public-health planning.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Helps identify areas for clinical attention.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6DAD1-1993-4371-B86D-522D28F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32194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3A57D-EDEB-4D78-AD12-FF128B08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47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D861F-58FD-4551-839C-3D9A938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192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Individual future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5CDBE-EAD0-4B25-8891-58D631CF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24075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A5CE4-CC7C-4299-A949-25C1DDCF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9800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Cannot be predicted from one factor.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Depends on many interacting circumstances.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Requires personal medical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96E26-6617-4F82-BE1D-2CFBF67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666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C9A1F-FA48-41EB-8041-9703A7CE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Hypothetical: many paths, no single forecast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ED097-B95C-4CA5-9810-81CC0A43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72164-C689-4973-B7EC-BE07B5C5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01245-8209-4EC0-98A8-FB54BE3D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B5BD1-F391-47D3-B375-4648F324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7D39B-2692-4E5B-A1D3-E921742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1476C-4E23-4FA2-AA04-1619A7D1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DDDD9-E270-4784-9F50-37740D4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9E106-7EED-4B43-B3CB-CA6F98A5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7B43F-79EB-40AD-B08A-E67860E4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8C3DB-E60F-4565-BA56-AD75037D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CC3FEC-E79A-451E-AC66-8628E6B4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CD264-85DE-45CC-B82A-047077E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98B77-981B-4799-9282-09585538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FB002-82B6-4A6D-8550-CF7530A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EC957-F75A-4403-BCA2-B0893D9E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FF324-299C-4D3D-A276-AF3F211A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FA1CE-577C-4442-ADE8-B9264C76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7CA8F0-880C-4F3F-A01C-A996B710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FD2C30-E003-4CCF-BF6B-8D058517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482C5B-EF47-4A5F-9396-BA09B8E0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E9B118-3D7C-420E-9F45-39DD2AB6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292D93-D530-4A91-8DC4-FE158ED7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A2AB7-1833-4E9E-9706-494BFEFD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7ADAEA-4A10-43BB-BE63-A11EACDB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2CF30F-C2A4-4487-8972-03A8257D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ADBAFD-4728-4E65-A74F-CA5E87B6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6CB757-54A3-49AD-AE1B-376CCB39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82F73E-0F4C-440A-9B85-9BAB7A32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639055-01CD-4C99-A4ED-F8842C9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061B24-B653-44FD-A386-AAE9748B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F67F8F-48D7-46F8-A66A-A22CB24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30E717-C081-459D-84FB-650A474F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479BDA-2892-4C5D-987B-84B873DC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5AEEAE-3D42-44F0-83F1-EE6DD77A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F20FA1-7F22-41EC-B2E5-77498AFF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B86E25-D5F2-4104-8F21-F5436902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FA539F-2C99-446A-94F7-81A005F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7FEDA9-4D35-444F-B791-B6CF13C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26BD0C-C41E-47CE-BAB8-0D474F1E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D34F43-F9C9-4BF1-876D-D79F9F1B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A47794-102A-4F46-9987-1DADF7CD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E789B2-EB07-48EB-AD3B-9D3DA828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2FFD59-DCF1-428E-86F0-57DC31A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B89E6B-0033-4E49-A312-B63D74FD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8F2C90-B9A5-4695-857E-B78B651C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32A693-0DF2-4D54-83F0-4E00ABA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FBF93A-0BFE-481F-9DFF-8616195A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5564D2-C2AC-46CD-9A04-ECABA1B2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09B72F-AA70-44AB-8F78-51DD20BC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49071E-CC36-47E4-9BB3-6D19DC0C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3349654-3575-4A29-826F-2D328B18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758390-42F7-47EC-8112-45C0A544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24CA1CC-D92A-40D2-A920-1191DB35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B589EC-B512-48AB-A7AF-EC45E5FE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E94F39-C091-4061-A724-EBA74198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02F255-5BA9-466C-858D-DC47F02C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EBFD15-5839-4894-8BC8-097338E8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382BB7-BDF9-49B6-9609-B9D932BA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B1A91B-DBB1-4F86-A801-2CAD1D00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0509F8-299B-40AF-94B0-FFEB025E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D0A0F2-7742-4031-A799-12E0505F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AD2B79-4E6D-4B24-B436-4A21203C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F6894FA-7497-4F42-94BF-7C23AA63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407F43-8836-495D-AD81-20D0FE64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B420171-CB1F-490E-B7F2-69D53FF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331F2ED-A8EA-45D9-8038-ED8BEE8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3B3E45-FEFC-44B1-A509-F110A1F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8B3342-3554-4B5E-BE4E-8975F56C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2EDDA4-A90A-4D1C-BB07-1E255D0F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E48035-F5F8-4D58-9B21-99C9E3C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D54C810-9CE4-4061-B80F-7FC780DB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1980B3-B417-4AA6-95D6-5D8D3FCB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D9301A4-D861-4118-A5AA-4DE0880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9ECDB4-5B91-43A1-98B7-587D508C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7751043-FAEA-439F-9935-1DA786F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297402D-F1A5-4516-94FD-D05E4CFE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BD67F9B-BFDB-4B52-9A51-BFC94AF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F415DD8-1390-4E90-B6E7-6ED864B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9677F1-98C6-4443-ACDE-E63690F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B8B7EDD-2CAF-4B01-9FAD-00176304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00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044D3E5-D2C0-422A-9906-0A2866D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43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667085"/>
                </a:solidFill>
                <a:latin typeface="Lato"/>
                <a:ea typeface="Lato"/>
                <a:cs typeface="Lato"/>
              </a:rPr>
              <a:t>Group patterns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57E069-2E72-4B32-BDED-C6CCF34F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57800"/>
            <a:ext cx="112395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503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353E7C9-F43F-4142-8B00-D7F3A28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3500" y="4819650"/>
            <a:ext cx="112395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7239"/>
            </a:solidFill>
            <a:prstDash val="dash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D9D3AB-144B-4182-938E-2103DE77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81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338"/>
          </a:solidFill>
          <a:ln xmlns:a="http://schemas.openxmlformats.org/drawingml/2006/main" w="0">
            <a:solidFill>
              <a:srgbClr val="0D133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CE1022-A2AC-40FB-BD0A-EFF0392C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191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One person still needs personal context.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BA14007-9393-46C5-A882-804E424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10450"/>
            <a:ext cx="666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607CB27-C986-4CBC-A432-BDE98016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104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A11A4B-068E-49FC-BBDA-04C6BF1E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247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A healthier use of risk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DFD5E0-220B-411C-B5DE-8FE391B5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72400"/>
            <a:ext cx="632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Ask what applies to you, what can be evaluated, and what support is realistic. Avoid using group statistics as a personal forecast.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5ED09F-58EC-46FF-B473-CCD4C9C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A893DEC-2638-41A1-BFCC-41963E0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F167A8A-49E9-42BB-9B08-2724A424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Risk meaning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FE08BCA-5CA8-49F4-AACA-10BEAFCB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FC0C7F-0F46-457E-8AD9-4EE70D84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B6EDCD-88E6-4685-B5A8-3F8D7AC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4ab624c22b324100"/>
              </a:rPr>
              <a:t>mindfuldiabetes.org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7E655BD-D173-4B7E-AC0D-7323A73F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0701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220ACB-AA76-4B26-BDC6-1A04AEE5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VASCULAR 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751CE-6EFC-4AE6-B749-BF4D646B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Blood pressure, cholesterol, and glucose are interpreted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BAC2D-0857-4A70-8D9B-C17A92E6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Targets vary by age, medicines, health history, and overall cardiovascular risk. [2,9,17]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B310A-5958-4E15-A1E3-CBE2C61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028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54F56-32C6-4403-86E7-868EB90B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3275-5B60-4472-811F-944B5E9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DABAB-5CBC-49F7-B519-0CB920C1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Ask what target applies.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11038-FF13-49D4-AD7E-1BC9A0D7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3028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883D4-3B89-4257-A931-6A4EF7EC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76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71E6D-0C65-4BCB-B45E-F42978B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Lipids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6206D-E355-4331-AC42-ABAE873E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526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Ask which results matter most.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94DD3-A0D2-46A5-9E33-0E06C5D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3028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68298-5A87-4666-8C19-A8E0AD3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solidFill>
              <a:srgbClr val="3A8F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C182D-58ED-4AAD-9D11-AEA18543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Glucose or A1C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AF3BF-6EF8-40CE-B8C8-58E20C68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Use clinician-selected measures.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15C48-31B7-4DE3-8C14-636E7BD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3028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84AA3-8137-4A2C-BDCA-936147A4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0B7A5-C8DF-47D4-B5B7-48B78BBD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992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Medicines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A512B-6217-412C-AE74-D7D60099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1472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Discuss benefits and side effects.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ECCA4-1A18-4F07-A726-FCC54FED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3028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572CF-8A97-4C6E-9FAA-A738CB7E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solidFill>
              <a:srgbClr val="7A5C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74A08-3790-4642-BBE9-04C8F7F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Smoking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4A27B-1675-4017-A88F-7A4315D3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Ask about support without shame.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986FB-1CB2-42DC-B2BF-D3BB20D3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3028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560E4-2C71-49C2-95D9-E6420979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04F"/>
          </a:solidFill>
          <a:ln xmlns:a="http://schemas.openxmlformats.org/drawingml/2006/main" w="0">
            <a:solidFill>
              <a:srgbClr val="8D70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7F943-214B-44EE-A15F-8A778859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719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Family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BDEAE-CEAB-4C1F-A2D1-7280241E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767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Use it to guide questions.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78A81-B325-4D96-A658-B24263F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666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2383">
            <a:solidFill>
              <a:srgbClr val="0050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164BA-2FD6-4915-8E5D-4AEF3B45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621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The care question is not "Which number is good or bad?"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2719F0-D1DA-4CCD-9D26-D600E59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57950"/>
            <a:ext cx="563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It is "What do my numbers mean together, and what is the next appropriate step for me?"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B5674C-8A1D-4C92-BB8B-BC6198A6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0"/>
            <a:ext cx="666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0723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0B45C-CFD9-404A-B697-9E8F0947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E985F-D68D-43F0-BFE2-5E10D496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390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Do not change treatment from this guide.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DE800-04B6-4B63-B34E-DC039E0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867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Medication decisions belong with qualified care. Bring questions about targets, side effects, affordability, and follow-up.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E23EB2-B4AE-476D-82F5-01E92120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E74E7-9D59-4203-9661-4336C3F6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24FC7-593B-4523-B54F-1E67AB3B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Vascular care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83F2E5-9A7D-406F-8AA7-C532E880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400F25-4A39-4FEA-A5A8-02AF152D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B228D4-2E25-430A-B83A-C3AA02C4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0b009958d90f471b"/>
              </a:rPr>
              <a:t>mindfuldiabetes.org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626FCE-997F-46EF-A2DA-36CB190E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7097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F21B8A-5D04-4AF6-9793-E392236A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MOVEMENT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59432-F529-4F51-8D0A-125F03A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Physical activity can be flexible and mobility-inclusive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64C63-02E8-4EAD-951C-BE370952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Activity may support cardiovascular health, metabolic health, mood, sleep, daily function, and quality of life. [11,17]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53AE4-5C54-4B72-90EF-979E981E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6FFFD-528B-4A35-8BBC-512C9F80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C7B36-5EFB-4952-8A7F-B7B3EC9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97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Walking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D391B-1D61-49BE-9254-1BE3120F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Short, safe bouts can 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911B6-BB7B-49B2-BE35-BA844C0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E9334-2A58-4BC6-B043-81744647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solidFill>
              <a:srgbClr val="3A8F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A5A3D-6568-4518-89DB-A2E5DCE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97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Seated movement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BD898-C859-4723-8841-229AB613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145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Chair routines can support circulation.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95720-CE63-4E8D-99B9-E079B88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7A530-9C18-4825-9735-E5892D40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F3E91-A4CF-421A-85B5-9A545E8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Standing breaks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2C7FA-58A2-4188-B0A3-1064B1A5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Small interruptions to sitting may help.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0594C-F693-465D-A928-7AD2A447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93315-021C-4C17-A636-E7BEE0B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5E4F5-247A-4294-B6BC-BA8F7F23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384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Strength activity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9647A-7B14-4831-B7C2-DCD7DB11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432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Use bands, weights, or body weight if appropriate.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67072-1596-4667-BCE2-7521A44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67FB2-3011-466D-B882-893DF6E2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C7AC4-B8F6-4162-8B16-CC0940A3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Stretching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2C571-5B1D-4C1A-81C0-2B9F2B6E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Can support comfort and function.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3D0C8-183D-426E-BE60-644CA75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D2D5A-9672-4661-BBE8-B0022EA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95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solidFill>
              <a:srgbClr val="3A8F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AF3AC-9D7C-42C2-A8AA-E14CA4E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671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Physical therapy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719F4-4561-45AD-BC37-7E36FA2D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719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Clinical guidance can adapt movement safely.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9248E-A4AE-4F89-A11E-2CF89E9D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0CA68D-5F81-4FF3-9C6E-D5D18AEC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37231-9D56-4299-B4F5-AC14EA87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Household movement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D99D9-C87D-46B2-8104-EC0F99C8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Daily tasks can be part of an activity pattern.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3D8235-8C5A-48B9-8B38-5381E535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0"/>
            <a:ext cx="666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C8BD9-DAD6-41BA-A1D6-09E74179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My safest realistic movement option: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E7901-33BF-450C-A0F1-04BDA334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771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EC9C2-05EE-4F8C-9A67-80449AB1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86650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Walking is one option, not a requirement. Ask about safe options if pain, balance, fatigue, disability, or recovery makes movement complicated.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40CAD-EC5F-4BC2-ABFE-5A69659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9375FE-3A9A-4ABE-86D0-C16B6072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88B7ED-2382-4632-8C7D-23C8C10D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Movement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F46291-91E6-405A-8F7A-2A2E1AA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ADE91E-512A-434F-8829-A8A41DB2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477ADD-EF2D-4539-B7B0-83094831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b8989aed97b341ac"/>
              </a:rPr>
              <a:t>mindfuldiabetes.org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2D14AE-09B0-466C-B221-CFB973B9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752580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EDC168-CD12-4333-A412-A98FAFC5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FOOD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5D487-12A9-4B3A-A948-61C66EE2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Food patterns matter more than brain-superfood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D51BA-494E-46D7-9B7A-65B8F2FC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Mixed dishes, cultural foods, access, budget, and medical nutrition needs all matter. [10,17]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1C708-22EC-4A3F-B261-99B147C8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D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949D5-1CF2-41D5-A9C1-464981B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381250" cy="2381250"/>
          </a:xfrm>
          <a:prstGeom xmlns:a="http://schemas.openxmlformats.org/drawingml/2006/main" prst="pie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7B94D-5518-44D0-82ED-EBB92E93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381250" cy="2381250"/>
          </a:xfrm>
          <a:prstGeom xmlns:a="http://schemas.openxmlformats.org/drawingml/2006/main" prst="pie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B48CB-6FDC-457F-8182-DF80EB29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Flexible plate visual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830F8-3043-485F-BEED-ED9B9AC3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6215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DB0B8-AF7A-4BBD-A867-CD6E3C4F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8EE6D-DD47-48F3-8BB8-B8AF1EE4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859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Vegetables and fruit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D1923-5490-469F-A9B6-F09BCF9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90775"/>
            <a:ext cx="2514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fresh, frozen, canned, cooked into dishes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DEE48-E829-4753-BD66-490E5CB8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351A8-8582-491D-ABDB-82663E8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EA2B6-E756-4D13-AE6E-3E702C6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670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Beans, lentils, whole grains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9D3A5-FEB9-4577-9E22-FE609B9C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71825"/>
            <a:ext cx="2514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carbohydrate foods can fit a care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F2043-E8E1-47BE-A382-EDB94FAA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99BAD-E4BF-44CB-8C8D-5A66F36C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899F7-8E18-49C6-BCE1-C071FFCC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480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Plant or lean proteins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BC5C7-DC11-435F-B175-5D8C37A6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52875"/>
            <a:ext cx="2514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fish where appropriate, tofu, eggs, poultry, legumes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59DAD-D805-4D8D-A76B-76C51FAC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053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C0F99-EB2B-4AC1-B976-CBA6463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57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solidFill>
              <a:srgbClr val="3A8F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8F7AE-7DBD-40EA-9EA7-E510B3B4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Nuts, seeds, unsaturated fats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64744-DD3E-481E-8C49-58C4EB93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33925"/>
            <a:ext cx="2514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flavor and satiety without cure claims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A051B-4761-42C9-90A4-3373CD2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8635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C20A6-58D4-4B66-AE57-4D2A4523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38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2A7C9-46D9-4139-AC5D-5EFF388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01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Lower-sugar drink options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935C3-CBA5-4831-9702-45177D5A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14975"/>
            <a:ext cx="2514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water, unsweetened drinks, or personal alternatives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680E8-9BCF-4817-B7E4-784F0F55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674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B4126-AF68-4368-9606-0BA7C26A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01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63052-1681-481C-BD75-08F52EB7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912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Culture and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3C538-CDD8-46FB-8AEE-6C9CA9B5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296025"/>
            <a:ext cx="2514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a useful pattern should fit real life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92111F-FF67-4D35-9555-2ECB2829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43800"/>
            <a:ext cx="666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00503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FA7AF-0DCC-468D-83EE-5A289882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438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466C01-9BA8-49D9-B2B7-A1C3910E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581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No single food is a brain-health cure.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E076D-73D9-4F7E-ACB4-0A721378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0"/>
            <a:ext cx="632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The plate method is a flexible visual tool, not a prescription. Medical nutrition needs vary; carbohydrate removal is not the goal of brain health.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8DE23C-B30B-4690-9C08-DB714E60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843AB-8B3B-4009-BF4A-FD07EF0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70D3E6-6B27-463B-A346-4B6D2E5C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Food patterns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E13090-EBCD-4C63-A659-A57FF3AE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2659F5-B54E-45B7-B16F-F46229D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6081C0-F199-4491-8A13-71BEDCB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ad621ba4b2834619"/>
              </a:rPr>
              <a:t>mindfuldiabetes.org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EE9EF9-8011-4659-A146-75276FF3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17359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AADE31-5886-456E-9364-67DF4534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SLEEP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F0E07-4098-48F0-80B0-CE9E96BD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Sleep problems deserve care, not blame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A9D19-051C-40F5-B135-92DE3BC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Sleep can interact with mood, attention, glucose patterns, blood pressure, decision-making, and quality of life. [12,17]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DF14C-7921-4F61-A733-03ED513A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50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711B9-310D-48BD-8889-1903112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03BE6-CE62-4A86-AF72-53721829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84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Morning light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EA294-50E4-420D-B94F-2469B345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14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BB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059EA-5749-4296-806B-1192568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8F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668DB-7B66-4238-B313-4603CEDD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24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A8F7B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3A8F7B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88774-BC8D-418A-A004-DFFE1DD2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371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84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Daytime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F9F0C-5415-4B35-B15D-8A3B85D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14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BB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574B5-36A9-4180-9C51-B9263B6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723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8B170-F50B-4890-834E-7B64632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E64E1-9241-4E12-8C24-C7EF5D3E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71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84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Caffeine timing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CFC34-1D1A-4988-A5E0-09962B79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BB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295BA-6974-4E6D-8273-4A5424A5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85F19-83B5-4D07-B885-D40E2324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24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EA13E-6D7B-4C8F-94CC-77CEA9B8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84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Wind-down cue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20169-DC26-46CA-9C85-8C4962D7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14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BB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D682A-3A6F-4142-8FC9-99B6A1F2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D1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BCFBE-D1A7-41E1-9686-7487DB70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EB07F-4516-45AF-9B81-E8E6DADC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84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Dimmer light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98B1C-C852-4AEF-8D01-0D870A50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BB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F7D22-2B69-4550-A617-12DB7948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A5C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7E818-8DF7-4F30-A043-450A757E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241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7A5C9E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7A5C9E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5FB25-5A84-464E-BF5D-9B821A74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71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4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84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Comfortable environment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347AB-5C76-4EEA-89A6-93D8E660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2194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24E2D-AFC0-4EA5-96CE-D7E6364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18624-7946-4BF0-B929-761CDFC9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Life can complicate sleep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6837AB-6A7F-454D-9991-D3A7118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8765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75162-D011-47E6-9DFF-F292004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Shift work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Caregiving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Pain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Medicines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Insomnia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Restless legs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7A66D-E469-4F6E-BA0B-F70A64FD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32194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01567-68F8-47A4-8549-42CB349D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4835DE-EB03-450E-B332-77B4EEEF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96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Ask about evaluation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660C34-00C3-463A-9C43-23500645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24425"/>
            <a:ext cx="28765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BB2B89-887D-416D-9541-8120E22A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0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Loud snoring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Breathing pauses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Gasping during sleep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Daytime sleepiness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Morning headaches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Sleep that stays unrefreshing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7DD166-4426-42AC-9540-49A266C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72350"/>
            <a:ext cx="666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866DFF-A9F9-412C-ADBF-8669A76B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723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E7205C-A0BA-4071-AA7D-94E3AADE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866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Sleep hygiene is not a full treatment plan.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64E4DB-5A58-4872-9329-AD62B1F8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34300"/>
            <a:ext cx="632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Breathing pauses, severe insomnia, restless legs, medication effects, pain, and caregiving stress may need clinical support.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AB6EA0-8327-49B0-8895-D414FBE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2FC49F-6AC1-4E8C-B19F-6BB5C193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08468-8303-4F02-AF6C-F21F39F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Sleep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010C6B-0008-436C-A7DB-884FBAB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A9D8AE-DB0F-4D4E-8B26-E196D0A4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149B1D-1744-4B8F-B751-B3F4D433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c190de09f67a4657"/>
              </a:rPr>
              <a:t>mindfuldiabetes.org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D20C7A-89F9-4C53-9CEA-1B09AB73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906358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9DA06-FFAD-4680-AEE6-15D257A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TOBACCO AND ALCOHOL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B3CF7-9AAC-4D1E-922C-5265A77A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Support works better than shame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4EA83-7CF2-45EB-A9D6-1E020DC2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Tobacco avoidance and alcohol decisions fit within overall cardiovascular, metabolic, and cognitive-health care. [7,8,17,18]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7F354-6EF4-4379-A4B7-F7D03C2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219450" cy="3333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59436-7035-4DC7-B632-91D56474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681BA-3714-4E2C-AFEC-AB6A905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Tobacco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3188E-FC53-40AD-9E6C-843706D8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8765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AADC0-8563-4F64-B7CD-3223322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8765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Avoiding tobacco supports overall and cardiovascular health.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Quitting can require repeated attempts.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Counseling, medicines, and practical support may help.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Current tobacco use is not a character flaw.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18544-1CAC-49AD-8BF4-F8E24AC6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3219450" cy="3333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A160B-1045-4343-B27D-DC074C01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7F46B-F6BF-4714-A52F-FADE3BBC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33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Alcohol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13A1B-FB87-4AF6-980F-A1FC430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38375"/>
            <a:ext cx="28765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7D9BD-58FC-4692-8BD1-44BFD286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28765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Excessive use can create health risks.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Alcohol may interact with medicines and glucose risk.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People who do not drink should not start for health.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Individual guidance may be appropriate.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E8907-1182-49F2-B25C-903994A0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666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9C47A-356A-458B-A935-8CFE9F05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 calmer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4892E-CD56-4486-985C-B3B423D6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43650"/>
            <a:ext cx="613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What kind of support would make the next step more realistic: counseling, medication options, a safety plan around alcohol and glucose, or a referral?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276B1-26F1-49E3-B764-4B81912B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34300"/>
            <a:ext cx="6667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072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DCD73-3900-4FE1-8135-A4FC9AE9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343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07A58-F367-4D55-9679-8FC711A1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486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No universal safe amount is set here.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B1FC9-6F21-49A3-BEDC-F8748862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96250"/>
            <a:ext cx="632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This guide does not define a personal alcohol limit or recommend medication changes.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597B1-AB71-4C4E-B45C-6E849FA7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33D15-FDD9-4FE2-B7FB-265A44AA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CAF38-8969-482F-A458-F65DDD7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Tobacco and alcohol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DC6DA-E33A-411E-8ABE-CA286558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AA558-F72D-4A59-99D2-97BC0DB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459CA-7D47-4379-BD30-EEAF29F0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9ee4c6791eea4fed"/>
              </a:rPr>
              <a:t>mindfuldiabetes.org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2E4FAA-BBCC-4A63-A921-7553F730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085045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CB6C4-0108-4CFF-8410-52D52C5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COMMUNICATION AND CONNECTION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89512-8302-43EC-B8E5-66F9DAC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Hearing, vision, mood, and connection affect daily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3A211-5DBE-4A0B-9CA9-10B83A61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These factors may affect communication, cognitive load, safety, quality of life, and access to care. [13-16]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1B579-3BB3-4720-8FA8-BD684EC8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028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74CAD-D2D7-4FA0-A1F5-2D771F04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7B"/>
          </a:solidFill>
          <a:ln xmlns:a="http://schemas.openxmlformats.org/drawingml/2006/main" w="0">
            <a:solidFill>
              <a:srgbClr val="3A8F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0DEEA-AEEB-423C-ADF1-EB969EF9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Hearing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08EF3-C158-434C-8C64-88E59FF0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Ask about testing when communication changes. Improve access with quieter rooms, captions, hearing devices, or face-to-face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57AA2-537B-4AAB-BCC3-B176BF3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3028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472D7-CBB9-49A2-82E4-11802826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93055-4760-48F5-85D4-FD6EBB73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335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CE461-891B-4626-B39E-876ED9E2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38375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Address correctable or treatable problems. Diabetes eye care can support safe daily function.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C02D6-15B8-440E-B3DB-956856F6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028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FFA4C-5915-4DB2-9C43-362FC549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solidFill>
              <a:srgbClr val="7A5C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1B013-B0D8-4F08-92FD-015DBB54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Mood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5AE1A-D0C8-4A2F-A179-1B9D234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Depression deserves assessment and care. Mood changes should not be dismissed as just 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DA14D-22A3-43F0-B43A-A8BE5E3B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3028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761E6-067A-4603-BEB7-72B4D8FF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95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C408E-5594-41D5-B927-DDFFED08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671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Social connection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C516A-2F3A-4512-AF8A-0F0ADA1E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71975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Connection can be family, friends, neighbors, faith, support groups, community programs, or routine contact.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E0BCE-565A-4D9C-916A-52714D23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666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0050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34BC8-7BE6-4AE7-8749-1D345C45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CA5C8-CAF1-4B48-8B5E-588025F7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199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Nuance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7AFE2-E185-4A27-9760-7465D8E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67550"/>
            <a:ext cx="632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Treating hearing, vision, mood, or isolation may reduce strain and improve function. No single intervention guarantees dementia prevention.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ECCE5-4888-4F69-ABAE-B7C3F1E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8F9FF7-7DD4-4D2C-ABF4-6E1D140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DE030-D8DB-4653-A54E-A2FF84D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Hearing, vision, mood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EEA59-0D2A-4FA9-9CA3-28EB5FA0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B7A53-C6F9-4194-B493-F9EE5BE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B17261-D45D-4B9C-B8CB-E91CF515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c1c2a52de29946f0"/>
              </a:rPr>
              <a:t>mindfuldiabetes.org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0AA9E-2331-4B9B-B048-9E97BCB3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470427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BB5228-B5B6-49F4-8D49-89A0137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WORKSHEET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27D7F-637C-421D-B0CD-BBA68617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Questions for your clinician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55A99-0B3F-4D08-95DC-27AC6E10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Bring the guide or a completed worksheet if it helps organize the visit. Leave blanks if something does not apply.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1040E-49B4-4146-8AEB-24798864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341F9-CF8E-4533-85A8-B484E38B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My A1C or glucose targets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B9A69-241C-47D9-9158-9A6809E8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595F1-5C61-4D08-930D-CAD57882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906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Low-glucose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F8027-912E-4DF2-822E-E9A22EA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FECCA-2DAE-44DD-9026-E52F6468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Blood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C56DE-6081-40E3-99E4-A551C86B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F705-5A0D-4ACD-9545-89CEE03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954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Cholesterol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32CF3-5782-47F6-A360-1B1E283E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DC381-E50B-4467-8997-27EB8E8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Medicines and side effects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FD31B-1698-478B-BB7B-551F365E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461C9-D0A6-46CE-B980-A1334F71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002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Memory or thinking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9AF39-6AE2-46FB-944B-AEC91E39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E6B47-D026-4377-BFA1-56B3731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Sleep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601F2-B8DE-4C08-AFAD-D79F48C9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FC897-C057-4D68-A1DF-F72865D3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Hearing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65333-3749-4BD1-A2FD-ACC6650A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22107-35E1-405A-A92B-5AA7D38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E768F-506C-403F-8F55-E964160F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28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85969-F553-42D2-A25C-FF9B5F2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098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Mood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8BCAB-D1C3-4718-A884-22F78255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DAEC65-3994-43F9-BF24-CED1B641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Family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30726-2F0E-4224-9759-0F6F160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9CD7F-0E0C-49F1-B2AB-9B602C63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Referrals or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57DCD-95C0-4AC8-A0FE-F31E1390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My most important question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6923A-7006-46C9-B6EC-B048DF49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666750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1DDE4-978A-4950-B6F2-36823FFA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What I want to understand before leaving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EF45E-2F1B-4B94-9716-1398D532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666750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96BF0-F4DC-4820-81B0-3E9FF2BF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Next step or referral discussed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797E7-7BB3-471A-A48F-5E8C9C49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66750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02B518-0EF3-46D9-929D-9DECB1A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36C4B-DE7A-4019-8595-B0B6583D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7382C1-B214-4134-8CB0-70714DE0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248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Privacy reminder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063CE-329E-4BD9-A836-A01BCB36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72450"/>
            <a:ext cx="6324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This page may include personal health information. Store completed worksheets in a place you choose.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5FCE83-8511-4097-AB2C-1C546266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3BB115-D4E8-4F01-94C2-6B4BC7A9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6377BA-3743-4C01-918A-C84A2C3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Clinician questions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B398BC-F580-49EE-ADAE-5C0A7355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70997D-C45D-4637-AD5D-7391DA3C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B46511-6343-43D4-80DE-6232CD4E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988686eb03034898"/>
              </a:rPr>
              <a:t>mindfuldiabetes.org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A7B48F-BA84-423D-ADDC-E6F30FAA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453526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2C5110-53D6-40E0-8B74-20E60725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WORKSHEET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EFCA9-B218-4834-9005-94E8E4F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Family-history worksheet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CC31E-737F-4713-9AD0-DA61A7D9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Family history can guide questions. It does not determine your future.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F517C-DAF6-4965-962F-3F521CC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Write what you know. Leave blanks where you are unsure. Approximate ages, relationships, and uncertainty are acceptable.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0EDDB-0C50-4FA2-87F3-912718AB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9525">
            <a:solidFill>
              <a:srgbClr val="9EB0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26257-6DEA-4A2B-AF86-33D15016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145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2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Condition or concern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A7551-6651-454E-8863-1C914EAD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383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9525">
            <a:solidFill>
              <a:srgbClr val="9EB0A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6B0C0-294B-44EA-B713-7A6C428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145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2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Relative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9107B-4A33-4AE0-83EF-822BDA6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9525">
            <a:solidFill>
              <a:srgbClr val="9EB0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74CDA-F86D-4093-9F46-E6F10C2A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14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2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Side if known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AC5B8-406D-4A37-A9F7-55E13712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9525">
            <a:solidFill>
              <a:srgbClr val="9EB0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B3FEC-5850-46D2-98EB-2A771A09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145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2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Approx. 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EC0DA-1187-422D-9AA6-BC99CE81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383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9525">
            <a:solidFill>
              <a:srgbClr val="9EB0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1506E-0B60-4305-B302-DAEC4639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1455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2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What I know / what I am unsure about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60273-D0B0-4B11-B42C-1958445D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9525">
            <a:solidFill>
              <a:srgbClr val="9EB0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BEFF1-CDB4-4DA0-8D72-602B9B52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145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20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Question for my clinician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64248-247A-43A7-B45A-A54E64A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A320F-9B54-4150-87B9-DA6031F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Diabetes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F5E90-9AD3-428B-AAC2-B5EEAE2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6220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93A74-A06C-4E69-A6C1-1FB68DBF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40864-E1DE-444A-97CA-F3FD8354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628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DDFAF-D967-4E3A-9BBD-840341A7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622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8A5E2-B267-462D-AC85-653B2B96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32695-03A4-4BD3-9FB7-8DC074C1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28EC8-6428-44B2-88E9-ADF4BA82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Stroke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B078C-7293-4529-8E4E-BA19E959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84B35-04D9-491D-8A36-D405549A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22704-BB93-4580-AB36-5EA2D85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628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A862DF-AFEA-475A-BEED-A49707C1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432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19C28F-250B-4565-A71C-EB3AD98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64595F-EB36-4ED5-8438-C0D738B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19A0D-D8D3-4310-BBB5-E2A5BA53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2B3142"/>
                </a:solidFill>
                <a:latin typeface="Lato"/>
                <a:ea typeface="Lato"/>
                <a:cs typeface="Lato"/>
              </a:rPr>
              <a:t>High blood pressure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17C1A1-C8A4-4792-9572-E395B969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2430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E9112B-9218-434E-869C-814816C7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CF8D35-0F7F-4C25-B11F-391D68EE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24300"/>
            <a:ext cx="628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C254A5-3522-470B-8C38-E191D9CF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243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638010-0B50-4A46-B923-57C617AE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2430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913E68-C850-45D8-B76D-F6C993B7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73DA2-6800-4D30-975C-34D3DCDE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2B3142"/>
                </a:solidFill>
                <a:latin typeface="Lato"/>
                <a:ea typeface="Lato"/>
                <a:cs typeface="Lato"/>
              </a:rPr>
              <a:t>High cholesterol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B17FE7-34B7-4013-98A2-6BCB11B3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0535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364E52-C22E-49B1-9B2F-516A6A1D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05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EECAA8-ABD3-4EDF-BCD3-AEBD202E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05350"/>
            <a:ext cx="628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B47F79-74A3-47C0-BE2D-C6967A96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F673E5-C948-4433-8536-533662D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0535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09AA37-23F3-4103-8BA5-0A4A110F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C6EDB2-8ECF-46F5-951E-4460A09C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2B3142"/>
                </a:solidFill>
                <a:latin typeface="Lato"/>
                <a:ea typeface="Lato"/>
                <a:cs typeface="Lato"/>
              </a:rPr>
              <a:t>Heart disease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839B06-A6D5-4D32-8764-110AEBDC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631E9C-DE7C-43B6-82AF-245804C4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86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376125-28B8-4A25-970D-141768B6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86400"/>
            <a:ext cx="628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1AF2C9-B25A-4536-9539-C471560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864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788DB2-5DBC-49E2-8AA6-335B9FD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8640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9F6930-F22B-4CB5-B825-52C1385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62476E-82EA-4A77-A7AE-31DE6B8E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Dementia or significant memory problems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74193F-A723-40A8-8C64-54742DA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26745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2B666F-D094-435D-AE53-63BB883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2674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D101FC-0D75-40EA-A030-C159E919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267450"/>
            <a:ext cx="628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B6990C-A55F-47C7-A766-10D481B6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2674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CA7C71-4B7A-400F-8108-42A309C1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26745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2D8242-65CF-4196-9017-F24CBC39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0"/>
            <a:ext cx="666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D5940F-A9B6-4D20-B73F-C65AC410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D48D08-F6D1-411D-8A18-A5237A1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248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Privacy reminder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0DD925-4CBE-41CC-8144-EAB14A34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72450"/>
            <a:ext cx="6324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Completed family-history pages may contain private information. Share only with people you choose.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47DC86-2A70-4379-BBB1-1B4A01B1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2456A6-47FF-4BF2-9E59-F60613B3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514B52-A17A-4A13-B8F0-3EF36497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Family history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CDAB60-02F0-46DD-A431-8E88C325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2EED63-7626-40FA-8738-5510F09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318F8D-409B-44A3-A197-462AB2F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a1edbd93ff1a4af3"/>
              </a:rPr>
              <a:t>mindfuldiabetes.org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DC0788-B5F5-4B4A-9367-F99D8676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450008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2E8B8D-84D2-4737-8BDF-276DF532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ORGANIZER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D2801-682A-4668-A082-3B367F7E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Health Numbers and Care-Plan Organizer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4DCAF-A483-42D5-9444-692B7926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Use this page to keep clinician-selected targets and next steps in one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FF6C2-8CEA-47F3-BA08-A631D047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Do not change treatment based on this organizer. Ask your care team which numbers matter for you and how often to review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EFFCC-3F72-4F6A-B30A-A8A35F9F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667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71957-6268-4AB0-BCD2-CE1AC655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Appointment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4EA01-9B1D-4520-9E89-6C44E480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51F0F-51C0-43DB-8E90-AFE7632B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F564B-E388-4776-8BED-D33D1ECF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4315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A1C or glucose measure selected by clinician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88FAA-4ED9-4AEE-AC99-C0D9D03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22669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830D1-9359-4909-A592-6E365B9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77511-D8A3-43C8-A174-E651456A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11049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7E967-8CD1-4EBA-858B-4C397D8A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431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Lipid result or clinician 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DAF93-D83E-4162-9E70-5A65095B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14600"/>
            <a:ext cx="13144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45A26-66E1-4398-A7AA-C22DD74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Medicine changes made by care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F6EA4-657C-4E03-AD5B-154C9F60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0955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CE662-C446-4FAA-8487-2C1197C8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Sleep, activity, or symptom 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4E26A-D907-45C3-9BE2-5A4C61A9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20002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A108B-84AD-4ED5-A524-17F82207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Target or 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D2994-6C66-46A7-AECD-C3B596C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1847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46DB2-85DD-43B7-B11D-C52C0587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6667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B6B76-B2AB-4DE4-A9BA-52D4CD8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Appointment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3DA72-748F-45F7-9B0E-E9B7F114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173D1-B224-439E-8A59-B0EC2800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2D55F-1B8E-479B-AFB7-4B1666F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1005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A1C or glucose measure selected by clinician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27301-9FFA-4213-A581-439393FF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81500"/>
            <a:ext cx="22669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49D22-315E-4241-AC10-992049B6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pressure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842E8-3481-4C2D-86E2-8DF6B2E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11049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C6FE4-A522-4260-8EA6-A2DFD15F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100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Lipid result or clinician summary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3614B-C951-46DA-8958-D2AF39C4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81500"/>
            <a:ext cx="13144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30EB9-E9BB-469E-8A1B-809C1A8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Medicine changes made by care team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CE4073-5CCD-4FC5-8899-66A5946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20955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DE62E4-70A3-4E84-A3A0-377CCBD7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434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Sleep, activity, or symptom note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025A25-FE94-46A5-A51A-1784FE2F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14900"/>
            <a:ext cx="20002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0CFC5-075F-4D96-B15F-FCFC4EA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Target or next step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A8AAC6-9031-4264-B966-0610900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1847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24460D-28F1-4373-BA8A-FBEE7FC7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6667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EF0A0-174D-453E-96C8-5CBC1083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Appointment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24201C-FB28-40D6-9D9C-6F68468B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Date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5D58C3-F324-4B4E-A15B-9398438B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658B51-1902-4727-9349-6707464C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07695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A1C or glucose measure selected by clinician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E76047-7A16-4717-9F49-39AE55F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48400"/>
            <a:ext cx="22669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0BDAE2-69B0-4ABA-84DD-F6EB1EAB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7695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pressure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F6E65F-6405-4E47-94E1-E367281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248400"/>
            <a:ext cx="11049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208856-CC5D-46F8-B02D-8E1A67B7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0769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Lipid result or clinician summary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E526DB-E54E-4968-8060-D8834D84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248400"/>
            <a:ext cx="13144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938B46-8283-4627-B643-6DF20535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103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Medicine changes made by care team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F2FE1C-4B9B-4651-912F-6A9F0CFE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81800"/>
            <a:ext cx="20955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A88563-02CE-4EA2-BAB6-2F09DE3E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6103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Sleep, activity, or symptom note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AA6CF4-63AE-4E88-BB8E-A989F3A7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781800"/>
            <a:ext cx="20002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E674BC-D3B0-4031-B617-C120E221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6103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Target or next step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6CB3FA-0F8E-493D-83A4-D58D8D4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781800"/>
            <a:ext cx="1847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D7326A-34AB-4CCB-A0AF-1F66BA93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43850"/>
            <a:ext cx="666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21F7D1-CFCD-42BE-A1C9-DEEE339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438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2D7AC7-FDAE-4726-9E71-56455E0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Privacy reminder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463E13-2582-41B4-9CB7-EC70A090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05800"/>
            <a:ext cx="6324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Store completed health information securely. It is okay to leave fields blank.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C94418-7732-4929-BE2A-7510C4D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711A38-A5BD-4513-AAB1-06FF8CA6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C1D0DC-7362-47EB-BE80-F2EC6B1C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Care-plan organizer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050118-4095-49D1-B232-D7B3F66D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D1E57E-5BF7-446C-91CC-9E705886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C1AC6C-F26F-4259-A24B-C1028FD7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2839c28ee1924aad"/>
              </a:rPr>
              <a:t>mindfuldiabetes.org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590862-64C8-44BA-B666-392E6AC8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61029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7488C-12B7-4836-8051-A06B17B0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CAREFUL HOPE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17B07-FA49-4F4A-BFB7-EB3E222E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What risk reduction can and cannot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BDE8E-5842-4AA6-B39B-E1E532B0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Healthy routines and medical care may support health, but they do not guarantee a specific cognitive outcome. [6-8,17]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0B87A-AF08-4954-8E82-13F3253F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219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FC4CE-EA64-4802-8A42-F40F96DC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42539-B76D-41E7-9137-6198712E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May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04545-B974-4979-B5FF-888BB1E5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28765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10E58-A7BF-4E62-9A8D-23F23F8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Vascular health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Daily function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Better clinical questions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Identification of treatable problems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Risk reduction in a broader care plan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Quality of life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ADFF8-116B-41A7-AC29-1B6DCF04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3219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62D8B-BE09-4585-972A-9046EADB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19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716B8-D397-437A-9E6F-C57FF13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907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10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Cannot guarantee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CFE4C-9FB9-493A-83D1-F1EF35A1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95525"/>
            <a:ext cx="28765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44F8B-FF12-4A00-BA1D-68612C6E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Prevention of Alzheimer's disease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Prevention of every dementia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Reversal of every diabetes complication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A specific cognitive outcome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Replacement for screening or care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93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0">
                <a:solidFill>
                  <a:srgbClr val="2B3142"/>
                </a:solidFill>
                <a:latin typeface="Lato"/>
                <a:ea typeface="Lato"/>
                <a:cs typeface="Lato"/>
              </a:rPr>
              <a:t>Perfect control over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D74DD-7291-4EFA-BEFB-269F4526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666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6349E-A73F-4339-B2B1-4C125224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621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FFFFFF"/>
                </a:solidFill>
                <a:latin typeface="Lora"/>
                <a:ea typeface="Lora"/>
                <a:cs typeface="Lora"/>
              </a:rPr>
              <a:t>Use careful hope.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5F013-8D81-42EA-A0AA-9A9B5DE9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E8F4EF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E8F4EF"/>
                </a:solidFill>
                <a:latin typeface="Lato"/>
                <a:ea typeface="Lato"/>
                <a:cs typeface="Lato"/>
              </a:rPr>
              <a:t>Care can be meaningful even when it cannot promise certainty.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C81E7-4BB2-4A93-942D-C5A835DE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86650"/>
            <a:ext cx="666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005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7AC17-BA11-46EB-B32C-64DB8CF3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866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30"/>
          </a:solidFill>
          <a:ln xmlns:a="http://schemas.openxmlformats.org/drawingml/2006/main" w="0">
            <a:solidFill>
              <a:srgbClr val="0050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73808-E773-40E9-A49B-B5CB6287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009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The goal is not panic.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1F7AE-0595-4BCB-BA08-0B984FC7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486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Use the guide to plan questions, notice concerning changes, and build support that fits your life.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51A9E-C90C-4C48-9311-A9F109EF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F9811-3588-43EB-856B-3482A89B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8E32F-1EB3-4256-93FD-146338D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Careful hope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17652-AAFA-415B-BF0B-420DD06D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07F92-C95C-4693-BDC5-FFB41A5E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1EC3B-832B-4084-9121-304D2F83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3d4a196637fd4d4b"/>
              </a:rPr>
              <a:t>mindfuldiabetes.org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BDE281-6D64-40DE-80BF-6F76215F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052010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97860-5B5E-4CEF-A960-CA3644C2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E101D-B02A-4AAF-A8C3-0EB36730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35711-30C5-4A11-9CBE-DFEFBA7B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Use this guide to prepare questions rather than predict the future.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E1E40-EDCA-473F-BA60-7083C73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66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buNone/>
              <a:defRPr sz="1005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05">
                <a:solidFill>
                  <a:srgbClr val="2B3142"/>
                </a:solidFill>
                <a:latin typeface="Lato"/>
                <a:ea typeface="Lato"/>
                <a:cs typeface="Lato"/>
              </a:rPr>
              <a:t>Share memory or thinking concerns with qualified care. [6]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1005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05">
                <a:solidFill>
                  <a:srgbClr val="2B3142"/>
                </a:solidFill>
                <a:latin typeface="Lato"/>
                <a:ea typeface="Lato"/>
                <a:cs typeface="Lato"/>
              </a:rPr>
              <a:t>Follow your personal glucose plan and low-glucose instructions. [2,3]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1005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05">
                <a:solidFill>
                  <a:srgbClr val="2B3142"/>
                </a:solidFill>
                <a:latin typeface="Lato"/>
                <a:ea typeface="Lato"/>
                <a:cs typeface="Lato"/>
              </a:rPr>
              <a:t>Ask what blood-pressure and cholesterol targets apply to you. [9]</a:t>
            </a:r>
          </a:p>
          <a:p xmlns:a="http://schemas.openxmlformats.org/drawingml/2006/main">
            <a:pPr marL="18" indent="-10">
              <a:lnSpc>
                <a:spcPct val="112000"/>
              </a:lnSpc>
              <a:buNone/>
              <a:defRPr sz="1005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1005">
                <a:solidFill>
                  <a:srgbClr val="2B3142"/>
                </a:solidFill>
                <a:latin typeface="Lato"/>
                <a:ea typeface="Lato"/>
                <a:cs typeface="Lato"/>
              </a:rPr>
              <a:t>Address hearing, vision, sleep, and mood concerns when they affect daily life. [12,14-16]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D7133-79EE-4EFA-9326-62CBC9A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030"/>
          </a:solidFill>
          <a:ln xmlns:a="http://schemas.openxmlformats.org/drawingml/2006/main" w="9525">
            <a:solidFill>
              <a:srgbClr val="005030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  <a:ea typeface="Lato"/>
                <a:cs typeface="Lato"/>
                <a:hlinkClick xmlns:r="http://schemas.openxmlformats.org/officeDocument/2006/relationships" r:id="R9792f9e0679d407c"/>
              </a:rPr>
              <a:t>Explore the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7EF7B-E958-499B-AB19-CB0C6F8F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0995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6F89"/>
          </a:solidFill>
          <a:ln xmlns:a="http://schemas.openxmlformats.org/drawingml/2006/main" w="9525">
            <a:solidFill>
              <a:srgbClr val="2F6F8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  <a:ea typeface="Lato"/>
                <a:cs typeface="Lato"/>
                <a:hlinkClick xmlns:r="http://schemas.openxmlformats.org/officeDocument/2006/relationships" r:id="R46cb47c2b3e84717"/>
              </a:rPr>
              <a:t>Visit Health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ED00E-A7BC-4D88-BF55-F79EA4A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7239"/>
          </a:solidFill>
          <a:ln xmlns:a="http://schemas.openxmlformats.org/drawingml/2006/main" w="9525">
            <a:solidFill>
              <a:srgbClr val="F0723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  <a:ea typeface="Lato"/>
                <a:cs typeface="Lato"/>
                <a:hlinkClick xmlns:r="http://schemas.openxmlformats.org/officeDocument/2006/relationships" r:id="R3d646cb0dfd940e6"/>
              </a:rPr>
              <a:t>Try JEIR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53C54-69C1-4C57-B39C-C122FDFE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338"/>
          </a:solidFill>
          <a:ln xmlns:a="http://schemas.openxmlformats.org/drawingml/2006/main" w="9525">
            <a:solidFill>
              <a:srgbClr val="0D133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50"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  <a:ea typeface="Lato"/>
                <a:cs typeface="Lato"/>
                <a:hlinkClick xmlns:r="http://schemas.openxmlformats.org/officeDocument/2006/relationships" r:id="R1e2745646ada42ed"/>
              </a:rPr>
              <a:t>Support Free Education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20A1A-C851-45BF-B223-2C4E617F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666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005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E801-2CA9-4D2F-B945-D37500A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49A6F-E4C9-41D9-8D9C-A2887515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D1338"/>
                </a:solidFill>
                <a:latin typeface="Lato"/>
                <a:ea typeface="Lato"/>
                <a:cs typeface="Lato"/>
              </a:rPr>
              <a:t>501(c)(3) nonprofit | mindfuldiabetes.org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85E9C-8511-4B47-B9C7-F68D7882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621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Free sharing statement: You may share this guide for education if it is kept intact and not sold.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51709-4536-4480-8974-528D88AA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621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Medical disclaimer: This guide is general education. It does not diagnose, treat, or replace qualified medical care.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C1E58-8284-4535-94F0-7851E01E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0"/>
            <a:ext cx="666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072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6374B-0AF6-46AD-B085-6EE9A5E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75FF4-3C84-4116-A54C-04D75736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438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Urgent concerns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5A34E-576B-4867-B711-490770F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91450"/>
            <a:ext cx="632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Sudden confusion, stroke-like symptoms, severe low glucose symptoms, fainting, seizure, chest pain, or major changes require appropriate urgent assistance.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249BF-8544-40AA-9F9B-BFB92F0C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0526E-9B19-401F-B3AC-FD507BFD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00A76-D36F-4E83-BF66-2672126D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Resources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7995F-E436-4E84-A60D-C84F83D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3BF91-5E73-482D-B516-A2BAA214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2A477-B950-4882-B0AC-C906694A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3d95c1b244574a1a"/>
              </a:rPr>
              <a:t>mindfuldiabetes.org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DF712-041A-4240-91A8-DA47D841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133419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DF131-8B83-4979-B812-E1832288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REFERENCES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65E2F-1233-4321-8A07-F23E657A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Safety notes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40FC8-C8BA-49F0-80DA-B49947F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Medical review status: pending | Next scheduled review: July 2027 | Accessibility status: checked, not PDF/UA certified.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B49FD-7DA3-4498-8D46-BC8FFEFF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E"/>
          </a:solidFill>
          <a:ln xmlns:a="http://schemas.openxmlformats.org/drawingml/2006/main" w="11430">
            <a:solidFill>
              <a:srgbClr val="2F6F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A68BF-BE00-424E-993D-39E16170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solidFill>
              <a:srgbClr val="2F6F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D8B1E-2712-4DA6-AFEE-6550A28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6F8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2F6F89"/>
                </a:solidFill>
                <a:latin typeface="Lato"/>
                <a:ea typeface="Lato"/>
                <a:cs typeface="Lato"/>
              </a:rPr>
              <a:t>This guide is education, not diagnosis.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C7324-2BAB-4A22-B637-45D41F9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It does not provide personal glucose targets, medicine changes, dementia diagnosis, or emergency instructions beyond encouraging appropriate urgent help. Discuss individual questions with qualified care.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15D52-7860-4B7C-BC78-5E238BCA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666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072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25E94-D3EC-4D9B-BB60-D9D7861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239"/>
          </a:solidFill>
          <a:ln xmlns:a="http://schemas.openxmlformats.org/drawingml/2006/main" w="0">
            <a:solidFill>
              <a:srgbClr val="F072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FBE60-899A-4E6C-A651-AE6A5D19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07239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07239"/>
                </a:solidFill>
                <a:latin typeface="Lato"/>
                <a:ea typeface="Lato"/>
                <a:cs typeface="Lato"/>
              </a:rPr>
              <a:t>Potentially urgent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9B34A-8E56-4767-8EC8-AD930C9B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Sudden confusion, stroke-like symptoms, severe low glucose symptoms, fainting, seizure, loss of consciousness, chest pain, or trouble breathing should receive appropriate urgent assistance.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DC861-EB1E-43FA-96EC-4C89BC85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180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45456-FA4D-492D-A988-7BFA74BF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66750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National Institute of Diabetes and Digestive and Kidney Diseases. Symptoms &amp; Causes of Diabetes. Last reviewed October 2024. https://www.niddk.nih.gov/health-information/diabetes/overview/symptoms-causes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[2]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American Diabetes Association Professional Practice Committee for Diabetes. 6. Glycemic Goals, Hypoglycemia, and Hyperglycemic Crises: Standards of Care in Diabetes - 2026. Diabetes Care. 2026;49(Suppl. 1):S132-S149. doi:10.2337/dc26-S006. https://diabetesjournals.org/care/article/49/Supplement_1/S132/163927/6-Glycemic-Goals-Hypoglycemia-and-Hyperglycemic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[3]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Centers for Disease Control and Prevention. Low Blood Sugar (Hypoglycemia). Updated May 15, 2024. https://www.cdc.gov/diabetes/about/low-blood-sugar-hypoglycemia.html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[4]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Centers for Disease Control and Prevention. Your Brain and Diabetes. Updated May 15, 2024. https://www.cdc.gov/diabetes/diabetes-complications/effects-of-diabetes-brain.html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[5]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American Diabetes Association Professional Practice Committee for Diabetes. 13. Older Adults: Standards of Care in Diabetes - 2026. Diabetes Care. 2026;49(Suppl. 1):S277-S296. doi:10.2337/dc26-S013. https://diabetesjournals.org/care/article/49/Supplement_1/S277/163921/13-Older-Adults-Standards-of-Care-in-Diabetes-2026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[6]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National Institute on Aging. Cognitive Health and Older Adults. Last reviewed December 2023. https://www.nia.nih.gov/health/brain-health/cognitive-health-and-older-adults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[7]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Livingston G, Huntley J, Liu KY, et al. Dementia prevention, intervention, and care: 2024 report of the Lancet standing Commission. The Lancet. 2024;404(10452):572-628. doi:10.1016/S0140-6736(24)01296-0. https://www.thelancet.com/article/S0140-6736(24)01296-0/fulltext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[8]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Centers for Disease Control and Prevention. Reducing Risk for Dementia. Updated May 15, 2024. https://www.cdc.gov/alzheimers-dementia/prevention/index.html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5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[9]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National Heart, Lung, and Blood Institute. High Blood Pressure - Treatment. Updated May 2024. https://www.nhlbi.nih.gov/health/high-blood-pressure/treatment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9ACEC-A896-411D-910A-5B7D49AB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66D42-5471-4056-B813-A5C049B2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6EEFB-D68D-4CD0-913A-34924385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References and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2BBD0-8FA7-48F8-9087-C3F8794E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513E7-B903-484E-9C53-16EC01FF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36EFC-FFBA-4DBE-AAE6-718C56D2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ad8f3a406e6244e9"/>
              </a:rPr>
              <a:t>mindfuldiabetes.org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E0B76-4663-46A8-B1CB-6E59B98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287330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4BE8F-B88F-4E8A-AA7E-0B82BE11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FB165-EC63-4C1A-A76F-65163656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0D1338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D1338"/>
                </a:solidFill>
                <a:latin typeface="Lora"/>
                <a:ea typeface="Lora"/>
                <a:cs typeface="Lora"/>
              </a:rPr>
              <a:t>References,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D1733-9628-45ED-86C6-41B211CF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All in-text citations use sequential numbers that appear in this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E24B-1AE5-4A33-A33E-5BFD55E6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66675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38100" bIns="19050"/>
          <a:lstStyle xmlns:a="http://schemas.openxmlformats.org/drawingml/2006/main"/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[10]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Centers for Disease Control and Prevention. Diabetes Meal Planning. Updated May 15, 2024. https://www.cdc.gov/diabetes/healthy-eating/diabetes-meal-planning.html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[11]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U.S. Department of Health and Human Services. Physical Activity Guidelines for Americans, 2nd edition. 2018. https://health.gov/sites/default/files/2019-09/Physical_Activity_Guidelines_2nd_edition.pdf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[12]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National Heart, Lung, and Blood Institute. What Is Sleep Apnea? Updated November 2024. https://www.nhlbi.nih.gov/health/sleep-apnea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[13]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Centers for Disease Control and Prevention. Health Effects of Social Isolation and Loneliness. Updated May 15, 2024. https://www.cdc.gov/social-connectedness/risk-factors/index.html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[14]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National Eye Institute. Diabetic Retinopathy. Updated September 2025. https://www.nei.nih.gov/eye-health-information/eye-conditions-and-diseases/diabetic-retinopathy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[15]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National Institute on Deafness and Other Communication Disorders. Age-Related Hearing Loss (Presbycusis). Updated March 2023. https://www.nidcd.nih.gov/health/age-related-hearing-loss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[16]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Centers for Disease Control and Prevention. About Mental Health. Updated May 2026. https://www.cdc.gov/mental-health/about/index.html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[17]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American Diabetes Association Professional Practice Committee for Diabetes. 5. Facilitating Positive Health Behaviors and Well-being to Improve Health Outcomes: Standards of Care in Diabetes - 2026. Diabetes Care. 2026;49(Suppl. 1):S89-S131. doi:10.2337/dc26-S005. https://diabetesjournals.org/care/article/49/Supplement_1/S89/163932/5-Facilitating-Positive-Health-Behaviors-and-Well</a:t>
            </a:r>
          </a:p>
          <a:p xmlns:a="http://schemas.openxmlformats.org/drawingml/2006/main">
            <a:pPr marL="20" indent="-20">
              <a:lnSpc>
                <a:spcPct val="100000"/>
              </a:lnSpc>
              <a:spcAft>
                <a:spcPts val="6"/>
              </a:spcAft>
              <a:buNone/>
              <a:defRPr sz="668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668" b="1">
                <a:solidFill>
                  <a:srgbClr val="2B3142"/>
                </a:solidFill>
                <a:latin typeface="Lato"/>
                <a:ea typeface="Lato"/>
                <a:cs typeface="Lato"/>
              </a:rPr>
              <a:t>[18] </a:t>
            </a:r>
            <a:r>
              <a:rPr sz="668">
                <a:solidFill>
                  <a:srgbClr val="2B3142"/>
                </a:solidFill>
                <a:latin typeface="Lato"/>
                <a:ea typeface="Lato"/>
                <a:cs typeface="Lato"/>
              </a:rPr>
              <a:t>Centers for Disease Control and Prevention. Manage Blood Sugar. Updated May 15, 2024. https://www.cdc.gov/diabetes/treatment/index.html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591BF-0712-4725-A875-F350C889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0"/>
            <a:ext cx="666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0478">
            <a:solidFill>
              <a:srgbClr val="0050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B8A40-8E07-4C1E-9162-DC39C29D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34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005030"/>
                </a:solidFill>
                <a:latin typeface="Lato"/>
                <a:ea typeface="Lato"/>
                <a:cs typeface="Lato"/>
              </a:rPr>
              <a:t>Citation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0C047-267C-4343-B65F-4AFD4C5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200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 i="0">
                <a:solidFill>
                  <a:srgbClr val="2B3142"/>
                </a:solidFill>
                <a:latin typeface="Lato"/>
                <a:ea typeface="Lato"/>
                <a:cs typeface="Lato"/>
              </a:defRPr>
            </a:pPr>
            <a:r>
              <a:rPr sz="878" b="0" i="0">
                <a:solidFill>
                  <a:srgbClr val="2B3142"/>
                </a:solidFill>
                <a:latin typeface="Lato"/>
                <a:ea typeface="Lato"/>
                <a:cs typeface="Lato"/>
              </a:rPr>
              <a:t>No [12]-[15] orphan citation pattern remains from the draft. Each body citation points to a numbered source in the final list; no references are unused.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BCBA7-7679-4030-A1CA-9664F49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63970-8B62-4096-8BF3-C42B3D9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 i="0">
                <a:solidFill>
                  <a:srgbClr val="0D1338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0D1338"/>
                </a:solidFill>
                <a:latin typeface="Lato"/>
                <a:ea typeface="Lato"/>
                <a:cs typeface="Lato"/>
              </a:rPr>
              <a:t>Blood Sugar &amp; Brain 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AB4F0-64FD-4D15-B2AA-725FFDE8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D6424-43B2-46FE-8E6D-E634DB51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012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C9E62-6F96-4AD6-96D6-E0DFFE9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250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1F606-0BB4-4971-BD5F-B3136747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972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005030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005030"/>
                </a:solidFill>
                <a:latin typeface="Lato"/>
                <a:ea typeface="Lato"/>
                <a:cs typeface="Lato"/>
                <a:hlinkClick xmlns:r="http://schemas.openxmlformats.org/officeDocument/2006/relationships" r:id="Ra9602cf4c10f45f2"/>
              </a:rPr>
              <a:t>mindfuldiabetes.org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D797A-5F4B-45DC-BE1B-5388BE78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 i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675" b="0" i="0">
                <a:solidFill>
                  <a:srgbClr val="667085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9374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2026-07-30T23:44:00.2430000Z</dcterms:created>
  <dcterms:modified xsi:type="dcterms:W3CDTF">2026-07-30T23:44:00.2430000Z</dcterms:modified>
</coreProperties>
</file>