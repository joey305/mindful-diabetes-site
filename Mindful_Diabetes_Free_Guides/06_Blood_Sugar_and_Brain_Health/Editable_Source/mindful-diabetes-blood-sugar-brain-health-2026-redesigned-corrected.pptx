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4e69ee6a444a13" /><Relationship Type="http://schemas.openxmlformats.org/officeDocument/2006/relationships/extended-properties" Target="/docProps/app.xml" Id="Re16f5092a2944ca9" /><Relationship Type="http://schemas.openxmlformats.org/officeDocument/2006/relationships/officeDocument" Target="/ppt/presentation.xml" Id="R6be17affef4e4f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071fb326064ade"/>
  </p:sldMasterIdLst>
  <p:notesMasterIdLst>
    <p:notesMasterId xmlns:r="http://schemas.openxmlformats.org/officeDocument/2006/relationships" r:id="R44009b652420483d"/>
  </p:notesMasterIdLst>
  <p:sldIdLst>
    <p:sldId xmlns:r="http://schemas.openxmlformats.org/officeDocument/2006/relationships" id="256" r:id="R90b3448e99dd4c82"/>
    <p:sldId xmlns:r="http://schemas.openxmlformats.org/officeDocument/2006/relationships" id="257" r:id="Re5ddc360bdd04051"/>
    <p:sldId xmlns:r="http://schemas.openxmlformats.org/officeDocument/2006/relationships" id="258" r:id="R5dcec0e9a61c42db"/>
    <p:sldId xmlns:r="http://schemas.openxmlformats.org/officeDocument/2006/relationships" id="259" r:id="R681bea18470e43a7"/>
    <p:sldId xmlns:r="http://schemas.openxmlformats.org/officeDocument/2006/relationships" id="260" r:id="R2e25aef6734c4ea2"/>
    <p:sldId xmlns:r="http://schemas.openxmlformats.org/officeDocument/2006/relationships" id="261" r:id="R39f6a6d267fa4892"/>
    <p:sldId xmlns:r="http://schemas.openxmlformats.org/officeDocument/2006/relationships" id="262" r:id="Rf6a3399c8fd84db5"/>
    <p:sldId xmlns:r="http://schemas.openxmlformats.org/officeDocument/2006/relationships" id="263" r:id="R4bf449e5ae054fec"/>
    <p:sldId xmlns:r="http://schemas.openxmlformats.org/officeDocument/2006/relationships" id="264" r:id="R00323cfba9d9422c"/>
    <p:sldId xmlns:r="http://schemas.openxmlformats.org/officeDocument/2006/relationships" id="265" r:id="R2ce24e6040a24f77"/>
    <p:sldId xmlns:r="http://schemas.openxmlformats.org/officeDocument/2006/relationships" id="266" r:id="R89047f83c5bf40e8"/>
    <p:sldId xmlns:r="http://schemas.openxmlformats.org/officeDocument/2006/relationships" id="267" r:id="R0e11173cd32b44ed"/>
    <p:sldId xmlns:r="http://schemas.openxmlformats.org/officeDocument/2006/relationships" id="268" r:id="Rebb9a86a6f0b4931"/>
    <p:sldId xmlns:r="http://schemas.openxmlformats.org/officeDocument/2006/relationships" id="269" r:id="R89c99877512c425b"/>
    <p:sldId xmlns:r="http://schemas.openxmlformats.org/officeDocument/2006/relationships" id="270" r:id="R6a5b331c7738414d"/>
    <p:sldId xmlns:r="http://schemas.openxmlformats.org/officeDocument/2006/relationships" id="271" r:id="R8e6390cc81944be5"/>
    <p:sldId xmlns:r="http://schemas.openxmlformats.org/officeDocument/2006/relationships" id="272" r:id="Rf252d206795246f8"/>
    <p:sldId xmlns:r="http://schemas.openxmlformats.org/officeDocument/2006/relationships" id="273" r:id="R25ca97b3c2bd4384"/>
    <p:sldId xmlns:r="http://schemas.openxmlformats.org/officeDocument/2006/relationships" id="274" r:id="Ra104c29477d649d9"/>
    <p:sldId xmlns:r="http://schemas.openxmlformats.org/officeDocument/2006/relationships" id="275" r:id="Rdd1655b5414b4f3f"/>
    <p:sldId xmlns:r="http://schemas.openxmlformats.org/officeDocument/2006/relationships" id="276" r:id="Ra5972ea30444489e"/>
    <p:sldId xmlns:r="http://schemas.openxmlformats.org/officeDocument/2006/relationships" id="277" r:id="R1a6d246e41904c93"/>
    <p:sldId xmlns:r="http://schemas.openxmlformats.org/officeDocument/2006/relationships" id="278" r:id="R06d3ac5e37da41fd"/>
    <p:sldId xmlns:r="http://schemas.openxmlformats.org/officeDocument/2006/relationships" id="279" r:id="Rf0602a60ed7c41fa"/>
  </p:sldIdLst>
  <p:sldSz cx="7772400" cy="1005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eb446d127243a8" /><Relationship Type="http://schemas.openxmlformats.org/officeDocument/2006/relationships/slideMaster" Target="/ppt/slideMasters/slideMaster1.xml" Id="Rcb071fb326064ade" /><Relationship Type="http://schemas.openxmlformats.org/officeDocument/2006/relationships/notesMaster" Target="/ppt/notesMasters/notesMaster1.xml" Id="R44009b652420483d" /><Relationship Type="http://schemas.openxmlformats.org/officeDocument/2006/relationships/presProps" Target="/ppt/presProps.xml" Id="R02fae278087540d2" /><Relationship Type="http://schemas.openxmlformats.org/officeDocument/2006/relationships/tableStyles" Target="/ppt/tableStyles.xml" Id="Rb12b55a2d0c9440c" /><Relationship Type="http://schemas.openxmlformats.org/officeDocument/2006/relationships/slide" Target="/ppt/slides/slide1.xml" Id="R90b3448e99dd4c82" /><Relationship Type="http://schemas.openxmlformats.org/officeDocument/2006/relationships/slide" Target="/ppt/slides/slide2.xml" Id="Re5ddc360bdd04051" /><Relationship Type="http://schemas.openxmlformats.org/officeDocument/2006/relationships/slide" Target="/ppt/slides/slide3.xml" Id="R5dcec0e9a61c42db" /><Relationship Type="http://schemas.openxmlformats.org/officeDocument/2006/relationships/slide" Target="/ppt/slides/slide4.xml" Id="R681bea18470e43a7" /><Relationship Type="http://schemas.openxmlformats.org/officeDocument/2006/relationships/slide" Target="/ppt/slides/slide5.xml" Id="R2e25aef6734c4ea2" /><Relationship Type="http://schemas.openxmlformats.org/officeDocument/2006/relationships/slide" Target="/ppt/slides/slide6.xml" Id="R39f6a6d267fa4892" /><Relationship Type="http://schemas.openxmlformats.org/officeDocument/2006/relationships/slide" Target="/ppt/slides/slide7.xml" Id="Rf6a3399c8fd84db5" /><Relationship Type="http://schemas.openxmlformats.org/officeDocument/2006/relationships/slide" Target="/ppt/slides/slide8.xml" Id="R4bf449e5ae054fec" /><Relationship Type="http://schemas.openxmlformats.org/officeDocument/2006/relationships/slide" Target="/ppt/slides/slide9.xml" Id="R00323cfba9d9422c" /><Relationship Type="http://schemas.openxmlformats.org/officeDocument/2006/relationships/slide" Target="/ppt/slides/slide10.xml" Id="R2ce24e6040a24f77" /><Relationship Type="http://schemas.openxmlformats.org/officeDocument/2006/relationships/slide" Target="/ppt/slides/slide11.xml" Id="R89047f83c5bf40e8" /><Relationship Type="http://schemas.openxmlformats.org/officeDocument/2006/relationships/slide" Target="/ppt/slides/slide12.xml" Id="R0e11173cd32b44ed" /><Relationship Type="http://schemas.openxmlformats.org/officeDocument/2006/relationships/slide" Target="/ppt/slides/slide13.xml" Id="Rebb9a86a6f0b4931" /><Relationship Type="http://schemas.openxmlformats.org/officeDocument/2006/relationships/slide" Target="/ppt/slides/slide14.xml" Id="R89c99877512c425b" /><Relationship Type="http://schemas.openxmlformats.org/officeDocument/2006/relationships/slide" Target="/ppt/slides/slide15.xml" Id="R6a5b331c7738414d" /><Relationship Type="http://schemas.openxmlformats.org/officeDocument/2006/relationships/slide" Target="/ppt/slides/slide16.xml" Id="R8e6390cc81944be5" /><Relationship Type="http://schemas.openxmlformats.org/officeDocument/2006/relationships/slide" Target="/ppt/slides/slide17.xml" Id="Rf252d206795246f8" /><Relationship Type="http://schemas.openxmlformats.org/officeDocument/2006/relationships/slide" Target="/ppt/slides/slide18.xml" Id="R25ca97b3c2bd4384" /><Relationship Type="http://schemas.openxmlformats.org/officeDocument/2006/relationships/slide" Target="/ppt/slides/slide19.xml" Id="Ra104c29477d649d9" /><Relationship Type="http://schemas.openxmlformats.org/officeDocument/2006/relationships/slide" Target="/ppt/slides/slide20.xml" Id="Rdd1655b5414b4f3f" /><Relationship Type="http://schemas.openxmlformats.org/officeDocument/2006/relationships/slide" Target="/ppt/slides/slide21.xml" Id="Ra5972ea30444489e" /><Relationship Type="http://schemas.openxmlformats.org/officeDocument/2006/relationships/slide" Target="/ppt/slides/slide22.xml" Id="R1a6d246e41904c93" /><Relationship Type="http://schemas.openxmlformats.org/officeDocument/2006/relationships/slide" Target="/ppt/slides/slide23.xml" Id="R06d3ac5e37da41fd" /><Relationship Type="http://schemas.openxmlformats.org/officeDocument/2006/relationships/slide" Target="/ppt/slides/slide24.xml" Id="Rf0602a60ed7c41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41a3e140c245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8c39cfe2fb4277" /><Relationship Type="http://schemas.openxmlformats.org/officeDocument/2006/relationships/notesMaster" Target="/ppt/notesMasters/notesMaster1.xml" Id="Rfd030415dc734e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c6644903944320" /><Relationship Type="http://schemas.openxmlformats.org/officeDocument/2006/relationships/notesMaster" Target="/ppt/notesMasters/notesMaster1.xml" Id="Rcef54594ac0c41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14a4d5cc2d492e" /><Relationship Type="http://schemas.openxmlformats.org/officeDocument/2006/relationships/notesMaster" Target="/ppt/notesMasters/notesMaster1.xml" Id="R0fd587fc18fa46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9d10dc8a1b4817" /><Relationship Type="http://schemas.openxmlformats.org/officeDocument/2006/relationships/notesMaster" Target="/ppt/notesMasters/notesMaster1.xml" Id="R3b3936e8ee4747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0847c8c1f649db" /><Relationship Type="http://schemas.openxmlformats.org/officeDocument/2006/relationships/notesMaster" Target="/ppt/notesMasters/notesMaster1.xml" Id="R86c2e5bc0aac4a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28339c22eb4104" /><Relationship Type="http://schemas.openxmlformats.org/officeDocument/2006/relationships/notesMaster" Target="/ppt/notesMasters/notesMaster1.xml" Id="Rc685d2a65f3f47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0a9cee44694169" /><Relationship Type="http://schemas.openxmlformats.org/officeDocument/2006/relationships/notesMaster" Target="/ppt/notesMasters/notesMaster1.xml" Id="Rf80294342de241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44a32f6d214412" /><Relationship Type="http://schemas.openxmlformats.org/officeDocument/2006/relationships/notesMaster" Target="/ppt/notesMasters/notesMaster1.xml" Id="R0f049d75c5d04b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d3ed5505fc425f" /><Relationship Type="http://schemas.openxmlformats.org/officeDocument/2006/relationships/notesMaster" Target="/ppt/notesMasters/notesMaster1.xml" Id="R2724ee9da11647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dfb3ffaf93429e" /><Relationship Type="http://schemas.openxmlformats.org/officeDocument/2006/relationships/notesMaster" Target="/ppt/notesMasters/notesMaster1.xml" Id="Rb178c311376c408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e087c602824105" /><Relationship Type="http://schemas.openxmlformats.org/officeDocument/2006/relationships/notesMaster" Target="/ppt/notesMasters/notesMaster1.xml" Id="R4d2c137d004c40e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3bd5d89580949a0" /><Relationship Type="http://schemas.openxmlformats.org/officeDocument/2006/relationships/notesMaster" Target="/ppt/notesMasters/notesMaster1.xml" Id="R8527e531484947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37ca469a84d49fa" /><Relationship Type="http://schemas.openxmlformats.org/officeDocument/2006/relationships/notesMaster" Target="/ppt/notesMasters/notesMaster1.xml" Id="R1095958b53d843a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879ab491315491b" /><Relationship Type="http://schemas.openxmlformats.org/officeDocument/2006/relationships/notesMaster" Target="/ppt/notesMasters/notesMaster1.xml" Id="R093056e4981544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f66a04209c0420b" /><Relationship Type="http://schemas.openxmlformats.org/officeDocument/2006/relationships/notesMaster" Target="/ppt/notesMasters/notesMaster1.xml" Id="Rbc059c8416e4411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3ec883863da4147" /><Relationship Type="http://schemas.openxmlformats.org/officeDocument/2006/relationships/notesMaster" Target="/ppt/notesMasters/notesMaster1.xml" Id="Rebbfe03b07d4436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6f0c0c0540841bf" /><Relationship Type="http://schemas.openxmlformats.org/officeDocument/2006/relationships/notesMaster" Target="/ppt/notesMasters/notesMaster1.xml" Id="Rb520bd57ff24405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3917aad67a24adf" /><Relationship Type="http://schemas.openxmlformats.org/officeDocument/2006/relationships/notesMaster" Target="/ppt/notesMasters/notesMaster1.xml" Id="R6300a4f0bf214c9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c4ab75c86514a2e" /><Relationship Type="http://schemas.openxmlformats.org/officeDocument/2006/relationships/notesMaster" Target="/ppt/notesMasters/notesMaster1.xml" Id="R070965aa3cdd478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0b9c4f5a11f4859" /><Relationship Type="http://schemas.openxmlformats.org/officeDocument/2006/relationships/notesMaster" Target="/ppt/notesMasters/notesMaster1.xml" Id="Rce0c378f000e45f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6419eec260e4b53" /><Relationship Type="http://schemas.openxmlformats.org/officeDocument/2006/relationships/notesMaster" Target="/ppt/notesMasters/notesMaster1.xml" Id="R10cb7ed2c9eb4e6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3ec824e8d8f4ece" /><Relationship Type="http://schemas.openxmlformats.org/officeDocument/2006/relationships/notesMaster" Target="/ppt/notesMasters/notesMaster1.xml" Id="R33c0aaa6e9c74d6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2c43564c45e4d23" /><Relationship Type="http://schemas.openxmlformats.org/officeDocument/2006/relationships/notesMaster" Target="/ppt/notesMasters/notesMaster1.xml" Id="R9f1d9ee7eeaf4c7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86a8fa849064972" /><Relationship Type="http://schemas.openxmlformats.org/officeDocument/2006/relationships/notesMaster" Target="/ppt/notesMasters/notesMaster1.xml" Id="R0a505f1cf70c4d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Cover uses Mindful Diabetes brand assets and original editable shapes.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[4] Centers for Disease Control and Prevention. Your Brain and Diabetes. Updated May 15, 2024. https://www.cdc.gov/diabetes/diabetes-complications/effects-of-diabetes-brain.html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>[7] Livingston G, Huntley J, Liu KY, et al. Dementia prevention, intervention, and care: 2024 report of the Lancet standing Commission. The Lancet. 2024;404(10452):572-628. doi:10.1016/S0140-6736(24)01296-0. https://www.thelancet.com/article/S0140-6736(24)01296-0/fulltext</a:t>
            </a:r>
          </a:p>
          <a:p xmlns:a="http://schemas.openxmlformats.org/drawingml/2006/main">
            <a:r>
              <a:t>[8] 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[1] National Institute of Diabetes and Digestive and Kidney Diseases. Symptoms &amp; Causes of Diabetes. Last reviewed October 2024. https://www.niddk.nih.gov/health-information/diabetes/overview/symptoms-causes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[4] Centers for Disease Control and Prevention. Your Brain and Diabetes. Updated May 15, 2024. https://www.cdc.gov/diabetes/diabetes-complications/effects-of-diabetes-brain.html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[1] National Institute of Diabetes and Digestive and Kidney Diseases. Symptoms &amp; Causes of Diabetes. Last reviewed October 2024. https://www.niddk.nih.gov/health-information/diabetes/overview/symptoms-causes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[1] National Institute of Diabetes and Digestive and Kidney Diseases. Symptoms &amp; Causes of Diabetes. Last reviewed October 2024. https://www.niddk.nih.gov/health-information/diabetes/overview/symptoms-causes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[3] Centers for Disease Control and Prevention. Low Blood Sugar (Hypoglycemia). Updated May 15, 2024. https://www.cdc.gov/diabetes/about/low-blood-sugar-hypoglycemia.html</a:t>
            </a:r>
          </a:p>
          <a:p xmlns:a="http://schemas.openxmlformats.org/drawingml/2006/main">
            <a:r>
              <a:t>[4] Centers for Disease Control and Prevention. Your Brain and Diabetes. Updated May 15, 2024. https://www.cdc.gov/diabetes/diabetes-complications/effects-of-diabetes-brain.html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[4] Centers for Disease Control and Prevention. Your Brain and Diabetes. Updated May 15, 2024. https://www.cdc.gov/diabetes/diabetes-complications/effects-of-diabetes-brain.html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>[8] 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r>
              <a:t>[9] National Heart, Lung, and Blood Institute. High Blood Pressure - Treatment. Updated May 2024. https://www.nhlbi.nih.gov/health/high-blood-pressure/treatment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[4] Centers for Disease Control and Prevention. Your Brain and Diabetes. Updated May 15, 2024. https://www.cdc.gov/diabetes/diabetes-complications/effects-of-diabetes-brain.html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[3] Centers for Disease Control and Prevention. Low Blood Sugar (Hypoglycemia). Updated May 15, 2024. https://www.cdc.gov/diabetes/about/low-blood-sugar-hypoglycemia.html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[5] American Diabetes Association Professional Practice Committee for Diabetes. 13. Older Adults: Standards of Care in Diabetes - 2026. Diabetes Care. 2026;49(Suppl. 1):S277-S296. doi:10.2337/dc26-S013. https://diabetesjournals.org/care/article/49/Supplement_1/S277/163921/13-Older-Adults-Standards-of-Care-in-Diabetes-2026</a:t>
            </a:r>
          </a:p>
          <a:p xmlns:a="http://schemas.openxmlformats.org/drawingml/2006/main">
            <a:r>
              <a:t>[7] Livingston G, Huntley J, Liu KY, et al. Dementia prevention, intervention, and care: 2024 report of the Lancet standing Commission. The Lancet. 2024;404(10452):572-628. doi:10.1016/S0140-6736(24)01296-0. https://www.thelancet.com/article/S0140-6736(24)01296-0/fulltext</a:t>
            </a:r>
          </a:p>
          <a:p xmlns:a="http://schemas.openxmlformats.org/drawingml/2006/main">
            <a:r>
              <a:t>[8] 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r>
              <a:t>[13] Centers for Disease Control and Prevention. Health Effects of Social Isolation and Loneliness. Updated May 15, 2024. https://www.cdc.gov/social-connectedness/risk-factors/index.html</a:t>
            </a:r>
          </a:p>
          <a:p xmlns:a="http://schemas.openxmlformats.org/drawingml/2006/main">
            <a:r>
              <a:t>[15] National Institute on Deafness and Other Communication Disorders. Age-Related Hearing Loss (Presbycusis). Updated March 2023. https://www.nidcd.nih.gov/health/age-related-hearing-loss</a:t>
            </a:r>
          </a:p>
          <a:p xmlns:a="http://schemas.openxmlformats.org/drawingml/2006/main">
            <a:r>
              <a:t>[16] Centers for Disease Control and Prevention. About Mental Health. Updated May 2026. https://www.cdc.gov/mental-health/about/index.html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>[7] Livingston G, Huntley J, Liu KY, et al. Dementia prevention, intervention, and care: 2024 report of the Lancet standing Commission. The Lancet. 2024;404(10452):572-628. doi:10.1016/S0140-6736(24)01296-0. https://www.thelancet.com/article/S0140-6736(24)01296-0/fulltext</a:t>
            </a:r>
          </a:p>
          <a:p xmlns:a="http://schemas.openxmlformats.org/drawingml/2006/main">
            <a:r>
              <a:t>[8] 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[9] National Heart, Lung, and Blood Institute. High Blood Pressure - Treatment. Updated May 2024. https://www.nhlbi.nih.gov/health/high-blood-pressure/treatment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[11] U.S. Department of Health and Human Services. Physical Activity Guidelines for Americans, 2nd edition. 2018. https://health.gov/sites/default/files/2019-09/Physical_Activity_Guidelines_2nd_edition.pdf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[10] Centers for Disease Control and Prevention. Diabetes Meal Planning. Updated May 15, 2024. https://www.cdc.gov/diabetes/healthy-eating/diabetes-meal-planning.html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[12] National Heart, Lung, and Blood Institute. What Is Sleep Apnea? Updated November 2024. https://www.nhlbi.nih.gov/health/sleep-apnea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[7] Livingston G, Huntley J, Liu KY, et al. Dementia prevention, intervention, and care: 2024 report of the Lancet standing Commission. The Lancet. 2024;404(10452):572-628. doi:10.1016/S0140-6736(24)01296-0. https://www.thelancet.com/article/S0140-6736(24)01296-0/fulltext</a:t>
            </a:r>
          </a:p>
          <a:p xmlns:a="http://schemas.openxmlformats.org/drawingml/2006/main">
            <a:r>
              <a:t>[8] 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>[18] Centers for Disease Control and Prevention. Manage Blood Sugar. Updated May 15, 2024. https://www.cdc.gov/diabetes/treatment/index.html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[13] Centers for Disease Control and Prevention. Health Effects of Social Isolation and Loneliness. Updated May 15, 2024. https://www.cdc.gov/social-connectedness/risk-factors/index.html</a:t>
            </a:r>
          </a:p>
          <a:p xmlns:a="http://schemas.openxmlformats.org/drawingml/2006/main">
            <a:r>
              <a:t>[14] National Eye Institute. Diabetic Retinopathy. Updated September 2025. https://www.nei.nih.gov/eye-health-information/eye-conditions-and-diseases/diabetic-retinopathy</a:t>
            </a:r>
          </a:p>
          <a:p xmlns:a="http://schemas.openxmlformats.org/drawingml/2006/main">
            <a:r>
              <a:t>[15] National Institute on Deafness and Other Communication Disorders. Age-Related Hearing Loss (Presbycusis). Updated March 2023. https://www.nidcd.nih.gov/health/age-related-hearing-loss</a:t>
            </a:r>
          </a:p>
          <a:p xmlns:a="http://schemas.openxmlformats.org/drawingml/2006/main">
            <a:r>
              <a:t>[16] Centers for Disease Control and Prevention. About Mental Health. Updated May 2026. https://www.cdc.gov/mental-health/about/index.html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[5] American Diabetes Association Professional Practice Committee for Diabetes. 13. Older Adults: Standards of Care in Diabetes - 2026. Diabetes Care. 2026;49(Suppl. 1):S277-S296. doi:10.2337/dc26-S013. https://diabetesjournals.org/care/article/49/Supplement_1/S277/163921/13-Older-Adults-Standards-of-Care-in-Diabetes-2026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[5] American Diabetes Association Professional Practice Committee for Diabetes. 13. Older Adults: Standards of Care in Diabetes - 2026. Diabetes Care. 2026;49(Suppl. 1):S277-S296. doi:10.2337/dc26-S013. https://diabetesjournals.org/care/article/49/Supplement_1/S277/163921/13-Older-Adults-Standards-of-Care-in-Diabetes-2026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[9] National Heart, Lung, and Blood Institute. High Blood Pressure - Treatment. Updated May 2024. https://www.nhlbi.nih.gov/health/high-blood-pressure/treatment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>[7] Livingston G, Huntley J, Liu KY, et al. Dementia prevention, intervention, and care: 2024 report of the Lancet standing Commission. The Lancet. 2024;404(10452):572-628. doi:10.1016/S0140-6736(24)01296-0. https://www.thelancet.com/article/S0140-6736(24)01296-0/fulltext</a:t>
            </a:r>
          </a:p>
          <a:p xmlns:a="http://schemas.openxmlformats.org/drawingml/2006/main">
            <a:r>
              <a:t>[8] 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[3] Centers for Disease Control and Prevention. Low Blood Sugar (Hypoglycemia). Updated May 15, 2024. https://www.cdc.gov/diabetes/about/low-blood-sugar-hypoglycemia.html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[1] National Institute of Diabetes and Digestive and Kidney Diseases. Symptoms &amp; Causes of Diabetes. Last reviewed October 2024. https://www.niddk.nih.gov/health-information/diabetes/overview/symptoms-causes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[3] Centers for Disease Control and Prevention. Low Blood Sugar (Hypoglycemia). Updated May 15, 2024. https://www.cdc.gov/diabetes/about/low-blood-sugar-hypoglycemia.html</a:t>
            </a:r>
          </a:p>
          <a:p xmlns:a="http://schemas.openxmlformats.org/drawingml/2006/main">
            <a:r>
              <a:t>[4] Centers for Disease Control and Prevention. Your Brain and Diabetes. Updated May 15, 2024. https://www.cdc.gov/diabetes/diabetes-complications/effects-of-diabetes-brain.html</a:t>
            </a:r>
          </a:p>
          <a:p xmlns:a="http://schemas.openxmlformats.org/drawingml/2006/main">
            <a:r>
              <a:t>[5] American Diabetes Association Professional Practice Committee for Diabetes. 13. Older Adults: Standards of Care in Diabetes - 2026. Diabetes Care. 2026;49(Suppl. 1):S277-S296. doi:10.2337/dc26-S013. https://diabetesjournals.org/care/article/49/Supplement_1/S277/163921/13-Older-Adults-Standards-of-Care-in-Diabetes-2026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>[7] Livingston G, Huntley J, Liu KY, et al. Dementia prevention, intervention, and care: 2024 report of the Lancet standing Commission. The Lancet. 2024;404(10452):572-628. doi:10.1016/S0140-6736(24)01296-0. https://www.thelancet.com/article/S0140-6736(24)01296-0/fulltext</a:t>
            </a:r>
          </a:p>
          <a:p xmlns:a="http://schemas.openxmlformats.org/drawingml/2006/main">
            <a:r>
              <a:t>[8] 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r>
              <a:t>[9] National Heart, Lung, and Blood Institute. High Blood Pressure - Treatment. Updated May 2024. https://www.nhlbi.nih.gov/health/high-blood-pressure/treatment</a:t>
            </a:r>
          </a:p>
          <a:p xmlns:a="http://schemas.openxmlformats.org/drawingml/2006/main">
            <a:r>
              <a:t>[10] Centers for Disease Control and Prevention. Diabetes Meal Planning. Updated May 15, 2024. https://www.cdc.gov/diabetes/healthy-eating/diabetes-meal-planning.html</a:t>
            </a:r>
          </a:p>
          <a:p xmlns:a="http://schemas.openxmlformats.org/drawingml/2006/main">
            <a:r>
              <a:t>[11] U.S. Department of Health and Human Services. Physical Activity Guidelines for Americans, 2nd edition. 2018. https://health.gov/sites/default/files/2019-09/Physical_Activity_Guidelines_2nd_edition.pdf</a:t>
            </a:r>
          </a:p>
          <a:p xmlns:a="http://schemas.openxmlformats.org/drawingml/2006/main">
            <a:r>
              <a:t>[12] National Heart, Lung, and Blood Institute. What Is Sleep Apnea? Updated November 2024. https://www.nhlbi.nih.gov/health/sleep-apnea</a:t>
            </a:r>
          </a:p>
          <a:p xmlns:a="http://schemas.openxmlformats.org/drawingml/2006/main">
            <a:r>
              <a:t>[13] Centers for Disease Control and Prevention. Health Effects of Social Isolation and Loneliness. Updated May 15, 2024. https://www.cdc.gov/social-connectedness/risk-factors/index.html</a:t>
            </a:r>
          </a:p>
          <a:p xmlns:a="http://schemas.openxmlformats.org/drawingml/2006/main">
            <a:r>
              <a:t>[14] National Eye Institute. Diabetic Retinopathy. Updated September 2025. https://www.nei.nih.gov/eye-health-information/eye-conditions-and-diseases/diabetic-retinopathy</a:t>
            </a:r>
          </a:p>
          <a:p xmlns:a="http://schemas.openxmlformats.org/drawingml/2006/main">
            <a:r>
              <a:t>[15] National Institute on Deafness and Other Communication Disorders. Age-Related Hearing Loss (Presbycusis). Updated March 2023. https://www.nidcd.nih.gov/health/age-related-hearing-loss</a:t>
            </a:r>
          </a:p>
          <a:p xmlns:a="http://schemas.openxmlformats.org/drawingml/2006/main">
            <a:r>
              <a:t>[16] Centers for Disease Control and Prevention. About Mental Health. Updated May 2026. https://www.cdc.gov/mental-health/about/index.html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>[18] Centers for Disease Control and Prevention. Manage Blood Sugar. Updated May 15, 2024. https://www.cdc.gov/diabetes/treatment/index.html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[1] National Institute of Diabetes and Digestive and Kidney Diseases. Symptoms &amp; Causes of Diabetes. Last reviewed October 2024. https://www.niddk.nih.gov/health-information/diabetes/overview/symptoms-causes</a:t>
            </a:r>
          </a:p>
          <a:p xmlns:a="http://schemas.openxmlformats.org/drawingml/2006/main">
            <a:r>
              <a:t>[2] 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r>
              <a:t>[3] Centers for Disease Control and Prevention. Low Blood Sugar (Hypoglycemia). Updated May 15, 2024. https://www.cdc.gov/diabetes/about/low-blood-sugar-hypoglycemia.html</a:t>
            </a:r>
          </a:p>
          <a:p xmlns:a="http://schemas.openxmlformats.org/drawingml/2006/main">
            <a:r>
              <a:t>[4] Centers for Disease Control and Prevention. Your Brain and Diabetes. Updated May 15, 2024. https://www.cdc.gov/diabetes/diabetes-complications/effects-of-diabetes-brain.html</a:t>
            </a:r>
          </a:p>
          <a:p xmlns:a="http://schemas.openxmlformats.org/drawingml/2006/main">
            <a:r>
              <a:t>[5] American Diabetes Association Professional Practice Committee for Diabetes. 13. Older Adults: Standards of Care in Diabetes - 2026. Diabetes Care. 2026;49(Suppl. 1):S277-S296. doi:10.2337/dc26-S013. https://diabetesjournals.org/care/article/49/Supplement_1/S277/163921/13-Older-Adults-Standards-of-Care-in-Diabetes-2026</a:t>
            </a:r>
          </a:p>
          <a:p xmlns:a="http://schemas.openxmlformats.org/drawingml/2006/main">
            <a:r>
              <a:t>[6] 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r>
              <a:t>[7] Livingston G, Huntley J, Liu KY, et al. Dementia prevention, intervention, and care: 2024 report of the Lancet standing Commission. The Lancet. 2024;404(10452):572-628. doi:10.1016/S0140-6736(24)01296-0. https://www.thelancet.com/article/S0140-6736(24)01296-0/fulltext</a:t>
            </a:r>
          </a:p>
          <a:p xmlns:a="http://schemas.openxmlformats.org/drawingml/2006/main">
            <a:r>
              <a:t>[8] 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r>
              <a:t>[9] National Heart, Lung, and Blood Institute. High Blood Pressure - Treatment. Updated May 2024. https://www.nhlbi.nih.gov/health/high-blood-pressure/treatment</a:t>
            </a:r>
          </a:p>
          <a:p xmlns:a="http://schemas.openxmlformats.org/drawingml/2006/main">
            <a:r>
              <a:t>[10] Centers for Disease Control and Prevention. Diabetes Meal Planning. Updated May 15, 2024. https://www.cdc.gov/diabetes/healthy-eating/diabetes-meal-planning.html</a:t>
            </a:r>
          </a:p>
          <a:p xmlns:a="http://schemas.openxmlformats.org/drawingml/2006/main">
            <a:r>
              <a:t>[11] U.S. Department of Health and Human Services. Physical Activity Guidelines for Americans, 2nd edition. 2018. https://health.gov/sites/default/files/2019-09/Physical_Activity_Guidelines_2nd_edition.pdf</a:t>
            </a:r>
          </a:p>
          <a:p xmlns:a="http://schemas.openxmlformats.org/drawingml/2006/main">
            <a:r>
              <a:t>[12] National Heart, Lung, and Blood Institute. What Is Sleep Apnea? Updated November 2024. https://www.nhlbi.nih.gov/health/sleep-apnea</a:t>
            </a:r>
          </a:p>
          <a:p xmlns:a="http://schemas.openxmlformats.org/drawingml/2006/main">
            <a:r>
              <a:t>[13] Centers for Disease Control and Prevention. Health Effects of Social Isolation and Loneliness. Updated May 15, 2024. https://www.cdc.gov/social-connectedness/risk-factors/index.html</a:t>
            </a:r>
          </a:p>
          <a:p xmlns:a="http://schemas.openxmlformats.org/drawingml/2006/main">
            <a:r>
              <a:t>[14] National Eye Institute. Diabetic Retinopathy. Updated September 2025. https://www.nei.nih.gov/eye-health-information/eye-conditions-and-diseases/diabetic-retinopathy</a:t>
            </a:r>
          </a:p>
          <a:p xmlns:a="http://schemas.openxmlformats.org/drawingml/2006/main">
            <a:r>
              <a:t>[15] National Institute on Deafness and Other Communication Disorders. Age-Related Hearing Loss (Presbycusis). Updated March 2023. https://www.nidcd.nih.gov/health/age-related-hearing-loss</a:t>
            </a:r>
          </a:p>
          <a:p xmlns:a="http://schemas.openxmlformats.org/drawingml/2006/main">
            <a:r>
              <a:t>[16] Centers for Disease Control and Prevention. About Mental Health. Updated May 2026. https://www.cdc.gov/mental-health/about/index.html</a:t>
            </a:r>
          </a:p>
          <a:p xmlns:a="http://schemas.openxmlformats.org/drawingml/2006/main">
            <a:r>
              <a:t>[17] 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r>
              <a:t>[18] Centers for Disease Control and Prevention. Manage Blood Sugar. Updated May 15, 2024. https://www.cdc.gov/diabetes/treatment/index.html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Visible copy was reviewed for patient education, overstatement, and citation support. Medical review status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c56591dfdb41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bd42bcd08e44cd" /><Relationship Type="http://schemas.openxmlformats.org/officeDocument/2006/relationships/slideLayout" Target="/ppt/slideLayouts/slideLayout1.xml" Id="Ra37b0b0de23b47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7b0b0de23b47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a01efe0274043" /><Relationship Type="http://schemas.openxmlformats.org/officeDocument/2006/relationships/image" Target="/ppt/media/image.jpeg" Id="R43cc8c6c79564840" /><Relationship Type="http://schemas.openxmlformats.org/officeDocument/2006/relationships/notesSlide" Target="/ppt/notesSlides/notesSlide1.xml" Id="R9b1ca31774614c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fb8e64d034b9c" /><Relationship Type="http://schemas.openxmlformats.org/officeDocument/2006/relationships/hyperlink" Target="https://www.mindfuldiabetes.org/" TargetMode="External" Id="R8276765584a14385" /><Relationship Type="http://schemas.openxmlformats.org/officeDocument/2006/relationships/notesSlide" Target="/ppt/notesSlides/notesSlide2.xml" Id="Re91887b1b90648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0a5911ab44a90" /><Relationship Type="http://schemas.openxmlformats.org/officeDocument/2006/relationships/hyperlink" Target="https://www.mindfuldiabetes.org/" TargetMode="External" Id="Rf0c6a4a82ca64898" /><Relationship Type="http://schemas.openxmlformats.org/officeDocument/2006/relationships/notesSlide" Target="/ppt/notesSlides/notesSlide3.xml" Id="Rbdfcb523aef345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3d3562a82e40ba" /><Relationship Type="http://schemas.openxmlformats.org/officeDocument/2006/relationships/hyperlink" Target="https://www.mindfuldiabetes.org/" TargetMode="External" Id="Rbec3a4580fea48f2" /><Relationship Type="http://schemas.openxmlformats.org/officeDocument/2006/relationships/notesSlide" Target="/ppt/notesSlides/notesSlide4.xml" Id="Re9b02147b8264e7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aa8e7fc0043e3" /><Relationship Type="http://schemas.openxmlformats.org/officeDocument/2006/relationships/hyperlink" Target="https://www.mindfuldiabetes.org/" TargetMode="External" Id="R1a21f6c57b304559" /><Relationship Type="http://schemas.openxmlformats.org/officeDocument/2006/relationships/notesSlide" Target="/ppt/notesSlides/notesSlide5.xml" Id="R3de1f818928342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25a1863ec425f" /><Relationship Type="http://schemas.openxmlformats.org/officeDocument/2006/relationships/hyperlink" Target="https://www.mindfuldiabetes.org/" TargetMode="External" Id="R0bbab643482b4fb0" /><Relationship Type="http://schemas.openxmlformats.org/officeDocument/2006/relationships/notesSlide" Target="/ppt/notesSlides/notesSlide6.xml" Id="R416e31e98b7040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36f936db84b3e" /><Relationship Type="http://schemas.openxmlformats.org/officeDocument/2006/relationships/hyperlink" Target="https://www.mindfuldiabetes.org/" TargetMode="External" Id="R106d0cd305014d70" /><Relationship Type="http://schemas.openxmlformats.org/officeDocument/2006/relationships/notesSlide" Target="/ppt/notesSlides/notesSlide7.xml" Id="R0d5ed5f40f8643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3037ef05246d1" /><Relationship Type="http://schemas.openxmlformats.org/officeDocument/2006/relationships/hyperlink" Target="https://www.mindfuldiabetes.org/" TargetMode="External" Id="Rf8f46e6395ad49c0" /><Relationship Type="http://schemas.openxmlformats.org/officeDocument/2006/relationships/notesSlide" Target="/ppt/notesSlides/notesSlide8.xml" Id="Rab76c5d4edc849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7572b1cf1542e7" /><Relationship Type="http://schemas.openxmlformats.org/officeDocument/2006/relationships/hyperlink" Target="https://www.mindfuldiabetes.org/" TargetMode="External" Id="Rc90ddcf7200e467a" /><Relationship Type="http://schemas.openxmlformats.org/officeDocument/2006/relationships/notesSlide" Target="/ppt/notesSlides/notesSlide9.xml" Id="R1c1f01de2a4e4d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1c975d2ec4f49" /><Relationship Type="http://schemas.openxmlformats.org/officeDocument/2006/relationships/hyperlink" Target="https://www.mindfuldiabetes.org/" TargetMode="External" Id="R8da11584ca7f418d" /><Relationship Type="http://schemas.openxmlformats.org/officeDocument/2006/relationships/notesSlide" Target="/ppt/notesSlides/notesSlide10.xml" Id="R46d06c24c3a84f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677d34a8b4472" /><Relationship Type="http://schemas.openxmlformats.org/officeDocument/2006/relationships/hyperlink" Target="https://www.mindfuldiabetes.org/" TargetMode="External" Id="R56e9d83d992a4878" /><Relationship Type="http://schemas.openxmlformats.org/officeDocument/2006/relationships/notesSlide" Target="/ppt/notesSlides/notesSlide11.xml" Id="R1d9edad3542b46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9ecdd95494be0" /><Relationship Type="http://schemas.openxmlformats.org/officeDocument/2006/relationships/hyperlink" Target="https://www.mindfuldiabetes.org/" TargetMode="External" Id="R28e479bd58bc436d" /><Relationship Type="http://schemas.openxmlformats.org/officeDocument/2006/relationships/notesSlide" Target="/ppt/notesSlides/notesSlide12.xml" Id="Rb6c18406133f47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80833e9ae949bc" /><Relationship Type="http://schemas.openxmlformats.org/officeDocument/2006/relationships/hyperlink" Target="https://www.mindfuldiabetes.org/" TargetMode="External" Id="Rd7679e61ca0140e5" /><Relationship Type="http://schemas.openxmlformats.org/officeDocument/2006/relationships/notesSlide" Target="/ppt/notesSlides/notesSlide13.xml" Id="Ra304ce9049cf4ff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937c7ca8e4111" /><Relationship Type="http://schemas.openxmlformats.org/officeDocument/2006/relationships/hyperlink" Target="https://www.mindfuldiabetes.org/" TargetMode="External" Id="R62527ca68de14c64" /><Relationship Type="http://schemas.openxmlformats.org/officeDocument/2006/relationships/notesSlide" Target="/ppt/notesSlides/notesSlide14.xml" Id="R8246b1a3374a4e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6b1b99bfe47c9" /><Relationship Type="http://schemas.openxmlformats.org/officeDocument/2006/relationships/hyperlink" Target="https://www.mindfuldiabetes.org/" TargetMode="External" Id="R8595e15bede0472d" /><Relationship Type="http://schemas.openxmlformats.org/officeDocument/2006/relationships/notesSlide" Target="/ppt/notesSlides/notesSlide15.xml" Id="Rd6a6efd4f8924a0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234d41f544301" /><Relationship Type="http://schemas.openxmlformats.org/officeDocument/2006/relationships/hyperlink" Target="https://www.mindfuldiabetes.org/" TargetMode="External" Id="R4e33108163734bae" /><Relationship Type="http://schemas.openxmlformats.org/officeDocument/2006/relationships/notesSlide" Target="/ppt/notesSlides/notesSlide16.xml" Id="R138c9e5d3d9c420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bddd428b841b0" /><Relationship Type="http://schemas.openxmlformats.org/officeDocument/2006/relationships/hyperlink" Target="https://www.mindfuldiabetes.org/" TargetMode="External" Id="R647269fb29884428" /><Relationship Type="http://schemas.openxmlformats.org/officeDocument/2006/relationships/notesSlide" Target="/ppt/notesSlides/notesSlide17.xml" Id="R1a695df9e715475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9d25950684117" /><Relationship Type="http://schemas.openxmlformats.org/officeDocument/2006/relationships/hyperlink" Target="https://www.mindfuldiabetes.org/" TargetMode="External" Id="Rbc166f0775b147ba" /><Relationship Type="http://schemas.openxmlformats.org/officeDocument/2006/relationships/notesSlide" Target="/ppt/notesSlides/notesSlide18.xml" Id="R16daf97c4aac4b3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cb7e8e90048f6" /><Relationship Type="http://schemas.openxmlformats.org/officeDocument/2006/relationships/hyperlink" Target="https://www.mindfuldiabetes.org/" TargetMode="External" Id="R5788a5eec75248d7" /><Relationship Type="http://schemas.openxmlformats.org/officeDocument/2006/relationships/notesSlide" Target="/ppt/notesSlides/notesSlide19.xml" Id="Ra4c2fe1417904e1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bb08702ff4492a" /><Relationship Type="http://schemas.openxmlformats.org/officeDocument/2006/relationships/hyperlink" Target="https://www.mindfuldiabetes.org/" TargetMode="External" Id="R211dc08910e0420f" /><Relationship Type="http://schemas.openxmlformats.org/officeDocument/2006/relationships/notesSlide" Target="/ppt/notesSlides/notesSlide20.xml" Id="Rfd0a2ffc804842d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61e75897d46f2" /><Relationship Type="http://schemas.openxmlformats.org/officeDocument/2006/relationships/hyperlink" Target="https://www.mindfuldiabetes.org/" TargetMode="External" Id="Raedcd8bf54314b5b" /><Relationship Type="http://schemas.openxmlformats.org/officeDocument/2006/relationships/notesSlide" Target="/ppt/notesSlides/notesSlide21.xml" Id="R7da0db5cc3554dc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ae818326447c8" /><Relationship Type="http://schemas.openxmlformats.org/officeDocument/2006/relationships/hyperlink" Target="https://www.mindfuldiabetes.org/free-guides/blood-sugar-brain-health/" TargetMode="External" Id="Raeeae1a56ee446c3" /><Relationship Type="http://schemas.openxmlformats.org/officeDocument/2006/relationships/hyperlink" Target="https://www.mindfuldiabetes.org/health-tools/" TargetMode="External" Id="R2056bf1ecd524eb2" /><Relationship Type="http://schemas.openxmlformats.org/officeDocument/2006/relationships/hyperlink" Target="https://www.mindfuldiabetes.ai/" TargetMode="External" Id="R85bb9c226ea84cba" /><Relationship Type="http://schemas.openxmlformats.org/officeDocument/2006/relationships/hyperlink" Target="https://www.mindfuldiabetes.org/donation/" TargetMode="External" Id="R53f8079efd644f52" /><Relationship Type="http://schemas.openxmlformats.org/officeDocument/2006/relationships/hyperlink" Target="https://www.mindfuldiabetes.org/" TargetMode="External" Id="R00cd22bfc2954faf" /><Relationship Type="http://schemas.openxmlformats.org/officeDocument/2006/relationships/notesSlide" Target="/ppt/notesSlides/notesSlide22.xml" Id="R7159acc7dc59448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7ad1527f944bd8" /><Relationship Type="http://schemas.openxmlformats.org/officeDocument/2006/relationships/hyperlink" Target="https://www.mindfuldiabetes.org/" TargetMode="External" Id="Rc7f75b3efdfb4a6d" /><Relationship Type="http://schemas.openxmlformats.org/officeDocument/2006/relationships/notesSlide" Target="/ppt/notesSlides/notesSlide23.xml" Id="Re444444b68f24ee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51c74a8514db6" /><Relationship Type="http://schemas.openxmlformats.org/officeDocument/2006/relationships/hyperlink" Target="https://www.mindfuldiabetes.org/" TargetMode="External" Id="R568a900209b54ef2" /><Relationship Type="http://schemas.openxmlformats.org/officeDocument/2006/relationships/notesSlide" Target="/ppt/notesSlides/notesSlide24.xml" Id="Rec9fa767dfda4f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B90224-10D4-4D32-9FD2-72A098C8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772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ACEEF-00CE-43BB-8914-0390EDCE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7772400" cy="777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2"/>
          </a:solidFill>
          <a:ln xmlns:a="http://schemas.openxmlformats.org/drawingml/2006/main" w="0">
            <a:solidFill>
              <a:srgbClr val="FFFAF2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c8c6c79564840"/>
          <a:stretch xmlns:a="http://schemas.openxmlformats.org/drawingml/2006/main"/>
        </p:blipFill>
        <p:spPr>
          <a:xfrm xmlns:a="http://schemas.openxmlformats.org/drawingml/2006/main">
            <a:off x="571574" y="361950"/>
            <a:ext cx="647552" cy="685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C9A9-2E7A-40C8-BF92-FDAE89B3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24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FFFFFF"/>
                </a:solidFill>
                <a:latin typeface="Lato"/>
                <a:ea typeface="Lato"/>
                <a:cs typeface="Lato"/>
              </a:rPr>
              <a:t>MINDFUL DIABETES FREE GUIDES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EEFE1-FB45-4DEC-AC84-BC3CA957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819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E8F4EF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E8F4EF"/>
                </a:solidFill>
                <a:latin typeface="Lato"/>
                <a:ea typeface="Lato"/>
                <a:cs typeface="Lato"/>
              </a:rPr>
              <a:t>Simple, practical guidance for metabolic and brain health.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261E2-BFC8-42B0-9261-F91754FF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2450"/>
            <a:ext cx="1143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9423A-7B2F-4635-865B-516E2D68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1912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 i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825" b="1" i="0">
                <a:solidFill>
                  <a:srgbClr val="FFFFFF"/>
                </a:solidFill>
                <a:latin typeface="Lato"/>
                <a:ea typeface="Lato"/>
                <a:cs typeface="Lato"/>
              </a:rPr>
              <a:t>FREE GUIDE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F36760-DCC3-4656-B8FB-29412A87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57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375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3375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Blood Sugar &amp;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375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3375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Brain Health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6DFF5-D9CD-4C7C-B72D-C525E4D8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35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Understanding the Everyday Connection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DB469C-46DB-43A6-B1D4-27202E6C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1995" y="3090863"/>
            <a:ext cx="1851660" cy="1285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E"/>
          </a:solidFill>
          <a:ln xmlns:a="http://schemas.openxmlformats.org/drawingml/2006/main" w="19050">
            <a:solidFill>
              <a:srgbClr val="3A8F7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10DE24-F73F-4E8A-87DB-FCD0B7E1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148" y="3193732"/>
            <a:ext cx="617220" cy="6172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A5354C-411D-4F05-A713-C97CAE12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215" y="3116580"/>
            <a:ext cx="720090" cy="72009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72F03-294C-43A0-895C-7FB2E255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502343"/>
            <a:ext cx="565785" cy="56578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56DF25-6203-4AE3-AB14-B300A2A8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4899" y="3669506"/>
            <a:ext cx="642938" cy="64293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AFB0E-3B3C-4A2F-8F41-1D7B21EF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6390" y="3193733"/>
            <a:ext cx="0" cy="108013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A8F7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73F64-E069-4C61-972B-BAC47CB2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734050"/>
            <a:ext cx="1638300" cy="1638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E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189E9E-CCE5-4ECC-BD85-95CC9593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867400"/>
            <a:ext cx="1371600" cy="1371600"/>
          </a:xfrm>
          <a:prstGeom xmlns:a="http://schemas.openxmlformats.org/drawingml/2006/main" prst="arc">
            <a:avLst/>
          </a:prstGeom>
          <a:noFill xmlns:a="http://schemas.openxmlformats.org/drawingml/2006/main"/>
          <a:ln xmlns:a="http://schemas.openxmlformats.org/drawingml/2006/main" w="171450">
            <a:solidFill>
              <a:srgbClr val="0050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5F06F-4DBA-4052-8A60-D5B14445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867400"/>
            <a:ext cx="1371600" cy="1371600"/>
          </a:xfrm>
          <a:prstGeom xmlns:a="http://schemas.openxmlformats.org/drawingml/2006/main" prst="arc">
            <a:avLst/>
          </a:prstGeom>
          <a:noFill xmlns:a="http://schemas.openxmlformats.org/drawingml/2006/main"/>
          <a:ln xmlns:a="http://schemas.openxmlformats.org/drawingml/2006/main" w="171450">
            <a:solidFill>
              <a:srgbClr val="F0723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312805-4641-4DE6-AD28-5CF0BEB5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1341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5C9A8"/>
          </a:solidFill>
          <a:ln xmlns:a="http://schemas.openxmlformats.org/drawingml/2006/main" w="0">
            <a:solidFill>
              <a:srgbClr val="95C9A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9C39B-5246-40C2-9607-0165C2F3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6096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82"/>
          </a:solidFill>
          <a:ln xmlns:a="http://schemas.openxmlformats.org/drawingml/2006/main" w="0">
            <a:solidFill>
              <a:srgbClr val="F4B4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F404DE-44C6-468D-B9B6-5037A078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48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A8F7B"/>
            </a:solidFill>
            <a:prstDash val="solid"/>
          </a:ln>
        </p:spPr>
      </p:sp>
      <p:cxnSp>
        <p:nvCxnSpPr>
          <p:cNvPr id="50" name=""/>
          <p:cNvCxnSpPr>
            <a:stCxn xmlns:a="http://schemas.openxmlformats.org/drawingml/2006/main" id="16" idx="0"/>
            <a:endCxn xmlns:a="http://schemas.openxmlformats.org/drawingml/2006/main" id="21" idx="4"/>
          </p:cNvCxnSpPr>
          <p:nvPr/>
        </p:nvCxnSpPr>
        <p:spPr>
          <a:xfrm xmlns:a="http://schemas.openxmlformats.org/drawingml/2006/main" rot="16200000" flipH="1">
            <a:off x="4433888" y="4586288"/>
            <a:ext cx="2209800" cy="85725"/>
          </a:xfrm>
          <a:prstGeom xmlns:a="http://schemas.openxmlformats.org/drawingml/2006/main" prst="curved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3A8F7B"/>
            </a:solidFill>
            <a:prstDash val="solid"/>
            <a:headEnd type="none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8CD4C9-20AA-483B-BAD5-B1F7BC13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35433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1430">
            <a:solidFill>
              <a:srgbClr val="2F6F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4F6C7E-0226-4366-82DD-8E157417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76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E23B18-70D0-4485-84DF-939AED68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055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A calm guide to connected care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2C40B-7B59-4BF9-A464-E8C270E8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53200"/>
            <a:ext cx="320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Glucose, blood vessels, daily routines, sensory health, and clinical care all fit into the same bigger conversation.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7F88E5-8040-48A9-8756-B5D48D32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Mindful Diabetes Inc. | 501(c)(3) nonprofit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CA3BE-95D6-4C47-8C6B-5FA7B557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2202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82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Published: July 31, 2026 | Medical review: pending</a:t>
            </a:r>
          </a:p>
        </p:txBody>
      </p:sp>
    </p:spTree>
    <p:extLst>
      <p:ext uri="{BB962C8B-B14F-4D97-AF65-F5344CB8AC3E}">
        <p14:creationId xmlns:p14="http://schemas.microsoft.com/office/powerpoint/2010/main" val="10350154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1D585B5-FB5E-478F-9A47-91C15274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751E60-BA40-437C-AAAE-24EA2593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The everyday connection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053B93-5714-43E9-A8DF-C3503262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This guide is for people with and without diabetes, families, caregivers, and educators.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A589A-A358-4535-BE7E-6DD66357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8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8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Brain health is not controlled by one number or one habit. It is shaped by a wider pattern of metabolic health, vascular health, sensory access, sleep, mood, connection, and qualified care. [4,6-8]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B61D1-E075-4D4B-8BC2-71C8726F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81450"/>
            <a:ext cx="1562100" cy="1562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50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12C35-9959-430C-8D98-69CD0E2D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495800"/>
            <a:ext cx="133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35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Whole-person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35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brain health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FE14E-96A0-4F28-BEC1-8CBABC47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28875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503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0C378-FC98-42E2-84F4-DACF419B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5270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Glucose care</a:t>
            </a:r>
          </a:p>
        </p:txBody>
      </p:sp>
      <p:cxnSp>
        <p:nvCxnSpPr>
          <p:cNvPr id="56" name=""/>
          <p:cNvCxnSpPr>
            <a:stCxn xmlns:a="http://schemas.openxmlformats.org/drawingml/2006/main" id="5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3886200" y="2886075"/>
            <a:ext cx="47625" cy="1095375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DFDCF-314B-4BED-BA83-D9AF1080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0990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F6F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95120-FBB8-4CD3-8FBE-57E053FE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3372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Blood pressure</a:t>
            </a:r>
          </a:p>
        </p:txBody>
      </p:sp>
      <p:cxnSp>
        <p:nvCxnSpPr>
          <p:cNvPr id="59" name=""/>
          <p:cNvCxnSpPr>
            <a:stCxn xmlns:a="http://schemas.openxmlformats.org/drawingml/2006/main" id="5" idx="7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4438486" y="3238500"/>
            <a:ext cx="876464" cy="971714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DBDEE6-D475-42AF-8D6C-2DC6B788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F6F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20F02B-992D-4D57-9F49-63389FF5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577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Cholesterol</a:t>
            </a:r>
          </a:p>
        </p:txBody>
      </p:sp>
      <p:cxnSp>
        <p:nvCxnSpPr>
          <p:cNvPr id="62" name=""/>
          <p:cNvCxnSpPr>
            <a:stCxn xmlns:a="http://schemas.openxmlformats.org/drawingml/2006/main" id="5" idx="6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667250" y="4762500"/>
            <a:ext cx="120015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6423CD-D743-4397-A916-336AC65E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55320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F1D4D7-1A07-471D-AF8A-2227853C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667702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3A8F7B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3A8F7B"/>
                </a:solidFill>
                <a:latin typeface="Lato"/>
                <a:ea typeface="Lato"/>
                <a:cs typeface="Lato"/>
              </a:rPr>
              <a:t>Movement</a:t>
            </a:r>
          </a:p>
        </p:txBody>
      </p:sp>
      <p:cxnSp>
        <p:nvCxnSpPr>
          <p:cNvPr id="65" name=""/>
          <p:cNvCxnSpPr>
            <a:stCxn xmlns:a="http://schemas.openxmlformats.org/drawingml/2006/main" id="5" idx="4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886200" y="5543550"/>
            <a:ext cx="76200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2D7522-6C5B-4293-B19D-8ACA0ADB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68655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D13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8D2865-FA78-478B-A27A-CA659085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68103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Sleep</a:t>
            </a:r>
          </a:p>
        </p:txBody>
      </p:sp>
      <p:cxnSp>
        <p:nvCxnSpPr>
          <p:cNvPr id="68" name=""/>
          <p:cNvCxnSpPr>
            <a:stCxn xmlns:a="http://schemas.openxmlformats.org/drawingml/2006/main" id="5" idx="4"/>
            <a:endCxn xmlns:a="http://schemas.openxmlformats.org/drawingml/2006/main" id="19" idx="0"/>
          </p:cNvCxnSpPr>
          <p:nvPr/>
        </p:nvCxnSpPr>
        <p:spPr>
          <a:xfrm xmlns:a="http://schemas.openxmlformats.org/drawingml/2006/main" flipH="1">
            <a:off x="3476625" y="5543550"/>
            <a:ext cx="409575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B9D4AE-C026-4AB7-8804-3014A370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4355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0723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CF1C18-8640-4EF2-A677-703E45A8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673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Hearing</a:t>
            </a:r>
          </a:p>
        </p:txBody>
      </p:sp>
      <p:cxnSp>
        <p:nvCxnSpPr>
          <p:cNvPr id="71" name=""/>
          <p:cNvCxnSpPr>
            <a:stCxn xmlns:a="http://schemas.openxmlformats.org/drawingml/2006/main" id="5" idx="3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2552700" y="5314786"/>
            <a:ext cx="781214" cy="457364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A17339-031F-446D-A7E4-EC2682AB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0723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1D6A04-C65A-4167-8B25-F494EF89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9572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Vision</a:t>
            </a:r>
          </a:p>
        </p:txBody>
      </p:sp>
      <p:cxnSp>
        <p:nvCxnSpPr>
          <p:cNvPr id="74" name=""/>
          <p:cNvCxnSpPr>
            <a:stCxn xmlns:a="http://schemas.openxmlformats.org/drawingml/2006/main" id="5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 flipV="1">
            <a:off x="2457450" y="4000500"/>
            <a:ext cx="876464" cy="209714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61212B-95AC-4D95-8DA6-16C53FC7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3840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7A5C9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7503BA-A7BC-476C-AA0B-EDF8CDA4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6222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7A5C9E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7A5C9E"/>
                </a:solidFill>
                <a:latin typeface="Lato"/>
                <a:ea typeface="Lato"/>
                <a:cs typeface="Lato"/>
              </a:rPr>
              <a:t>Mood</a:t>
            </a:r>
          </a:p>
        </p:txBody>
      </p:sp>
      <p:cxnSp>
        <p:nvCxnSpPr>
          <p:cNvPr id="77" name=""/>
          <p:cNvCxnSpPr>
            <a:stCxn xmlns:a="http://schemas.openxmlformats.org/drawingml/2006/main" id="5" idx="0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 flipV="1">
            <a:off x="3638550" y="2667000"/>
            <a:ext cx="247650" cy="13144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2A0BF8-D2FB-48C9-BA64-9C45DE0A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86690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8D704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2223A6-CEC6-4949-AAB6-225AE37B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9072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8D704F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8D704F"/>
                </a:solidFill>
                <a:latin typeface="Lato"/>
                <a:ea typeface="Lato"/>
                <a:cs typeface="Lato"/>
              </a:rPr>
              <a:t>Social connection</a:t>
            </a:r>
          </a:p>
        </p:txBody>
      </p:sp>
      <p:cxnSp>
        <p:nvCxnSpPr>
          <p:cNvPr id="80" name=""/>
          <p:cNvCxnSpPr>
            <a:stCxn xmlns:a="http://schemas.openxmlformats.org/drawingml/2006/main" id="5" idx="0"/>
            <a:endCxn xmlns:a="http://schemas.openxmlformats.org/drawingml/2006/main" id="31" idx="2"/>
          </p:cNvCxnSpPr>
          <p:nvPr/>
        </p:nvCxnSpPr>
        <p:spPr>
          <a:xfrm xmlns:a="http://schemas.openxmlformats.org/drawingml/2006/main" flipV="1">
            <a:off x="3886200" y="2324100"/>
            <a:ext cx="828675" cy="16573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B111A7-C305-4F88-9433-F6D159A2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14800"/>
            <a:ext cx="1314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503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2264DF-444D-479E-9D75-970A1020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3862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1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Medical care</a:t>
            </a:r>
          </a:p>
        </p:txBody>
      </p:sp>
      <p:cxnSp>
        <p:nvCxnSpPr>
          <p:cNvPr id="83" name=""/>
          <p:cNvCxnSpPr>
            <a:stCxn xmlns:a="http://schemas.openxmlformats.org/drawingml/2006/main" id="5" idx="6"/>
            <a:endCxn xmlns:a="http://schemas.openxmlformats.org/drawingml/2006/main" id="34" idx="1"/>
          </p:cNvCxnSpPr>
          <p:nvPr/>
        </p:nvCxnSpPr>
        <p:spPr>
          <a:xfrm xmlns:a="http://schemas.openxmlformats.org/drawingml/2006/main" flipV="1">
            <a:off x="4667250" y="4343400"/>
            <a:ext cx="160020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4117B1-C400-4B44-BD41-5B51F1B3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0"/>
            <a:ext cx="6667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1430">
            <a:solidFill>
              <a:srgbClr val="00503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158CD6-A6FF-403A-92D4-66469B6F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0"/>
            <a:ext cx="76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7E705E-6325-4438-BAE3-10559EE0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9248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Risk can sometimes be influenced, but it cannot be perfectly controlled.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0A149A-BE22-445D-A879-CFDA9571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72450"/>
            <a:ext cx="6324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Use this guide to organize questions, not to predict the future. Memory concerns deserve qualified evaluation.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EADAF0-A0D6-4AAF-976E-52CF5F9D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D74888-CBC8-4808-890C-D178DF44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DA77F0-4CFE-4968-A6DC-5B579237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Everyday connection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403085B-9B2E-4EAF-B391-5789D0A6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DCDA03-CC0C-4999-BD5C-8069DFC2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C22CB1-A10C-408E-9469-7CD29D69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8276765584a14385"/>
              </a:rPr>
              <a:t>mindfuldiabetes.org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B542CE-FF45-4EC7-AA73-DA7E6FC2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660415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E627-D9D8-4F73-951B-D10B9C65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GLUCOSE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A21D79-BB38-43E6-8C39-E097C2A5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What glucose does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28F28-020F-48DB-B020-D7816636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Glucose is one useful energy source. Diabetes care is not about eliminating glucose.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CD31B-4D3A-4DBC-844C-820C2936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6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During digestion, many carbohydrate-containing foods are broken into glucose, which enters the bloodstream. Fiber is not fully digested into glucose, and different carbohydrate foods can affect people differently. [1,2,10]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7957A-3052-44BD-9C53-5FDE86DA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28194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B64B8-5D10-4394-820D-0F1A69F8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507F6-7ADB-4166-9B02-F8AFEB64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FFFFF"/>
                </a:solidFill>
                <a:latin typeface="Lato"/>
                <a:ea typeface="Lato"/>
                <a:cs typeface="Lat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ED35D-82FB-49EE-A080-60A719A3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 meal is eaten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781C58-8267-4834-BF99-47497BB1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6500"/>
            <a:ext cx="28194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C27976-F57A-4174-BFDE-9FD7512E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6479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06326-77D4-45E4-A1EE-73586E5E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71462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FFFFF"/>
                </a:solidFill>
                <a:latin typeface="Lato"/>
                <a:ea typeface="Lato"/>
                <a:cs typeface="Lat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B89F7B-11B0-4F9C-AA3E-4154678D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670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Food is digested</a:t>
            </a:r>
          </a:p>
        </p:txBody>
      </p:sp>
      <p:cxnSp>
        <p:nvCxnSpPr>
          <p:cNvPr id="57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371850" y="28479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9EB7AE"/>
            </a:solidFill>
            <a:prstDash val="solid"/>
            <a:headEnd type="none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32384-A29A-4A0D-A6B8-DFC7B54E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28194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856A7B-5AAC-443A-9C1C-2C26EDDC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6BBC1A-EDD3-4E6F-951A-9692BBCA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766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FFFFF"/>
                </a:solidFill>
                <a:latin typeface="Lato"/>
                <a:ea typeface="Lato"/>
                <a:cs typeface="Lato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C5B7B7-F652-4CFF-92BC-0D80FFC9F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290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Many carbohydrates are broken into glucose</a:t>
            </a:r>
          </a:p>
        </p:txBody>
      </p:sp>
      <p:cxnSp>
        <p:nvCxnSpPr>
          <p:cNvPr id="62" name=""/>
          <p:cNvCxnSpPr>
            <a:stCxn xmlns:a="http://schemas.openxmlformats.org/drawingml/2006/main" id="9" idx="1"/>
            <a:endCxn xmlns:a="http://schemas.openxmlformats.org/drawingml/2006/main" id="14" idx="3"/>
          </p:cNvCxnSpPr>
          <p:nvPr/>
        </p:nvCxnSpPr>
        <p:spPr>
          <a:xfrm xmlns:a="http://schemas.openxmlformats.org/drawingml/2006/main" flipH="1">
            <a:off x="3371850" y="2847975"/>
            <a:ext cx="514350" cy="11620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9EB7AE"/>
            </a:solidFill>
            <a:prstDash val="solid"/>
            <a:headEnd type="none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D6174A-656C-488C-89E7-F421EE7A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638550"/>
            <a:ext cx="28194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361F6A-EF91-4217-93A6-99C6F507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10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DCE0F8-DD09-42A8-92B0-244DD20D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7667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FFFFF"/>
                </a:solidFill>
                <a:latin typeface="Lato"/>
                <a:ea typeface="Lato"/>
                <a:cs typeface="Lato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501562-38D0-4C9E-869C-6B75B37B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290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Glucose enters the bloodstream</a:t>
            </a:r>
          </a:p>
        </p:txBody>
      </p:sp>
      <p:cxnSp>
        <p:nvCxnSpPr>
          <p:cNvPr id="67" name=""/>
          <p:cNvCxnSpPr>
            <a:stCxn xmlns:a="http://schemas.openxmlformats.org/drawingml/2006/main" id="14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371850" y="40100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9EB7AE"/>
            </a:solidFill>
            <a:prstDash val="solid"/>
            <a:headEnd type="none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A804BE-CB3B-4DDB-8853-B78D9CA1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00600"/>
            <a:ext cx="28194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373D32-F5E2-4B54-BC75-10C1052D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900172-B750-4345-9B05-B4A77CD7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3872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FFFFF"/>
                </a:solidFill>
                <a:latin typeface="Lato"/>
                <a:ea typeface="Lato"/>
                <a:cs typeface="Lato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3EEB88-6A37-4364-BD1E-AD639846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91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Insulin helps regulate use and storage</a:t>
            </a:r>
          </a:p>
        </p:txBody>
      </p:sp>
      <p:cxnSp>
        <p:nvCxnSpPr>
          <p:cNvPr id="72" name=""/>
          <p:cNvCxnSpPr>
            <a:stCxn xmlns:a="http://schemas.openxmlformats.org/drawingml/2006/main" id="19" idx="1"/>
            <a:endCxn xmlns:a="http://schemas.openxmlformats.org/drawingml/2006/main" id="24" idx="3"/>
          </p:cNvCxnSpPr>
          <p:nvPr/>
        </p:nvCxnSpPr>
        <p:spPr>
          <a:xfrm xmlns:a="http://schemas.openxmlformats.org/drawingml/2006/main" flipH="1">
            <a:off x="3371850" y="4010025"/>
            <a:ext cx="514350" cy="11620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9EB7AE"/>
            </a:solidFill>
            <a:prstDash val="solid"/>
            <a:headEnd type="none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723CFA-5181-452F-B970-B36502F3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00600"/>
            <a:ext cx="28194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0B61F4-ED9F-4724-B839-BB2BB346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720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704EF5-1E85-44A0-95E2-17FE9374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038725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FFFFF"/>
                </a:solidFill>
                <a:latin typeface="Lato"/>
                <a:ea typeface="Lato"/>
                <a:cs typeface="Lato"/>
              </a:rPr>
              <a:t>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83732E-307F-4D16-BB05-9080F11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91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Cells use available energy</a:t>
            </a:r>
          </a:p>
        </p:txBody>
      </p:sp>
      <p:cxnSp>
        <p:nvCxnSpPr>
          <p:cNvPr id="77" name=""/>
          <p:cNvCxnSpPr>
            <a:stCxn xmlns:a="http://schemas.openxmlformats.org/drawingml/2006/main" id="24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3371850" y="51720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9EB7AE"/>
            </a:solidFill>
            <a:prstDash val="solid"/>
            <a:headEnd type="none" w="med" len="med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D8317F-007F-4887-84FC-46D6DAAE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0"/>
            <a:ext cx="666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1430">
            <a:solidFill>
              <a:srgbClr val="2F6F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3FB8EC-26EE-4E7A-A158-1608064A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ACAC954-685D-474A-80AC-93F2A0CE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3533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The brain needs more than glucose.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85884E-20B0-4EC7-AD36-0BD5221E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00950"/>
            <a:ext cx="632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Thinking and memory also depend on oxygen, blood flow, sleep, medications, sensory access, mood, and broader health. [4,6]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94C4F4-9854-4897-B8A2-27D512BE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17B2E3-8B5A-4802-889D-CEAEC6BA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D5E968-9F70-4500-8EC7-5A8CA5BC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Glucose basics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3DFC99-B57F-46EB-A4D4-DF1694F7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E0BDFA-01FE-49CB-BA60-68F49C28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126804-EEF9-4A64-B521-3F849CB5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f0c6a4a82ca64898"/>
              </a:rPr>
              <a:t>mindfuldiabetes.org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AD35677-D42B-42E7-BAAC-01F59515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557228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0F1F38-ED3C-4D27-A34F-FC8186E3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INSULIN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CC436F-05C0-4DA9-8B35-B9744F5E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How insulin helps regulate glucose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E2388-8972-4B18-AAFA-EB05D91F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Insulin is a hormone. For some people, it is also a prescribed medicine.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C9BA6-53AA-47FD-AF75-A52A4046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6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Insulin helps regulate how glucose moves from the bloodstream into cells and how the body stores energy in tissues such as muscle and liver. Personal glucose targets vary; medicine decisions belong with the care team. [1,2]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4188C-7648-4549-821E-09881DC6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876300" cy="685800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FFD9C4"/>
          </a:solidFill>
          <a:ln xmlns:a="http://schemas.openxmlformats.org/drawingml/2006/main" w="19050">
            <a:solidFill>
              <a:srgbClr val="F0723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E4FDF-4F75-4E6D-8847-C8D959ED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Pancreas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A8738-C476-4BB7-BB31-8D708E7B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952750"/>
            <a:ext cx="342900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ED"/>
          </a:solidFill>
          <a:ln xmlns:a="http://schemas.openxmlformats.org/drawingml/2006/main" w="14288">
            <a:solidFill>
              <a:srgbClr val="F0723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F9C33-9348-4C6D-9B07-91F2F3F1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242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Bloodstream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83324-376A-4A9C-87D2-BD7E8A16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480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074"/>
          </a:solidFill>
          <a:ln xmlns:a="http://schemas.openxmlformats.org/drawingml/2006/main" w="0">
            <a:solidFill>
              <a:srgbClr val="F7A07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26EFC4-552C-49F0-A9B1-BA7C052C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623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074"/>
          </a:solidFill>
          <a:ln xmlns:a="http://schemas.openxmlformats.org/drawingml/2006/main" w="0">
            <a:solidFill>
              <a:srgbClr val="F7A07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A87CE-72DE-428D-BF38-36C8832E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480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074"/>
          </a:solidFill>
          <a:ln xmlns:a="http://schemas.openxmlformats.org/drawingml/2006/main" w="0">
            <a:solidFill>
              <a:srgbClr val="F7A07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F0C1D2-BEEE-4DFB-8AE9-7FFAC49D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074"/>
          </a:solidFill>
          <a:ln xmlns:a="http://schemas.openxmlformats.org/drawingml/2006/main" w="0">
            <a:solidFill>
              <a:srgbClr val="F7A07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3EB04-FA7B-4060-8A54-A23D9C2B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4480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074"/>
          </a:solidFill>
          <a:ln xmlns:a="http://schemas.openxmlformats.org/drawingml/2006/main" w="0">
            <a:solidFill>
              <a:srgbClr val="F7A07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15ECAD-3702-453F-8244-49C87201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623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074"/>
          </a:solidFill>
          <a:ln xmlns:a="http://schemas.openxmlformats.org/drawingml/2006/main" w="0">
            <a:solidFill>
              <a:srgbClr val="F7A07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E4A0A7-1330-42D3-9D8C-6A330269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480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074"/>
          </a:solidFill>
          <a:ln xmlns:a="http://schemas.openxmlformats.org/drawingml/2006/main" w="0">
            <a:solidFill>
              <a:srgbClr val="F7A07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818C0C-45D4-4B13-982D-C8ED6D53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623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A074"/>
          </a:solidFill>
          <a:ln xmlns:a="http://schemas.openxmlformats.org/drawingml/2006/main" w="0">
            <a:solidFill>
              <a:srgbClr val="F7A07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7C9F92-7FF5-4C37-8C4F-81915961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10075"/>
            <a:ext cx="819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E"/>
          </a:solidFill>
          <a:ln xmlns:a="http://schemas.openxmlformats.org/drawingml/2006/main" w="14288">
            <a:solidFill>
              <a:srgbClr val="3A8F7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00414-9997-48E3-A06A-14DB2A50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7675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855" b="1" i="0">
                <a:solidFill>
                  <a:srgbClr val="3A8F7B"/>
                </a:solidFill>
                <a:latin typeface="Lato"/>
                <a:ea typeface="Lato"/>
                <a:cs typeface="Lato"/>
              </a:defRPr>
            </a:pPr>
            <a:r>
              <a:rPr sz="855" b="1" i="0">
                <a:solidFill>
                  <a:srgbClr val="3A8F7B"/>
                </a:solidFill>
                <a:latin typeface="Lato"/>
                <a:ea typeface="Lato"/>
                <a:cs typeface="Lato"/>
              </a:rPr>
              <a:t>Insulin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855" b="1" i="0">
                <a:solidFill>
                  <a:srgbClr val="3A8F7B"/>
                </a:solidFill>
                <a:latin typeface="Lato"/>
                <a:ea typeface="Lato"/>
                <a:cs typeface="Lato"/>
              </a:defRPr>
            </a:pPr>
            <a:r>
              <a:rPr sz="855" b="1" i="0">
                <a:solidFill>
                  <a:srgbClr val="3A8F7B"/>
                </a:solidFill>
                <a:latin typeface="Lato"/>
                <a:ea typeface="Lato"/>
                <a:cs typeface="Lato"/>
              </a:rPr>
              <a:t>signal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183238-D480-48CA-82B1-B82BD751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90800"/>
            <a:ext cx="1428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4288">
            <a:solidFill>
              <a:srgbClr val="0050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CCA32A-93E7-4C5F-A746-09C09B01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81300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Muscle cells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C91D95-33C6-4892-AED9-165637A1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05150"/>
            <a:ext cx="104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0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Glucose can be used for energy.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FD89AE-6B83-47D9-992F-9E30E18B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267200"/>
            <a:ext cx="1428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4288">
            <a:solidFill>
              <a:srgbClr val="B4832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A1BAD2-A5C5-4861-94C3-EAC96FFF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457700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8D641D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8D641D"/>
                </a:solidFill>
                <a:latin typeface="Lato"/>
                <a:ea typeface="Lato"/>
                <a:cs typeface="Lato"/>
              </a:rPr>
              <a:t>Liver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EC42C5-E75A-4423-8144-2B740CBD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81550"/>
            <a:ext cx="104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0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Glucose can be stored and released as needed.</a:t>
            </a:r>
          </a:p>
        </p:txBody>
      </p:sp>
      <p:cxnSp>
        <p:nvCxnSpPr>
          <p:cNvPr id="70" name=""/>
          <p:cNvCxnSpPr>
            <a:stCxn xmlns:a="http://schemas.openxmlformats.org/drawingml/2006/main" id="5" idx="0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1714500" y="3409950"/>
            <a:ext cx="400050" cy="76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07239"/>
            </a:solidFill>
            <a:prstDash val="solid"/>
            <a:headEnd type="none" w="med" len="med"/>
          </a:ln>
        </p:spPr>
      </p:cxnSp>
      <p:cxnSp>
        <p:nvCxnSpPr>
          <p:cNvPr id="71" name=""/>
          <p:cNvCxnSpPr>
            <a:stCxn xmlns:a="http://schemas.openxmlformats.org/drawingml/2006/main" id="7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3724275" y="3867150"/>
            <a:ext cx="104775" cy="5429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A8F7B"/>
            </a:solidFill>
            <a:prstDash val="solid"/>
            <a:headEnd type="none" w="med" len="med"/>
          </a:ln>
        </p:spPr>
      </p:cxnSp>
      <p:cxnSp>
        <p:nvCxnSpPr>
          <p:cNvPr id="72" name=""/>
          <p:cNvCxnSpPr>
            <a:stCxn xmlns:a="http://schemas.openxmlformats.org/drawingml/2006/main" id="17" idx="6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4133850" y="3200400"/>
            <a:ext cx="1447800" cy="1428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A8F7B"/>
            </a:solidFill>
            <a:prstDash val="solid"/>
            <a:headEnd type="none" w="med" len="med"/>
          </a:ln>
        </p:spPr>
      </p:cxnSp>
      <p:cxnSp>
        <p:nvCxnSpPr>
          <p:cNvPr id="73" name=""/>
          <p:cNvCxnSpPr>
            <a:stCxn xmlns:a="http://schemas.openxmlformats.org/drawingml/2006/main" id="17" idx="6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4133850" y="4629150"/>
            <a:ext cx="144780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A8F7B"/>
            </a:solidFill>
            <a:prstDash val="solid"/>
            <a:headEnd type="none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47C4AA-F5B4-4F03-92D8-A7A5AFCE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3219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0774B2-E059-465E-AE23-D3C96BA4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48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8F632C-592F-40EE-B5D6-7058DED7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6198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What is personal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33CAF9-D81E-42CD-84D4-0B7A6A22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924675"/>
            <a:ext cx="2876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3A52F0-7991-496E-8C7A-4484C152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010400"/>
            <a:ext cx="28765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Glucose targets vary by age, diabetes type, medicines, pregnancy status, health history, and hypoglycemia risk.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A target range is a care-plan decision, not a moral score.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49B130-23F1-4152-BB4D-B8A5332A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96050"/>
            <a:ext cx="3219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69084C-0E23-4D30-BD5A-7177D310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6648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CAFA0A-8330-4DDD-BBFA-EDFE9E73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66198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What insulin is not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A5C147-752A-4D4D-917F-C037C83A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924675"/>
            <a:ext cx="28765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0A55C5-E68B-423E-9A47-17B5FACF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7010400"/>
            <a:ext cx="28765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Insulin is not a punishment or failure.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People with diabetes do not all have the same insulin needs or the same treatment plan.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0C67CF-7FB1-4969-A77C-5AC7E32C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D3D2A7-F8B8-41AD-A177-0C4E84D2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34829C-2173-48B4-AB68-CB445240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Insulin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10ACAB4-33C4-41C0-8DF6-FE24D34F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9C50B3-CA51-4CC7-A3FD-A1CCBD12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0BDC98-6604-4956-AC51-2F603B55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bec3a4580fea48f2"/>
              </a:rPr>
              <a:t>mindfuldiabetes.org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418DD8-1231-4AB2-8143-20C021A9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97479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83919E5-C0F1-417D-9D61-C24126C7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INSULIN RESISTANCE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D19717-D295-47A3-B657-C996BCEC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Insulin resistance is biology, not blame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C5BD8-7CDA-483F-9EDA-549CDC8F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Certain tissues may respond less effectively to insulin signals.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AE3C8-1FEC-41DF-BFF0-7B04024E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1943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A8F7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3314E1-FFC6-41DB-824B-B898543C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3A8F7B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3A8F7B"/>
                </a:solidFill>
                <a:latin typeface="Lato"/>
                <a:ea typeface="Lato"/>
                <a:cs typeface="Lat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9FCDF-3079-4CB4-B9D1-6032B7C6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1352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6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6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Insulin sends a signal.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6E73C-723B-4A6F-87D0-C46220A5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90750"/>
            <a:ext cx="1943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A8F7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3D62DE-7906-499C-BAC1-54947E49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050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3A8F7B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3A8F7B"/>
                </a:solidFill>
                <a:latin typeface="Lato"/>
                <a:ea typeface="Lato"/>
                <a:cs typeface="Lat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EDC41-0048-46C9-A952-38E640A5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19350"/>
            <a:ext cx="1352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6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6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Certain tissues respond less effectively.</a:t>
            </a:r>
          </a:p>
        </p:txBody>
      </p:sp>
      <p:cxnSp>
        <p:nvCxnSpPr>
          <p:cNvPr id="52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495550" y="26860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9C661-2E51-4606-B565-0230879B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1943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0723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74A38-ED26-41AC-8C78-E6D4D705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050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BE24A5-C59E-4C39-A8AB-A91D18F6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19350"/>
            <a:ext cx="1352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6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6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The body may produce more insulin for a time.</a:t>
            </a:r>
          </a:p>
        </p:txBody>
      </p:sp>
      <p:cxnSp>
        <p:nvCxnSpPr>
          <p:cNvPr id="5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705350" y="26860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FE2AD-79DE-41C7-A2DF-E41BFEE1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943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0723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692F91-8FDB-4892-83C6-0AA539E0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139C2-614B-4E83-B5A0-04807758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67150"/>
            <a:ext cx="1352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6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6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Glucose may remain elevated when compensation is not enough.</a:t>
            </a:r>
          </a:p>
        </p:txBody>
      </p:sp>
      <p:cxnSp>
        <p:nvCxnSpPr>
          <p:cNvPr id="60" name=""/>
          <p:cNvCxnSpPr>
            <a:stCxn xmlns:a="http://schemas.openxmlformats.org/drawingml/2006/main" id="11" idx="1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H="1">
            <a:off x="2495550" y="2686050"/>
            <a:ext cx="2476500" cy="14478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A0F9AE-E146-4549-BCE4-BFFA23D7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38550"/>
            <a:ext cx="1943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503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A4F6E4-CDD7-401C-A602-38254FDB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7528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12F6A5-9543-4BA8-BF72-EAFDEFFD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67150"/>
            <a:ext cx="1352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6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6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Clinical support and sustainable changes may help manage risk.</a:t>
            </a:r>
          </a:p>
        </p:txBody>
      </p:sp>
      <p:cxnSp>
        <p:nvCxnSpPr>
          <p:cNvPr id="6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495550" y="4133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B5C7C0"/>
            </a:solidFill>
            <a:prstDash val="solid"/>
            <a:headEnd type="none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65873C-7C32-4B88-8996-5AB25326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34000"/>
            <a:ext cx="66675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1430">
            <a:solidFill>
              <a:srgbClr val="00503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F20F6B-F576-4108-AF44-F6489898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3400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991DAD-44FA-42B1-8EC3-5EE74ACC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Not a character judgment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331269-C8E3-4591-AF9D-AC402139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632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Insulin resistance is influenced by biology, health conditions, medicines, sleep, movement, genetics, aging, and other factors. One food or one habit does not explain the whole picture. [1,17]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7918D1-8AFE-4144-82E9-EDF298B3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125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Helpful questions are practical: What patterns matter for me? What care-plan changes are appropriate? What support is realistic in my life?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F996AC-7459-46CD-BBEE-28BCB36B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96150"/>
            <a:ext cx="3143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9C25C2-4F42-4DA9-A432-C12EEB2C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48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15A685-046E-4B06-8AC4-3790985D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199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Avoid overpromising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BE41E3-12A4-4D65-A112-B739C216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724775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No routine, food, supplement, or single number guarantees reversal of insulin resistance or prevention of dementia.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DB2AD4-69F4-42BF-8AE0-80ED0CEF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7296150"/>
            <a:ext cx="3143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4ECC2C-EE27-46F5-95E0-A3AF737F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7448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9D1D73-9C63-41A9-9B09-26CDA047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7419975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Use care support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ADC9E1-C802-4072-8191-7631D0AA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7724775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Care teams can interpret labs, medicines, sleep, activity, symptoms, and goals together.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FE09E8-DF0B-4C01-A6A6-262C9C18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543B8A-F154-44C3-A356-71643E17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392702-2505-418C-BB19-DA165A07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Insulin resistance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5E52BF-0A09-411B-B05F-392B251C3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4D5C6E-8B6E-4709-92B5-00B11CD5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65AD42-7FB8-4DA3-9EE9-5ABDF706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1a21f6c57b304559"/>
              </a:rPr>
              <a:t>mindfuldiabetes.org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A74D83-B150-4949-9325-CD92BC1E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084954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293B3C-2B57-4BA1-9D94-EA38CBDD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BRAIN SUPPORT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32DC2-2017-43B3-9137-FAC9E953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The brain needs reliable support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57EF9-0D58-40F5-A4A2-57BA42E1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Brain function depends on energy delivery, oxygen, blood flow, sleep, and broader health.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78471-15D1-4112-8988-25E0593E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530" y="3014663"/>
            <a:ext cx="1577340" cy="10953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EE"/>
          </a:solidFill>
          <a:ln xmlns:a="http://schemas.openxmlformats.org/drawingml/2006/main" w="19050">
            <a:solidFill>
              <a:srgbClr val="3A8F7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59206-1AA6-4EA6-88BB-3A1B30FC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252" y="3102293"/>
            <a:ext cx="525780" cy="5257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26D991-A9D1-4F9E-8AA5-EB2A91B4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3310" y="3036570"/>
            <a:ext cx="613410" cy="6134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08BD4-9964-4812-8FBB-D0C2EF05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365183"/>
            <a:ext cx="481965" cy="48196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D026C-452B-48F3-9600-90D93C5E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189" y="3507581"/>
            <a:ext cx="547687" cy="547687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287441-87BA-40DB-9747-DE4A8DDD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385" y="3102293"/>
            <a:ext cx="0" cy="9201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A8F7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F698F-6730-416D-AEFD-9EFDF734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81350"/>
            <a:ext cx="723900" cy="723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572992-FAAE-4A67-8621-FD6B3B97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28850"/>
            <a:ext cx="1257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0050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6BEB9D-0515-4853-AF3E-B36A36CB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3526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Adequate energy</a:t>
            </a:r>
          </a:p>
        </p:txBody>
      </p:sp>
      <p:cxnSp>
        <p:nvCxnSpPr>
          <p:cNvPr id="58" name=""/>
          <p:cNvCxnSpPr>
            <a:stCxn xmlns:a="http://schemas.openxmlformats.org/drawingml/2006/main" id="11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971800" y="2457450"/>
            <a:ext cx="658463" cy="829913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B7C9C2"/>
            </a:solidFill>
            <a:prstDash val="solid"/>
            <a:headEnd type="none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47AF37-7F0E-49AE-A905-591C8DCA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1257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F6F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A0D85-B04A-494C-9245-FCCDCD81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2193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Oxygen</a:t>
            </a:r>
          </a:p>
        </p:txBody>
      </p:sp>
      <p:cxnSp>
        <p:nvCxnSpPr>
          <p:cNvPr id="61" name=""/>
          <p:cNvCxnSpPr>
            <a:stCxn xmlns:a="http://schemas.openxmlformats.org/drawingml/2006/main" id="14" idx="1"/>
            <a:endCxn xmlns:a="http://schemas.openxmlformats.org/drawingml/2006/main" id="10" idx="7"/>
          </p:cNvCxnSpPr>
          <p:nvPr/>
        </p:nvCxnSpPr>
        <p:spPr>
          <a:xfrm xmlns:a="http://schemas.openxmlformats.org/drawingml/2006/main" flipH="1">
            <a:off x="4142137" y="2324100"/>
            <a:ext cx="620363" cy="963263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B7C9C2"/>
            </a:solidFill>
            <a:prstDash val="solid"/>
            <a:headEnd type="none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372577-C574-4B1D-AB48-DB3713A2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695700"/>
            <a:ext cx="1257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F0723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8F44DE-34B7-4DD1-95E0-698F1F51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195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Blood flow</a:t>
            </a:r>
          </a:p>
        </p:txBody>
      </p:sp>
      <p:cxnSp>
        <p:nvCxnSpPr>
          <p:cNvPr id="64" name=""/>
          <p:cNvCxnSpPr>
            <a:stCxn xmlns:a="http://schemas.openxmlformats.org/drawingml/2006/main" id="17" idx="1"/>
            <a:endCxn xmlns:a="http://schemas.openxmlformats.org/drawingml/2006/main" id="10" idx="6"/>
          </p:cNvCxnSpPr>
          <p:nvPr/>
        </p:nvCxnSpPr>
        <p:spPr>
          <a:xfrm xmlns:a="http://schemas.openxmlformats.org/drawingml/2006/main" flipH="1" flipV="1">
            <a:off x="4248150" y="3543300"/>
            <a:ext cx="14097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B7C9C2"/>
            </a:solidFill>
            <a:prstDash val="solid"/>
            <a:headEnd type="non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832464-A038-4117-96A4-7C39E296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334000"/>
            <a:ext cx="1257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3A8F7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2FE429-D9EA-496F-AFED-AAFDE2A2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578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3A8F7B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3A8F7B"/>
                </a:solidFill>
                <a:latin typeface="Lato"/>
                <a:ea typeface="Lato"/>
                <a:cs typeface="Lato"/>
              </a:rPr>
              <a:t>Healthy vessels</a:t>
            </a:r>
          </a:p>
        </p:txBody>
      </p:sp>
      <p:cxnSp>
        <p:nvCxnSpPr>
          <p:cNvPr id="67" name=""/>
          <p:cNvCxnSpPr>
            <a:stCxn xmlns:a="http://schemas.openxmlformats.org/drawingml/2006/main" id="20" idx="1"/>
            <a:endCxn xmlns:a="http://schemas.openxmlformats.org/drawingml/2006/main" id="10" idx="4"/>
          </p:cNvCxnSpPr>
          <p:nvPr/>
        </p:nvCxnSpPr>
        <p:spPr>
          <a:xfrm xmlns:a="http://schemas.openxmlformats.org/drawingml/2006/main" flipH="1" flipV="1">
            <a:off x="3886200" y="3905250"/>
            <a:ext cx="514350" cy="16573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B7C9C2"/>
            </a:solidFill>
            <a:prstDash val="solid"/>
            <a:headEnd type="none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6525C4-B714-4260-9E1B-9A111221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34000"/>
            <a:ext cx="1257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0D133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8E5E84-F1E1-4652-BE8B-F6210FB4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4578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Sleep</a:t>
            </a:r>
          </a:p>
        </p:txBody>
      </p:sp>
      <p:cxnSp>
        <p:nvCxnSpPr>
          <p:cNvPr id="70" name=""/>
          <p:cNvCxnSpPr>
            <a:stCxn xmlns:a="http://schemas.openxmlformats.org/drawingml/2006/main" id="23" idx="3"/>
            <a:endCxn xmlns:a="http://schemas.openxmlformats.org/drawingml/2006/main" id="10" idx="4"/>
          </p:cNvCxnSpPr>
          <p:nvPr/>
        </p:nvCxnSpPr>
        <p:spPr>
          <a:xfrm xmlns:a="http://schemas.openxmlformats.org/drawingml/2006/main" flipV="1">
            <a:off x="3257550" y="3905250"/>
            <a:ext cx="628650" cy="16573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B7C9C2"/>
            </a:solidFill>
            <a:prstDash val="solid"/>
            <a:headEnd type="none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B13592-2D44-480F-89FF-D393F2D9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95700"/>
            <a:ext cx="12573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7A5C9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2D30B7-7E72-42E9-B777-79998119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8195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7A5C9E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7A5C9E"/>
                </a:solidFill>
                <a:latin typeface="Lato"/>
                <a:ea typeface="Lato"/>
                <a:cs typeface="Lato"/>
              </a:rPr>
              <a:t>Metabolic health</a:t>
            </a:r>
          </a:p>
        </p:txBody>
      </p:sp>
      <p:cxnSp>
        <p:nvCxnSpPr>
          <p:cNvPr id="73" name=""/>
          <p:cNvCxnSpPr>
            <a:stCxn xmlns:a="http://schemas.openxmlformats.org/drawingml/2006/main" id="26" idx="3"/>
            <a:endCxn xmlns:a="http://schemas.openxmlformats.org/drawingml/2006/main" id="10" idx="2"/>
          </p:cNvCxnSpPr>
          <p:nvPr/>
        </p:nvCxnSpPr>
        <p:spPr>
          <a:xfrm xmlns:a="http://schemas.openxmlformats.org/drawingml/2006/main" flipV="1">
            <a:off x="2162175" y="3543300"/>
            <a:ext cx="1362075" cy="38100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B7C9C2"/>
            </a:solidFill>
            <a:prstDash val="solid"/>
            <a:headEnd type="none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EEDEE5-9897-4546-9F7F-BE29899C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705600"/>
            <a:ext cx="321945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B60619-E2A7-4C51-B1CD-01ECBCD0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A5EC30-2EBC-48A5-B7CC-45C0A7E2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82942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Sudden low glucose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20FD7E-6365-4585-BF24-15690EB7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134225"/>
            <a:ext cx="2876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5A9E37-0D04-40EF-907A-EBF030D4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219950"/>
            <a:ext cx="2876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Can affect attention, speech, judgment, coordination, or consciousness quickly.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Can become urgent; follow the personal low-glucose plan.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CCD23E-56D4-413F-B68B-2172D9A4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05600"/>
            <a:ext cx="321945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E9CF75-57B1-42FB-9F8C-370FAF2C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6858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0C0A53-B5A3-4173-8F03-0EA0E07E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682942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High glucose patterns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FDCE16-191D-4F24-9FCC-7C3B1B84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7134225"/>
            <a:ext cx="2876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FD2C1-E634-48E0-9101-AE8B516F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7219950"/>
            <a:ext cx="2876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May contribute to complications over time depending on severity, duration, and individual context.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Patterns deserve support, not shame.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7C2CAD-117B-470B-9EAE-FEAE493C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070039-57FE-4423-9560-EB27FF56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BDC835-318B-4125-AC41-A7975EDB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Brain support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1CB955-DCCA-48DF-B777-2C905058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27CFC8-B237-4CDD-BD1C-B7FE5E44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B749EA7-11D2-4CC1-8E66-AAAA8551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0bbab643482b4fb0"/>
              </a:rPr>
              <a:t>mindfuldiabetes.org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3E11B97-5732-4C9B-B616-4E6B9AF6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93045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B07E9F-A189-4C84-A163-FE405B6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BLOOD VESSELS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9889C-94C0-40FD-9841-35CA98B4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Blood vessels deliver what brain tissue needs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8456E-D6F1-4C6A-B467-A699F8E6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Vascular health is one part of cognitive-health care; it is not a diagnosis.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963822-A185-447E-B0C7-670A20EF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838200" cy="723900"/>
          </a:xfrm>
          <a:prstGeom xmlns:a="http://schemas.openxmlformats.org/drawingml/2006/main" prst="heart">
            <a:avLst/>
          </a:prstGeom>
          <a:solidFill xmlns:a="http://schemas.openxmlformats.org/drawingml/2006/main">
            <a:srgbClr val="FFE5D8"/>
          </a:solidFill>
          <a:ln xmlns:a="http://schemas.openxmlformats.org/drawingml/2006/main" w="19050">
            <a:solidFill>
              <a:srgbClr val="F0723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657F5-5AF2-4E8B-8217-208C9FC0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Heart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48810-349F-47C0-8A31-DBF7171B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971800"/>
            <a:ext cx="2590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F3F0"/>
          </a:solidFill>
          <a:ln xmlns:a="http://schemas.openxmlformats.org/drawingml/2006/main" w="14288">
            <a:solidFill>
              <a:srgbClr val="3A8F7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408CB-33D9-4E54-BD70-4FBB1DBD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38475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3A8F7B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3A8F7B"/>
                </a:solidFill>
                <a:latin typeface="Lato"/>
                <a:ea typeface="Lato"/>
                <a:cs typeface="Lato"/>
              </a:rPr>
              <a:t>Arteries carry blood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27D0E9-35A6-4FF0-9761-E80A20DB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1676400" cy="2000250"/>
          </a:xfrm>
          <a:prstGeom xmlns:a="http://schemas.openxmlformats.org/drawingml/2006/main" prst="roundRect">
            <a:avLst>
              <a:gd name="adj" fmla="val 5682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4288">
            <a:solidFill>
              <a:srgbClr val="2F6F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70095-D062-4399-A538-FF412EF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5745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Brain tissue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51B129-6E98-4A91-8D22-01FBE093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93370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A7F536-B373-4810-A5FC-3372161E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147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8F7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D104AC-C653-4BB4-9CB5-D3F9134D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93370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F9B382-7F79-45B8-A8DE-EA2A4586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8F7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5C7C4C-C603-4D62-801F-8835054A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93370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3AE51C-AFA2-4FDF-AA4F-91BED2CF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3147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8F7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1F3EEC-CB8B-4E34-A3F2-D3653883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3370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6DFBFE-1268-4A51-8F11-2FE09042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3147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8F7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F09C8D-43E2-4A7F-8049-3A654234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3370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1D4C9-ACA8-4AE3-A369-FDCF744F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8F7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2E3008-0DD2-4340-A6C1-C777663E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3370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3A8F7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F8E416-02A5-4E63-AA6A-A2B7B421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14700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3A8F7B"/>
            </a:solidFill>
            <a:prstDash val="solid"/>
          </a:ln>
        </p:spPr>
      </p:sp>
      <p:cxnSp>
        <p:nvCxnSpPr>
          <p:cNvPr id="58" name=""/>
          <p:cNvCxnSpPr>
            <a:stCxn xmlns:a="http://schemas.openxmlformats.org/drawingml/2006/main" id="4" idx="0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1200150" y="2962275"/>
            <a:ext cx="838200" cy="17145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F07239"/>
            </a:solidFill>
            <a:prstDash val="solid"/>
            <a:headEnd type="none" w="med" len="med"/>
          </a:ln>
        </p:spPr>
      </p:cxnSp>
      <p:cxnSp>
        <p:nvCxnSpPr>
          <p:cNvPr id="5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629150" y="3133725"/>
            <a:ext cx="53340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3A8F7B"/>
            </a:solidFill>
            <a:prstDash val="solid"/>
            <a:headEnd type="none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5300AF-549E-4C9F-9111-E50800FE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29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Oxygen and nutrients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A28151-B216-4D63-B432-4D851145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2445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9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90">
                <a:solidFill>
                  <a:srgbClr val="2B3142"/>
                </a:solidFill>
                <a:latin typeface="Lato"/>
                <a:ea typeface="Lato"/>
                <a:cs typeface="Lato"/>
              </a:rPr>
              <a:t>Blood pressure, diabetes, cholesterol, smoking, physical activity, and other clinical or environmental factors can affect vascular health. [4,8,9]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9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90">
                <a:solidFill>
                  <a:srgbClr val="2B3142"/>
                </a:solidFill>
                <a:latin typeface="Lato"/>
                <a:ea typeface="Lato"/>
                <a:cs typeface="Lato"/>
              </a:rPr>
              <a:t>Vascular cognitive impairment is not the same thing as ordinary forgetfulness.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1BE241-F261-4313-B387-8FA617AB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705600"/>
            <a:ext cx="666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3ED"/>
          </a:solidFill>
          <a:ln xmlns:a="http://schemas.openxmlformats.org/drawingml/2006/main" w="11430">
            <a:solidFill>
              <a:srgbClr val="F0723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3CA797-4469-4330-BB7E-E94EF097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7056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0C50D6-BD26-4B6B-A616-DCCB52A3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199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Potentially urgent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07007D-CC27-476F-A8B1-45404E96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067550"/>
            <a:ext cx="632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Sudden confusion, new weakness, facial drooping, trouble speaking, severe headache, chest pain, or stroke-like symptoms should be treated as urgent.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09C017-D8F6-44BA-A15C-07292375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643796-4E66-4FE7-ACA7-64A70140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D6682D-A0EE-4ABF-8108-5858CA01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Blood vessels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A33F05-BF03-4C7E-9C3C-AD6A520A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05519D-61B9-4EE4-821C-C07FA793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B898B5-A4AC-48E5-8659-0E3D33FA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106d0cd305014d70"/>
              </a:rPr>
              <a:t>mindfuldiabetes.org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69688D-B8E5-4976-B6E8-298DAFC2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214655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F3220A-7269-4EDE-B961-372EB170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HYPERGLYCEMIA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7BEF57-094C-4451-855E-250E98E0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High blood sugar over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E977C-E4D6-4311-B573-DE8DC365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Patterns are information, not grades.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A8D5E6-8745-4602-9A5E-A1BB6CA4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6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One isolated reading does not define a person. Repeated or prolonged high glucose may contribute to vascular and nerve complications over time, depending on severity, duration, and individual circumstances. [2,4]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364FC-C290-4BB9-9972-581C4DC0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632460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90508-B338-446C-B462-67561F68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00600"/>
            <a:ext cx="579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8D989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A3CC3-2AE4-464B-AA40-3D0DB3FD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05100"/>
            <a:ext cx="0" cy="2095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8D989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46DD70-96B8-4856-80D2-FCD57261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95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7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2A6B0-BC74-4137-BC05-07B8C56C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1460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7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glucose pattern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C7C7A-1911-4322-9095-7E21E629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228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5B5051-48C3-443D-B0E6-57E191B4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5" name=""/>
          <p:cNvCxnSpPr>
            <a:stCxn xmlns:a="http://schemas.openxmlformats.org/drawingml/2006/main" id="10" idx="6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1038225" y="3276600"/>
            <a:ext cx="57150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3A8F7B"/>
            </a:solidFill>
            <a:prstDash val="solid"/>
            <a:headEnd type="none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D557C-10E1-45A2-B8CF-D123442C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71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7" name=""/>
          <p:cNvCxnSpPr>
            <a:stCxn xmlns:a="http://schemas.openxmlformats.org/drawingml/2006/main" id="11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1704975" y="3219450"/>
            <a:ext cx="619125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3A8F7B"/>
            </a:solidFill>
            <a:prstDash val="solid"/>
            <a:headEnd type="non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DBADBE-8F4E-4380-AEE4-0AF387FD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838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9" name=""/>
          <p:cNvCxnSpPr>
            <a:stCxn xmlns:a="http://schemas.openxmlformats.org/drawingml/2006/main" id="13" idx="5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405401" y="3253126"/>
            <a:ext cx="742273" cy="599398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07239"/>
            </a:solidFill>
            <a:prstDash val="solid"/>
            <a:headEnd type="none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A5211A-A5C9-4431-8BDB-2C6887D2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1" name=""/>
          <p:cNvCxnSpPr>
            <a:stCxn xmlns:a="http://schemas.openxmlformats.org/drawingml/2006/main" id="15" idx="6"/>
            <a:endCxn xmlns:a="http://schemas.openxmlformats.org/drawingml/2006/main" id="17" idx="2"/>
          </p:cNvCxnSpPr>
          <p:nvPr/>
        </p:nvCxnSpPr>
        <p:spPr>
          <a:xfrm xmlns:a="http://schemas.openxmlformats.org/drawingml/2006/main">
            <a:off x="3228975" y="3886200"/>
            <a:ext cx="666750" cy="762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07239"/>
            </a:solidFill>
            <a:prstDash val="solid"/>
            <a:headEnd type="none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5E78C9-1C70-4746-B6DC-F41B1C5D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629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3" name=""/>
          <p:cNvCxnSpPr>
            <a:stCxn xmlns:a="http://schemas.openxmlformats.org/drawingml/2006/main" id="17" idx="6"/>
            <a:endCxn xmlns:a="http://schemas.openxmlformats.org/drawingml/2006/main" id="19" idx="2"/>
          </p:cNvCxnSpPr>
          <p:nvPr/>
        </p:nvCxnSpPr>
        <p:spPr>
          <a:xfrm xmlns:a="http://schemas.openxmlformats.org/drawingml/2006/main" flipV="1">
            <a:off x="3990975" y="3676650"/>
            <a:ext cx="68580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07239"/>
            </a:solidFill>
            <a:prstDash val="solid"/>
            <a:headEnd type="none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04ECFD-E52D-415D-860B-F77E6E70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067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5" name=""/>
          <p:cNvCxnSpPr>
            <a:stCxn xmlns:a="http://schemas.openxmlformats.org/drawingml/2006/main" id="19" idx="5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758076" y="3710326"/>
            <a:ext cx="694648" cy="370798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07239"/>
            </a:solidFill>
            <a:prstDash val="solid"/>
            <a:headEnd type="none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DC2800-AF06-48B1-81C9-3B845296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952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7" name=""/>
          <p:cNvCxnSpPr>
            <a:stCxn xmlns:a="http://schemas.openxmlformats.org/drawingml/2006/main" id="21" idx="6"/>
            <a:endCxn xmlns:a="http://schemas.openxmlformats.org/drawingml/2006/main" id="23" idx="2"/>
          </p:cNvCxnSpPr>
          <p:nvPr/>
        </p:nvCxnSpPr>
        <p:spPr>
          <a:xfrm xmlns:a="http://schemas.openxmlformats.org/drawingml/2006/main" flipV="1">
            <a:off x="5534025" y="4000500"/>
            <a:ext cx="74295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07239"/>
            </a:solidFill>
            <a:prstDash val="solid"/>
            <a:headEnd type="none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7146DD-BEA6-40A1-82AC-20AD1E61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67050"/>
            <a:ext cx="32956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3ED"/>
          </a:solidFill>
          <a:ln xmlns:a="http://schemas.openxmlformats.org/drawingml/2006/main" w="9525">
            <a:solidFill>
              <a:srgbClr val="F0723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7F7F52-B9B4-4422-8B6F-CFA828E5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028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A repeated pattern deserves care-team review.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0C9717-993F-4BA6-BB65-8CF6AA37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143750"/>
            <a:ext cx="32194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7861F3-CC91-4F73-8ECE-66F999CD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96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0807E2-F53B-42C2-A15E-EE69D560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2675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Bring the pattern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74918E-F72F-40C9-A993-35EA59A2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572375"/>
            <a:ext cx="2876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ACB6E8-7FE8-4C33-ABDB-C8BC8AA2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58100"/>
            <a:ext cx="2876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What do these readings mean in my care plan?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Could medicines, illness, sleep, stress, food timing, or activity be involved?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3AB504-FCEA-41F6-B2A8-744BD7AF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7143750"/>
            <a:ext cx="32194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81E28F-6975-4DCB-BAD1-A45E130B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7296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6B28D3-8A72-4521-8469-DB3A1BC6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72675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Keep it nonjudgmental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C044CE-A287-432F-A6A0-056C603F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7572375"/>
            <a:ext cx="2876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272CE3-8EA3-4867-82D1-23C0CEBD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7658100"/>
            <a:ext cx="2876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Do not change medicines from this guide.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Ask what symptoms or patterns should prompt a call.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2ECFF3-EAF3-481B-BF51-74C89EB3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AF425F-3584-405D-86E0-0D8D2B0F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601D65-42E6-44A8-966B-444B27BC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Hyperglycemia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0A98C1-B8DC-47A0-90E2-C625B8C1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B03F10-D5A6-478D-9BF0-C6B6C994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DCCEFF-1167-42CB-8DE2-F295DA93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f8f46e6395ad49c0"/>
              </a:rPr>
              <a:t>mindfuldiabetes.org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4C0A59-9F5F-4E6B-8942-486BEE8F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638774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A4D42C-1FBD-426B-AA66-48A35AEC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HYPOGLYCEMIA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C101EE-04F0-49F3-B5BC-A0245460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Low blood sugar can affect the brain quickly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E4890B-AAF4-47C3-B1F5-A1916666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Symptoms vary. People using insulin or certain medicines may be at greater risk. [2,3]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C1496-C411-4297-9F47-C65474FC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6667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0050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831F6-039D-4C02-982C-B55A0F0E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14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112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Early or common warning symptoms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EE9FD-688A-4852-A0C8-DECE9742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860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14B32-44D1-4F26-9D84-13212B73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574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shaking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4452E5-2B6A-46BE-ABF1-83E26B28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860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5B763-2D27-47C3-ADB8-D612F3D2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574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sweating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B5FCAD-710D-40C2-B2D3-83754E33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98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B123D7-C103-43B5-9F81-C381A34B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hunger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0C173-AE90-4FB2-9222-D5960A97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098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9CEC51-EAA2-46D1-8FB8-3FD83E5C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dizziness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6B3E9-0B9A-40B5-8D21-E7C24210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05200"/>
            <a:ext cx="6667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F6F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FC5195-6C40-483D-8C14-722699D2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112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Thinking and coordination symptoms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CCE00-4B3F-4214-9F6D-F3C3CE9A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290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6705EA-96B6-4C75-B849-A0E6E50B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confusion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18BF93-E2EC-4228-9A23-463DA8B5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290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E834D3-5FE4-4282-9BF3-1F37A7E2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005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behavior change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EA645D-B23F-4EC3-814E-19A8D60F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529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69AC91-E2D0-4EB3-AE37-E4C7F121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243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difficulty speaking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02FF0B-B368-40FD-8B96-B64A72E5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529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7CB30D-6427-49E9-AA81-2EF7AD54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243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weakness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B5DE4E-5CF0-4E2F-BF5A-D3FD2F26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6667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0723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CB4C18-1C89-4DE8-9DB8-6A968FC2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006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112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Severe symptoms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FE56A2-BE61-472B-8D8B-D28732EE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721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3D1907-FB68-43C7-9C2D-ADA0AFA4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435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seizure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8184DA-6845-4380-BD2F-942D7643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5721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CBC928-1BA5-4D98-B079-0809CEE9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5435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fainting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525EF1-E18C-466C-982E-03ED3606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959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152DD8-7918-404C-B2A5-C5921DC5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8674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inability to safely self-treat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FCE329-693F-45A7-BCA7-B9D27422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8959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758AC3-AFCA-4E66-A0F6-5FC6C1E2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8674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loss of consciousness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4CF7BE-93E8-4B93-89BF-EEB83B91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953250"/>
            <a:ext cx="6667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3ED"/>
          </a:solidFill>
          <a:ln xmlns:a="http://schemas.openxmlformats.org/drawingml/2006/main" w="11430">
            <a:solidFill>
              <a:srgbClr val="F0723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7E8632-1B86-4800-8DA4-AC467AC9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95325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F2A9B6-C6D4-4405-B275-07B564BC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0675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Safety actions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1B5976-7EE3-45A0-A982-6D5949A9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315200"/>
            <a:ext cx="6324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Follow your individual low-glucose plan. Do not drive during significant symptoms. Severe confusion, seizure, fainting, or inability to safely self-treat requires appropriate emergency assistance.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B3D1B8-6329-4062-845E-A2835574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A8A1AD-FD15-4A63-9255-EABA4168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3CAB3A-24A0-435D-99A0-264A22FE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Hypoglycemia safety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AD7A71-2110-4796-A391-CC117980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F62F30-B2D0-4017-86D7-97F5CB34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0EB0DA-E1D1-4B37-96BC-4282CA2B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c90ddcf7200e467a"/>
              </a:rPr>
              <a:t>mindfuldiabetes.org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B8CE8F-8BB9-4E8D-966B-2CBC6206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8199231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409325B-0875-488D-A3F5-9374B782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COGNITIVE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C88C8-879D-497A-BD9E-49466D75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Diabetes is associated with increased risk; it is not destiny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F0527-98AA-46A7-A814-B8D92882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Dementia has multiple causes and contributors. Risk factors can interact across a life course. [5,7,8]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4F77CF-B675-49AB-A52C-9BFCC0D8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321945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B61BC-7AEC-41D6-9CE7-3F07875B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DF876-20F3-4458-A8F5-D2806128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859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Potentially modifiable or treatable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F53910-1647-4A94-9F57-ACB2ED11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90775"/>
            <a:ext cx="287655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384B32-F4E2-4E72-B688-555FB2FA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287655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Blood pressure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Cholesterol and vascular risk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Smoking and excessive alcohol use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Physical inactivity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Hearing or vision concerns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Depression and social isolation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F1A94-0499-4B0F-B25B-704595DA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62150"/>
            <a:ext cx="321945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9DBB19-46BA-424C-8702-0E56963E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14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BB759-F492-4FC6-95B9-33F4C207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859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Not fully controllable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D6B9D-39CA-4F51-B16E-7B8A3A8A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90775"/>
            <a:ext cx="287655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39A42-78C9-43DA-8744-8E2CC465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76500"/>
            <a:ext cx="287655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Age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Genetics and family history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Early-life conditions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Environmental exposures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Access to care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Existing medical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D7D2F5-5A4F-4644-A2C3-75822A81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666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1430">
            <a:solidFill>
              <a:srgbClr val="0050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038EDB-4BDF-4B72-86DE-864BE799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890AF5-C3F1-45B3-AC51-0B63881B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816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Important distinction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CD385F-28FC-471E-8F29-442BB1CA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632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Population-level association does not mean every person with diabetes will develop dementia. Memory or thinking changes deserve professional evaluation.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9FEA7-5A91-49DF-B6E6-7C8642F2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7162800"/>
            <a:ext cx="109728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BFA"/>
          </a:solidFill>
          <a:ln xmlns:a="http://schemas.openxmlformats.org/drawingml/2006/main" w="19050">
            <a:solidFill>
              <a:srgbClr val="D8E7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51DAD-2CDF-4E8D-8F45-67EC7D6C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7223760"/>
            <a:ext cx="365760" cy="36576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E7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7D0023-A6E4-494D-8830-DA1FA025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7178040"/>
            <a:ext cx="426720" cy="4267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E7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D9EE01-92B9-4925-A521-853CC57D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7406640"/>
            <a:ext cx="335280" cy="33528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E7E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8212C0-0AC4-4809-993E-02FF542B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7505700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8E7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49BF97-B739-4993-B698-18D4D055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720" y="7223760"/>
            <a:ext cx="0" cy="640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8E7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DAEE3E-CB6C-49AB-A08F-D44E9838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7486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55E00A-F40C-4B28-9683-23CA7B2D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5438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38452F-03FA-4948-BA5B-054144D6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088" y="782553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920EF1-37C7-4C1C-AB1B-ACCF778D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543800"/>
            <a:ext cx="1579038" cy="3388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570B30-635C-4E1F-ABD7-795F137A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1778" y="8097299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F3C3BD-CB4B-4710-94FC-542757D8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543800"/>
            <a:ext cx="1092728" cy="6106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156667-04A0-4AFA-9041-9847B292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040" y="8248117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414033-FF5E-4E2E-9E74-7B7DFA24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543800"/>
            <a:ext cx="389990" cy="7614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AE5C87-F68D-4AD8-B59E-967C3DBA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9060" y="8248117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FCB3C9-BCD9-4209-89B1-8C0EFA4F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496210" y="7543800"/>
            <a:ext cx="389990" cy="7614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0B37A7-7C25-47A0-A328-67570993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322" y="8097299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DCB409-5757-4010-8370-0F1753C4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2793472" y="7543800"/>
            <a:ext cx="1092728" cy="6106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258F49-AAF1-4E64-8CF0-3F6C3FF5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012" y="782553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32299C-E3D8-49FF-A2EC-1D153C64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2307162" y="7543800"/>
            <a:ext cx="1579038" cy="3388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2FCE15-57FE-4872-8C05-FF91F1DD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7486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9F2F5F-3938-4405-AB9A-E31DA10E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2133600" y="75438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D73831-84DD-456D-A068-68AF4CAA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012" y="714776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461F66-9E77-4B63-B461-5B068D5D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307162" y="7204915"/>
            <a:ext cx="1579038" cy="3388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618CDE-9A68-454D-A5EE-2C6311EC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322" y="6876001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6376A1-0916-43BE-9744-CC383621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2793472" y="6933151"/>
            <a:ext cx="1092728" cy="6106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377112E-7277-4826-BAD2-38530480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9060" y="6725183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809AB6-44D3-4B04-B072-2C1A8C7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496210" y="6782333"/>
            <a:ext cx="389990" cy="7614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FA7A9F-3831-416D-A792-5EB93C95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040" y="6725183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11D318-32A4-4BA0-806D-A812BF4E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886200" y="6782333"/>
            <a:ext cx="389990" cy="7614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0BA3300-1342-416F-8473-7438A7E2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1778" y="6876001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7397E5-2043-462F-B553-939DA1BD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886200" y="6933151"/>
            <a:ext cx="1092728" cy="6106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8482AE-79E0-411D-BEA1-9891CA83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8088" y="714776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D2F975-D115-4BBE-918D-F6CA9098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886200" y="7204915"/>
            <a:ext cx="1579038" cy="3388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6E2DE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F53A686-9B0E-4994-BDED-C20BCB7A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ECE6FA-79BD-4139-8424-FDDB984F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CFA1F39-1802-4A8B-80F2-C048FE1E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Cognitive risk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316B90E-672D-4DD0-810D-FC7E09F8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9435CD6-8B99-4130-8632-F240C3C2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C865C62-03C8-4917-A9E3-76D81D2C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8da11584ca7f418d"/>
              </a:rPr>
              <a:t>mindfuldiabetes.org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5125996-93BD-4B1A-AC27-4C7D5D60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154833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5DD26E6-9EE1-482C-913D-EC00A7E8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RISK MEANING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52B436-20EB-4FE7-A2E0-A0F11C92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Risk information should guide questions, not panic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C3333A-B73C-455A-B98B-F919C193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A risk estimate describes patterns in groups; it does not predict one person's future with certainty. [6-8]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DE05B-F181-4718-B67B-2DA69755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2194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9A28C-406A-4B23-A269-6AFCC601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41E355-9137-4FA1-8375-B41183BE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192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Group-level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B971E-F4AB-4C07-A420-3326322E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24075"/>
            <a:ext cx="28765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626C2-D4A9-4435-AC70-0AF01D3E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28765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Describes patterns across many people.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Supports public-health planning.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Helps identify areas for clinical attention.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0C2E1-3F97-4EA0-A690-EDD3AF52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95450"/>
            <a:ext cx="32194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2D026-5499-40A7-9831-7DBDC438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8478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17A61A-BB77-4395-80D7-00C8F25E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192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Individual future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9B01B9-5C14-4BD3-842C-090B6A23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24075"/>
            <a:ext cx="28765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CB40D-E895-4278-81AC-1E10794B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09800"/>
            <a:ext cx="28765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Cannot be predicted from one factor.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Depends on many interacting circumstances.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Requires personal medical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3177BD-B25C-4298-8BEE-75061B7C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6667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010C09-A669-4A7E-B342-FA26B172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5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Hypothetical: many paths, no single forecast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29EFC6-12AA-433F-BC17-79E15C85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E36B9-AECB-4C1A-A959-6182EEBB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343E2-37D6-422C-A49F-5B77E9C3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65FFDA-3A5A-4183-A11E-FEB8E1DF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EB1179-37E2-443F-B426-0778E0D5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EA5BEC-3287-4CED-B93E-DECC0041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C5A3B2-49EE-4423-B95C-4A7401B1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99A7C5-DA50-4091-B55C-73BB1144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CBF947-49D0-4A29-8FA3-0B0C67BA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681F92-04FB-49EF-95BC-94BA45BC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312C0E-9FFF-4C85-A001-D886871A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6F6BD0-1F9F-46DD-8BA4-D2233FFA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2F79EA-6543-4560-AE05-F6C0084F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4E1AF3-A2F0-4A2F-BE8A-9C725890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0B4F56-D5F1-4ACF-8B50-4132A145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5D11CC-ED6F-4285-BD71-3AC3EC8B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BD6294-A0F2-4685-8A83-7F7D2720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B7B704-98B5-4B6C-8680-16429B3D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2D0FAD-F2B7-47A9-BD67-1B8339B7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5083A7-7E81-494C-904C-67B23CAF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029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681F5E-0C4F-4BD6-BD05-6C776D04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03549D-8931-4805-B2CE-7C87848A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0B0FC0-FB79-4E4B-B36F-E16788EF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8F8E47-AA1C-4220-817B-FCEF660E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A49345-B788-4804-B52D-7497B8E1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A0EFD2-CB69-4004-BC22-3804A8C1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30EE85-F887-496F-BBFA-0671A0A6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71D37E-8EB2-4AAF-90E2-C5815D85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AC8572-AD5E-46EA-9129-1B8BE26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16A62B-7625-4492-8BAB-8BFF0DD0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46382A-0C23-4BAA-A89F-7741B04B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491A75-8DD8-4787-ACF2-B304767A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AB50-F0F6-4F7B-A1DC-B6944969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3C8649-F61B-4D31-BF0B-346CAC30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8F59AF8-AF7A-4FC0-8090-7549BC9F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AE1E6DD-14E6-4320-AD96-2B3636FD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9AE5D1-9308-44BA-8CC4-B420BFEA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4C034B2-D90F-473C-A887-06B73CC3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C9EAF64-9BE8-4464-832E-4290B93F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AB71AD-F487-465B-BBDB-6A2C1A97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53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EE216D3-2C19-441B-980E-4D316AF4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4B26F09-7142-4A29-8291-5E2B5EDE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3B7E85A-985B-4315-B343-A4D83A8E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8F6889B-74D2-4812-B38B-4826B4C0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8074D1C-E4EF-484F-9BC2-DEB846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8216A22-636B-4930-AC38-42C58409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6B3A055-3BC4-4E6C-9001-37957ED4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3C9B4CB-DE44-43DB-B202-A9DC1F8D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98631BD-C21F-4104-B2FB-3B5CB6C8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EE7AA18-F6E1-464E-9B4D-C31D2CA0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A782311-B0E5-4EB0-A331-51C044D9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1765D7F-D868-424C-B875-D69AD4A7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948343-71B0-47ED-A04C-E7D24A76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FEC5303-B793-418F-8C63-6E0631A0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27716BF-85C5-45B3-9595-2CB4112D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84098BD-398D-4A67-ADE1-233DF0C7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496F026-EA8A-4D87-8A68-49BE58E8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8D7859D-3D04-42C6-A889-9A4735BD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2ADDC56-E97C-46F9-A391-4775CAAF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B9D63CA-A214-4CB5-90B5-E54AFC0C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676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E0E27B7-B12F-4B87-B3A3-F223AB3A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20914B4-096F-4547-A6E0-78ECC02F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F708D9D-BFB2-49FB-B218-B8408F02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9458E1B-A4C7-46F7-8436-9BEB56A5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2615063-4EE3-4F33-8E95-B7873E38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2455DBC-0787-4502-85E8-4E3DA0BC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6A24DD0-F81B-449A-A29B-593C7458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7B2ED06-322A-4802-AC03-26D8A31A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EFF810F-AFB3-475A-92C2-C95EC236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771482-6DD3-4E63-AAB8-8CA30416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5098000-672C-4F14-B7B9-8C8C6714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1FDB0D7-56ED-43BA-818E-47EC208C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2EFDD83-4947-4218-AA5D-DD7FC5CB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0547F76-0BE0-4CC8-A67C-BD882D7D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01CA807-CE54-46C7-9CF3-D3ABDCB8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1F95F27-75D7-4BD9-ADDC-FF95C044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2E03AD0-0EEB-49F2-8349-33914EB6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036CCFF-CB5A-46FF-A6DD-26FCC698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206A8AF-3D0E-401E-A3EA-662D35DC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6C2E8DC-7A74-4D4F-82DE-04C688E0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000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8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FBDFCCE-52C1-4311-89AB-3F0FF3FC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3436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825" b="1" i="0">
                <a:solidFill>
                  <a:srgbClr val="667085"/>
                </a:solidFill>
                <a:latin typeface="Lato"/>
                <a:ea typeface="Lato"/>
                <a:cs typeface="Lato"/>
              </a:rPr>
              <a:t>Group patterns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BFFF74B-9464-4C2C-B4B3-BBC255B1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257800"/>
            <a:ext cx="1123950" cy="685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05030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BE26879-5734-49CE-B3A7-AC186B76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143500" y="4819650"/>
            <a:ext cx="112395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07239"/>
            </a:solidFill>
            <a:prstDash val="dash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B5DD4A0-499B-409E-8413-A227E2A0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81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1338"/>
          </a:solidFill>
          <a:ln xmlns:a="http://schemas.openxmlformats.org/drawingml/2006/main" w="0">
            <a:solidFill>
              <a:srgbClr val="0D1338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E664C3F-F666-45DB-AAA4-E31843EF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6191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One person still needs personal context.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4D34C30-555A-431F-B339-F5740FE5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10450"/>
            <a:ext cx="66675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1430">
            <a:solidFill>
              <a:srgbClr val="2F6F89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EB42CC1-F886-4326-A69B-9AF6BB69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104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4FC2237-04AA-4742-8A89-61FE5606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5247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A healthier use of risk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E6ADF5A-66C1-45DE-889D-63B94FBA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772400"/>
            <a:ext cx="632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Ask what applies to you, what can be evaluated, and what support is realistic. Avoid using group statistics as a personal forecast.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A4A447D-ACE4-4639-8DD5-D099CC8A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C126333-74DF-4C14-BCA9-D1A2EE20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FE95613-9A0F-436E-8E06-0E09ED34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Risk meaning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0FDAF5F-CAE9-4DC4-90AC-D7AA38E9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90640A0-C48D-4B2A-8992-52336D68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BB74A1C-F6C1-4B52-8ED7-901347CB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56e9d83d992a4878"/>
              </a:rPr>
              <a:t>mindfuldiabetes.org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65445BC-E4D0-4FB3-8499-FD0209B2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922722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066F45-75D9-47DA-A6A4-1761268C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VASCULAR CARE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116497-6146-44F3-9CD5-74D13824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Blood pressure, cholesterol, and glucose are interpreted 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7F677-902D-48AD-AAC5-1B6FCE20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Targets vary by age, medicines, health history, and overall cardiovascular risk. [2,9,17]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4772E-7251-4B7C-A2D9-170A8C5E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3028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0AB03-2002-4ECD-A9B8-340E85A0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C5DD8-4B13-450A-8FF3-55C837F5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478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pressure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034095-3EB6-4C42-801D-0AD055AA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Ask what target applies.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C5B45D-B4B7-4CE2-B40A-1DFFAA76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24050"/>
            <a:ext cx="3028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16ADA6-2025-487B-80D9-DCDD9F21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76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C8E058-EE04-4E49-B5EC-B4D7450E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478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Lipids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81E00C-F4D0-4A5C-8E83-21F5C235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352675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Ask which results matter most.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BAAC6F-A480-4FF1-9717-B8B72C3B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028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EEADF-B5C8-4915-9A46-C1B1B7E3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solidFill>
              <a:srgbClr val="3A8F7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EEE33F-35F9-4745-A53E-285260D3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0992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Glucose or A1C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3D608-4315-483A-80CD-3C8CE6CB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14725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Use clinician-selected measures.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E147F0-F4C0-4532-9693-AE183A40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86100"/>
            <a:ext cx="3028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8A7CE5-3CD8-4E79-B1BF-6263EDF1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385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856F37-8802-4854-ADB0-BDF9A10B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0992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Medicines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5F2F1-23D4-45C7-994D-72DBFBEA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514725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Discuss benefits and side effects.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01824E-F989-4D3A-8AD0-5475E3A2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48150"/>
            <a:ext cx="3028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54A026-335F-4BCC-8261-DB84B87D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5C9E"/>
          </a:solidFill>
          <a:ln xmlns:a="http://schemas.openxmlformats.org/drawingml/2006/main" w="0">
            <a:solidFill>
              <a:srgbClr val="7A5C9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021854-B7CA-4D19-BA63-EB08F427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Smoking status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6DE364-B326-4A20-9CF4-076C8A3C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76775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Ask about support without shame.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604DB9-8114-4686-88B8-76F18231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248150"/>
            <a:ext cx="30289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B68BE0-A846-401A-8396-114C8F58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00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D704F"/>
          </a:solidFill>
          <a:ln xmlns:a="http://schemas.openxmlformats.org/drawingml/2006/main" w="0">
            <a:solidFill>
              <a:srgbClr val="8D704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A080EE-E239-4F3D-94E2-D8BA8A3B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719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Family history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F8BD38-410A-4F8C-BF74-AFA60CE0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676775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Use it to guide questions.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33CF0F-686E-4272-A848-C1B95AD9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6667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2383">
            <a:solidFill>
              <a:srgbClr val="0050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2FC74C-A5DC-49FF-B48B-5D499F55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621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12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The care question is not "Which number is good or bad?"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774E61-3F3C-4A7C-960B-7EED17B8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457950"/>
            <a:ext cx="5638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It is "What do my numbers mean together, and what is the next appropriate step for me?"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146495-26EC-49FC-8031-FCDB14A5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0"/>
            <a:ext cx="6667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D"/>
          </a:solidFill>
          <a:ln xmlns:a="http://schemas.openxmlformats.org/drawingml/2006/main" w="11430">
            <a:solidFill>
              <a:srgbClr val="F0723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EE1AE9-463E-4528-B029-07F3DBEE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0"/>
            <a:ext cx="76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0345D9-851E-4F64-98EF-A727B230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390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Do not change treatment from this guide.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1FD1C1-0601-4388-950D-51B29F03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86700"/>
            <a:ext cx="632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Medication decisions belong with qualified care. Bring questions about targets, side effects, affordability, and follow-up.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DCE34D-9B6E-4AD6-8F0B-EB67FABF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ECA802-DCC2-46BC-A564-8232DEA3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2766BC-B3D4-4232-8910-125AC828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Vascular care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24EFFE-809F-47DD-AB30-1D1F413C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AB30E-E0F3-4AD6-AACD-60A21397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BE51E1-2F13-43C5-9A46-3CB1129A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28e479bd58bc436d"/>
              </a:rPr>
              <a:t>mindfuldiabetes.org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FAF7DC-0371-4EC6-A12A-4F6A33B5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106394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A2B55E-71E8-430A-9E9C-35F53645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MOVEMENT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649646-3AAE-44CB-860E-E031A627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Physical activity can be flexible and mobility-inclusive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EA295-8658-4EA9-A37D-321B7D1F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Activity may support cardiovascular health, metabolic health, mood, sleep, daily function, and quality of life. [11,17]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104E22-16ED-4E2A-8CDC-0BE8F74D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30289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4BD10-D29B-4FBC-BF7A-87F24C48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AF7B8-C36C-47A1-B4EA-562294A7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97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Walking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DD7E6-207A-49A2-951A-41E5BCA8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14575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Short, safe bouts can count.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0A2759-D597-4AB2-901A-98BDB95B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85950"/>
            <a:ext cx="30289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D1B1B-CA16-4D23-9559-73E5EA0B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038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solidFill>
              <a:srgbClr val="3A8F7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5DEF1-68B7-496E-B088-589A1FCA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97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Seated movement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EE54C-7F5D-4B41-BCF3-DF89A8D8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314575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Chair routines can support circulation.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C2D66E-A404-43BD-8AD4-82E93C42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30289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28415-115D-483A-AD5A-559E144A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2C7F4-1D35-4A3D-B099-63A3BB8D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384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Standing breaks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6F4D1-83F5-411E-9B5C-BB6ECE05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43275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Small interruptions to sitting may help.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23E4A4-3270-4084-89CB-EA70698F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14650"/>
            <a:ext cx="30289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36C00-917C-4CEA-A65F-D340DFF4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067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F83F55-9D54-482D-B1CF-FE380ADD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384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Strength activity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4ED69D-5D29-40F5-95B8-DAF96A42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43275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Use bands, weights, or body weight if appropriate.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CBAE0F-948F-4322-ACD2-F8C4A323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30289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DD0808-C176-49CE-A5CC-4F492BDB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72CAE0-2B0A-48C9-ACCF-4C610B52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671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Stretching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099DE1-8C7A-4519-8486-54282960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Can support comfort and function.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732108-74C4-4309-85C3-3F9DD726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943350"/>
            <a:ext cx="30289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556CD3-A60B-4A32-8E2E-788B6351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095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solidFill>
              <a:srgbClr val="3A8F7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4BE595-E89C-44C9-9301-82AC7FA1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671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Physical therapy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8C23A6-E2EA-4C30-9F5B-C1B4675C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371975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Clinical guidance can adapt movement safely.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0AAFE3-53E4-4211-8EFE-58C5067F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30289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992411-4D6D-45C0-98DF-E4E31A4B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F251EA-17ED-46D4-A016-ED20183D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958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Household movement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E9991F-5BC7-427F-A9D6-A516045E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00675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Daily tasks can be part of an activity pattern.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FC3A16-B10F-46AE-9F56-5BB26C52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0"/>
            <a:ext cx="66675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05B498-D2D0-4466-8677-F40C37BF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485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My safest realistic movement option: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A2FE-2F79-48B8-9AC9-FE63BC5B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7277100"/>
            <a:ext cx="352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38EE12-2004-4D61-ABA4-7F1C1F4A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86650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863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Walking is one option, not a requirement. Ask about safe options if pain, balance, fatigue, disability, or recovery makes movement complicated.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49AE15-D7FB-4C5B-A46A-AC7653E1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5701F9-9750-454F-A474-074D425F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2E2DAB-11D6-4216-B438-C75CCD11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Movement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12C41F-ECC7-4F46-AD5B-C2299708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BB9C89-76B1-4752-AC59-54A5F12C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DEE676-B749-424F-BD56-E80F12F6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d7679e61ca0140e5"/>
              </a:rPr>
              <a:t>mindfuldiabetes.org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E4375C-5C7B-485C-B8CA-967A9932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01118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705FFF-64F2-4032-95D6-C79E8A4F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FOOD PATTERNS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96DB77-5677-4F36-8011-5919AF60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Food patterns matter more than brain-superfood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708B2-B030-49CD-B1E8-4E96B2AF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Mixed dishes, cultural foods, access, budget, and medical nutrition needs all matter. [10,17]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EF1E9-040E-4CC2-9E45-7CD75DF1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2647950" cy="2647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DD8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74114-27A4-4F6D-A06D-D596C637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2381250" cy="2381250"/>
          </a:xfrm>
          <a:prstGeom xmlns:a="http://schemas.openxmlformats.org/drawingml/2006/main" prst="pie">
            <a:avLst/>
          </a:prstGeom>
          <a:solidFill xmlns:a="http://schemas.openxmlformats.org/drawingml/2006/main">
            <a:srgbClr val="F0FAF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13A76E-59B5-4A71-9106-2B3C1714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2381250" cy="2381250"/>
          </a:xfrm>
          <a:prstGeom xmlns:a="http://schemas.openxmlformats.org/drawingml/2006/main" prst="pie">
            <a:avLst/>
          </a:prstGeom>
          <a:solidFill xmlns:a="http://schemas.openxmlformats.org/drawingml/2006/main">
            <a:srgbClr val="FFF3E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A6AE4-6B31-40D7-97CA-ED965674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530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0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Flexible plate visual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87C34-3527-436E-A833-D3AC0AFC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962150"/>
            <a:ext cx="2857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70724-1C33-4A13-83A8-88DD466A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114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9D9C8C-36EE-4546-AD12-4BD2BAF5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85975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Vegetables and fruit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142F9-22F7-4549-BB71-52CC81F7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390775"/>
            <a:ext cx="25146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fresh, frozen, canned, cooked into dishes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034F2-0C95-4D2D-997C-C4160537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2857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493239-4F79-4AF5-BB5F-09B482A9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895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F99D7A-1FF0-4267-B20A-FDCBC140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67025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Beans, lentils, whole grains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317E79-AA23-4986-BB60-CD20D901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171825"/>
            <a:ext cx="25146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carbohydrate foods can fit a care plan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E9425-8DE9-40C9-9F76-B609BD35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24250"/>
            <a:ext cx="2857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9CEBB9-1852-4364-8DC1-2B28E304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2AACB3-62AD-4AFF-87EF-6D367E9A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48075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Plant or lean proteins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098ABA-FDAA-48BC-98D5-D0EB6450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52875"/>
            <a:ext cx="25146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fish where appropriate, tofu, eggs, poultry, legumes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1E118-2F08-414E-A32F-8F716E29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305300"/>
            <a:ext cx="2857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C53D33-8AE1-4402-83A6-9D206F1D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4577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solidFill>
              <a:srgbClr val="3A8F7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9F97FE-B687-49BC-BE80-03A24F92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29125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Nuts, seeds, unsaturated fats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C7CDCF-263E-49FE-AD2A-D6620B3B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733925"/>
            <a:ext cx="25146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flavor and satiety without cure claims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BADC58-D620-46C7-A845-0F9FCA76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86350"/>
            <a:ext cx="2857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84F1FA-6249-4B06-BEF9-9F21DD27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238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2D1D56-0ED8-41B2-99EB-F1CEA507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10175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Lower-sugar drink options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E3A047-2511-457B-982B-7C00764B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514975"/>
            <a:ext cx="25146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water, unsweetened drinks, or personal alternatives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9DBD35-6E2B-41FB-A38A-83AEEF61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867400"/>
            <a:ext cx="2857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6D538C-BDAB-45FD-99EC-3B09ABA2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6019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EF2E47-687F-40BB-9481-4420B9B1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Culture and access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988407-94D6-4CDA-BF88-6E16BDAF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6296025"/>
            <a:ext cx="25146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a useful pattern should fit real life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1BD03F-8347-4CEF-B16F-CADADF72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43800"/>
            <a:ext cx="666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1430">
            <a:solidFill>
              <a:srgbClr val="00503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2D6FEE-230C-49F2-81E7-E0C1F14A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438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D5118B-4960-49E6-90AB-E3748287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581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No single food is a brain-health cure.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993824-3DAF-4605-ADEF-1F927CE4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905750"/>
            <a:ext cx="632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The plate method is a flexible visual tool, not a prescription. Medical nutrition needs vary; carbohydrate removal is not the goal of brain health.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42E1A5-C4E3-4EB3-943C-12F04916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4B838D-B5AD-4FEC-AFCE-5CB0B222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9391D0-2663-4313-9446-A9227D4F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Food patterns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3CBE7A-D1C6-4D5C-8827-5E8A2506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5ADF5E-22CD-4479-A0C9-8B587FB1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D4C586-6170-4C68-A8E2-80B2B765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62527ca68de14c64"/>
              </a:rPr>
              <a:t>mindfuldiabetes.org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3ADF91-3AB4-4FA4-91B6-CB978F63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290762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16781C-E956-47F2-BFEB-051B68DD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SLEEP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A2C9D-456B-45C8-8619-C4AD2431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Sleep problems deserve care, not blame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3A10EB-9FC1-4362-8AB5-F9E93FCC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Sleep can interact with mood, attention, glucose patterns, blood pressure, decision-making, and quality of life. [12,17]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1D925-A8BE-4D44-B378-2CA53D0B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527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503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A4033F-C82F-497A-9111-81A43650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49450-469A-4425-9B6F-3A899F70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7185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84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Morning light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9C01F-02C4-4AEB-920C-B435AB77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146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7BBB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AC803-79EF-4FCD-ABE6-E8AA4DC6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5527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A8F7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9F667-4C45-4135-BA94-EB3B0DDB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724150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3A8F7B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3A8F7B"/>
                </a:solidFill>
                <a:latin typeface="Lato"/>
                <a:ea typeface="Lato"/>
                <a:cs typeface="Lato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0B133-DB5D-4D2A-A4BA-F32019D5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337185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84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Daytime activity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7EB5D-BB65-4648-94F6-A629B77A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9146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7BBB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410AB-0319-4519-9C70-5B3E9C94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527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0723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AE1078-E75B-4423-A858-5BE50A5D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BC50AF-B6A5-434B-A109-8E7BBEE2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7185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84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Caffeine timing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4B64C-7D7F-4F0A-9727-47B13A6B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146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7BBB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552BB1-BE0D-4002-A9CA-07926C73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5527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F6F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A029B-E290-448A-8D47-F802C7F0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724150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0DA7FE-A536-4CFA-AFC4-61F26049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37185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84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Wind-down cue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9B7BC-F93D-403D-B5DE-D6EC381E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9146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7BBB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09272C-6414-4166-8B96-26622916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527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D13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471A01-733C-4D8F-B29E-4CEBB978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724150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B7CD24-DA07-40A3-BD86-A02F447A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7185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84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Dimmer light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4552DF-9809-4EE9-9DA8-8E430575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1465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7BBB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83ED98-3497-4ECD-B25A-C7EAB13B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552700"/>
            <a:ext cx="72390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A5C9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DDD047-F742-43E2-858E-4FD5FB2E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724150"/>
            <a:ext cx="228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 i="0">
                <a:solidFill>
                  <a:srgbClr val="7A5C9E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7A5C9E"/>
                </a:solidFill>
                <a:latin typeface="Lato"/>
                <a:ea typeface="Lato"/>
                <a:cs typeface="Lato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32FA1E-F167-4507-BDD6-1A9BA4D4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876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84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Comfortable environment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998C7D-02D0-45FD-A77A-ED7977F2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32194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A17439-524F-4079-A06E-F02B70AB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9412F0-8176-46B4-A197-5075B0BF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962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Life can complicate sleep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0B2D31-547E-4149-A2B3-F57E680F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28765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F9B8CD-7DDB-44F8-A4D3-596B4B57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28765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Shift work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Caregiving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Pain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Medicines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Insomnia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Restless legs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D4F029-BA30-4074-BE4D-6DA17362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95800"/>
            <a:ext cx="32194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B76636-7A61-450B-B4BD-0F1E95F2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48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D844D0-73B8-4769-ADE7-6945C7B0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1962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Ask about evaluation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06BFCA-0AEB-4EEA-8D4A-B047B189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24425"/>
            <a:ext cx="28765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7C99DE-F294-425D-86F2-A1233FA9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10150"/>
            <a:ext cx="28765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Loud snoring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Breathing pauses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Gasping during sleep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Daytime sleepiness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Morning headaches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Sleep that stays unrefreshing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D4F5827-81F6-49C6-B3CC-966A8E28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372350"/>
            <a:ext cx="666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1430">
            <a:solidFill>
              <a:srgbClr val="2F6F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AC9F7F-3078-43C2-8FB4-78CCDB44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3723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AE728A-4D3B-4511-8164-7D190D89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4866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Sleep hygiene is not a full treatment plan.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D424B0-E581-46E0-92DC-2085101F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734300"/>
            <a:ext cx="632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Breathing pauses, severe insomnia, restless legs, medication effects, pain, and caregiving stress may need clinical support.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0B1687-B49A-432C-9334-A7186C50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1C9714-07BB-44B7-9132-5CE5276D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AD125BF-0C30-4E79-85F8-7738B37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Sleep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995AA8-9994-40B9-B4A4-DE9B16C6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60619A-633F-42E7-B3C9-3A14C847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5745E35-E33E-47DD-B93D-A097495D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8595e15bede0472d"/>
              </a:rPr>
              <a:t>mindfuldiabetes.org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ED60F1-E6BC-4555-9882-3F5D3704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96232377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E78715-097C-4945-832D-330E2F57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TOBACCO AND ALCOHOL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A7E74-C8CF-4B81-82B1-972F87F1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Support works better than shame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81E2C-04C6-4803-BE4C-64C42E8C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Tobacco avoidance and alcohol decisions fit within overall cardiovascular, metabolic, and cognitive-health care. [7,8,17,18]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89B67-F6C6-484A-8813-42EFB33A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3219450" cy="33337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BC4D2-6A1C-4FD7-9344-E635494C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44037-A7B9-43AA-9876-0A6F1111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335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Tobacco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FF6135-2876-482F-8604-E046A0A3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28765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F6366E-836C-41EB-A4B9-8BB0F67C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28765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Avoiding tobacco supports overall and cardiovascular health.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Quitting can require repeated attempts.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Counseling, medicines, and practical support may help.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Current tobacco use is not a character flaw.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BA2BB8-5415-4023-A10B-CEC67F03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09750"/>
            <a:ext cx="3219450" cy="33337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7C475-0D2B-45A5-976D-D7D1DF32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62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32AB9-D875-45F4-84E5-ACBE6114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3357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Alcohol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5CF03-9ABA-4C97-89CB-BD0AFE2A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38375"/>
            <a:ext cx="28765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C0AFC5-03A6-4546-97A6-3482672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24100"/>
            <a:ext cx="28765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Excessive use can create health risks.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Alcohol may interact with medicines and glucose risk.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People who do not drink should not start for health.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Individual guidance may be appropriate.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3C875-E7FB-4440-9FF6-BB78EA99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91200"/>
            <a:ext cx="66675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3D1F43-3B39-4073-8932-0A6705D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198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20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 calmer question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869A1-411F-4674-9760-C3AC8FA1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343650"/>
            <a:ext cx="613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What kind of support would make the next step more realistic: counseling, medication options, a safety plan around alcohol and glucose, or a referral?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A5BB92-9EE8-4480-B8A8-DBA76C30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734300"/>
            <a:ext cx="6667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3ED"/>
          </a:solidFill>
          <a:ln xmlns:a="http://schemas.openxmlformats.org/drawingml/2006/main" w="11430">
            <a:solidFill>
              <a:srgbClr val="F0723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3720D6-0C02-44C3-BBA5-0804FBC2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734300"/>
            <a:ext cx="76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3D16CC-C685-476C-8AA9-0EE4A584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486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No universal safe amount is set here.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B7BA73-FD2C-4D16-BF25-32BBAF02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096250"/>
            <a:ext cx="6324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This guide does not define a personal alcohol limit or recommend medication changes.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3C52BF-E87C-4A93-B929-A1777583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632F4-CA42-4BFA-8C5C-CF9AF85A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5B76E1-4378-4622-8DD4-52589ABE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Tobacco and alcohol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96569B-1EFD-4311-81DE-74BDB724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90732C-A1B6-41F7-B89D-4F5C2F450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1E5237-B96C-4AF1-9D12-AC17EF39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4e33108163734bae"/>
              </a:rPr>
              <a:t>mindfuldiabetes.org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3D9C8C-9AF2-47DC-9A79-1D1F9CA3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604354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A34ED1-78B3-4C24-8C74-EB418E21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COMMUNICATION AND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F73339-825A-41E4-8231-832B32BC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Hearing, vision, mood, and connection affect daily function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9C0B2D-1826-4A7B-96B3-0D52487E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These factors may affect communication, cognitive load, safety, quality of life, and access to care. [13-16]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776B1-2C99-4AC3-BDF0-D7A10460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30289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C0DD5-A277-4E44-BC9C-8CE42D66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8F7B"/>
          </a:solidFill>
          <a:ln xmlns:a="http://schemas.openxmlformats.org/drawingml/2006/main" w="0">
            <a:solidFill>
              <a:srgbClr val="3A8F7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51872-FAD1-4A72-A6DC-F491D0BB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335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Hearing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3999F-6803-486C-96DC-298BFA9F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Ask about testing when communication changes. Improve access with quieter rooms, captions, hearing devices, or face-to-face conversation.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9019C-A073-4044-AD92-698F7060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30289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3F7E3-E4B8-482C-8E2E-6FA3DDC7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621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4D3E67-8A0F-446C-BF93-BC270CB9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335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F4E9B-F251-4C9C-8F66-C852E752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38375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Address correctable or treatable problems. Diabetes eye care can support safe daily function.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12E174-014F-45DA-A70C-F98DE1DF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30289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AEAB1-DD1A-4877-85D4-318E5C0D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5C9E"/>
          </a:solidFill>
          <a:ln xmlns:a="http://schemas.openxmlformats.org/drawingml/2006/main" w="0">
            <a:solidFill>
              <a:srgbClr val="7A5C9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25B69-D3C2-476A-AF39-3AF2476A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671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Mood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5400D-D05A-40EB-A004-1ECDDEC7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Depression deserves assessment and care. Mood changes should not be dismissed as just aging.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1810C5-BF58-4B00-B3AB-FB71D890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43350"/>
            <a:ext cx="30289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DD13FF-5851-4DA3-8F8E-7C7252DC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CD4449-2974-4AB7-A61C-49387BD8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67175"/>
            <a:ext cx="2495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Social connection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9885D-692B-4D94-92E7-50D6B2CF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371975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Connection can be family, friends, neighbors, faith, support groups, community programs, or routine contact.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4343A6-129C-4E30-8078-44A065B9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705600"/>
            <a:ext cx="6667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1430">
            <a:solidFill>
              <a:srgbClr val="00503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DF1884-19C3-490B-9D4D-B1490F76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70560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C3BB02-5492-4B11-BFDC-9A1C8344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199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Nuance matters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3C29D-D8E7-43A6-9D22-173A7096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067550"/>
            <a:ext cx="6324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Treating hearing, vision, mood, or isolation may reduce strain and improve function. No single intervention guarantees dementia prevention.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8605A9-3F05-4D51-9C2A-05117468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8E6BA7-A968-4E10-8ABB-522F7A43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5CAEAA-0739-47DA-A63C-C304B699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Hearing, vision, mood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BE696E-86B1-4179-9DAE-A6B7A3C5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3FFD7C-C882-4C4E-ADC5-6CC67A17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C1000D-8FBF-4558-AAEB-8E8F572A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647269fb29884428"/>
              </a:rPr>
              <a:t>mindfuldiabetes.org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6E3B57-A63A-4976-A08A-AE960F0D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41125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928204E-C8C3-45B9-9F02-EDF3159B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WORKSHEET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6F7ADA-0BF9-4A96-8E9C-4BF3A441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Questions for your clinician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3E88A-715D-4714-94C3-77770BEA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Bring the guide or a completed worksheet if it helps organize the visit. Leave blanks if something does not apply.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556C0F-691D-46CE-8A58-5CE266DF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EE247-CC16-4CDD-A084-04A49DB1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906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My A1C or glucose targets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319B09-4501-4199-BD97-2B7F0E8F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09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63255-39AD-4783-BE01-F04BE027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906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Low-glucose risk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C25A1E-E3BE-47EC-AE67-28BF65DC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C4F2D-1D2B-42A0-BB6B-7B7340E1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954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Blood pressure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086653-B9AE-4B5A-9949-5CAA12F0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737C1-642A-409A-80B7-32D01BF0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954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Cholesterol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D598B-4A9E-4DA8-A706-D476ED2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1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3FDAA-04B8-498E-890F-36FC0072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02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Medicines and side effects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68D253-D199-4362-B371-A9F89F60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1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F0FA3-86C5-4E3F-AF99-2688990E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002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Memory or thinking changes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A722F-3F38-4D7C-8DAE-62E6EB86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24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4F5EF2-3B9A-4F8B-94D4-EBAC1368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050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Sleep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6EA07F-B6BE-4E6B-82B2-AEAD6CC4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24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F329EA-17E1-43D7-A348-04B1D5BA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050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Hearing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47C4C3-113A-4B43-B758-DB3B952C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06851D-2B82-4E6C-B52D-A5ED69B8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Vision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65313-74D3-4840-81C5-DADAF034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28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654F51-EF20-424A-B4D4-B529D00D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098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Mood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C604A3-28AA-4946-AB5D-73F097A1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33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ABFC6D-DDF3-43D4-A3D8-E993F934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146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Family history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A329B1-C177-4235-8521-699DAA92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33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708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43EAD3-CF31-43FB-90CD-EC5A154A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1146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40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Referrals or testing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A0203D-5C47-42D2-BDF2-4BA3D2C4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My most important question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73965F-9FF6-4144-BB73-C33C4EDE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6667500" cy="9144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4D7776-F34C-4006-99D1-2870841E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What I want to understand before leaving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86457B-367E-4E89-A8F2-B20F2825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6667500" cy="9144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BC1519-B229-4F52-B6E2-02A9096D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Next step or referral discussed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7D9227-474B-4B6E-BE0F-52899B38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6667500" cy="9144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1C3C46-5FBD-4F86-AD7F-8038858A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0"/>
            <a:ext cx="666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1430">
            <a:solidFill>
              <a:srgbClr val="2F6F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6C53B9-7E54-44BE-809B-C56B7DC6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0"/>
            <a:ext cx="7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664602-68C1-43ED-9C77-DDF2DE2C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9248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Privacy reminder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034EA1-028C-423B-A7BA-41313F93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72450"/>
            <a:ext cx="63246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This page may include personal health information. Store completed worksheets in a place you choose.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B92E7BA-977B-4E9D-81D1-AF1E2BF6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ABD5FA-D46B-4BE3-AF4F-5488DB26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30E012-EE51-4139-8F87-871125AA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Clinician questions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33F6C1-960F-45C0-B8EE-58E66F39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E87C50-BB09-4613-BE88-7AA30F28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B20451-E246-4243-8DA9-B84B14A1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bc166f0775b147ba"/>
              </a:rPr>
              <a:t>mindfuldiabetes.org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1366EC6-76C6-4497-9D41-D895CB82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486105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40B0A97-A173-41C8-8E2E-21B7F70F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WORKSHEET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DB5EBE-DCF8-4A62-BFDC-DA8B5DF7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Family-history worksheet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F39CC-FC39-4D04-A4C7-4DAB7A78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Family history can guide questions. It does not determine your future.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A9B45-6DC8-4AAB-9B62-C30AF9C4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Write what you know. Leave blanks where you are unsure. Approximate ages, relationships, and uncertainty are acceptable.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79EA8-4714-46D7-93E7-A12CF35C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5"/>
          </a:solidFill>
          <a:ln xmlns:a="http://schemas.openxmlformats.org/drawingml/2006/main" w="9525">
            <a:solidFill>
              <a:srgbClr val="9EB0A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1055E0-BBE3-4F37-A476-3E8892DE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1145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2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2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Condition or concern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94A1C-177F-4356-8344-9D7A5B7D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038350"/>
            <a:ext cx="80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5"/>
          </a:solidFill>
          <a:ln xmlns:a="http://schemas.openxmlformats.org/drawingml/2006/main" w="9525">
            <a:solidFill>
              <a:srgbClr val="9EB0A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A6187-4B92-46E1-910D-0B4A6C21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2114550"/>
            <a:ext cx="704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2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2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Relative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BE2B3-631D-4C7C-87EF-F0DC7B0C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38350"/>
            <a:ext cx="781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5"/>
          </a:solidFill>
          <a:ln xmlns:a="http://schemas.openxmlformats.org/drawingml/2006/main" w="9525">
            <a:solidFill>
              <a:srgbClr val="9EB0A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4626F8-246B-4E6E-B53C-71EC185C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1455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2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2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Side if known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3227FB-7B0F-4590-9E37-D76BF957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383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5"/>
          </a:solidFill>
          <a:ln xmlns:a="http://schemas.openxmlformats.org/drawingml/2006/main" w="9525">
            <a:solidFill>
              <a:srgbClr val="9EB0A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3B69DB-6626-495E-AB97-2C992C0A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1145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2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2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Approx. 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8FEFE-4831-4632-BA27-A48AC7C6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38350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5"/>
          </a:solidFill>
          <a:ln xmlns:a="http://schemas.openxmlformats.org/drawingml/2006/main" w="9525">
            <a:solidFill>
              <a:srgbClr val="9EB0A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D52237-805F-4E0D-BC6D-79CBEA90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114550"/>
            <a:ext cx="1981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2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2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What I know / what I am unsure about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F6A7C2-7E56-4216-AA81-A3A6865A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1257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5"/>
          </a:solidFill>
          <a:ln xmlns:a="http://schemas.openxmlformats.org/drawingml/2006/main" w="9525">
            <a:solidFill>
              <a:srgbClr val="9EB0A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24ED0-F5B1-431E-9F3D-94E377A5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114550"/>
            <a:ext cx="1162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20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20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Question for my clinician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574ED4-3441-4A62-A2F9-C9B17E51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6220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0C92DF-4E65-4492-BE8C-1713E0C6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0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Diabetes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1CE79E-FD9B-48F2-9A57-7BDD6279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62200"/>
            <a:ext cx="800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656045-6FE3-490E-A976-7977917C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362200"/>
            <a:ext cx="781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344FCC-C356-4BDB-BE38-088395EA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62200"/>
            <a:ext cx="628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7EA480-0178-4B99-8EBF-F2AEC655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62200"/>
            <a:ext cx="2076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576F6B-1F06-4873-9BA7-8809333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362200"/>
            <a:ext cx="1257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3F84A9-9BEE-4D3E-9A0D-42148231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919903-3714-4EBD-9970-B3A57151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0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Stroke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23CFFC-5C55-4F68-B329-04E46EAD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143250"/>
            <a:ext cx="800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42AE60-E80D-4BEF-9F11-5FCD028A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143250"/>
            <a:ext cx="781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0FBF47-B6C8-4E78-9185-3BD2F38D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43250"/>
            <a:ext cx="628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CF0AD0-1F71-4BC5-9D6E-76CF5FA4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43250"/>
            <a:ext cx="2076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845899-82EE-4FDC-B794-ACDCE310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43250"/>
            <a:ext cx="1257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54B723-EA02-490B-A107-9DA1507D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2430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2C5F6D-9A82-4B97-BD17-9C85E5EE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100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2B3142"/>
                </a:solidFill>
                <a:latin typeface="Lato"/>
                <a:ea typeface="Lato"/>
                <a:cs typeface="Lato"/>
              </a:rPr>
              <a:t>High blood pressure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5D8BBC-BF7B-452F-B7AA-031BA19A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924300"/>
            <a:ext cx="800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892290-8312-44B1-9B0D-C737196C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24300"/>
            <a:ext cx="781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8CF998-6829-4C69-AE9A-A3999EE4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24300"/>
            <a:ext cx="628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DC731D-5666-4494-93D3-2EE8A4E6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924300"/>
            <a:ext cx="2076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4BFFB2-E7F0-4FD1-ADA3-5375EDB5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924300"/>
            <a:ext cx="1257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925301-8297-4F33-9EA3-A2C37397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53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DAEF21-26F6-4485-9057-EC48D0A1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00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2B3142"/>
                </a:solidFill>
                <a:latin typeface="Lato"/>
                <a:ea typeface="Lato"/>
                <a:cs typeface="Lato"/>
              </a:rPr>
              <a:t>High cholesterol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633086-EE23-4301-8A5F-C6D7BDA9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05350"/>
            <a:ext cx="800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3D778AC-FA2C-4282-85AD-353E9BF6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05350"/>
            <a:ext cx="781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8876DDA-DF0B-40D9-8E9C-0D301F7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05350"/>
            <a:ext cx="628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C9A526-042A-4319-B9E3-6FA38A7A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705350"/>
            <a:ext cx="2076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B07E08-5561-4F8C-AE86-8127D41C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705350"/>
            <a:ext cx="1257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51BE019-68B5-40BC-9460-DEFA08B4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8640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A228F0-9355-4766-AE91-AC173F9D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0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2B3142"/>
                </a:solidFill>
                <a:latin typeface="Lato"/>
                <a:ea typeface="Lato"/>
                <a:cs typeface="Lato"/>
              </a:rPr>
              <a:t>Heart disease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223316-6692-484A-BAA6-0EE82950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86400"/>
            <a:ext cx="800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37552D4-BF63-4058-9095-67261D38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86400"/>
            <a:ext cx="781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8EC2201-4CA2-4243-8B25-DFDF234B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486400"/>
            <a:ext cx="628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80A4327-E474-47E1-8ADF-CA93EEA8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486400"/>
            <a:ext cx="2076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407682F-6A62-4E55-BCD2-DE3EF239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486400"/>
            <a:ext cx="1257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D9ABED-E852-4A4C-B9D6-349A410D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67450"/>
            <a:ext cx="11239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92B0FE-5FB0-4265-A760-0B726BEE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9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Dementia or significant memory problems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FAE25DC-DC6F-45A0-9B76-B4D0E789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6267450"/>
            <a:ext cx="800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D8A3E7E-9452-41A4-9E38-8AECCAB9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267450"/>
            <a:ext cx="781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C8EDDAE-2B60-4592-A4A9-8D968D22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6267450"/>
            <a:ext cx="628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8BA1DB9-B937-4F60-AEE6-7A5E0F37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6267450"/>
            <a:ext cx="2076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C22376-6C0C-4777-8554-78ABF8D2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6267450"/>
            <a:ext cx="1257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FB052C5-2F1A-49E9-9BEC-6AD357B7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0"/>
            <a:ext cx="6667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1430">
            <a:solidFill>
              <a:srgbClr val="2F6F89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1434198-3016-4BB7-9DBC-32D51FC3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FF1A3E7-E7D1-4E9F-AA75-B7E1766E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9248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Privacy reminder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03DDEC3-6F3B-446D-AA08-61C7025D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172450"/>
            <a:ext cx="632460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Completed family-history pages may contain private information. Share only with people you choose.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0DA592B-2C07-4640-9381-76971DA0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9BC48ED-54B2-4626-A72B-77E8B964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59327A8-3E9B-4FA6-95D0-ACD90B19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Family history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784F856-A659-40FE-97A7-68E9248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A813874-8321-49D5-AD1E-699A91D0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F17BD38-FBB3-47C7-9D39-EB5296AB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5788a5eec75248d7"/>
              </a:rPr>
              <a:t>mindfuldiabetes.org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4AF1DFF-B0D6-491E-B6DD-C59821C2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340145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58849D6-0E76-432E-B66C-D408E654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ORGANIZER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74E21-5C2C-4A73-B5B0-22596270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Health Numbers and Care-Plan Organizer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C98C4-D5D3-42BC-9EB8-1C69F033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Use this page to keep clinician-selected targets and next steps in one place.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EF643A-6CCA-41CB-9FF3-3F01FB99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Do not change treatment based on this organizer. Ask your care team which numbers matter for you and how often to review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1865D-21C6-4D3F-9405-ACE6B8DC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66675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2BE802-9938-4037-93C1-64781948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Appointment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DF7B2-9B2C-4959-A72D-ACD87231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1066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Date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BA703-2223-4DB3-87DE-F781A750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10668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6BCBB-F647-4165-B322-9F922494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343150"/>
            <a:ext cx="2266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A1C or glucose measure selected by clinician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3B9123-E54A-4FFF-BFAD-0CC98CCD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514600"/>
            <a:ext cx="22669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0B817-835E-4BC3-ADB1-05FA6B73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4315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pressure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5D64E-BFC1-41F7-829E-184E0921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14600"/>
            <a:ext cx="11049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3E2758-AD9B-45AE-8095-B7AEB6CF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343150"/>
            <a:ext cx="13144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Lipid result or clinician summary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D25F10-0215-40A9-B37A-C5EC2BEA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14600"/>
            <a:ext cx="13144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E50D64-BF90-432B-8F3C-5843F941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209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Medicine changes made by care team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3C6AB2-87D6-466A-9754-AF0D1226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20955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2DD153-A020-4231-A519-4C65BA50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76550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Sleep, activity, or symptom note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06B032-3F2E-4A58-836D-485B0787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48000"/>
            <a:ext cx="20002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6C2DB9-3E1E-435D-ABF1-7B558164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76550"/>
            <a:ext cx="1847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Target or next step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60EC50-77F8-45CE-B393-EC3593CD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48000"/>
            <a:ext cx="18478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52937B-58BF-474F-BCAA-6248FD0B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66675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D8552A-8226-43A7-AED6-982307A4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Appointment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6A988E-DD7B-4D77-83E7-B35D3709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1066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83B6BE-165D-4E19-89B3-AAED22B1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10668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3CB136-D953-46D9-91A4-386DD0B8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210050"/>
            <a:ext cx="2266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A1C or glucose measure selected by clinician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A6E35-6691-4E2C-8DF3-57AA1AAD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81500"/>
            <a:ext cx="22669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E07B9B-D24C-4734-811F-F4B4B89D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1005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pressure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5D077E-22C4-4986-A436-27329EAC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81500"/>
            <a:ext cx="11049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64CD20-690A-430C-B97E-267C1240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210050"/>
            <a:ext cx="13144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Lipid result or clinician summary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E7350D-1D64-4405-9F83-CA32A174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381500"/>
            <a:ext cx="13144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526049-7DBC-4153-B717-B8656786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43450"/>
            <a:ext cx="209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Medicine changes made by care team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0DA7F9-210C-4743-AC56-8F7D9E21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20955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5A0FE5-ED45-4E71-BB19-05C7D7ED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43450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Sleep, activity, or symptom note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5928E2-5B3A-491A-979B-0C20A8BE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14900"/>
            <a:ext cx="20002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1DD599-3409-489B-A430-2549AB64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743450"/>
            <a:ext cx="1847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Target or next step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A5BB96-4CF7-4C07-93F8-E5DC2E71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14900"/>
            <a:ext cx="18478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9F5240D-1149-4F91-A6E1-3034C59A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29300"/>
            <a:ext cx="66675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6267B6-6BA9-4F54-8398-E31E76C5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Appointment 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361C95-1B2D-4D16-8CA8-58CB05A7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76950"/>
            <a:ext cx="1066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Date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A8ABE8-DDEA-42E4-9FB4-B0B2D7A5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48400"/>
            <a:ext cx="10668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327608-2FE2-4FA7-9204-391A2A36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076950"/>
            <a:ext cx="2266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A1C or glucose measure selected by clinician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32D170-2E0A-41B0-B0F0-096311A9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48400"/>
            <a:ext cx="22669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EE3327-1650-4CD8-8066-FC5B765F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607695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pressure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C51A81-BF21-49FA-8E54-23C9C507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6248400"/>
            <a:ext cx="11049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009CE6-6EEC-415B-A032-BE4F81A1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076950"/>
            <a:ext cx="13144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Lipid result or clinician summary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86E67BB-FE83-4994-809F-A99A5C4F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248400"/>
            <a:ext cx="13144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27330C-D018-4A5F-AB55-2BB9A3D8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10350"/>
            <a:ext cx="209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Medicine changes made by care team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2A7388E-0E67-4850-B17F-EB0C721C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781800"/>
            <a:ext cx="209550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9B588E-750E-4CA3-9BD9-3938C50E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610350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Sleep, activity, or symptom note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D2C01A7-0B5C-4DD0-95C7-BC26FDAA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781800"/>
            <a:ext cx="20002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122556-6208-497D-9B4E-79C71636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610350"/>
            <a:ext cx="1847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88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Target or next step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2DD9F8-9EDB-4252-A4FC-193073CB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781800"/>
            <a:ext cx="1847850" cy="323850"/>
          </a:xfrm>
          <a:prstGeom xmlns:a="http://schemas.openxmlformats.org/drawingml/2006/main" prst="roundRect">
            <a:avLst>
              <a:gd name="adj" fmla="val 1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4B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37EA1FB-C05C-479F-9872-6736D804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943850"/>
            <a:ext cx="6667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1430">
            <a:solidFill>
              <a:srgbClr val="2F6F8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299CEA-1367-43DE-A405-B58D93DB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943850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1C57C17-D670-42F9-BF8E-EA3AC261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0581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Privacy reminder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2298710-C847-4F2A-8CDB-E49EFE5D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05800"/>
            <a:ext cx="632460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Store completed health information securely. It is okay to leave fields blank.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232F3B-0B3A-4207-9639-1164BD74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07C2F2D-102A-46EB-A4BE-2B8C1785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2269278-9BBA-4F4D-AD46-452936F1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Care-plan organizer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BF749D7-6445-4627-830A-0955D653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9648273-7743-46BC-B408-BD0B41D5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5D25925-94D5-420C-9DEC-6C01B209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211dc08910e0420f"/>
              </a:rPr>
              <a:t>mindfuldiabetes.org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E42C8D5-00DF-48FD-9F5A-3B014901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198780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7E8F13-0FB8-4BAA-9ED5-E810BCFA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CAREFUL HOPE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3BF9A-E970-4A5A-81C2-81775978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What risk reduction can and cannot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F75CDE-6C2F-4C2A-B26C-BBB6590F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Healthy routines and medical care may support health, but they do not guarantee a specific cognitive outcome. [6-8,17]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36940-33F0-4F9B-98FC-C0F51F3C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32194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C40ED-D71C-4B15-BFF8-9234EE24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20C14-F1A5-434C-AA41-5194F12D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9072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May support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3DC254-4673-49BF-96BF-96259405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95525"/>
            <a:ext cx="28765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3C256-33EA-4892-A601-E9D6701C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87655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Vascular health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Daily function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Better clinical questions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Identification of treatable problems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Risk reduction in a broader care plan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Quality of life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6EEA0-0B4A-4112-93F9-BB33CDB0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66900"/>
            <a:ext cx="3219450" cy="3028950"/>
          </a:xfrm>
          <a:prstGeom xmlns:a="http://schemas.openxmlformats.org/drawingml/2006/main" prst="roundRect">
            <a:avLst>
              <a:gd name="adj" fmla="val 25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1168C-594D-4A51-B117-79E4AD70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19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9D1C6-A350-4F3E-B852-9E519BA2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90725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10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Cannot guarantee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4EB877-9F8E-4F3E-ADE3-3E14A53F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95525"/>
            <a:ext cx="28765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4EA67-2136-4EB2-BA82-852DB5B0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81250"/>
            <a:ext cx="287655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Prevention of Alzheimer's disease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Prevention of every dementia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Reversal of every diabetes complication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A specific cognitive outcome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Replacement for screening or care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93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0">
                <a:solidFill>
                  <a:srgbClr val="2B3142"/>
                </a:solidFill>
                <a:latin typeface="Lato"/>
                <a:ea typeface="Lato"/>
                <a:cs typeface="Lato"/>
              </a:rPr>
              <a:t>Perfect control over 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D26C10-F463-4FBC-8A4F-EB832FF1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6667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5D4F5-734C-45C1-B6CE-A5C6CFF2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43600"/>
            <a:ext cx="621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 i="0">
                <a:solidFill>
                  <a:srgbClr val="FFFFFF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FFFFFF"/>
                </a:solidFill>
                <a:latin typeface="Lora"/>
                <a:ea typeface="Lora"/>
                <a:cs typeface="Lora"/>
              </a:rPr>
              <a:t>Use careful hope.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5A3EFA-CAB3-4731-963D-7208E34B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457950"/>
            <a:ext cx="544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 i="0">
                <a:solidFill>
                  <a:srgbClr val="E8F4EF"/>
                </a:solidFill>
                <a:latin typeface="Lato"/>
                <a:ea typeface="Lato"/>
                <a:cs typeface="Lato"/>
              </a:defRPr>
            </a:pPr>
            <a:r>
              <a:rPr sz="1125" b="0" i="0">
                <a:solidFill>
                  <a:srgbClr val="E8F4EF"/>
                </a:solidFill>
                <a:latin typeface="Lato"/>
                <a:ea typeface="Lato"/>
                <a:cs typeface="Lato"/>
              </a:rPr>
              <a:t>Care can be meaningful even when it cannot promise certainty.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BF5484-3D9B-41DF-AA1D-7BDFAF67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86650"/>
            <a:ext cx="6667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1430">
            <a:solidFill>
              <a:srgbClr val="00503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1C9179-4115-4A65-B9FE-ED99B04B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86650"/>
            <a:ext cx="76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030"/>
          </a:solidFill>
          <a:ln xmlns:a="http://schemas.openxmlformats.org/drawingml/2006/main" w="0">
            <a:solidFill>
              <a:srgbClr val="00503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A39A91-39B5-427A-9D46-15D44C08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009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The goal is not panic.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F1FBFF-D805-4B68-AA75-CC84D854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48600"/>
            <a:ext cx="632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Use the guide to plan questions, notice concerning changes, and build support that fits your life.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B68A68-D643-4CAC-AFC7-7AC7D425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3EB384-1C17-4000-9DDF-9DF908B5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DDDD86-EB3B-44D1-AA0E-C0532CB9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Careful hope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BF758A-086E-460E-B8A6-06494479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4540BC-6C11-4532-BB8B-9E985CF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2A50C6-0ADD-489E-B65C-06A88614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aedcd8bf54314b5b"/>
              </a:rPr>
              <a:t>mindfuldiabetes.org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B126C9-A5C2-4398-ABE1-5241193D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416461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776119-C1D0-44CE-9379-5C89C8FE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RESOURCES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47A45-3FA2-4555-A38B-341481BA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Next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9EA4F1-32E9-40B3-9A4F-282FF171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Use this guide to prepare questions rather than predict the future.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6F5B0-3E17-439B-9945-57AF81CA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66675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1005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05">
                <a:solidFill>
                  <a:srgbClr val="2B3142"/>
                </a:solidFill>
                <a:latin typeface="Lato"/>
                <a:ea typeface="Lato"/>
                <a:cs typeface="Lato"/>
              </a:rPr>
              <a:t>Share memory or thinking concerns with qualified care. [6]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05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05">
                <a:solidFill>
                  <a:srgbClr val="2B3142"/>
                </a:solidFill>
                <a:latin typeface="Lato"/>
                <a:ea typeface="Lato"/>
                <a:cs typeface="Lato"/>
              </a:rPr>
              <a:t>Follow your personal glucose plan and low-glucose instructions. [2,3]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05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05">
                <a:solidFill>
                  <a:srgbClr val="2B3142"/>
                </a:solidFill>
                <a:latin typeface="Lato"/>
                <a:ea typeface="Lato"/>
                <a:cs typeface="Lato"/>
              </a:rPr>
              <a:t>Ask what blood-pressure and cholesterol targets apply to you. [9]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05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1005">
                <a:solidFill>
                  <a:srgbClr val="2B3142"/>
                </a:solidFill>
                <a:latin typeface="Lato"/>
                <a:ea typeface="Lato"/>
                <a:cs typeface="Lato"/>
              </a:rPr>
              <a:t>Address hearing, vision, sleep, and mood concerns when they affect daily life. [12,14-16]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3551E8-829D-482A-A92D-E495253D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9950"/>
            <a:ext cx="3028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5030"/>
          </a:solidFill>
          <a:ln xmlns:a="http://schemas.openxmlformats.org/drawingml/2006/main" w="9525">
            <a:solidFill>
              <a:srgbClr val="005030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50">
                <a:latin typeface="Lato"/>
                <a:ea typeface="Lato"/>
                <a:cs typeface="Lato"/>
              </a:defRPr>
            </a:pPr>
            <a:r>
              <a:rPr sz="1050" b="1">
                <a:solidFill>
                  <a:srgbClr val="FFFFFF"/>
                </a:solidFill>
                <a:latin typeface="Lato"/>
                <a:ea typeface="Lato"/>
                <a:cs typeface="Lato"/>
                <a:hlinkClick xmlns:r="http://schemas.openxmlformats.org/officeDocument/2006/relationships" r:id="Raeeae1a56ee446c3"/>
              </a:rPr>
              <a:t>Explore the Guide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4B6D9-9C14-4E71-AAA0-2A628D07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09950"/>
            <a:ext cx="3028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F6F89"/>
          </a:solidFill>
          <a:ln xmlns:a="http://schemas.openxmlformats.org/drawingml/2006/main" w="9525">
            <a:solidFill>
              <a:srgbClr val="2F6F89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50">
                <a:latin typeface="Lato"/>
                <a:ea typeface="Lato"/>
                <a:cs typeface="Lato"/>
              </a:defRPr>
            </a:pPr>
            <a:r>
              <a:rPr sz="1050" b="1">
                <a:solidFill>
                  <a:srgbClr val="FFFFFF"/>
                </a:solidFill>
                <a:latin typeface="Lato"/>
                <a:ea typeface="Lato"/>
                <a:cs typeface="Lato"/>
                <a:hlinkClick xmlns:r="http://schemas.openxmlformats.org/officeDocument/2006/relationships" r:id="R2056bf1ecd524eb2"/>
              </a:rPr>
              <a:t>Visit Health Tools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11D4B-2883-4D3C-AAB2-F6CB5A8AB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3028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07239"/>
          </a:solidFill>
          <a:ln xmlns:a="http://schemas.openxmlformats.org/drawingml/2006/main" w="9525">
            <a:solidFill>
              <a:srgbClr val="F07239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50">
                <a:latin typeface="Lato"/>
                <a:ea typeface="Lato"/>
                <a:cs typeface="Lato"/>
              </a:defRPr>
            </a:pPr>
            <a:r>
              <a:rPr sz="1050" b="1">
                <a:solidFill>
                  <a:srgbClr val="FFFFFF"/>
                </a:solidFill>
                <a:latin typeface="Lato"/>
                <a:ea typeface="Lato"/>
                <a:cs typeface="Lato"/>
                <a:hlinkClick xmlns:r="http://schemas.openxmlformats.org/officeDocument/2006/relationships" r:id="R85bb9c226ea84cba"/>
              </a:rPr>
              <a:t>Try JEIR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8B6C7-7533-4862-9E71-45477E8B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95750"/>
            <a:ext cx="30289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D1338"/>
          </a:solidFill>
          <a:ln xmlns:a="http://schemas.openxmlformats.org/drawingml/2006/main" w="9525">
            <a:solidFill>
              <a:srgbClr val="0D1338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defRPr sz="1050">
                <a:latin typeface="Lato"/>
                <a:ea typeface="Lato"/>
                <a:cs typeface="Lato"/>
              </a:defRPr>
            </a:pPr>
            <a:r>
              <a:rPr sz="1050" b="1">
                <a:solidFill>
                  <a:srgbClr val="FFFFFF"/>
                </a:solidFill>
                <a:latin typeface="Lato"/>
                <a:ea typeface="Lato"/>
                <a:cs typeface="Lato"/>
                <a:hlinkClick xmlns:r="http://schemas.openxmlformats.org/officeDocument/2006/relationships" r:id="R53f8079efd644f52"/>
              </a:rPr>
              <a:t>Support Free Education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37F29-AA66-4FFE-8D16-16116CD5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666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1430">
            <a:solidFill>
              <a:srgbClr val="00503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CC8273-79BD-42A8-AF10-EC68E467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1350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138E84-147D-474D-BBD7-BA727B06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0D1338"/>
                </a:solidFill>
                <a:latin typeface="Lato"/>
                <a:ea typeface="Lato"/>
                <a:cs typeface="Lato"/>
              </a:rPr>
              <a:t>501(c)(3) nonprofit | mindfuldiabetes.org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0CF38-E591-4F05-B2EB-DE01D3D1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621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Free sharing statement: You may share this guide for education if it is kept intact and not sold.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93B150-3891-4365-9CF2-69C05D04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515100"/>
            <a:ext cx="621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3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Medical disclaimer: This guide is general education. It does not diagnose, treat, or replace qualified medical care.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7E860-C0F6-4CC7-B581-85754797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0"/>
            <a:ext cx="6667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3ED"/>
          </a:solidFill>
          <a:ln xmlns:a="http://schemas.openxmlformats.org/drawingml/2006/main" w="11430">
            <a:solidFill>
              <a:srgbClr val="F0723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E20BFC-49CE-4891-8576-35B341C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BEAFAB-482C-4DC2-8D0C-88E22FBE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54380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Urgent concerns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ADBF06-FB86-41C0-9BCE-E3774026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79145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Sudden confusion, stroke-like symptoms, severe low glucose symptoms, fainting, seizure, chest pain, or major changes require appropriate urgent assistance.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398D37-5883-4570-9506-7E4B9A1A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AEE252-BFEA-4939-81C3-A68D5F8C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493A97-227A-4D4F-BFD2-C99598F2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Resources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BF8B5E-DA48-4F96-B43C-D649B1C4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AFEBC6-070B-4137-93EE-06DDE979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658275-9382-4423-A5C4-F300449F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00cd22bfc2954faf"/>
              </a:rPr>
              <a:t>mindfuldiabetes.org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59DD26-8E21-4ABC-83B7-1E502F92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530236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8B6BAD-AA9A-40F2-84D2-8F4B292C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REFERENCES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F7F63-8F05-4B7A-B8AA-B3AF746A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Safety notes and 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87464-B6B2-400E-87E8-3516AF24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Medical review status: pending | Next scheduled review: July 2027 | Accessibility status: checked, not PDF/UA certified.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DD9B91-7095-4092-8C45-BFF79450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6675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5F7FE"/>
          </a:solidFill>
          <a:ln xmlns:a="http://schemas.openxmlformats.org/drawingml/2006/main" w="11430">
            <a:solidFill>
              <a:srgbClr val="2F6F8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6FA16-AAB8-4610-AAC8-DED36816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6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89"/>
          </a:solidFill>
          <a:ln xmlns:a="http://schemas.openxmlformats.org/drawingml/2006/main" w="0">
            <a:solidFill>
              <a:srgbClr val="2F6F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B2B405-5DF0-4A6D-855D-CC729956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2F6F8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2F6F89"/>
                </a:solidFill>
                <a:latin typeface="Lato"/>
                <a:ea typeface="Lato"/>
                <a:cs typeface="Lato"/>
              </a:rPr>
              <a:t>This guide is education, not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DBDC34-BF7E-4605-96FA-D6782053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632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It does not provide personal glucose targets, medicine changes, dementia diagnosis, or emergency instructions beyond encouraging appropriate urgent help. Discuss individual questions with qualified care.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7FF33-82C0-439F-8B4C-95A09D6B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6667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3ED"/>
          </a:solidFill>
          <a:ln xmlns:a="http://schemas.openxmlformats.org/drawingml/2006/main" w="11430">
            <a:solidFill>
              <a:srgbClr val="F0723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651CC-4BCF-40EC-AAF4-0884EB85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76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239"/>
          </a:solidFill>
          <a:ln xmlns:a="http://schemas.openxmlformats.org/drawingml/2006/main" w="0">
            <a:solidFill>
              <a:srgbClr val="F0723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549C0-596A-4D46-A7E5-90F64360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632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 i="0">
                <a:solidFill>
                  <a:srgbClr val="F07239"/>
                </a:solidFill>
                <a:latin typeface="Lato"/>
                <a:ea typeface="Lato"/>
                <a:cs typeface="Lato"/>
              </a:defRPr>
            </a:pPr>
            <a:r>
              <a:rPr sz="975" b="1" i="0">
                <a:solidFill>
                  <a:srgbClr val="F07239"/>
                </a:solidFill>
                <a:latin typeface="Lato"/>
                <a:ea typeface="Lato"/>
                <a:cs typeface="Lato"/>
              </a:rPr>
              <a:t>Potentially urgent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C0CD80-A984-4E84-99D5-B92619F2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632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975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Sudden confusion, stroke-like symptoms, severe low glucose symptoms, fainting, seizure, loss of consciousness, chest pain, or trouble breathing should receive appropriate urgent assistance.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CA348-F242-4D20-9290-045C5FCA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180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References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F93B3-7BE6-42AC-A2F1-A9C02047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90950"/>
            <a:ext cx="6667500" cy="48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National Institute of Diabetes and Digestive and Kidney Diseases. Symptoms &amp; Causes of Diabetes. Last reviewed October 2024. https://www.niddk.nih.gov/health-information/diabetes/overview/symptoms-causes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[2]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American Diabetes Association Professional Practice Committee for Diabetes. 6. Glycemic Goals, Hypoglycemia, and Hyperglycemic Crises: Standards of Care in Diabetes - 2026. Diabetes Care. 2026;49(Suppl. 1):S132-S149. doi:10.2337/dc26-S006. https://diabetesjournals.org/care/article/49/Supplement_1/S132/163927/6-Glycemic-Goals-Hypoglycemia-and-Hyperglycemic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[3]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Centers for Disease Control and Prevention. Low Blood Sugar (Hypoglycemia). Updated May 15, 2024. https://www.cdc.gov/diabetes/about/low-blood-sugar-hypoglycemia.html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[4]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Centers for Disease Control and Prevention. Your Brain and Diabetes. Updated May 15, 2024. https://www.cdc.gov/diabetes/diabetes-complications/effects-of-diabetes-brain.html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[5]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American Diabetes Association Professional Practice Committee for Diabetes. 13. Older Adults: Standards of Care in Diabetes - 2026. Diabetes Care. 2026;49(Suppl. 1):S277-S296. doi:10.2337/dc26-S013. https://diabetesjournals.org/care/article/49/Supplement_1/S277/163921/13-Older-Adults-Standards-of-Care-in-Diabetes-2026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[6]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National Institute on Aging. Cognitive Health and Older Adults. Last reviewed December 2023. https://www.nia.nih.gov/health/brain-health/cognitive-health-and-older-adults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[7]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Livingston G, Huntley J, Liu KY, et al. Dementia prevention, intervention, and care: 2024 report of the Lancet standing Commission. The Lancet. 2024;404(10452):572-628. doi:10.1016/S0140-6736(24)01296-0. https://www.thelancet.com/article/S0140-6736(24)01296-0/fulltext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[8]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Centers for Disease Control and Prevention. Reducing Risk for Dementia. Updated May 15, 2024. https://www.cdc.gov/alzheimers-dementia/prevention/index.html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5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[9]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National Heart, Lung, and Blood Institute. High Blood Pressure - Treatment. Updated May 2024. https://www.nhlbi.nih.gov/health/high-blood-pressure/treatment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8D10B4-9A6B-438B-BD39-195379A9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C0B65-40B3-4047-91EE-856E9C8C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8F7037-6DFD-4595-AD69-F64A0D78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References and safety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F6466C-E2A7-4092-98AE-A8751C03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FA9525-64FD-48CD-BAF4-84E4EF55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441FE-BEF9-4127-9309-EEE8FBF7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c7f75b3efdfb4a6d"/>
              </a:rPr>
              <a:t>mindfuldiabetes.org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6A129B-2F4B-4FE8-A4A8-E8B1FD0C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24512299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81BE3-BEC3-4CA4-8B80-06AD9E3F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4E7A3-ED78-40E4-AA86-8BA343F3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250" b="1" i="0">
                <a:solidFill>
                  <a:srgbClr val="0D1338"/>
                </a:solidFill>
                <a:latin typeface="Lora"/>
                <a:ea typeface="Lora"/>
                <a:cs typeface="Lora"/>
              </a:defRPr>
            </a:pPr>
            <a:r>
              <a:rPr sz="2250" b="1" i="0">
                <a:solidFill>
                  <a:srgbClr val="0D1338"/>
                </a:solidFill>
                <a:latin typeface="Lora"/>
                <a:ea typeface="Lora"/>
                <a:cs typeface="Lora"/>
              </a:rPr>
              <a:t>References, continued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5DEE88-E954-48BC-B47F-9F827C10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1050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All in-text citations use sequential numbers that appear in this list.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0B31A-1129-4F81-BC34-057BDE14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47800"/>
            <a:ext cx="6667500" cy="581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38100" bIns="19050"/>
          <a:lstStyle xmlns:a="http://schemas.openxmlformats.org/drawingml/2006/main"/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[10]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Centers for Disease Control and Prevention. Diabetes Meal Planning. Updated May 15, 2024. https://www.cdc.gov/diabetes/healthy-eating/diabetes-meal-planning.html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[11]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U.S. Department of Health and Human Services. Physical Activity Guidelines for Americans, 2nd edition. 2018. https://health.gov/sites/default/files/2019-09/Physical_Activity_Guidelines_2nd_edition.pdf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[12]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National Heart, Lung, and Blood Institute. What Is Sleep Apnea? Updated November 2024. https://www.nhlbi.nih.gov/health/sleep-apnea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[13]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Centers for Disease Control and Prevention. Health Effects of Social Isolation and Loneliness. Updated May 15, 2024. https://www.cdc.gov/social-connectedness/risk-factors/index.html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[14]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National Eye Institute. Diabetic Retinopathy. Updated September 2025. https://www.nei.nih.gov/eye-health-information/eye-conditions-and-diseases/diabetic-retinopathy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[15]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National Institute on Deafness and Other Communication Disorders. Age-Related Hearing Loss (Presbycusis). Updated March 2023. https://www.nidcd.nih.gov/health/age-related-hearing-loss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[16]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Centers for Disease Control and Prevention. About Mental Health. Updated May 2026. https://www.cdc.gov/mental-health/about/index.html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[17]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American Diabetes Association Professional Practice Committee for Diabetes. 5. Facilitating Positive Health Behaviors and Well-being to Improve Health Outcomes: Standards of Care in Diabetes - 2026. Diabetes Care. 2026;49(Suppl. 1):S89-S131. doi:10.2337/dc26-S005. https://diabetesjournals.org/care/article/49/Supplement_1/S89/163932/5-Facilitating-Positive-Health-Behaviors-and-Well</a:t>
            </a:r>
          </a:p>
          <a:p xmlns:a="http://schemas.openxmlformats.org/drawingml/2006/main">
            <a:pPr marL="20" indent="-20">
              <a:lnSpc>
                <a:spcPct val="100000"/>
              </a:lnSpc>
              <a:spcAft>
                <a:spcPts val="6"/>
              </a:spcAft>
              <a:buNone/>
              <a:defRPr sz="668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668" b="1">
                <a:solidFill>
                  <a:srgbClr val="2B3142"/>
                </a:solidFill>
                <a:latin typeface="Lato"/>
                <a:ea typeface="Lato"/>
                <a:cs typeface="Lato"/>
              </a:rPr>
              <a:t>[18] </a:t>
            </a:r>
            <a:r>
              <a:rPr sz="668">
                <a:solidFill>
                  <a:srgbClr val="2B3142"/>
                </a:solidFill>
                <a:latin typeface="Lato"/>
                <a:ea typeface="Lato"/>
                <a:cs typeface="Lato"/>
              </a:rPr>
              <a:t>Centers for Disease Control and Prevention. Manage Blood Sugar. Updated May 15, 2024. https://www.cdc.gov/diabetes/treatment/index.html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2C791-FE36-4B2F-8C24-37E8E8AB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524750"/>
            <a:ext cx="6667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FAF5"/>
          </a:solidFill>
          <a:ln xmlns:a="http://schemas.openxmlformats.org/drawingml/2006/main" w="10478">
            <a:solidFill>
              <a:srgbClr val="00503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D4B78-E8D4-40D5-9335-99070436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7343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1050" b="1" i="0">
                <a:solidFill>
                  <a:srgbClr val="005030"/>
                </a:solidFill>
                <a:latin typeface="Lato"/>
                <a:ea typeface="Lato"/>
                <a:cs typeface="Lato"/>
              </a:rPr>
              <a:t>Citation 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E3081-1D47-4827-B188-00C77D86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020050"/>
            <a:ext cx="621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78" b="0" i="0">
                <a:solidFill>
                  <a:srgbClr val="2B3142"/>
                </a:solidFill>
                <a:latin typeface="Lato"/>
                <a:ea typeface="Lato"/>
                <a:cs typeface="Lato"/>
              </a:defRPr>
            </a:pPr>
            <a:r>
              <a:rPr sz="878" b="0" i="0">
                <a:solidFill>
                  <a:srgbClr val="2B3142"/>
                </a:solidFill>
                <a:latin typeface="Lato"/>
                <a:ea typeface="Lato"/>
                <a:cs typeface="Lato"/>
              </a:rPr>
              <a:t>No [12]-[15] orphan citation pattern remains from the draft. Each body citation points to a numbered source in the final list; no references are unused.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9C601C-0583-4C8F-8F23-87388BB3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9C83F-3C69-4832-88CA-11F61BAA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13" b="1" i="0">
                <a:solidFill>
                  <a:srgbClr val="0D1338"/>
                </a:solidFill>
                <a:latin typeface="Lato"/>
                <a:ea typeface="Lato"/>
                <a:cs typeface="Lato"/>
              </a:defRPr>
            </a:pPr>
            <a:r>
              <a:rPr sz="713" b="1" i="0">
                <a:solidFill>
                  <a:srgbClr val="0D1338"/>
                </a:solidFill>
                <a:latin typeface="Lato"/>
                <a:ea typeface="Lato"/>
                <a:cs typeface="Lato"/>
              </a:rPr>
              <a:t>Blood Sugar &amp; Brain Health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D4CFF8-7AFD-45DA-9925-B87B71AD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24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References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3C4EC-8E29-49AA-BEAE-843C39D6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601200"/>
            <a:ext cx="6667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6EB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928219-1C9D-436E-A1AA-472D3A26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72502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Mindful Diabetes Inc.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135C6A-D3F2-4B55-B26F-8228784F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9725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0" i="0">
                <a:solidFill>
                  <a:srgbClr val="005030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005030"/>
                </a:solidFill>
                <a:latin typeface="Lato"/>
                <a:ea typeface="Lato"/>
                <a:cs typeface="Lato"/>
                <a:hlinkClick xmlns:r="http://schemas.openxmlformats.org/officeDocument/2006/relationships" r:id="R568a900209b54ef2"/>
              </a:rPr>
              <a:t>mindfuldiabetes.org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869DEE-8262-4212-933A-9D6E313B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97250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9050" tIns="19050" rIns="19050" bIns="1905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675" b="0" i="0">
                <a:solidFill>
                  <a:srgbClr val="667085"/>
                </a:solidFill>
                <a:latin typeface="Lato"/>
                <a:ea typeface="Lato"/>
                <a:cs typeface="Lato"/>
              </a:defRPr>
            </a:pPr>
            <a:r>
              <a:rPr sz="675" b="0" i="0">
                <a:solidFill>
                  <a:srgbClr val="667085"/>
                </a:solidFill>
                <a:latin typeface="Lato"/>
                <a:ea typeface="Lato"/>
                <a:cs typeface="Lato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396956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2026-07-30T23:41:31.0090000Z</dcterms:created>
  <dcterms:modified xsi:type="dcterms:W3CDTF">2026-07-30T23:41:31.0090000Z</dcterms:modified>
</coreProperties>
</file>