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6262a665bf4f78" /><Relationship Type="http://schemas.openxmlformats.org/officeDocument/2006/relationships/extended-properties" Target="/docProps/app.xml" Id="Rec7b8ccc8b944bb3" /><Relationship Type="http://schemas.openxmlformats.org/officeDocument/2006/relationships/officeDocument" Target="/ppt/presentation.xml" Id="Recba55aec66342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6e7c72801a44f9"/>
  </p:sldMasterIdLst>
  <p:notesMasterIdLst>
    <p:notesMasterId xmlns:r="http://schemas.openxmlformats.org/officeDocument/2006/relationships" r:id="R054fbf695e4e46f4"/>
  </p:notesMasterIdLst>
  <p:sldIdLst>
    <p:sldId xmlns:r="http://schemas.openxmlformats.org/officeDocument/2006/relationships" id="256" r:id="R54d55236402a4b30"/>
    <p:sldId xmlns:r="http://schemas.openxmlformats.org/officeDocument/2006/relationships" id="257" r:id="R02fe56e0739147bb"/>
    <p:sldId xmlns:r="http://schemas.openxmlformats.org/officeDocument/2006/relationships" id="258" r:id="R5e440037aec74bbe"/>
    <p:sldId xmlns:r="http://schemas.openxmlformats.org/officeDocument/2006/relationships" id="259" r:id="R5df37ea5b221454b"/>
    <p:sldId xmlns:r="http://schemas.openxmlformats.org/officeDocument/2006/relationships" id="260" r:id="R36fe207e0dd04406"/>
    <p:sldId xmlns:r="http://schemas.openxmlformats.org/officeDocument/2006/relationships" id="261" r:id="R8123b11782eb410d"/>
    <p:sldId xmlns:r="http://schemas.openxmlformats.org/officeDocument/2006/relationships" id="262" r:id="R28d139475c5a4352"/>
    <p:sldId xmlns:r="http://schemas.openxmlformats.org/officeDocument/2006/relationships" id="263" r:id="R52ae0df26f594ef2"/>
    <p:sldId xmlns:r="http://schemas.openxmlformats.org/officeDocument/2006/relationships" id="264" r:id="R7d72ba05d3824267"/>
    <p:sldId xmlns:r="http://schemas.openxmlformats.org/officeDocument/2006/relationships" id="265" r:id="R18bc76bfa9534012"/>
    <p:sldId xmlns:r="http://schemas.openxmlformats.org/officeDocument/2006/relationships" id="266" r:id="R586608322404486a"/>
    <p:sldId xmlns:r="http://schemas.openxmlformats.org/officeDocument/2006/relationships" id="267" r:id="R2c6046365fa042b6"/>
    <p:sldId xmlns:r="http://schemas.openxmlformats.org/officeDocument/2006/relationships" id="268" r:id="Rb25abfdec6344cac"/>
    <p:sldId xmlns:r="http://schemas.openxmlformats.org/officeDocument/2006/relationships" id="269" r:id="R51c48483e4404c1a"/>
    <p:sldId xmlns:r="http://schemas.openxmlformats.org/officeDocument/2006/relationships" id="270" r:id="R6b336cd27ebf42c1"/>
    <p:sldId xmlns:r="http://schemas.openxmlformats.org/officeDocument/2006/relationships" id="271" r:id="Rfb48c9e68ab34700"/>
    <p:sldId xmlns:r="http://schemas.openxmlformats.org/officeDocument/2006/relationships" id="272" r:id="R59e079d37a1e4aea"/>
    <p:sldId xmlns:r="http://schemas.openxmlformats.org/officeDocument/2006/relationships" id="273" r:id="Rae8eae9c714b4cc2"/>
    <p:sldId xmlns:r="http://schemas.openxmlformats.org/officeDocument/2006/relationships" id="274" r:id="R968f9a94af264299"/>
    <p:sldId xmlns:r="http://schemas.openxmlformats.org/officeDocument/2006/relationships" id="275" r:id="R472579a691fc4de0"/>
    <p:sldId xmlns:r="http://schemas.openxmlformats.org/officeDocument/2006/relationships" id="276" r:id="R308d25ec239243ef"/>
    <p:sldId xmlns:r="http://schemas.openxmlformats.org/officeDocument/2006/relationships" id="277" r:id="R137958de64a4410c"/>
  </p:sldIdLst>
  <p:sldSz cx="7772400" cy="10058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d696f9ea67443c" /><Relationship Type="http://schemas.openxmlformats.org/officeDocument/2006/relationships/slideMaster" Target="/ppt/slideMasters/slideMaster1.xml" Id="R9d6e7c72801a44f9" /><Relationship Type="http://schemas.openxmlformats.org/officeDocument/2006/relationships/notesMaster" Target="/ppt/notesMasters/notesMaster1.xml" Id="R054fbf695e4e46f4" /><Relationship Type="http://schemas.openxmlformats.org/officeDocument/2006/relationships/presProps" Target="/ppt/presProps.xml" Id="Rddb55a43cc8a40ad" /><Relationship Type="http://schemas.openxmlformats.org/officeDocument/2006/relationships/tableStyles" Target="/ppt/tableStyles.xml" Id="R7917ff8779f34233" /><Relationship Type="http://schemas.openxmlformats.org/officeDocument/2006/relationships/slide" Target="/ppt/slides/slide1.xml" Id="R54d55236402a4b30" /><Relationship Type="http://schemas.openxmlformats.org/officeDocument/2006/relationships/slide" Target="/ppt/slides/slide2.xml" Id="R02fe56e0739147bb" /><Relationship Type="http://schemas.openxmlformats.org/officeDocument/2006/relationships/slide" Target="/ppt/slides/slide3.xml" Id="R5e440037aec74bbe" /><Relationship Type="http://schemas.openxmlformats.org/officeDocument/2006/relationships/slide" Target="/ppt/slides/slide4.xml" Id="R5df37ea5b221454b" /><Relationship Type="http://schemas.openxmlformats.org/officeDocument/2006/relationships/slide" Target="/ppt/slides/slide5.xml" Id="R36fe207e0dd04406" /><Relationship Type="http://schemas.openxmlformats.org/officeDocument/2006/relationships/slide" Target="/ppt/slides/slide6.xml" Id="R8123b11782eb410d" /><Relationship Type="http://schemas.openxmlformats.org/officeDocument/2006/relationships/slide" Target="/ppt/slides/slide7.xml" Id="R28d139475c5a4352" /><Relationship Type="http://schemas.openxmlformats.org/officeDocument/2006/relationships/slide" Target="/ppt/slides/slide8.xml" Id="R52ae0df26f594ef2" /><Relationship Type="http://schemas.openxmlformats.org/officeDocument/2006/relationships/slide" Target="/ppt/slides/slide9.xml" Id="R7d72ba05d3824267" /><Relationship Type="http://schemas.openxmlformats.org/officeDocument/2006/relationships/slide" Target="/ppt/slides/slide10.xml" Id="R18bc76bfa9534012" /><Relationship Type="http://schemas.openxmlformats.org/officeDocument/2006/relationships/slide" Target="/ppt/slides/slide11.xml" Id="R586608322404486a" /><Relationship Type="http://schemas.openxmlformats.org/officeDocument/2006/relationships/slide" Target="/ppt/slides/slide12.xml" Id="R2c6046365fa042b6" /><Relationship Type="http://schemas.openxmlformats.org/officeDocument/2006/relationships/slide" Target="/ppt/slides/slide13.xml" Id="Rb25abfdec6344cac" /><Relationship Type="http://schemas.openxmlformats.org/officeDocument/2006/relationships/slide" Target="/ppt/slides/slide14.xml" Id="R51c48483e4404c1a" /><Relationship Type="http://schemas.openxmlformats.org/officeDocument/2006/relationships/slide" Target="/ppt/slides/slide15.xml" Id="R6b336cd27ebf42c1" /><Relationship Type="http://schemas.openxmlformats.org/officeDocument/2006/relationships/slide" Target="/ppt/slides/slide16.xml" Id="Rfb48c9e68ab34700" /><Relationship Type="http://schemas.openxmlformats.org/officeDocument/2006/relationships/slide" Target="/ppt/slides/slide17.xml" Id="R59e079d37a1e4aea" /><Relationship Type="http://schemas.openxmlformats.org/officeDocument/2006/relationships/slide" Target="/ppt/slides/slide18.xml" Id="Rae8eae9c714b4cc2" /><Relationship Type="http://schemas.openxmlformats.org/officeDocument/2006/relationships/slide" Target="/ppt/slides/slide19.xml" Id="R968f9a94af264299" /><Relationship Type="http://schemas.openxmlformats.org/officeDocument/2006/relationships/slide" Target="/ppt/slides/slide20.xml" Id="R472579a691fc4de0" /><Relationship Type="http://schemas.openxmlformats.org/officeDocument/2006/relationships/slide" Target="/ppt/slides/slide21.xml" Id="R308d25ec239243ef" /><Relationship Type="http://schemas.openxmlformats.org/officeDocument/2006/relationships/slide" Target="/ppt/slides/slide22.xml" Id="R137958de64a441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2d6d163f884e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cc8bf85ef44729" /><Relationship Type="http://schemas.openxmlformats.org/officeDocument/2006/relationships/notesMaster" Target="/ppt/notesMasters/notesMaster1.xml" Id="Rfd0bfa5fd7884d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61a6deb7944b4e" /><Relationship Type="http://schemas.openxmlformats.org/officeDocument/2006/relationships/notesMaster" Target="/ppt/notesMasters/notesMaster1.xml" Id="Rac9d45e4156c48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3672442c144134" /><Relationship Type="http://schemas.openxmlformats.org/officeDocument/2006/relationships/notesMaster" Target="/ppt/notesMasters/notesMaster1.xml" Id="Rcb9ce78548b849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2b20d8324b4129" /><Relationship Type="http://schemas.openxmlformats.org/officeDocument/2006/relationships/notesMaster" Target="/ppt/notesMasters/notesMaster1.xml" Id="R61304d36d3144a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0bab4b78904b90" /><Relationship Type="http://schemas.openxmlformats.org/officeDocument/2006/relationships/notesMaster" Target="/ppt/notesMasters/notesMaster1.xml" Id="R6edf2f5c922a40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4584cd761443c1" /><Relationship Type="http://schemas.openxmlformats.org/officeDocument/2006/relationships/notesMaster" Target="/ppt/notesMasters/notesMaster1.xml" Id="R32ce93a985a94f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e8eb2b2e524f6f" /><Relationship Type="http://schemas.openxmlformats.org/officeDocument/2006/relationships/notesMaster" Target="/ppt/notesMasters/notesMaster1.xml" Id="Rb7127c4198984c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c5ed86fb814620" /><Relationship Type="http://schemas.openxmlformats.org/officeDocument/2006/relationships/notesMaster" Target="/ppt/notesMasters/notesMaster1.xml" Id="R84a21fa8a88b4c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27936f76da4472" /><Relationship Type="http://schemas.openxmlformats.org/officeDocument/2006/relationships/notesMaster" Target="/ppt/notesMasters/notesMaster1.xml" Id="R75453d9d656847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8a1e1109de41d7" /><Relationship Type="http://schemas.openxmlformats.org/officeDocument/2006/relationships/notesMaster" Target="/ppt/notesMasters/notesMaster1.xml" Id="R6ba47d609eec43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2082f9487e4d20" /><Relationship Type="http://schemas.openxmlformats.org/officeDocument/2006/relationships/notesMaster" Target="/ppt/notesMasters/notesMaster1.xml" Id="R7ac5c46f941842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e2d7f8f44d4e65" /><Relationship Type="http://schemas.openxmlformats.org/officeDocument/2006/relationships/notesMaster" Target="/ppt/notesMasters/notesMaster1.xml" Id="R1d31497e805748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1a4075fb354936" /><Relationship Type="http://schemas.openxmlformats.org/officeDocument/2006/relationships/notesMaster" Target="/ppt/notesMasters/notesMaster1.xml" Id="Rd50cc04b8d1443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67bc3f82025482a" /><Relationship Type="http://schemas.openxmlformats.org/officeDocument/2006/relationships/notesMaster" Target="/ppt/notesMasters/notesMaster1.xml" Id="R54197d28222d480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f69fdcd146e40c1" /><Relationship Type="http://schemas.openxmlformats.org/officeDocument/2006/relationships/notesMaster" Target="/ppt/notesMasters/notesMaster1.xml" Id="R5d4b8a7f9253424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f7ab986f2094d7e" /><Relationship Type="http://schemas.openxmlformats.org/officeDocument/2006/relationships/notesMaster" Target="/ppt/notesMasters/notesMaster1.xml" Id="Rb58c3e9fa6e04d7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04d45d581d94ffd" /><Relationship Type="http://schemas.openxmlformats.org/officeDocument/2006/relationships/notesMaster" Target="/ppt/notesMasters/notesMaster1.xml" Id="Rd620ea21b90d440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29af96fd93a4d94" /><Relationship Type="http://schemas.openxmlformats.org/officeDocument/2006/relationships/notesMaster" Target="/ppt/notesMasters/notesMaster1.xml" Id="R5e3f420428e64ad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b519e3e014c4f3b" /><Relationship Type="http://schemas.openxmlformats.org/officeDocument/2006/relationships/notesMaster" Target="/ppt/notesMasters/notesMaster1.xml" Id="Rcb64c511c67d414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def5fa1d42549e8" /><Relationship Type="http://schemas.openxmlformats.org/officeDocument/2006/relationships/notesMaster" Target="/ppt/notesMasters/notesMaster1.xml" Id="Re71d7155380f4d5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f405191b0b74676" /><Relationship Type="http://schemas.openxmlformats.org/officeDocument/2006/relationships/notesMaster" Target="/ppt/notesMasters/notesMaster1.xml" Id="Rea57cd92885c41b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91cce4ddbf44911" /><Relationship Type="http://schemas.openxmlformats.org/officeDocument/2006/relationships/notesMaster" Target="/ppt/notesMasters/notesMaster1.xml" Id="Raf3322b3ff8f43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[2]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[3] U.S. Food and Drug Administration, Added Sugars on the Nutrition Facts Label: https://www.fda.gov/food/nutrition-facts-label/added-sugars-nutrition-facts-label</a:t>
            </a:r>
          </a:p>
          <a:p xmlns:a="http://schemas.openxmlformats.org/drawingml/2006/main">
            <a:r>
              <a:t>- [4] Centers for Disease Control and Prevention, Counting Carbohydrates: https://www.cdc.gov/diabetes/healthy-eating/carb-counting.html</a:t>
            </a:r>
          </a:p>
          <a:p xmlns:a="http://schemas.openxmlformats.org/drawingml/2006/main">
            <a:r>
              <a:t>- [5] American Diabetes Association, What is the Diabetes Plate?: https://diabetesfoodhub.org/blog/what-diabetes-plate</a:t>
            </a:r>
          </a:p>
          <a:p xmlns:a="http://schemas.openxmlformats.org/drawingml/2006/main">
            <a:r>
              <a:t>- [6] U.S. Department of Agriculture, MyPlate: Fruits and Vegetables: https://www.myplate.gov/eat-healthy/fruits</a:t>
            </a:r>
          </a:p>
          <a:p xmlns:a="http://schemas.openxmlformats.org/drawingml/2006/main">
            <a:r>
              <a:t>- [7] U.S. Department of Agriculture, MyPlate: Dairy: https://www.myplate.gov/eat-healthy/dairy</a:t>
            </a:r>
          </a:p>
          <a:p xmlns:a="http://schemas.openxmlformats.org/drawingml/2006/main">
            <a:r>
              <a:t>- [8] U.S. Department of Agriculture, MyPlate: Protein Foods: https://www.myplate.gov/eat-healthy/protein-foods</a:t>
            </a:r>
          </a:p>
          <a:p xmlns:a="http://schemas.openxmlformats.org/drawingml/2006/main">
            <a:r>
              <a:t>- [9] U.S. Food and Drug Administration, Sodium in Your Diet: https://www.fda.gov/food/nutrition-education-resources-materials/sodium-your-diet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[2]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[3] U.S. Food and Drug Administration, Added Sugars on the Nutrition Facts Label: https://www.fda.gov/food/nutrition-facts-label/added-sugars-nutrition-facts-label</a:t>
            </a:r>
          </a:p>
          <a:p xmlns:a="http://schemas.openxmlformats.org/drawingml/2006/main">
            <a:r>
              <a:t>- [4] Centers for Disease Control and Prevention, Counting Carbohydrates: https://www.cdc.gov/diabetes/healthy-eating/carb-counting.html</a:t>
            </a:r>
          </a:p>
          <a:p xmlns:a="http://schemas.openxmlformats.org/drawingml/2006/main">
            <a:r>
              <a:t>- [5] American Diabetes Association, What is the Diabetes Plate?: https://diabetesfoodhub.org/blog/what-diabetes-plate</a:t>
            </a:r>
          </a:p>
          <a:p xmlns:a="http://schemas.openxmlformats.org/drawingml/2006/main">
            <a:r>
              <a:t>- [6] U.S. Department of Agriculture, MyPlate: Fruits and Vegetables: https://www.myplate.gov/eat-healthy/fruits</a:t>
            </a:r>
          </a:p>
          <a:p xmlns:a="http://schemas.openxmlformats.org/drawingml/2006/main">
            <a:r>
              <a:t>- [7] U.S. Department of Agriculture, MyPlate: Dairy: https://www.myplate.gov/eat-healthy/dairy</a:t>
            </a:r>
          </a:p>
          <a:p xmlns:a="http://schemas.openxmlformats.org/drawingml/2006/main">
            <a:r>
              <a:t>- [8] U.S. Department of Agriculture, MyPlate: Protein Foods: https://www.myplate.gov/eat-healthy/protein-foods</a:t>
            </a:r>
          </a:p>
          <a:p xmlns:a="http://schemas.openxmlformats.org/drawingml/2006/main">
            <a:r>
              <a:t>- [9] U.S. Food and Drug Administration, Sodium in Your Diet: https://www.fda.gov/food/nutrition-education-resources-materials/sodium-your-diet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[2]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[3] U.S. Food and Drug Administration, Added Sugars on the Nutrition Facts Label: https://www.fda.gov/food/nutrition-facts-label/added-sugars-nutrition-facts-label</a:t>
            </a:r>
          </a:p>
          <a:p xmlns:a="http://schemas.openxmlformats.org/drawingml/2006/main">
            <a:r>
              <a:t>- [4] Centers for Disease Control and Prevention, Counting Carbohydrates: https://www.cdc.gov/diabetes/healthy-eating/carb-counting.html</a:t>
            </a:r>
          </a:p>
          <a:p xmlns:a="http://schemas.openxmlformats.org/drawingml/2006/main">
            <a:r>
              <a:t>- [5] American Diabetes Association, What is the Diabetes Plate?: https://diabetesfoodhub.org/blog/what-diabetes-plate</a:t>
            </a:r>
          </a:p>
          <a:p xmlns:a="http://schemas.openxmlformats.org/drawingml/2006/main">
            <a:r>
              <a:t>- [6] U.S. Department of Agriculture, MyPlate: Fruits and Vegetables: https://www.myplate.gov/eat-healthy/fruits</a:t>
            </a:r>
          </a:p>
          <a:p xmlns:a="http://schemas.openxmlformats.org/drawingml/2006/main">
            <a:r>
              <a:t>- [7] U.S. Department of Agriculture, MyPlate: Dairy: https://www.myplate.gov/eat-healthy/dairy</a:t>
            </a:r>
          </a:p>
          <a:p xmlns:a="http://schemas.openxmlformats.org/drawingml/2006/main">
            <a:r>
              <a:t>- [8] U.S. Department of Agriculture, MyPlate: Protein Foods: https://www.myplate.gov/eat-healthy/protein-foods</a:t>
            </a:r>
          </a:p>
          <a:p xmlns:a="http://schemas.openxmlformats.org/drawingml/2006/main">
            <a:r>
              <a:t>- [9] U.S. Food and Drug Administration, Sodium in Your Diet: https://www.fda.gov/food/nutrition-education-resources-materials/sodium-your-diet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[2]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[3] U.S. Food and Drug Administration, Added Sugars on the Nutrition Facts Label: https://www.fda.gov/food/nutrition-facts-label/added-sugars-nutrition-facts-label</a:t>
            </a:r>
          </a:p>
          <a:p xmlns:a="http://schemas.openxmlformats.org/drawingml/2006/main">
            <a:r>
              <a:t>- [4] Centers for Disease Control and Prevention, Counting Carbohydrates: https://www.cdc.gov/diabetes/healthy-eating/carb-counting.html</a:t>
            </a:r>
          </a:p>
          <a:p xmlns:a="http://schemas.openxmlformats.org/drawingml/2006/main">
            <a:r>
              <a:t>- [5] American Diabetes Association, What is the Diabetes Plate?: https://diabetesfoodhub.org/blog/what-diabetes-plate</a:t>
            </a:r>
          </a:p>
          <a:p xmlns:a="http://schemas.openxmlformats.org/drawingml/2006/main">
            <a:r>
              <a:t>- [6] U.S. Department of Agriculture, MyPlate: Fruits and Vegetables: https://www.myplate.gov/eat-healthy/fruits</a:t>
            </a:r>
          </a:p>
          <a:p xmlns:a="http://schemas.openxmlformats.org/drawingml/2006/main">
            <a:r>
              <a:t>- [7] U.S. Department of Agriculture, MyPlate: Dairy: https://www.myplate.gov/eat-healthy/dairy</a:t>
            </a:r>
          </a:p>
          <a:p xmlns:a="http://schemas.openxmlformats.org/drawingml/2006/main">
            <a:r>
              <a:t>- [8] U.S. Department of Agriculture, MyPlate: Protein Foods: https://www.myplate.gov/eat-healthy/protein-foods</a:t>
            </a:r>
          </a:p>
          <a:p xmlns:a="http://schemas.openxmlformats.org/drawingml/2006/main">
            <a:r>
              <a:t>- [9] U.S. Food and Drug Administration, Sodium in Your Diet: https://www.fda.gov/food/nutrition-education-resources-materials/sodium-your-diet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[2]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[3] U.S. Food and Drug Administration, Added Sugars on the Nutrition Facts Label: https://www.fda.gov/food/nutrition-facts-label/added-sugars-nutrition-facts-label</a:t>
            </a:r>
          </a:p>
          <a:p xmlns:a="http://schemas.openxmlformats.org/drawingml/2006/main">
            <a:r>
              <a:t>- [4] Centers for Disease Control and Prevention, Counting Carbohydrates: https://www.cdc.gov/diabetes/healthy-eating/carb-counting.html</a:t>
            </a:r>
          </a:p>
          <a:p xmlns:a="http://schemas.openxmlformats.org/drawingml/2006/main">
            <a:r>
              <a:t>- [5] American Diabetes Association, What is the Diabetes Plate?: https://diabetesfoodhub.org/blog/what-diabetes-plate</a:t>
            </a:r>
          </a:p>
          <a:p xmlns:a="http://schemas.openxmlformats.org/drawingml/2006/main">
            <a:r>
              <a:t>- [6] U.S. Department of Agriculture, MyPlate: Fruits and Vegetables: https://www.myplate.gov/eat-healthy/fruits</a:t>
            </a:r>
          </a:p>
          <a:p xmlns:a="http://schemas.openxmlformats.org/drawingml/2006/main">
            <a:r>
              <a:t>- [7] U.S. Department of Agriculture, MyPlate: Dairy: https://www.myplate.gov/eat-healthy/dairy</a:t>
            </a:r>
          </a:p>
          <a:p xmlns:a="http://schemas.openxmlformats.org/drawingml/2006/main">
            <a:r>
              <a:t>- [8] U.S. Department of Agriculture, MyPlate: Protein Foods: https://www.myplate.gov/eat-healthy/protein-foods</a:t>
            </a:r>
          </a:p>
          <a:p xmlns:a="http://schemas.openxmlformats.org/drawingml/2006/main">
            <a:r>
              <a:t>- [9] U.S. Food and Drug Administration, Sodium in Your Diet: https://www.fda.gov/food/nutrition-education-resources-materials/sodium-your-diet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[2]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[3] U.S. Food and Drug Administration, Added Sugars on the Nutrition Facts Label: https://www.fda.gov/food/nutrition-facts-label/added-sugars-nutrition-facts-label</a:t>
            </a:r>
          </a:p>
          <a:p xmlns:a="http://schemas.openxmlformats.org/drawingml/2006/main">
            <a:r>
              <a:t>- [4] Centers for Disease Control and Prevention, Counting Carbohydrates: https://www.cdc.gov/diabetes/healthy-eating/carb-counting.html</a:t>
            </a:r>
          </a:p>
          <a:p xmlns:a="http://schemas.openxmlformats.org/drawingml/2006/main">
            <a:r>
              <a:t>- [5] American Diabetes Association, What is the Diabetes Plate?: https://diabetesfoodhub.org/blog/what-diabetes-plate</a:t>
            </a:r>
          </a:p>
          <a:p xmlns:a="http://schemas.openxmlformats.org/drawingml/2006/main">
            <a:r>
              <a:t>- [6] U.S. Department of Agriculture, MyPlate: Fruits and Vegetables: https://www.myplate.gov/eat-healthy/fruits</a:t>
            </a:r>
          </a:p>
          <a:p xmlns:a="http://schemas.openxmlformats.org/drawingml/2006/main">
            <a:r>
              <a:t>- [7] U.S. Department of Agriculture, MyPlate: Dairy: https://www.myplate.gov/eat-healthy/dairy</a:t>
            </a:r>
          </a:p>
          <a:p xmlns:a="http://schemas.openxmlformats.org/drawingml/2006/main">
            <a:r>
              <a:t>- [8] U.S. Department of Agriculture, MyPlate: Protein Foods: https://www.myplate.gov/eat-healthy/protein-foods</a:t>
            </a:r>
          </a:p>
          <a:p xmlns:a="http://schemas.openxmlformats.org/drawingml/2006/main">
            <a:r>
              <a:t>- [9] U.S. Food and Drug Administration, Sodium in Your Diet: https://www.fda.gov/food/nutrition-education-resources-materials/sodium-your-diet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[2]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[3] U.S. Food and Drug Administration, Added Sugars on the Nutrition Facts Label: https://www.fda.gov/food/nutrition-facts-label/added-sugars-nutrition-facts-label</a:t>
            </a:r>
          </a:p>
          <a:p xmlns:a="http://schemas.openxmlformats.org/drawingml/2006/main">
            <a:r>
              <a:t>- [4] Centers for Disease Control and Prevention, Counting Carbohydrates: https://www.cdc.gov/diabetes/healthy-eating/carb-counting.html</a:t>
            </a:r>
          </a:p>
          <a:p xmlns:a="http://schemas.openxmlformats.org/drawingml/2006/main">
            <a:r>
              <a:t>- [5] American Diabetes Association, What is the Diabetes Plate?: https://diabetesfoodhub.org/blog/what-diabetes-plate</a:t>
            </a:r>
          </a:p>
          <a:p xmlns:a="http://schemas.openxmlformats.org/drawingml/2006/main">
            <a:r>
              <a:t>- [6] U.S. Department of Agriculture, MyPlate: Fruits and Vegetables: https://www.myplate.gov/eat-healthy/fruits</a:t>
            </a:r>
          </a:p>
          <a:p xmlns:a="http://schemas.openxmlformats.org/drawingml/2006/main">
            <a:r>
              <a:t>- [7] U.S. Department of Agriculture, MyPlate: Dairy: https://www.myplate.gov/eat-healthy/dairy</a:t>
            </a:r>
          </a:p>
          <a:p xmlns:a="http://schemas.openxmlformats.org/drawingml/2006/main">
            <a:r>
              <a:t>- [8] U.S. Department of Agriculture, MyPlate: Protein Foods: https://www.myplate.gov/eat-healthy/protein-foods</a:t>
            </a:r>
          </a:p>
          <a:p xmlns:a="http://schemas.openxmlformats.org/drawingml/2006/main">
            <a:r>
              <a:t>- [9] U.S. Food and Drug Administration, Sodium in Your Diet: https://www.fda.gov/food/nutrition-education-resources-materials/sodium-your-diet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[2]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[3] U.S. Food and Drug Administration, Added Sugars on the Nutrition Facts Label: https://www.fda.gov/food/nutrition-facts-label/added-sugars-nutrition-facts-label</a:t>
            </a:r>
          </a:p>
          <a:p xmlns:a="http://schemas.openxmlformats.org/drawingml/2006/main">
            <a:r>
              <a:t>- [4] Centers for Disease Control and Prevention, Counting Carbohydrates: https://www.cdc.gov/diabetes/healthy-eating/carb-counting.html</a:t>
            </a:r>
          </a:p>
          <a:p xmlns:a="http://schemas.openxmlformats.org/drawingml/2006/main">
            <a:r>
              <a:t>- [5] American Diabetes Association, What is the Diabetes Plate?: https://diabetesfoodhub.org/blog/what-diabetes-plate</a:t>
            </a:r>
          </a:p>
          <a:p xmlns:a="http://schemas.openxmlformats.org/drawingml/2006/main">
            <a:r>
              <a:t>- [6] U.S. Department of Agriculture, MyPlate: Fruits and Vegetables: https://www.myplate.gov/eat-healthy/fruits</a:t>
            </a:r>
          </a:p>
          <a:p xmlns:a="http://schemas.openxmlformats.org/drawingml/2006/main">
            <a:r>
              <a:t>- [7] U.S. Department of Agriculture, MyPlate: Dairy: https://www.myplate.gov/eat-healthy/dairy</a:t>
            </a:r>
          </a:p>
          <a:p xmlns:a="http://schemas.openxmlformats.org/drawingml/2006/main">
            <a:r>
              <a:t>- [8] U.S. Department of Agriculture, MyPlate: Protein Foods: https://www.myplate.gov/eat-healthy/protein-foods</a:t>
            </a:r>
          </a:p>
          <a:p xmlns:a="http://schemas.openxmlformats.org/drawingml/2006/main">
            <a:r>
              <a:t>- [9] U.S. Food and Drug Administration, Sodium in Your Diet: https://www.fda.gov/food/nutrition-education-resources-materials/sodium-your-diet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[2]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[3] U.S. Food and Drug Administration, Added Sugars on the Nutrition Facts Label: https://www.fda.gov/food/nutrition-facts-label/added-sugars-nutrition-facts-label</a:t>
            </a:r>
          </a:p>
          <a:p xmlns:a="http://schemas.openxmlformats.org/drawingml/2006/main">
            <a:r>
              <a:t>- [4] Centers for Disease Control and Prevention, Counting Carbohydrates: https://www.cdc.gov/diabetes/healthy-eating/carb-counting.html</a:t>
            </a:r>
          </a:p>
          <a:p xmlns:a="http://schemas.openxmlformats.org/drawingml/2006/main">
            <a:r>
              <a:t>- [5] American Diabetes Association, What is the Diabetes Plate?: https://diabetesfoodhub.org/blog/what-diabetes-plate</a:t>
            </a:r>
          </a:p>
          <a:p xmlns:a="http://schemas.openxmlformats.org/drawingml/2006/main">
            <a:r>
              <a:t>- [6] U.S. Department of Agriculture, MyPlate: Fruits and Vegetables: https://www.myplate.gov/eat-healthy/fruits</a:t>
            </a:r>
          </a:p>
          <a:p xmlns:a="http://schemas.openxmlformats.org/drawingml/2006/main">
            <a:r>
              <a:t>- [7] U.S. Department of Agriculture, MyPlate: Dairy: https://www.myplate.gov/eat-healthy/dairy</a:t>
            </a:r>
          </a:p>
          <a:p xmlns:a="http://schemas.openxmlformats.org/drawingml/2006/main">
            <a:r>
              <a:t>- [8] U.S. Department of Agriculture, MyPlate: Protein Foods: https://www.myplate.gov/eat-healthy/protein-foods</a:t>
            </a:r>
          </a:p>
          <a:p xmlns:a="http://schemas.openxmlformats.org/drawingml/2006/main">
            <a:r>
              <a:t>- [9] U.S. Food and Drug Administration, Sodium in Your Diet: https://www.fda.gov/food/nutrition-education-resources-materials/sodium-your-diet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[2]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[3] U.S. Food and Drug Administration, Added Sugars on the Nutrition Facts Label: https://www.fda.gov/food/nutrition-facts-label/added-sugars-nutrition-facts-label</a:t>
            </a:r>
          </a:p>
          <a:p xmlns:a="http://schemas.openxmlformats.org/drawingml/2006/main">
            <a:r>
              <a:t>- [4] Centers for Disease Control and Prevention, Counting Carbohydrates: https://www.cdc.gov/diabetes/healthy-eating/carb-counting.html</a:t>
            </a:r>
          </a:p>
          <a:p xmlns:a="http://schemas.openxmlformats.org/drawingml/2006/main">
            <a:r>
              <a:t>- [5] American Diabetes Association, What is the Diabetes Plate?: https://diabetesfoodhub.org/blog/what-diabetes-plate</a:t>
            </a:r>
          </a:p>
          <a:p xmlns:a="http://schemas.openxmlformats.org/drawingml/2006/main">
            <a:r>
              <a:t>- [6] U.S. Department of Agriculture, MyPlate: Fruits and Vegetables: https://www.myplate.gov/eat-healthy/fruits</a:t>
            </a:r>
          </a:p>
          <a:p xmlns:a="http://schemas.openxmlformats.org/drawingml/2006/main">
            <a:r>
              <a:t>- [7] U.S. Department of Agriculture, MyPlate: Dairy: https://www.myplate.gov/eat-healthy/dairy</a:t>
            </a:r>
          </a:p>
          <a:p xmlns:a="http://schemas.openxmlformats.org/drawingml/2006/main">
            <a:r>
              <a:t>- [8] U.S. Department of Agriculture, MyPlate: Protein Foods: https://www.myplate.gov/eat-healthy/protein-foods</a:t>
            </a:r>
          </a:p>
          <a:p xmlns:a="http://schemas.openxmlformats.org/drawingml/2006/main">
            <a:r>
              <a:t>- [9] U.S. Food and Drug Administration, Sodium in Your Diet: https://www.fda.gov/food/nutrition-education-resources-materials/sodium-your-diet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[2]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[3] U.S. Food and Drug Administration, Added Sugars on the Nutrition Facts Label: https://www.fda.gov/food/nutrition-facts-label/added-sugars-nutrition-facts-label</a:t>
            </a:r>
          </a:p>
          <a:p xmlns:a="http://schemas.openxmlformats.org/drawingml/2006/main">
            <a:r>
              <a:t>- [4] Centers for Disease Control and Prevention, Counting Carbohydrates: https://www.cdc.gov/diabetes/healthy-eating/carb-counting.html</a:t>
            </a:r>
          </a:p>
          <a:p xmlns:a="http://schemas.openxmlformats.org/drawingml/2006/main">
            <a:r>
              <a:t>- [5] American Diabetes Association, What is the Diabetes Plate?: https://diabetesfoodhub.org/blog/what-diabetes-plate</a:t>
            </a:r>
          </a:p>
          <a:p xmlns:a="http://schemas.openxmlformats.org/drawingml/2006/main">
            <a:r>
              <a:t>- [6] U.S. Department of Agriculture, MyPlate: Fruits and Vegetables: https://www.myplate.gov/eat-healthy/fruits</a:t>
            </a:r>
          </a:p>
          <a:p xmlns:a="http://schemas.openxmlformats.org/drawingml/2006/main">
            <a:r>
              <a:t>- [7] U.S. Department of Agriculture, MyPlate: Dairy: https://www.myplate.gov/eat-healthy/dairy</a:t>
            </a:r>
          </a:p>
          <a:p xmlns:a="http://schemas.openxmlformats.org/drawingml/2006/main">
            <a:r>
              <a:t>- [8] U.S. Department of Agriculture, MyPlate: Protein Foods: https://www.myplate.gov/eat-healthy/protein-foods</a:t>
            </a:r>
          </a:p>
          <a:p xmlns:a="http://schemas.openxmlformats.org/drawingml/2006/main">
            <a:r>
              <a:t>- [9] U.S. Food and Drug Administration, Sodium in Your Diet: https://www.fda.gov/food/nutrition-education-resources-materials/sodium-your-diet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[2]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[3] U.S. Food and Drug Administration, Added Sugars on the Nutrition Facts Label: https://www.fda.gov/food/nutrition-facts-label/added-sugars-nutrition-facts-label</a:t>
            </a:r>
          </a:p>
          <a:p xmlns:a="http://schemas.openxmlformats.org/drawingml/2006/main">
            <a:r>
              <a:t>- [4] Centers for Disease Control and Prevention, Counting Carbohydrates: https://www.cdc.gov/diabetes/healthy-eating/carb-counting.html</a:t>
            </a:r>
          </a:p>
          <a:p xmlns:a="http://schemas.openxmlformats.org/drawingml/2006/main">
            <a:r>
              <a:t>- [5] American Diabetes Association, What is the Diabetes Plate?: https://diabetesfoodhub.org/blog/what-diabetes-plate</a:t>
            </a:r>
          </a:p>
          <a:p xmlns:a="http://schemas.openxmlformats.org/drawingml/2006/main">
            <a:r>
              <a:t>- [6] U.S. Department of Agriculture, MyPlate: Fruits and Vegetables: https://www.myplate.gov/eat-healthy/fruits</a:t>
            </a:r>
          </a:p>
          <a:p xmlns:a="http://schemas.openxmlformats.org/drawingml/2006/main">
            <a:r>
              <a:t>- [7] U.S. Department of Agriculture, MyPlate: Dairy: https://www.myplate.gov/eat-healthy/dairy</a:t>
            </a:r>
          </a:p>
          <a:p xmlns:a="http://schemas.openxmlformats.org/drawingml/2006/main">
            <a:r>
              <a:t>- [8] U.S. Department of Agriculture, MyPlate: Protein Foods: https://www.myplate.gov/eat-healthy/protein-foods</a:t>
            </a:r>
          </a:p>
          <a:p xmlns:a="http://schemas.openxmlformats.org/drawingml/2006/main">
            <a:r>
              <a:t>- [9] U.S. Food and Drug Administration, Sodium in Your Diet: https://www.fda.gov/food/nutrition-education-resources-materials/sodium-your-diet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[2]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[3] U.S. Food and Drug Administration, Added Sugars on the Nutrition Facts Label: https://www.fda.gov/food/nutrition-facts-label/added-sugars-nutrition-facts-label</a:t>
            </a:r>
          </a:p>
          <a:p xmlns:a="http://schemas.openxmlformats.org/drawingml/2006/main">
            <a:r>
              <a:t>- [4] Centers for Disease Control and Prevention, Counting Carbohydrates: https://www.cdc.gov/diabetes/healthy-eating/carb-counting.html</a:t>
            </a:r>
          </a:p>
          <a:p xmlns:a="http://schemas.openxmlformats.org/drawingml/2006/main">
            <a:r>
              <a:t>- [5] American Diabetes Association, What is the Diabetes Plate?: https://diabetesfoodhub.org/blog/what-diabetes-plate</a:t>
            </a:r>
          </a:p>
          <a:p xmlns:a="http://schemas.openxmlformats.org/drawingml/2006/main">
            <a:r>
              <a:t>- [6] U.S. Department of Agriculture, MyPlate: Fruits and Vegetables: https://www.myplate.gov/eat-healthy/fruits</a:t>
            </a:r>
          </a:p>
          <a:p xmlns:a="http://schemas.openxmlformats.org/drawingml/2006/main">
            <a:r>
              <a:t>- [7] U.S. Department of Agriculture, MyPlate: Dairy: https://www.myplate.gov/eat-healthy/dairy</a:t>
            </a:r>
          </a:p>
          <a:p xmlns:a="http://schemas.openxmlformats.org/drawingml/2006/main">
            <a:r>
              <a:t>- [8] U.S. Department of Agriculture, MyPlate: Protein Foods: https://www.myplate.gov/eat-healthy/protein-foods</a:t>
            </a:r>
          </a:p>
          <a:p xmlns:a="http://schemas.openxmlformats.org/drawingml/2006/main">
            <a:r>
              <a:t>- [9] U.S. Food and Drug Administration, Sodium in Your Diet: https://www.fda.gov/food/nutrition-education-resources-materials/sodium-your-diet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[2]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[3] U.S. Food and Drug Administration, Added Sugars on the Nutrition Facts Label: https://www.fda.gov/food/nutrition-facts-label/added-sugars-nutrition-facts-label</a:t>
            </a:r>
          </a:p>
          <a:p xmlns:a="http://schemas.openxmlformats.org/drawingml/2006/main">
            <a:r>
              <a:t>- [4] Centers for Disease Control and Prevention, Counting Carbohydrates: https://www.cdc.gov/diabetes/healthy-eating/carb-counting.html</a:t>
            </a:r>
          </a:p>
          <a:p xmlns:a="http://schemas.openxmlformats.org/drawingml/2006/main">
            <a:r>
              <a:t>- [5] American Diabetes Association, What is the Diabetes Plate?: https://diabetesfoodhub.org/blog/what-diabetes-plate</a:t>
            </a:r>
          </a:p>
          <a:p xmlns:a="http://schemas.openxmlformats.org/drawingml/2006/main">
            <a:r>
              <a:t>- [6] U.S. Department of Agriculture, MyPlate: Fruits and Vegetables: https://www.myplate.gov/eat-healthy/fruits</a:t>
            </a:r>
          </a:p>
          <a:p xmlns:a="http://schemas.openxmlformats.org/drawingml/2006/main">
            <a:r>
              <a:t>- [7] U.S. Department of Agriculture, MyPlate: Dairy: https://www.myplate.gov/eat-healthy/dairy</a:t>
            </a:r>
          </a:p>
          <a:p xmlns:a="http://schemas.openxmlformats.org/drawingml/2006/main">
            <a:r>
              <a:t>- [8] U.S. Department of Agriculture, MyPlate: Protein Foods: https://www.myplate.gov/eat-healthy/protein-foods</a:t>
            </a:r>
          </a:p>
          <a:p xmlns:a="http://schemas.openxmlformats.org/drawingml/2006/main">
            <a:r>
              <a:t>- [9] U.S. Food and Drug Administration, Sodium in Your Diet: https://www.fda.gov/food/nutrition-education-resources-materials/sodium-your-diet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[2]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[3] U.S. Food and Drug Administration, Added Sugars on the Nutrition Facts Label: https://www.fda.gov/food/nutrition-facts-label/added-sugars-nutrition-facts-label</a:t>
            </a:r>
          </a:p>
          <a:p xmlns:a="http://schemas.openxmlformats.org/drawingml/2006/main">
            <a:r>
              <a:t>- [4] Centers for Disease Control and Prevention, Counting Carbohydrates: https://www.cdc.gov/diabetes/healthy-eating/carb-counting.html</a:t>
            </a:r>
          </a:p>
          <a:p xmlns:a="http://schemas.openxmlformats.org/drawingml/2006/main">
            <a:r>
              <a:t>- [5] American Diabetes Association, What is the Diabetes Plate?: https://diabetesfoodhub.org/blog/what-diabetes-plate</a:t>
            </a:r>
          </a:p>
          <a:p xmlns:a="http://schemas.openxmlformats.org/drawingml/2006/main">
            <a:r>
              <a:t>- [6] U.S. Department of Agriculture, MyPlate: Fruits and Vegetables: https://www.myplate.gov/eat-healthy/fruits</a:t>
            </a:r>
          </a:p>
          <a:p xmlns:a="http://schemas.openxmlformats.org/drawingml/2006/main">
            <a:r>
              <a:t>- [7] U.S. Department of Agriculture, MyPlate: Dairy: https://www.myplate.gov/eat-healthy/dairy</a:t>
            </a:r>
          </a:p>
          <a:p xmlns:a="http://schemas.openxmlformats.org/drawingml/2006/main">
            <a:r>
              <a:t>- [8] U.S. Department of Agriculture, MyPlate: Protein Foods: https://www.myplate.gov/eat-healthy/protein-foods</a:t>
            </a:r>
          </a:p>
          <a:p xmlns:a="http://schemas.openxmlformats.org/drawingml/2006/main">
            <a:r>
              <a:t>- [9] U.S. Food and Drug Administration, Sodium in Your Diet: https://www.fda.gov/food/nutrition-education-resources-materials/sodium-your-diet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[2]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[3] U.S. Food and Drug Administration, Added Sugars on the Nutrition Facts Label: https://www.fda.gov/food/nutrition-facts-label/added-sugars-nutrition-facts-label</a:t>
            </a:r>
          </a:p>
          <a:p xmlns:a="http://schemas.openxmlformats.org/drawingml/2006/main">
            <a:r>
              <a:t>- [4] Centers for Disease Control and Prevention, Counting Carbohydrates: https://www.cdc.gov/diabetes/healthy-eating/carb-counting.html</a:t>
            </a:r>
          </a:p>
          <a:p xmlns:a="http://schemas.openxmlformats.org/drawingml/2006/main">
            <a:r>
              <a:t>- [5] American Diabetes Association, What is the Diabetes Plate?: https://diabetesfoodhub.org/blog/what-diabetes-plate</a:t>
            </a:r>
          </a:p>
          <a:p xmlns:a="http://schemas.openxmlformats.org/drawingml/2006/main">
            <a:r>
              <a:t>- [6] U.S. Department of Agriculture, MyPlate: Fruits and Vegetables: https://www.myplate.gov/eat-healthy/fruits</a:t>
            </a:r>
          </a:p>
          <a:p xmlns:a="http://schemas.openxmlformats.org/drawingml/2006/main">
            <a:r>
              <a:t>- [7] U.S. Department of Agriculture, MyPlate: Dairy: https://www.myplate.gov/eat-healthy/dairy</a:t>
            </a:r>
          </a:p>
          <a:p xmlns:a="http://schemas.openxmlformats.org/drawingml/2006/main">
            <a:r>
              <a:t>- [8] U.S. Department of Agriculture, MyPlate: Protein Foods: https://www.myplate.gov/eat-healthy/protein-foods</a:t>
            </a:r>
          </a:p>
          <a:p xmlns:a="http://schemas.openxmlformats.org/drawingml/2006/main">
            <a:r>
              <a:t>- [9] U.S. Food and Drug Administration, Sodium in Your Diet: https://www.fda.gov/food/nutrition-education-resources-materials/sodium-your-diet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[2]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[3] U.S. Food and Drug Administration, Added Sugars on the Nutrition Facts Label: https://www.fda.gov/food/nutrition-facts-label/added-sugars-nutrition-facts-label</a:t>
            </a:r>
          </a:p>
          <a:p xmlns:a="http://schemas.openxmlformats.org/drawingml/2006/main">
            <a:r>
              <a:t>- [4] Centers for Disease Control and Prevention, Counting Carbohydrates: https://www.cdc.gov/diabetes/healthy-eating/carb-counting.html</a:t>
            </a:r>
          </a:p>
          <a:p xmlns:a="http://schemas.openxmlformats.org/drawingml/2006/main">
            <a:r>
              <a:t>- [5] American Diabetes Association, What is the Diabetes Plate?: https://diabetesfoodhub.org/blog/what-diabetes-plate</a:t>
            </a:r>
          </a:p>
          <a:p xmlns:a="http://schemas.openxmlformats.org/drawingml/2006/main">
            <a:r>
              <a:t>- [6] U.S. Department of Agriculture, MyPlate: Fruits and Vegetables: https://www.myplate.gov/eat-healthy/fruits</a:t>
            </a:r>
          </a:p>
          <a:p xmlns:a="http://schemas.openxmlformats.org/drawingml/2006/main">
            <a:r>
              <a:t>- [7] U.S. Department of Agriculture, MyPlate: Dairy: https://www.myplate.gov/eat-healthy/dairy</a:t>
            </a:r>
          </a:p>
          <a:p xmlns:a="http://schemas.openxmlformats.org/drawingml/2006/main">
            <a:r>
              <a:t>- [8] U.S. Department of Agriculture, MyPlate: Protein Foods: https://www.myplate.gov/eat-healthy/protein-foods</a:t>
            </a:r>
          </a:p>
          <a:p xmlns:a="http://schemas.openxmlformats.org/drawingml/2006/main">
            <a:r>
              <a:t>- [9] U.S. Food and Drug Administration, Sodium in Your Diet: https://www.fda.gov/food/nutrition-education-resources-materials/sodium-your-diet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[2]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[3] U.S. Food and Drug Administration, Added Sugars on the Nutrition Facts Label: https://www.fda.gov/food/nutrition-facts-label/added-sugars-nutrition-facts-label</a:t>
            </a:r>
          </a:p>
          <a:p xmlns:a="http://schemas.openxmlformats.org/drawingml/2006/main">
            <a:r>
              <a:t>- [4] Centers for Disease Control and Prevention, Counting Carbohydrates: https://www.cdc.gov/diabetes/healthy-eating/carb-counting.html</a:t>
            </a:r>
          </a:p>
          <a:p xmlns:a="http://schemas.openxmlformats.org/drawingml/2006/main">
            <a:r>
              <a:t>- [5] American Diabetes Association, What is the Diabetes Plate?: https://diabetesfoodhub.org/blog/what-diabetes-plate</a:t>
            </a:r>
          </a:p>
          <a:p xmlns:a="http://schemas.openxmlformats.org/drawingml/2006/main">
            <a:r>
              <a:t>- [6] U.S. Department of Agriculture, MyPlate: Fruits and Vegetables: https://www.myplate.gov/eat-healthy/fruits</a:t>
            </a:r>
          </a:p>
          <a:p xmlns:a="http://schemas.openxmlformats.org/drawingml/2006/main">
            <a:r>
              <a:t>- [7] U.S. Department of Agriculture, MyPlate: Dairy: https://www.myplate.gov/eat-healthy/dairy</a:t>
            </a:r>
          </a:p>
          <a:p xmlns:a="http://schemas.openxmlformats.org/drawingml/2006/main">
            <a:r>
              <a:t>- [8] U.S. Department of Agriculture, MyPlate: Protein Foods: https://www.myplate.gov/eat-healthy/protein-foods</a:t>
            </a:r>
          </a:p>
          <a:p xmlns:a="http://schemas.openxmlformats.org/drawingml/2006/main">
            <a:r>
              <a:t>- [9] U.S. Food and Drug Administration, Sodium in Your Diet: https://www.fda.gov/food/nutrition-education-resources-materials/sodium-your-diet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[2]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[3] U.S. Food and Drug Administration, Added Sugars on the Nutrition Facts Label: https://www.fda.gov/food/nutrition-facts-label/added-sugars-nutrition-facts-label</a:t>
            </a:r>
          </a:p>
          <a:p xmlns:a="http://schemas.openxmlformats.org/drawingml/2006/main">
            <a:r>
              <a:t>- [4] Centers for Disease Control and Prevention, Counting Carbohydrates: https://www.cdc.gov/diabetes/healthy-eating/carb-counting.html</a:t>
            </a:r>
          </a:p>
          <a:p xmlns:a="http://schemas.openxmlformats.org/drawingml/2006/main">
            <a:r>
              <a:t>- [5] American Diabetes Association, What is the Diabetes Plate?: https://diabetesfoodhub.org/blog/what-diabetes-plate</a:t>
            </a:r>
          </a:p>
          <a:p xmlns:a="http://schemas.openxmlformats.org/drawingml/2006/main">
            <a:r>
              <a:t>- [6] U.S. Department of Agriculture, MyPlate: Fruits and Vegetables: https://www.myplate.gov/eat-healthy/fruits</a:t>
            </a:r>
          </a:p>
          <a:p xmlns:a="http://schemas.openxmlformats.org/drawingml/2006/main">
            <a:r>
              <a:t>- [7] U.S. Department of Agriculture, MyPlate: Dairy: https://www.myplate.gov/eat-healthy/dairy</a:t>
            </a:r>
          </a:p>
          <a:p xmlns:a="http://schemas.openxmlformats.org/drawingml/2006/main">
            <a:r>
              <a:t>- [8] U.S. Department of Agriculture, MyPlate: Protein Foods: https://www.myplate.gov/eat-healthy/protein-foods</a:t>
            </a:r>
          </a:p>
          <a:p xmlns:a="http://schemas.openxmlformats.org/drawingml/2006/main">
            <a:r>
              <a:t>- [9] U.S. Food and Drug Administration, Sodium in Your Diet: https://www.fda.gov/food/nutrition-education-resources-materials/sodium-your-diet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[2]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[3] U.S. Food and Drug Administration, Added Sugars on the Nutrition Facts Label: https://www.fda.gov/food/nutrition-facts-label/added-sugars-nutrition-facts-label</a:t>
            </a:r>
          </a:p>
          <a:p xmlns:a="http://schemas.openxmlformats.org/drawingml/2006/main">
            <a:r>
              <a:t>- [4] Centers for Disease Control and Prevention, Counting Carbohydrates: https://www.cdc.gov/diabetes/healthy-eating/carb-counting.html</a:t>
            </a:r>
          </a:p>
          <a:p xmlns:a="http://schemas.openxmlformats.org/drawingml/2006/main">
            <a:r>
              <a:t>- [5] American Diabetes Association, What is the Diabetes Plate?: https://diabetesfoodhub.org/blog/what-diabetes-plate</a:t>
            </a:r>
          </a:p>
          <a:p xmlns:a="http://schemas.openxmlformats.org/drawingml/2006/main">
            <a:r>
              <a:t>- [6] U.S. Department of Agriculture, MyPlate: Fruits and Vegetables: https://www.myplate.gov/eat-healthy/fruits</a:t>
            </a:r>
          </a:p>
          <a:p xmlns:a="http://schemas.openxmlformats.org/drawingml/2006/main">
            <a:r>
              <a:t>- [7] U.S. Department of Agriculture, MyPlate: Dairy: https://www.myplate.gov/eat-healthy/dairy</a:t>
            </a:r>
          </a:p>
          <a:p xmlns:a="http://schemas.openxmlformats.org/drawingml/2006/main">
            <a:r>
              <a:t>- [8] U.S. Department of Agriculture, MyPlate: Protein Foods: https://www.myplate.gov/eat-healthy/protein-foods</a:t>
            </a:r>
          </a:p>
          <a:p xmlns:a="http://schemas.openxmlformats.org/drawingml/2006/main">
            <a:r>
              <a:t>- [9] U.S. Food and Drug Administration, Sodium in Your Diet: https://www.fda.gov/food/nutrition-education-resources-materials/sodium-your-diet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[2]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[3] U.S. Food and Drug Administration, Added Sugars on the Nutrition Facts Label: https://www.fda.gov/food/nutrition-facts-label/added-sugars-nutrition-facts-label</a:t>
            </a:r>
          </a:p>
          <a:p xmlns:a="http://schemas.openxmlformats.org/drawingml/2006/main">
            <a:r>
              <a:t>- [4] Centers for Disease Control and Prevention, Counting Carbohydrates: https://www.cdc.gov/diabetes/healthy-eating/carb-counting.html</a:t>
            </a:r>
          </a:p>
          <a:p xmlns:a="http://schemas.openxmlformats.org/drawingml/2006/main">
            <a:r>
              <a:t>- [5] American Diabetes Association, What is the Diabetes Plate?: https://diabetesfoodhub.org/blog/what-diabetes-plate</a:t>
            </a:r>
          </a:p>
          <a:p xmlns:a="http://schemas.openxmlformats.org/drawingml/2006/main">
            <a:r>
              <a:t>- [6] U.S. Department of Agriculture, MyPlate: Fruits and Vegetables: https://www.myplate.gov/eat-healthy/fruits</a:t>
            </a:r>
          </a:p>
          <a:p xmlns:a="http://schemas.openxmlformats.org/drawingml/2006/main">
            <a:r>
              <a:t>- [7] U.S. Department of Agriculture, MyPlate: Dairy: https://www.myplate.gov/eat-healthy/dairy</a:t>
            </a:r>
          </a:p>
          <a:p xmlns:a="http://schemas.openxmlformats.org/drawingml/2006/main">
            <a:r>
              <a:t>- [8] U.S. Department of Agriculture, MyPlate: Protein Foods: https://www.myplate.gov/eat-healthy/protein-foods</a:t>
            </a:r>
          </a:p>
          <a:p xmlns:a="http://schemas.openxmlformats.org/drawingml/2006/main">
            <a:r>
              <a:t>- [9] U.S. Food and Drug Administration, Sodium in Your Diet: https://www.fda.gov/food/nutrition-education-resources-materials/sodium-your-diet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U.S. Food and Drug Administration, How to Understand and Use the Nutrition Facts Label: https://www.fda.gov/food/nutrition-facts-label/how-understand-and-use-nutrition-facts-label</a:t>
            </a:r>
          </a:p>
          <a:p xmlns:a="http://schemas.openxmlformats.org/drawingml/2006/main">
            <a:r>
              <a:t>- [2] U.S. Food and Drug Administration, Daily Value on the Nutrition and Supplement Facts Labels: https://www.fda.gov/food/nutrition-facts-label/daily-value-nutrition-and-supplement-facts-labels</a:t>
            </a:r>
          </a:p>
          <a:p xmlns:a="http://schemas.openxmlformats.org/drawingml/2006/main">
            <a:r>
              <a:t>- [3] U.S. Food and Drug Administration, Added Sugars on the Nutrition Facts Label: https://www.fda.gov/food/nutrition-facts-label/added-sugars-nutrition-facts-label</a:t>
            </a:r>
          </a:p>
          <a:p xmlns:a="http://schemas.openxmlformats.org/drawingml/2006/main">
            <a:r>
              <a:t>- [4] Centers for Disease Control and Prevention, Counting Carbohydrates: https://www.cdc.gov/diabetes/healthy-eating/carb-counting.html</a:t>
            </a:r>
          </a:p>
          <a:p xmlns:a="http://schemas.openxmlformats.org/drawingml/2006/main">
            <a:r>
              <a:t>- [5] American Diabetes Association, What is the Diabetes Plate?: https://diabetesfoodhub.org/blog/what-diabetes-plate</a:t>
            </a:r>
          </a:p>
          <a:p xmlns:a="http://schemas.openxmlformats.org/drawingml/2006/main">
            <a:r>
              <a:t>- [6] U.S. Department of Agriculture, MyPlate: Fruits and Vegetables: https://www.myplate.gov/eat-healthy/fruits</a:t>
            </a:r>
          </a:p>
          <a:p xmlns:a="http://schemas.openxmlformats.org/drawingml/2006/main">
            <a:r>
              <a:t>- [7] U.S. Department of Agriculture, MyPlate: Dairy: https://www.myplate.gov/eat-healthy/dairy</a:t>
            </a:r>
          </a:p>
          <a:p xmlns:a="http://schemas.openxmlformats.org/drawingml/2006/main">
            <a:r>
              <a:t>- [8] U.S. Department of Agriculture, MyPlate: Protein Foods: https://www.myplate.gov/eat-healthy/protein-foods</a:t>
            </a:r>
          </a:p>
          <a:p xmlns:a="http://schemas.openxmlformats.org/drawingml/2006/main">
            <a:r>
              <a:t>- [9] U.S. Food and Drug Administration, Sodium in Your Diet: https://www.fda.gov/food/nutrition-education-resources-materials/sodium-your-diet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4c72190aeb41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96ac2a8ee44765" /><Relationship Type="http://schemas.openxmlformats.org/officeDocument/2006/relationships/slideLayout" Target="/ppt/slideLayouts/slideLayout1.xml" Id="R030cc1a33ba048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0cc1a33ba048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59aa83cb043d8" /><Relationship Type="http://schemas.openxmlformats.org/officeDocument/2006/relationships/image" Target="/ppt/media/image.png" Id="R633cfbfd742b4e1e" /><Relationship Type="http://schemas.openxmlformats.org/officeDocument/2006/relationships/image" Target="/ppt/media/image.jpeg" Id="R1b2851f4d5304ec3" /><Relationship Type="http://schemas.openxmlformats.org/officeDocument/2006/relationships/hyperlink" Target="https://www.mindfuldiabetes.org/" TargetMode="External" Id="R325dacc202a24731" /><Relationship Type="http://schemas.openxmlformats.org/officeDocument/2006/relationships/notesSlide" Target="/ppt/notesSlides/notesSlide1.xml" Id="Rc80d11d919424d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cd986e27045a0" /><Relationship Type="http://schemas.openxmlformats.org/officeDocument/2006/relationships/image" Target="/ppt/media/image2.jpeg" Id="R646b673c9f0d42c2" /><Relationship Type="http://schemas.openxmlformats.org/officeDocument/2006/relationships/hyperlink" Target="https://www.mindfuldiabetes.org/" TargetMode="External" Id="R2f90d1356f3941e6" /><Relationship Type="http://schemas.openxmlformats.org/officeDocument/2006/relationships/image" Target="/ppt/media/image2.png" Id="Rce57eb6d3a374f7e" /><Relationship Type="http://schemas.openxmlformats.org/officeDocument/2006/relationships/notesSlide" Target="/ppt/notesSlides/notesSlide2.xml" Id="R2ed944cd5c7944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9c773fbcf4008" /><Relationship Type="http://schemas.openxmlformats.org/officeDocument/2006/relationships/image" Target="/ppt/media/image3.jpeg" Id="R38b2730fa25245b2" /><Relationship Type="http://schemas.openxmlformats.org/officeDocument/2006/relationships/hyperlink" Target="https://www.mindfuldiabetes.org/" TargetMode="External" Id="Re2f340c3c8334fc1" /><Relationship Type="http://schemas.openxmlformats.org/officeDocument/2006/relationships/image" Target="/ppt/media/image3.png" Id="R6ef9a57f2b9c4475" /><Relationship Type="http://schemas.openxmlformats.org/officeDocument/2006/relationships/notesSlide" Target="/ppt/notesSlides/notesSlide3.xml" Id="R2b75815f5d6447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249caa4da4211" /><Relationship Type="http://schemas.openxmlformats.org/officeDocument/2006/relationships/image" Target="/ppt/media/image4.jpeg" Id="Rc140e18433984095" /><Relationship Type="http://schemas.openxmlformats.org/officeDocument/2006/relationships/hyperlink" Target="https://www.mindfuldiabetes.org/" TargetMode="External" Id="R6ada6ed20b8a45c5" /><Relationship Type="http://schemas.openxmlformats.org/officeDocument/2006/relationships/notesSlide" Target="/ppt/notesSlides/notesSlide4.xml" Id="R0ca55afa16f84c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f3fd09fa440e3" /><Relationship Type="http://schemas.openxmlformats.org/officeDocument/2006/relationships/image" Target="/ppt/media/image5.jpeg" Id="R14adc49877a64aab" /><Relationship Type="http://schemas.openxmlformats.org/officeDocument/2006/relationships/hyperlink" Target="https://www.mindfuldiabetes.org/" TargetMode="External" Id="Re5707bca12dc4da0" /><Relationship Type="http://schemas.openxmlformats.org/officeDocument/2006/relationships/image" Target="/ppt/media/image4.png" Id="R4d13e0f403594d05" /><Relationship Type="http://schemas.openxmlformats.org/officeDocument/2006/relationships/notesSlide" Target="/ppt/notesSlides/notesSlide5.xml" Id="Rf95f65b1e15d49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57f9b46a546ca" /><Relationship Type="http://schemas.openxmlformats.org/officeDocument/2006/relationships/image" Target="/ppt/media/image6.jpeg" Id="R10fbba609cce446f" /><Relationship Type="http://schemas.openxmlformats.org/officeDocument/2006/relationships/hyperlink" Target="https://www.mindfuldiabetes.org/" TargetMode="External" Id="R9eb2fe72fb384782" /><Relationship Type="http://schemas.openxmlformats.org/officeDocument/2006/relationships/image" Target="/ppt/media/image5.png" Id="R687986493d434819" /><Relationship Type="http://schemas.openxmlformats.org/officeDocument/2006/relationships/notesSlide" Target="/ppt/notesSlides/notesSlide6.xml" Id="R8939074212914d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167075b9441c2" /><Relationship Type="http://schemas.openxmlformats.org/officeDocument/2006/relationships/image" Target="/ppt/media/image7.jpeg" Id="R18c95b3af84041d3" /><Relationship Type="http://schemas.openxmlformats.org/officeDocument/2006/relationships/hyperlink" Target="https://www.mindfuldiabetes.org/" TargetMode="External" Id="R7479ec9f2815478e" /><Relationship Type="http://schemas.openxmlformats.org/officeDocument/2006/relationships/notesSlide" Target="/ppt/notesSlides/notesSlide7.xml" Id="R587c132971bb49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002bdf7194101" /><Relationship Type="http://schemas.openxmlformats.org/officeDocument/2006/relationships/image" Target="/ppt/media/image8.jpeg" Id="R3c4d616271b84864" /><Relationship Type="http://schemas.openxmlformats.org/officeDocument/2006/relationships/hyperlink" Target="https://www.mindfuldiabetes.org/" TargetMode="External" Id="R305a4536b6c648a1" /><Relationship Type="http://schemas.openxmlformats.org/officeDocument/2006/relationships/notesSlide" Target="/ppt/notesSlides/notesSlide8.xml" Id="R95b21bd30bfa4c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5cb3b97a74ea1" /><Relationship Type="http://schemas.openxmlformats.org/officeDocument/2006/relationships/image" Target="/ppt/media/image9.jpeg" Id="Re509a2889d094dc7" /><Relationship Type="http://schemas.openxmlformats.org/officeDocument/2006/relationships/hyperlink" Target="https://www.mindfuldiabetes.org/" TargetMode="External" Id="R8b4e1842a1a34c04" /><Relationship Type="http://schemas.openxmlformats.org/officeDocument/2006/relationships/notesSlide" Target="/ppt/notesSlides/notesSlide9.xml" Id="R1d194ea3fd9547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b81e505864efa" /><Relationship Type="http://schemas.openxmlformats.org/officeDocument/2006/relationships/image" Target="/ppt/media/image10.jpeg" Id="R3bd3a0e93794495a" /><Relationship Type="http://schemas.openxmlformats.org/officeDocument/2006/relationships/hyperlink" Target="https://www.mindfuldiabetes.org/" TargetMode="External" Id="R9c23ebfcbbe04400" /><Relationship Type="http://schemas.openxmlformats.org/officeDocument/2006/relationships/notesSlide" Target="/ppt/notesSlides/notesSlide10.xml" Id="R743ecc43b58b48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e54903da24326" /><Relationship Type="http://schemas.openxmlformats.org/officeDocument/2006/relationships/image" Target="/ppt/media/image11.jpeg" Id="R9f7e0838b6354b2c" /><Relationship Type="http://schemas.openxmlformats.org/officeDocument/2006/relationships/hyperlink" Target="https://www.mindfuldiabetes.org/" TargetMode="External" Id="R6cc5965650f44c2f" /><Relationship Type="http://schemas.openxmlformats.org/officeDocument/2006/relationships/notesSlide" Target="/ppt/notesSlides/notesSlide11.xml" Id="R169096b4d49a4f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6d79aba2342e1" /><Relationship Type="http://schemas.openxmlformats.org/officeDocument/2006/relationships/image" Target="/ppt/media/image12.jpeg" Id="Raa3df75b5ff347d4" /><Relationship Type="http://schemas.openxmlformats.org/officeDocument/2006/relationships/hyperlink" Target="https://www.mindfuldiabetes.org/" TargetMode="External" Id="R9e35ec1c32a54d4c" /><Relationship Type="http://schemas.openxmlformats.org/officeDocument/2006/relationships/notesSlide" Target="/ppt/notesSlides/notesSlide12.xml" Id="R44eb6b4b21554a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2a35edaa944a3" /><Relationship Type="http://schemas.openxmlformats.org/officeDocument/2006/relationships/image" Target="/ppt/media/image13.jpeg" Id="Rbe6f62267bc84d44" /><Relationship Type="http://schemas.openxmlformats.org/officeDocument/2006/relationships/hyperlink" Target="https://www.mindfuldiabetes.org/" TargetMode="External" Id="R985598025c69400a" /><Relationship Type="http://schemas.openxmlformats.org/officeDocument/2006/relationships/notesSlide" Target="/ppt/notesSlides/notesSlide13.xml" Id="R06313928208b48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34fd2e64b4302" /><Relationship Type="http://schemas.openxmlformats.org/officeDocument/2006/relationships/image" Target="/ppt/media/image14.jpeg" Id="R89f2b33134b94de3" /><Relationship Type="http://schemas.openxmlformats.org/officeDocument/2006/relationships/hyperlink" Target="https://www.mindfuldiabetes.org/" TargetMode="External" Id="Rbc70563d02b64e9d" /><Relationship Type="http://schemas.openxmlformats.org/officeDocument/2006/relationships/notesSlide" Target="/ppt/notesSlides/notesSlide14.xml" Id="R4aa2501928e747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bd615a68948cb" /><Relationship Type="http://schemas.openxmlformats.org/officeDocument/2006/relationships/image" Target="/ppt/media/image15.jpeg" Id="Re9406eba721548d8" /><Relationship Type="http://schemas.openxmlformats.org/officeDocument/2006/relationships/hyperlink" Target="https://www.mindfuldiabetes.org/" TargetMode="External" Id="R2c86bafb0ee44190" /><Relationship Type="http://schemas.openxmlformats.org/officeDocument/2006/relationships/notesSlide" Target="/ppt/notesSlides/notesSlide15.xml" Id="R38611780fcf9488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0e5c9c7ec489b" /><Relationship Type="http://schemas.openxmlformats.org/officeDocument/2006/relationships/image" Target="/ppt/media/image16.jpeg" Id="Rf6becf6ff2ae4447" /><Relationship Type="http://schemas.openxmlformats.org/officeDocument/2006/relationships/hyperlink" Target="https://www.mindfuldiabetes.org/" TargetMode="External" Id="R9f68aa0b74b04c1d" /><Relationship Type="http://schemas.openxmlformats.org/officeDocument/2006/relationships/notesSlide" Target="/ppt/notesSlides/notesSlide16.xml" Id="Rfe62f14efe6a43b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329e35d3a433b" /><Relationship Type="http://schemas.openxmlformats.org/officeDocument/2006/relationships/image" Target="/ppt/media/image17.jpeg" Id="R32f2141bf2cb431c" /><Relationship Type="http://schemas.openxmlformats.org/officeDocument/2006/relationships/hyperlink" Target="https://www.mindfuldiabetes.org/" TargetMode="External" Id="Rd6961d3a6f244e45" /><Relationship Type="http://schemas.openxmlformats.org/officeDocument/2006/relationships/notesSlide" Target="/ppt/notesSlides/notesSlide17.xml" Id="R5f83f69008a64cf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d1fd266bd46e9" /><Relationship Type="http://schemas.openxmlformats.org/officeDocument/2006/relationships/image" Target="/ppt/media/image18.jpeg" Id="R38f3d71d47844305" /><Relationship Type="http://schemas.openxmlformats.org/officeDocument/2006/relationships/hyperlink" Target="https://www.mindfuldiabetes.org/" TargetMode="External" Id="Rd04c84d7c3494ed2" /><Relationship Type="http://schemas.openxmlformats.org/officeDocument/2006/relationships/image" Target="/ppt/media/image6.png" Id="R27f1b9257d8d4983" /><Relationship Type="http://schemas.openxmlformats.org/officeDocument/2006/relationships/notesSlide" Target="/ppt/notesSlides/notesSlide18.xml" Id="Rc28995e7093544a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1124e17e446c4" /><Relationship Type="http://schemas.openxmlformats.org/officeDocument/2006/relationships/image" Target="/ppt/media/image19.jpeg" Id="Rfb176973c16e4148" /><Relationship Type="http://schemas.openxmlformats.org/officeDocument/2006/relationships/hyperlink" Target="https://www.mindfuldiabetes.org/" TargetMode="External" Id="R41f1b5dcc6574146" /><Relationship Type="http://schemas.openxmlformats.org/officeDocument/2006/relationships/notesSlide" Target="/ppt/notesSlides/notesSlide19.xml" Id="Rb035c38756bc453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d1d9f95544b43" /><Relationship Type="http://schemas.openxmlformats.org/officeDocument/2006/relationships/image" Target="/ppt/media/image20.jpeg" Id="Reb31677899d446ef" /><Relationship Type="http://schemas.openxmlformats.org/officeDocument/2006/relationships/hyperlink" Target="https://www.mindfuldiabetes.org/" TargetMode="External" Id="R3637855fb06344ea" /><Relationship Type="http://schemas.openxmlformats.org/officeDocument/2006/relationships/notesSlide" Target="/ppt/notesSlides/notesSlide20.xml" Id="Rfd838e14001b41c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27bb93a9b4b69" /><Relationship Type="http://schemas.openxmlformats.org/officeDocument/2006/relationships/image" Target="/ppt/media/image21.jpeg" Id="Rac551864d10a4e32" /><Relationship Type="http://schemas.openxmlformats.org/officeDocument/2006/relationships/hyperlink" Target="https://www.mindfuldiabetes.org/guide/" TargetMode="External" Id="Rf52ec5a177e94e1e" /><Relationship Type="http://schemas.openxmlformats.org/officeDocument/2006/relationships/hyperlink" Target="https://www.mindfuldiabetes.org/guide/" TargetMode="External" Id="R7e26ce16aa2b4f8e" /><Relationship Type="http://schemas.openxmlformats.org/officeDocument/2006/relationships/hyperlink" Target="https://www.mindfuldiabetes.org/health-tools/" TargetMode="External" Id="R45bd97c71c104c30" /><Relationship Type="http://schemas.openxmlformats.org/officeDocument/2006/relationships/hyperlink" Target="https://www.mindfuldiabetes.org/health-tools/" TargetMode="External" Id="Rc8bf62b24d2b419b" /><Relationship Type="http://schemas.openxmlformats.org/officeDocument/2006/relationships/hyperlink" Target="https://www.mindfuldiabetes.org/research/" TargetMode="External" Id="Rd84949f7789b4948" /><Relationship Type="http://schemas.openxmlformats.org/officeDocument/2006/relationships/hyperlink" Target="https://www.mindfuldiabetes.org/research/" TargetMode="External" Id="R82aa24a5320344f1" /><Relationship Type="http://schemas.openxmlformats.org/officeDocument/2006/relationships/hyperlink" Target="https://www.mindfuldiabetes.org/donation/" TargetMode="External" Id="Rb083bb5d1e0b4666" /><Relationship Type="http://schemas.openxmlformats.org/officeDocument/2006/relationships/hyperlink" Target="https://www.mindfuldiabetes.org/donation/" TargetMode="External" Id="R3aaf022ac1944864" /><Relationship Type="http://schemas.openxmlformats.org/officeDocument/2006/relationships/notesSlide" Target="/ppt/notesSlides/notesSlide21.xml" Id="R4234c3f920824ca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5c3724d9c4fb5" /><Relationship Type="http://schemas.openxmlformats.org/officeDocument/2006/relationships/image" Target="/ppt/media/image22.jpeg" Id="Rfaedabb3f62d4f4e" /><Relationship Type="http://schemas.openxmlformats.org/officeDocument/2006/relationships/hyperlink" Target="https://www.mindfuldiabetes.org/" TargetMode="External" Id="Re77a9f7b318a4bd0" /><Relationship Type="http://schemas.openxmlformats.org/officeDocument/2006/relationships/notesSlide" Target="/ppt/notesSlides/notesSlide22.xml" Id="R716874c042f445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cfbfd742b4e1e"/>
          <a:srcRect xmlns:a="http://schemas.openxmlformats.org/drawingml/2006/main" l="0" t="26797" r="0" b="267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772400" cy="5410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D490D-226D-4B0C-96ED-448143B8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772400" cy="541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2C24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851f4d5304ec3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590550"/>
            <a:ext cx="514350" cy="55245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B5530-E8ED-451E-B274-386EC15D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85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1" i="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1200" b="1" i="0">
                <a:solidFill>
                  <a:srgbClr val="FFFFFF"/>
                </a:solidFill>
                <a:latin typeface="Lora"/>
                <a:ea typeface="Lora"/>
                <a:cs typeface="Lora"/>
              </a:rPr>
              <a:t>Mindful Diabetes Free Guides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5A00D-897D-42B8-B9D4-3CAFC316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334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0" i="0">
                <a:solidFill>
                  <a:srgbClr val="E6F2EC"/>
                </a:solidFill>
                <a:latin typeface="Lato"/>
                <a:ea typeface="Lato"/>
                <a:cs typeface="Lato"/>
              </a:defRPr>
            </a:pPr>
            <a:r>
              <a:rPr sz="788" b="0" i="0">
                <a:solidFill>
                  <a:srgbClr val="E6F2EC"/>
                </a:solidFill>
                <a:latin typeface="Lato"/>
                <a:ea typeface="Lato"/>
                <a:cs typeface="Lato"/>
              </a:rPr>
              <a:t>501(c)(3) nonprofit health education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3A342-3AFF-4599-A4F6-1CE3AA83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14DF8-DF96-4D33-B24B-60FE766A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762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750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FREE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3F1C9-95BF-4BB1-9D16-78992FD2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86450"/>
            <a:ext cx="657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3525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The Grocery Store Survival Guide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C52FF-D623-4081-9225-0717D743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0"/>
            <a:ext cx="638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135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How to Make Practical, Blood Sugar-Conscious Choices Without Feeling Overwhelmed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BA254-0DCF-4C9D-9D38-0C1153B2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3910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08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108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A warm, practical shopping guide for building a cart that fits your life, budget, schedule, and health needs.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7B5CD-D6B0-4F04-A554-EA9FBB6F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0"/>
            <a:ext cx="62865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B8D8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59EC6-C1DC-4327-A49F-4F7792CF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801100"/>
            <a:ext cx="598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Inside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9DDA1-01F7-4FCF-9B5E-FCA53A53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67800"/>
            <a:ext cx="598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Planning, cart formula, aisle strategies, product comparisons, label reading, backup meals, and a printable grocery list.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E7AB2-9B67-41E6-87F7-315034C7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440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6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6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Published July 30, 2026 | Medical review pending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479DE-0E23-41A9-95F3-0208E5E4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95440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76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765" b="1" i="0">
                <a:solidFill>
                  <a:srgbClr val="034B2F"/>
                </a:solidFill>
                <a:latin typeface="Lato"/>
                <a:ea typeface="Lato"/>
                <a:cs typeface="Lato"/>
                <a:hlinkClick xmlns:r="http://schemas.openxmlformats.org/officeDocument/2006/relationships" r:id="R325dacc202a24731"/>
              </a:rPr>
              <a:t>mindfuldiabetes.org</a:t>
            </a:r>
          </a:p>
        </p:txBody>
      </p:sp>
    </p:spTree>
    <p:extLst>
      <p:ext uri="{BB962C8B-B14F-4D97-AF65-F5344CB8AC3E}">
        <p14:creationId xmlns:p14="http://schemas.microsoft.com/office/powerpoint/2010/main" val="19641691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b673c9f0d42c2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68756-87DC-46C7-A220-C5ECE332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73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Grocery Store Survival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6E344F-2CFD-4F7F-8500-4365E8F2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Before you shop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C691E-6542-4DBE-B0E0-59FF8C9D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F307D-B427-4A38-ADB8-FDDE9EC6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5451E-310C-4D28-9204-72C437CA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6CB55-441A-4FB7-B291-27B4EECF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  <a:hlinkClick xmlns:r="http://schemas.openxmlformats.org/officeDocument/2006/relationships" r:id="R2f90d1356f3941e6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28A5E-F188-4364-8E06-44E96865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C5E2C-DE40-400E-94B8-460CCF24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BEFORE YOU SHOP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CDAF5-6D78-42CB-A407-84233378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2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A short list you use beats an ideal list left at home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B2EBF-9194-40EC-A73D-DB5D5DDF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38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Start with what is already in your kitchen, then choose a few realistic meals for the week.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7eb6d3a374f7e"/>
          <a:srcRect xmlns:a="http://schemas.openxmlformats.org/drawingml/2006/main" l="8667" t="0" r="8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2743200"/>
            <a:ext cx="2952750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A588F6-A87B-4AF4-B0C5-E5DF4813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24150"/>
            <a:ext cx="29527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8652C8-2424-4C32-AF74-3D1E9915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074BD-1B42-4569-9430-AD00B7C4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47975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CABFF6-724F-4F05-B583-E5B1C101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05150"/>
            <a:ext cx="24384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7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7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Check the refrigerator, freezer, and pantry.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B7A53E-6325-4A51-AFAE-98AF87C0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67100"/>
            <a:ext cx="29527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A732F7-841E-4970-8B52-AAA8D70D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385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ECA50B-B94F-4401-A5DA-DEC0BAD0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90925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7B3F9-6BCD-422B-8BA2-A47B1EF8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48100"/>
            <a:ext cx="24384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7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7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Choose two or three meals.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B53882-10AA-400C-93EE-26C5A750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10050"/>
            <a:ext cx="29527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4B6814-379F-4D6B-AD9A-5BBE430F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815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A84202-895E-4C6E-BBD7-36D35992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33875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36AD21-09C2-44BF-BF1C-D7D194A2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91050"/>
            <a:ext cx="24384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7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7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Pick one or two backup meals.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C11786-0C22-463C-BD51-DEB38F6B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953000"/>
            <a:ext cx="29527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CD23C2-9C73-4CA9-9DAB-64190A9F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244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4A290D-76D0-4154-8EDE-ADD9F05D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76825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1AAEB0-BCD3-4B40-AD5D-DBCA3B47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34000"/>
            <a:ext cx="24384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7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7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Check the household schedule.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3017A8-AC79-4F34-A4A4-D71E536D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695950"/>
            <a:ext cx="29527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A33E71-E2E0-404B-9D0B-A390E630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674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C5C826-B2E1-4B31-8714-8AFEF7E7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19775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0BFAEC-D524-48D9-9BB3-D274DC78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076950"/>
            <a:ext cx="24384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7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7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Write a short list.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EA0F52-E271-4DE3-B475-FF3E180C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438900"/>
            <a:ext cx="29527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F44272-CDD3-41D8-BB2B-ABD70B75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6103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78EC06-718B-413B-98A0-1442CEE9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62725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7DB11A-D88C-491D-A1F2-CC029B7F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819900"/>
            <a:ext cx="24384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7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87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Bring bags, coupons, mobility tools, or reminders.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A3D237-2071-4EE1-AC48-43ABD1DD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00"/>
            <a:ext cx="61912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B8D8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A13664-2E81-4AF7-9160-F035C7F1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5335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Kind shopping rule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0D1C93-DADC-4F0D-A091-AD53AF8C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20050"/>
            <a:ext cx="588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The goal is not a perfect cart. The goal is food you can use before it spoils, on days that are busy, tired, or unpredictable.</a:t>
            </a:r>
          </a:p>
        </p:txBody>
      </p:sp>
    </p:spTree>
    <p:extLst>
      <p:ext uri="{BB962C8B-B14F-4D97-AF65-F5344CB8AC3E}">
        <p14:creationId xmlns:p14="http://schemas.microsoft.com/office/powerpoint/2010/main" val="92435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2730fa25245b2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A4403-B5B1-4776-AF31-93C4C0A4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73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Grocery Store Survival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CB020-280A-4114-97D7-D93CBA98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Five-part cart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CB934-9944-42CD-946B-ECE28B13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7DFED-32C4-42F3-BC89-6140C281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BE6DE-A3CC-43DB-8DC6-D695686F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16D62-BFCF-4B67-9D22-7A3C5936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  <a:hlinkClick xmlns:r="http://schemas.openxmlformats.org/officeDocument/2006/relationships" r:id="Re2f340c3c8334fc1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0F9BD-14AD-45FD-B322-C44E01C4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919232-5602-4A7E-AE4E-5E629983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FIVE-PART CART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91477-88FD-4800-A1AB-5E2946CE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2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Use five flexible categories, not a perfect grocery 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FF296-0DA1-4024-B53F-56A03CE1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38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The categories help you build meals. They do not need equal space in the cart, and fresh, frozen, canned, dried, and shelf-stable foods can all fit. [5]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9a57f2b9c4475"/>
          <a:stretch xmlns:a="http://schemas.openxmlformats.org/drawingml/2006/main"/>
        </p:blipFill>
        <p:spPr>
          <a:xfrm xmlns:a="http://schemas.openxmlformats.org/drawingml/2006/main">
            <a:off x="819150" y="3216275"/>
            <a:ext cx="4667250" cy="311150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57707F-6B8B-4E1E-89D8-517FDEB1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16764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B8D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D3A59-4284-4869-B936-710C67BF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Vegetables and fruit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EEE6A0-5C7A-4ADB-8022-35868031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fresh, frozen, canned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CFF99-DD38-4D5D-8317-DE8F022E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43250"/>
            <a:ext cx="16764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B8D8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11C119-C8DC-46ED-83A4-E413056F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766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Protein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48B36B-18BF-401C-B45B-F8F56BA2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43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animal or plant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C1E308-887A-4C11-BC23-95151779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6764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10001">
            <a:solidFill>
              <a:srgbClr val="C8DC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8E96DF-2FD2-46C5-BFAB-27ACAA9C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246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Fiber-rich carbs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4948DB-062C-491A-AA15-41EC4012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91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beans, oats, grains, fruit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A64676-90E7-4BA9-A92A-BDFFCDF1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153150"/>
            <a:ext cx="16764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CE4D8"/>
          </a:solidFill>
          <a:ln xmlns:a="http://schemas.openxmlformats.org/drawingml/2006/main" w="10001">
            <a:solidFill>
              <a:srgbClr val="F3B49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189015-F311-4DC3-9191-08E2B939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28650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8F3519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8F3519"/>
                </a:solidFill>
                <a:latin typeface="Lato"/>
                <a:ea typeface="Lato"/>
                <a:cs typeface="Lato"/>
              </a:rPr>
              <a:t>Healthy fats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19CD3B-90BB-4980-AF4E-18E09618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5532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nuts, seeds, oils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E7ABC4-0BB2-42A0-A82F-23A6BE25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7000875"/>
            <a:ext cx="21336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B8D8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9FC192-1A42-4013-B1D0-00267249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713422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Flavor builders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A38F92-EDB6-4897-A852-73C9082F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74009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spices, salsa, herbs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883D57-F281-43CA-AD4F-1E34777A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191500"/>
            <a:ext cx="61912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B8D8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370219-ECE2-41E2-889B-2A40D0ED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2485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Use what works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88F8BC-43F4-4C78-A043-676D3380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91550"/>
            <a:ext cx="588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Perimeter-only shopping can miss useful budget foods such as beans, oats, canned tomatoes, frozen vegetables, lentils, and shelf-stable fish.</a:t>
            </a:r>
          </a:p>
        </p:txBody>
      </p:sp>
    </p:spTree>
    <p:extLst>
      <p:ext uri="{BB962C8B-B14F-4D97-AF65-F5344CB8AC3E}">
        <p14:creationId xmlns:p14="http://schemas.microsoft.com/office/powerpoint/2010/main" val="1605363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0e18433984095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A516B-3794-4756-A928-47914442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73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Grocery Store Survival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25830-7F28-4C4D-9417-95EC2C6F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Produce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F7658-0432-46DC-838F-47E9A2AF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BFADF-CC08-4FE3-92BD-D6F41C80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51B0F-852D-4EAB-9DC0-A7BB3236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4754C-5A60-435E-8352-05E57173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  <a:hlinkClick xmlns:r="http://schemas.openxmlformats.org/officeDocument/2006/relationships" r:id="R6ada6ed20b8a45c5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3F15C-27F8-40A1-BEEB-640E7097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E2651-CDAD-4EAF-BC39-AD9FA082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PRODUCE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D7C95-5EAF-4EB8-82F8-C9F88EF0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Fresh, frozen, and canned all 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962F4-5731-4A7B-8920-DDADBE87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38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Choose vegetables and fruit you will actually use. Fresh can be wonderful, but it is not morally superior to frozen or canned options. [6]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D3816-56F6-46C2-A90E-354E954C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1905000" cy="3143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6A26B4-C727-4AF5-8241-78FD24E8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1350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Fresh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55A42-467F-4D38-824C-D2FBB014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7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7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Useful when it will be eaten before spoiling.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F53D9A-3F8F-4E04-A34D-95B42FE8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9617E-D1DA-446C-8756-43E227F2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5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5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Leafy greens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8A0D69-7B8A-4406-B95B-F5D73530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D36B49-68CB-4228-83A9-320E9659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5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5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Peppers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8E7DFD-BFDB-40E0-AA37-31F7C7E0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D88404-2B5B-41E7-840D-8EA9218E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5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5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Carrots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16B1C7-7CC4-427E-9D52-3FAB5381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B71048-8A5B-48BD-A715-0C62A20B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721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5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5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Tomatoes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C19D98-640A-4860-9E91-A58EE58C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14650"/>
            <a:ext cx="1905000" cy="3143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03CD9E-EA24-453F-8B78-1D7C9742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24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1350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Frozen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387C9F-D075-49EB-A6AC-0690F682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861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7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7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Helpful for convenience and reducing waste.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F670A1-F04E-4356-94D0-EBA123B1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43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BC17E3-37B9-4A77-AD9F-682A4F60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862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5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5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Broccoli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6940AB-219C-49DD-B85B-1B290209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05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7D3B2B-8EFB-4335-9A97-17713F46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482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5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5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Mixed vegetables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8B758E-F3C6-42E2-8A6A-57ACCDAD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06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3458B1-7EC8-4D15-95D8-2663DB1E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0101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5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5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Berries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A27E82-C42F-4692-8FFE-03F08335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42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2A913E-ADEA-498A-9041-A1653B79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3721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5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5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Greens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5380E7-1DF3-45D8-B89F-85BA29B5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14650"/>
            <a:ext cx="1905000" cy="3143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5771E5-A87C-4248-9240-8EE74ABC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24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1350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Canned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0A95A3-A80B-474D-BCF7-1FF56F44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861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7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7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Useful for low-energy days and shelf stability.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EE1630-9C8F-48ED-A53A-9CA55A6B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43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401C4B-BF95-4311-852F-3544381D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862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5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5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Tomatoes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23BDED-CC28-492D-B1E7-B156CDA9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705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A9AB15-9EB7-4838-B425-4F8F2112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482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5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5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Peaches in water or juice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C7AF77-7241-488D-9758-3694796C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6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6F30FC-080F-44B3-B7E8-5DEA8DAE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101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5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5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Carrots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57F1AC-A177-4D39-9CE0-8C72BA58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42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E0903E-6CCD-4F9E-87F6-642BC726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3721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5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5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Vegetable mixes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35C673-F945-4EFB-A6E2-F9585580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0"/>
            <a:ext cx="6191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B8D8C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A496C9-AB74-498D-BF81-650E9F76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37235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What to check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F01F43-C8AC-4F05-BDFC-768D4ABF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39050"/>
            <a:ext cx="588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For canned fruit, check syrup versus water or juice. For vegetables, compare sodium when practical. For frozen produce, check sauces and added sugars.</a:t>
            </a:r>
          </a:p>
        </p:txBody>
      </p:sp>
    </p:spTree>
    <p:extLst>
      <p:ext uri="{BB962C8B-B14F-4D97-AF65-F5344CB8AC3E}">
        <p14:creationId xmlns:p14="http://schemas.microsoft.com/office/powerpoint/2010/main" val="19387985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dc49877a64aab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300AF-CFAA-4CBE-92EC-D71B58BC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73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Grocery Store Survival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1CA0D-0D5D-4F4D-B57E-084826B8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Frozen foods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D784E-36D7-4AB9-9C4C-BEA4CC30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009F9-05D0-433C-BCFA-9969E59C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884F6-2D51-4AEC-8C67-1A183CD3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C0D5D-8965-4AC1-AEE4-6D68D7B3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  <a:hlinkClick xmlns:r="http://schemas.openxmlformats.org/officeDocument/2006/relationships" r:id="Re5707bca12dc4da0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25CA5-D987-436E-BE7C-0496D466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CDFC8-244F-4A3F-B4B6-CC418118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FROZEN FOODS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6054A-DEDD-4E87-B3B6-3812488E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2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The freezer section can reduce waste and rescue dinner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7972F-8511-4998-8135-911A5B6F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38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Frozen foods can be affordable, fast, and useful. The package details matter more than the freezer aisle itself.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3e0f403594d05"/>
          <a:srcRect xmlns:a="http://schemas.openxmlformats.org/drawingml/2006/main" l="16042" t="0" r="160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2724150"/>
            <a:ext cx="3105150" cy="30480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8AB4C-517C-496D-8816-4B6FE792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24150"/>
            <a:ext cx="1381125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392E7-B16D-4CB0-A0DF-3C44DE60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95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C7C759-8EC6-486D-9E1A-5FF0DD0E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47975"/>
            <a:ext cx="866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Frozen greens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A48B6D-9A5C-406C-93EB-2AC646C9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05150"/>
            <a:ext cx="866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Soups, eggs, bowls, sauces.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56193B-1C73-4DCE-9E29-078C2386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724150"/>
            <a:ext cx="1381125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7C84B0-CD59-426D-8C65-EBA79B4F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95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1B5220-3FB3-4E3F-9A27-96615E44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47975"/>
            <a:ext cx="866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Frozen berries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58AADD-54A1-4AD9-A106-4D72F442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05150"/>
            <a:ext cx="866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Yogurt, oats, smoothies.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27B6FC-56F0-48AA-BF81-DF7125C7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1381125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B86E93-6BA8-4E32-A85E-5237FD8E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91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DC615D-A6DD-4DC0-8CFC-6309DCB5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43375"/>
            <a:ext cx="866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Mixed vegetables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1B3F3E-1AB4-4346-BCA1-1FF21523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00550"/>
            <a:ext cx="866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Fast side or stir-fry base.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A34131-292D-4759-BE9B-13B9CF6B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019550"/>
            <a:ext cx="1381125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5196B5-4393-4607-96B7-D0C1A8AF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191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801828-3C52-4895-B5D3-EDE184A5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143375"/>
            <a:ext cx="866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Frozen fish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DD17A8-F13D-4DF0-B931-773D5195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00550"/>
            <a:ext cx="8667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Protein backup for busy weeks.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54ACA9-5923-4B92-991F-37539776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0"/>
            <a:ext cx="61912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CE4D8"/>
          </a:solidFill>
          <a:ln xmlns:a="http://schemas.openxmlformats.org/drawingml/2006/main" w="10001">
            <a:solidFill>
              <a:srgbClr val="F3B49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E24174-F710-4678-BACE-F39437B3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37235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8F3519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8F3519"/>
                </a:solidFill>
                <a:latin typeface="Lato"/>
                <a:ea typeface="Lato"/>
                <a:cs typeface="Lato"/>
              </a:rPr>
              <a:t>Check the package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7F8909-860D-4FDB-9E59-51ED21D8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39050"/>
            <a:ext cx="588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Look for sauce, added sugar, sodium, serving size, protein, and vegetables. A simple frozen meal can still be supplemented with extra vegetables or protein.</a:t>
            </a:r>
          </a:p>
        </p:txBody>
      </p:sp>
    </p:spTree>
    <p:extLst>
      <p:ext uri="{BB962C8B-B14F-4D97-AF65-F5344CB8AC3E}">
        <p14:creationId xmlns:p14="http://schemas.microsoft.com/office/powerpoint/2010/main" val="11927601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bba609cce446f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0F5C6-30E0-4C5F-80AE-EA58E564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73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Grocery Store Survival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97B37-E3C5-4854-AFB3-86BB22BC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Canned and shelf-stable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FD39B-27AB-4D5D-BED1-1D666334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4E84E-BC30-44CE-87A1-001A09D1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71A7D-FE55-4486-9CBB-D3F30A29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82750-2648-48ED-9CB4-8FAA0C95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  <a:hlinkClick xmlns:r="http://schemas.openxmlformats.org/officeDocument/2006/relationships" r:id="R9eb2fe72fb384782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0D97E-D120-449D-94AD-227694F4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4DDD4-2FAB-4212-97CD-4F028675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CANNED AND SHELF-STABLE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A98AEC-CE80-4569-A714-9F4145F4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Pantry foods are not a fallback failure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A12B0-54D3-437B-A8A6-6BDF1381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38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Canned, dried, and shelf-stable foods can make useful emergency meals. Oats belong with pantry grains, not canned foods.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7986493d434819"/>
          <a:srcRect xmlns:a="http://schemas.openxmlformats.org/drawingml/2006/main" l="1713" t="0" r="17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2743200"/>
            <a:ext cx="2952750" cy="2038350"/>
          </a:xfrm>
          <a:prstGeom xmlns:a="http://schemas.openxmlformats.org/drawingml/2006/main" prst="roundRect">
            <a:avLst>
              <a:gd name="adj" fmla="val 560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34716-0677-41B5-A6B6-D0D48349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30289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ACA2D-F614-4242-8401-75BCD64C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6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A66597-0896-4A3C-9F19-4A8D828C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2922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Canned beans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FA38F1-310C-4CEE-A2D9-D52E76F3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864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Rinsing may reduce some sodium; draining changes the final contents.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6E951B-C443-4C79-8C13-D5A7913D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05400"/>
            <a:ext cx="30289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D18F24-54DA-4CF5-B78B-D478CFB3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76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72D67E-A8F7-42C8-8B6A-116CD602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2922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Canned tomatoes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321879-36C8-4FFA-9E61-0D638BA1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4864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Useful for soups, stews, sauces, and shakshuka-style meals.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B49BDC-8750-41EC-9624-D8F6522E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57900"/>
            <a:ext cx="30289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7FA562-BAC2-45DB-A01A-FA19428C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1DA6A2-3BE6-4C74-83E8-50621F5E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8172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Tuna, salmon, or chicken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176E1E-C2E2-4877-BF76-81888B00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389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Shelf-stable protein; compare sodium and serving size.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C17FC3-8E54-4A9B-B111-15A88B98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057900"/>
            <a:ext cx="30289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396656-81FE-4134-8F03-0D0263DF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229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438821-37E4-4493-BFB0-0DE003AB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18172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Canned vegetables or fruit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5F1504-55B2-4523-90C0-2CD4F8AC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4389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Look for sodium, syrup, water, or juice as needed.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23BC7D-8412-4BAB-860F-9A0F720C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10400"/>
            <a:ext cx="30289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ABD52B-335B-4FA3-93B6-5A7454B1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4A32DF-7174-4A76-8BC7-C40A7464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13422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Dried lentils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F93FFD-DB7C-4609-A9F8-B0BCB30B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3914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Quick-cooking pantry protein plus carbohydrate and fiber.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400178-28E6-4120-BBFC-FD96EF69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7010400"/>
            <a:ext cx="30289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04104F-680E-4870-A03B-8849E792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818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C23D05-8F48-4EBF-9092-60AC790F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713422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Oats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DC2243-64B2-4579-9750-38415A8C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73914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A pantry grain, useful for breakfast or baking, not canned food.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78A673-AA31-48B5-AED6-38BF661E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48650"/>
            <a:ext cx="61912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B8D8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D2FF8E-8DF2-4FF0-8C9A-B782A8DD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8200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Backup meal idea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BEE246-8A64-4A3C-9F66-F797D0A0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648700"/>
            <a:ext cx="588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Keep one meal you can make when energy is low: beans plus tomatoes plus frozen vegetables, or soup plus extra protein and a whole-grain side.</a:t>
            </a:r>
          </a:p>
        </p:txBody>
      </p:sp>
    </p:spTree>
    <p:extLst>
      <p:ext uri="{BB962C8B-B14F-4D97-AF65-F5344CB8AC3E}">
        <p14:creationId xmlns:p14="http://schemas.microsoft.com/office/powerpoint/2010/main" val="21319456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95b3af84041d3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225AE-AC12-4CE3-9941-29EC36D0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73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Grocery Store Survival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CAC56-7828-4C26-B71A-8E3A9233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Protein choices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6A110-DA27-4670-B624-213C8BD1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FD840-C463-4BE7-890C-DDF870B5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F7291-4D9A-44CD-BAC4-29F702D0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4D3B7-E3C4-4C49-BD21-7308E55A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  <a:hlinkClick xmlns:r="http://schemas.openxmlformats.org/officeDocument/2006/relationships" r:id="R7479ec9f2815478e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3FF29-F6AF-44A6-9CF7-672E1A67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2F2B4-29B9-4552-960D-7237E3F6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PROTEIN CHOICES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09439-D6BA-4997-8A4D-102D1FBE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2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Choose by use, budget, culture, storage, and medical needs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12024-16DE-4E98-BC20-DAEEF9D5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38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Protein foods can be animal-based or plant-based. Beans and lentils provide protein, carbohydrate, and fiber, so they may matter in glucose planning. [8]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9FAF4-70CC-48F2-88AD-5DE2322E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302895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6044D-18A0-4F15-BD65-80B378FF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BAD273-7748-45D6-ADCF-7F029ECD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037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Quick fridge proteins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821AD-8358-447B-897F-33EDC938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251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Eggs, yogurt, cottage cheese, tofu, tempeh.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DB9CE-CA46-423F-B350-17680B09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76550"/>
            <a:ext cx="302895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0FB2EA-1361-488D-BC20-5318CF77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22A827-BC02-443D-BEF3-77074ED1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0037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Freezer proteins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35DBD2-339E-4C41-B05C-206D4B1A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7550"/>
            <a:ext cx="251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Fish, poultry, lean meats, edamame, cooked beans.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8D1739-A671-4610-AA2E-C641A421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52900"/>
            <a:ext cx="302895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9EEAFB-2825-4421-8D9E-65B747BA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D874D4-240D-4C3D-B362-44789BF1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7672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Pantry proteins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5AE4B1-B9F6-48DA-9F4A-905553F9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251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Beans, lentils, canned fish or chicken, nuts, seeds.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9AE57E-08AB-4E51-B51B-BFA5714B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52900"/>
            <a:ext cx="302895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D95488-DF24-4E8B-95FB-743BCE9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24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A357F3-7CCB-4920-8391-85B4919F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7672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Meal 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FF8C14-DFE7-49AF-9D37-0AE737AE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33900"/>
            <a:ext cx="251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Tacos, soup, stir-fry, bowls, sandwiches, salads.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41D67C-C304-4768-BA97-350EA675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00"/>
            <a:ext cx="6191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B8D8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968424-F2C0-4AC7-B598-EA6BB0B3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5335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No moral ranking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C361EB-8EDB-4E17-BCEC-16B804CA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20050"/>
            <a:ext cx="588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The best protein option is the one that fits the meal, the household, allergies, taste, storage, preparation time, and medical needs.</a:t>
            </a:r>
          </a:p>
        </p:txBody>
      </p:sp>
    </p:spTree>
    <p:extLst>
      <p:ext uri="{BB962C8B-B14F-4D97-AF65-F5344CB8AC3E}">
        <p14:creationId xmlns:p14="http://schemas.microsoft.com/office/powerpoint/2010/main" val="8041098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d616271b84864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19D94-EBFD-43F1-A575-2A05629F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73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Grocery Store Survival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5086D-701C-4F76-8C6C-C4F72EC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Plant proteins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4A1DB-45C6-4641-AEE8-45860E95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94DFA-937C-4EAB-A2F3-58D16591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01D51-AF6B-42EA-9431-0E1EF4B7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29395-E0E4-4DE8-8AB2-F0675FC8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  <a:hlinkClick xmlns:r="http://schemas.openxmlformats.org/officeDocument/2006/relationships" r:id="R305a4536b6c648a1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A39D8-112E-485F-9275-39CABF27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7773C-2918-4D82-B17B-6CB94845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PLANT PROTEINS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ACC1A-95AE-4D30-93ED-2759605C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Canned beans 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EA34C0-122B-4E48-A4A0-F1D4272D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38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You do not need to begin with dried beans. Start where your time, tools, digestion, and budget are today.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E9545-6C42-4DDE-8886-725E5089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29146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33E482-021F-4D7F-BEDA-ABE3B3CA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969E2-1455-41EF-A3E1-916D04FA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81325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Beans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B83114-44BF-4ACF-AE5B-0647576F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Tacos, soups, bowls, salads.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DF58BE-4484-46DF-99B1-F852611B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57500"/>
            <a:ext cx="29146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1BD689-E1F9-446F-B416-6A4D94AA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28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4965A0-DF25-4C12-BF57-11995FE3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81325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Lentils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118BDC-D017-4A26-90A6-AB853E1D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385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Dal, soup, curry, salad.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DEB525-20B0-4983-AB66-08A00701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29146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0EBE2D-E537-47AA-A4B4-85D7E099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AEECE0-DCB7-437B-A34C-B241FA45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00525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Tofu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B157E7-10E5-4F2D-9415-51067ED9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Stir-fry, bowls, scramble.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290651-A1A2-4435-A6D7-321BB302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76700"/>
            <a:ext cx="29146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3B80AF-CF05-4A73-864A-033DB4BF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48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25736E-E5F6-4850-8CD3-A6DE7699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00525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Tempeh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D99CB9-72C9-4378-BFB3-B0E8C851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577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Skillet meals, sandwiches.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99C596-C1CA-474E-BE44-A2F00831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29146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A7BBEF-B8AB-40A5-B551-E0BCB9DB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65BD47-D163-4F96-87AD-8A787F19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9725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Edamame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BAEF19-506D-4195-9795-6B4B8829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769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Snacks, sides, bowls.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6F97F2-7488-4063-A085-9355355D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95900"/>
            <a:ext cx="29146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C5C582-DAAC-4B45-B89A-F4ED15C9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467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A535C1-B05F-4C0A-AF88-C0DED210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19725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Seasoning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B4FB70-8AF1-4204-881F-A4847B97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769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Cumin, garlic, ginger, curry, salsa, herbs.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97B284-B747-427B-81F9-9398606D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715250"/>
            <a:ext cx="6191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10001">
            <a:solidFill>
              <a:srgbClr val="C8DC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C2D10C-987F-4FAC-B54F-1119BAE8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4860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Glucose planning note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12A50F-44DA-4DB4-B6B8-9B6B49FF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15300"/>
            <a:ext cx="588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Beans, lentils, and edamame are often filling because they bring protein and fiber, but they also contain carbohydrate. Use your own plan if you count carbs.</a:t>
            </a:r>
          </a:p>
        </p:txBody>
      </p:sp>
    </p:spTree>
    <p:extLst>
      <p:ext uri="{BB962C8B-B14F-4D97-AF65-F5344CB8AC3E}">
        <p14:creationId xmlns:p14="http://schemas.microsoft.com/office/powerpoint/2010/main" val="1574312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09a2889d094dc7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EC6A9-3956-4217-8076-99B11A94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73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Grocery Store Survival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8EFF8-5D0C-4B9E-9949-F18B3A2D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Breads and grains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04CB4-3551-4478-8B0E-6BCBBE13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58C62-2DD9-4951-9A76-F809C80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2D104-8D56-40DB-BB3F-7E2FA95B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63B40-DAD5-4FAB-BACD-8F456B74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  <a:hlinkClick xmlns:r="http://schemas.openxmlformats.org/officeDocument/2006/relationships" r:id="R8b4e1842a1a34c04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0A623-3F94-4700-BC16-8EE425AE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260D8-0701-4DAF-8B35-E4F3DC5D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BREADS, GRAINS, CEREALS, AND TORTILLAS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8AA88-2EF1-478E-B14A-DDE35F85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2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Front-package claims are only the first sentence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BC6888-8F70-4D9C-A937-3D43BF32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38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Compare similar products by serving size, total carbohydrate, fiber, added sugar, saturated fat when relevant, ingredients, and what you enjoy.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87749-CA46-43ED-B7B5-9CA2D665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956FD-FC42-42AA-AF9B-EBB7F0B9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6227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9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9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Front claim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C5765-5EBB-4BD9-BBD4-C8919925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8765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E4AA53-7514-4F4C-B469-653C71A2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62275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9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9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Useful next 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7D0FAB-56D8-4AA3-AAB1-82EB5532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765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6A16C5-87BF-4470-BD86-B13305B4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6227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9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9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Why it matters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6AAE37-A842-4DE6-8F49-F5A5B30E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C7F9C3-3286-4D6E-B866-85DECD66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5757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Multigrain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CD0168-57E1-42F1-8C09-6985B2E1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718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9B9DB1-3330-45AC-ADA7-E8C2737D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57575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Ingredient list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059A36-6E95-43A6-A10C-FDF646AE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718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20263A-78A9-48D4-A345-4CA2879E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5757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May not mean whole grain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B057DA-F91E-4C88-B016-F9B73EDD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A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4A5A59-2179-4C87-A5D6-08E85849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5287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Whole grain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F4F146-F4DF-48D1-B563-E59951C3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671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A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85969C-FB69-4AEE-9CD7-08051249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52875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Fiber + carbs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4D61AD-30A6-4EEC-A1E1-E23C8510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671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A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6B75EB-A5A5-4DD0-A6C7-D3338BC1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5287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Still compare serving sizes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7C29A2-AEDD-4FD5-9C50-3103E552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DB1E17-58A1-4831-B553-AD496581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4817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Keto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A4E24A-7B24-4EAC-98DA-83BFAA9E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624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2367AC-D483-4F96-AE9D-8D7C3961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448175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Saturated fat + fiber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2A3C5B-B957-4951-B72E-3282C764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624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0E3677-EAD1-4B91-8D3D-359916A1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4817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Claim alone is not enough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924074-3ED3-4C08-A948-1E42C95C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A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534A23-1326-48CA-92D5-D1FF4CB6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347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High-fiber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3F8971-BCCB-466C-AFA5-833551C8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8577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A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A1B560-D19A-46F5-930C-8B6FD41D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43475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Serving size + tolerance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276DC-F8DC-456A-BA97-C7D95A80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8577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A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0BC411-B268-46A2-B5FD-0D503B45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94347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More is not always better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5DBA25-14A8-4F57-8D1C-EC1A4482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AA1025-54DE-41AF-AC46-535B2D95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3877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No added sugar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F9F5B0-6929-47C9-B77B-E37A77CE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530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4A16C3-B13E-4BBD-8B64-30AEB2CA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438775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Total carbohydrate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935B48-8F5C-4314-B767-0408F4A7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353050"/>
            <a:ext cx="276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765152-418D-461C-A106-426A1787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43877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May still contain starch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67408D-0A65-4B7B-99EB-DF44BCD8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0"/>
            <a:ext cx="6191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B8D8C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4A49D5-CEFE-490A-B0D4-C41A5372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99135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Store-shelf method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E9C7143-C927-45BB-85CE-ECEFD304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58050"/>
            <a:ext cx="588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Pick two similar items, then compare the label. One number does not decide the best choice; the food has to fit your meal, taste, budget, and glucose plan.</a:t>
            </a:r>
          </a:p>
        </p:txBody>
      </p:sp>
    </p:spTree>
    <p:extLst>
      <p:ext uri="{BB962C8B-B14F-4D97-AF65-F5344CB8AC3E}">
        <p14:creationId xmlns:p14="http://schemas.microsoft.com/office/powerpoint/2010/main" val="18616306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3a0e93794495a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199F8-11F7-4E55-8553-96DCE5C3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73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Grocery Store Survival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25D96-857B-444D-B87A-B721FF42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Dairy and alternatives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78752-E41C-44DE-8230-9C6F9C2D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43944-3282-4D18-956D-95F07747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C3440-A58C-469E-93E2-E6E5679B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85EBC-BE2D-43D5-AC87-C972871B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  <a:hlinkClick xmlns:r="http://schemas.openxmlformats.org/officeDocument/2006/relationships" r:id="R9c23ebfcbbe04400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393C9-9C08-4CE3-9573-D218B091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8391F-72D1-4D06-9532-97DAB7C6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DAIRY AND ALTERNATIVES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155E8-4970-48DE-92DC-15E3A471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2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The cooler section is not one category nutritionally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5E2A3-D4C4-4A3F-924B-79B9AA7B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38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Milk and yogurt often contain carbohydrate. Cheese usually has little carbohydrate, but can add saturated fat and sodium. Fortified soy milk differs from many other plant beverages. [7]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DA9D2-9BA9-4C13-8119-BE799F18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30289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3657B-A09F-4196-BA10-27576BE2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14BEB4-E1FA-4B7D-8904-67378472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0512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Milk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ED20FC-A439-42ED-958A-12861FE8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Check serving size, carbohydrate, and how you use 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AB3378-AF28-4151-9CED-CDC8D245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81300"/>
            <a:ext cx="30289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31413F-CD82-4045-A5C8-5FC628D5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52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C3C3D9-BB6D-4578-8FAF-B91EDDAF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0512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Plain yogurt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373286-8A75-4EC8-B3A0-388E72FF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62300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Check protein and added sugar; add fruit if desired.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8E7E64-C2E1-4F80-A896-79C15C13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30289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58BD93-B775-416A-95BD-BB4A8558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2DD367-F250-41E1-985D-6AECC476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5287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Flavored yogurt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2E0E95-2E11-472F-8FE9-1C6B309A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Check added sugar and total carbohydrate.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A7BA85-1E52-4437-A0D5-92CBEBFC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29050"/>
            <a:ext cx="30289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1A41F2-F8B7-475A-95D5-701D7319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00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E9651A-E602-4292-8C84-320843B9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5287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Cheese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BF2FE4-3582-4148-8A89-D38D5FF7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10050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Often lower carb; compare sodium and saturated fat.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E9085D-4399-4EE6-85E9-0AAD42F3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30289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7863E3-0133-4AC2-A8F1-5A683267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540A47-A910-420D-B8DC-B7D94AD5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0062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Fortified soy milk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1965E3-67D2-4C9A-A870-9C8BE03F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Often closer to dairy milk for protein than many alternatives.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997710-3180-40B3-B80B-BDC216DF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76800"/>
            <a:ext cx="30289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7F4984-FCC1-4DD6-A6AA-303AF230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48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CFE09D-EF68-4CA7-9300-4A39D46E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0062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Other plant drinks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7172CE-D54E-46EE-BF1B-A154E247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57800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Almond, oat, coconut, and rice beverages vary widely.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12AC16-815F-48F1-82CF-9DF0BC80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81950"/>
            <a:ext cx="6191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B8D8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AB2174-0C4A-4FF3-9DE3-620A3C7E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1530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Comparison prompts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9F7636-2E71-4F36-A455-E03F5246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82000"/>
            <a:ext cx="588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Is it sweetened? How much protein? Is it fortified? Does it fit allergies, preferences, kidney needs, or other medical considerations?</a:t>
            </a:r>
          </a:p>
        </p:txBody>
      </p:sp>
    </p:spTree>
    <p:extLst>
      <p:ext uri="{BB962C8B-B14F-4D97-AF65-F5344CB8AC3E}">
        <p14:creationId xmlns:p14="http://schemas.microsoft.com/office/powerpoint/2010/main" val="16440478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e0838b6354b2c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7A97A-A1EB-44AF-9AD7-FD7ACAC2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73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Grocery Store Survival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1A630-5948-4072-A481-221E1EFC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Snacks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138ED-07F0-43D0-9651-5D699B3D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9606B-9D6F-474C-BA83-8CA378C8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A6B5C-BFFF-47F8-A017-BD85DD65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84515-F588-4643-A908-586FBBF2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  <a:hlinkClick xmlns:r="http://schemas.openxmlformats.org/officeDocument/2006/relationships" r:id="R6cc5965650f44c2f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6052E-3ED3-444B-8518-42DA8BE6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0432D-0745-414B-B1CB-592034A9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SNACKS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AA279-864F-4788-919D-48E22C6E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2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A planned snack can be useful, and some people may not need 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AAB4B-818A-4335-B521-A1D90D6E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38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Snacking is not a character test. If snacks help your schedule, medication plan, activity, or hunger, make them practical.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C9A00-0346-4752-8B30-ECB6DD05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30289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6626C-D68E-4B3D-B61B-B61A3CA4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51B8D-EB28-4A3A-BEC8-381366D9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2417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Fruit + nuts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6DCA7-2F23-413A-8E64-39A4065F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Portable, filling, easy to repeat.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37DB4-DB71-4F88-A27A-F2EE393D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00350"/>
            <a:ext cx="30289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2C19EA-729C-4FFC-93DF-5373D726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71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CD8AC7-02CA-415B-9A08-92FECD61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2417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Yogurt + berries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21A575-5C86-4FB7-9058-CDC97270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813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Protein plus fruit; check added sugar.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D817E4-E94E-40B1-BD77-7E8F8A04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30289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BD3B2-44B3-44BE-B81E-C14FC9A0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5CD818-5B11-454F-BEF4-7A376047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8142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Hummus + vegetables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6C3D89-79DA-44DB-AEC1-22FD34CF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Fiber, flavor, and crunch.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1C5DE5-1F67-488C-A95D-395AEADC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57600"/>
            <a:ext cx="30289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F473C8-155F-4D84-A4E7-F1539C81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29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596EC0-445D-470E-B4A8-337B4FBD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8142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Egg + fruit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034188-D8A3-4F30-B2FF-56C4FCB8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386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Simple protein plus carbohydrate.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F305FB-DF7F-4C84-842F-01DD3F97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30289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88CF17-5655-4E8E-9062-9DFE6B63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5C48DA-6BC0-4497-81B0-56B2E3AC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3867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Crackers + tuna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67CF96-5827-461E-9AE2-02F8A3DD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Shelf-stable option with protein.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EFD529-7927-48AB-B4FA-8FDF8B30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14850"/>
            <a:ext cx="30289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3AE99D-76B1-489D-9F19-576AB1EF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A9BF18-4CDC-4090-96BA-B1ACBA15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3867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Roasted chickpeas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EEC78A-3AE4-4E22-9447-50A9E068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958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Crunchy, portable, contains carbs and fiber.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53E281-3484-4B02-9950-5DFE29C5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72100"/>
            <a:ext cx="30289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B88FB5-91DF-471C-88F0-B0C2A22B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622DDD-D1F9-4CDC-805A-869692A8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9592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Nut butter + apple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927AB3-D979-4488-9006-DE6CCDB3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531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Satisfying; portion as needed.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D0361A-888A-437C-82CF-5AFD5F75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372100"/>
            <a:ext cx="30289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5F8E7B-5F8E-40D2-A514-A13C7DA3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43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727016-ADAE-4AC0-8029-C948CC00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49592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Popcorn + another food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69B684-BC69-4E80-974D-14A19466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7531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9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9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May need protein or fat if it does not last.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21C17D-171B-48DC-8295-DB78DE5B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477250"/>
            <a:ext cx="6191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CE4D8"/>
          </a:solidFill>
          <a:ln xmlns:a="http://schemas.openxmlformats.org/drawingml/2006/main" w="10001">
            <a:solidFill>
              <a:srgbClr val="F3B49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A7A35E-2330-4E47-8BD3-5F910CD8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61060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8F3519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8F3519"/>
                </a:solidFill>
                <a:latin typeface="Lato"/>
                <a:ea typeface="Lato"/>
                <a:cs typeface="Lato"/>
              </a:rPr>
              <a:t>Medication safety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DACDBE-C68F-40CF-AE96-45F38358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87730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If you use insulin or medicines that can cause low blood sugar, ask your care team how snacks, activity, and low-glucose treatment should be handled.</a:t>
            </a:r>
          </a:p>
        </p:txBody>
      </p:sp>
    </p:spTree>
    <p:extLst>
      <p:ext uri="{BB962C8B-B14F-4D97-AF65-F5344CB8AC3E}">
        <p14:creationId xmlns:p14="http://schemas.microsoft.com/office/powerpoint/2010/main" val="10458496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df75b5ff347d4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35DAE-4215-42FF-BA01-AF91772D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73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Grocery Store Survival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1DB2A-3086-489D-8ACA-3097D6A9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Drinks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69193-148F-47B6-B9E3-6A0D1160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E7D93-F9F5-4B39-960A-90604220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E7FE6-C80D-46FC-9181-9E720438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A248A-BA96-43E8-B7E0-4CA76B79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  <a:hlinkClick xmlns:r="http://schemas.openxmlformats.org/officeDocument/2006/relationships" r:id="R9e35ec1c32a54d4c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E12E0-BD41-4349-B6DE-4CE571B8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4E957-AB4B-4437-97DF-52E44A5A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DRINKS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B6465-C695-4DF7-B533-0A2E778A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2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Change one frequent drink before changing everything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E0A80-006C-4402-A1A5-37A14A17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38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Sweet drinks can add sugar quickly, but the next step can be gradual. Juice is not universally forbidden; context and portion matter.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3DE4E-FFB5-4034-A95D-BB1072CF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13144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3C0D3-EC93-45E0-A2EC-2A16C90F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2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E11D76-01E2-4818-805D-842C53FD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861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10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810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Water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15CFFA-510B-4105-B0CF-D1E18B4A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956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8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8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default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C9089D-F32F-4484-B8EB-8E49ECB5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14650"/>
            <a:ext cx="13144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844A69-3B50-4DD4-98DC-7E13199D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86100"/>
            <a:ext cx="22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065814-BCEA-434C-8ADB-0CB619C4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861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10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810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Sparkling water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51B175-B191-4BB7-AE48-8211481F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956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8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8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unsweetened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2580CF-93C5-4900-9710-85E6BF64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14650"/>
            <a:ext cx="13144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E16E7E-9B5D-41B9-9D28-871D0804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86100"/>
            <a:ext cx="22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AFE6A9-0527-4F02-86F7-45547354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861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10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810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Tea or coffee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16B733-FA17-4AEE-834A-57A06211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956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8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8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watch add-ins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B9C0A4-29B0-40FE-B615-48CBEF6A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14650"/>
            <a:ext cx="13144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3CD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9EAC85-A7AC-46B0-944D-3E9B4077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22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167DE0-2142-4491-870B-4F88879A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8610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10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810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Smaller sweet drink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383645-D07B-49C7-B94F-011B7092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956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8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8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step-down option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FB2E22-2A70-465D-BB79-85149444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13144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CE4D8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14A44C-321B-49D3-A071-6184BD81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22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A361BF-E791-4D4A-96B3-A2690191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481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10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810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Soda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FBD1E3-95A4-4E6C-B07E-02EC7876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8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8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sugar quickly adds up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9C00CC-8951-4B73-AEB9-943672D2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076700"/>
            <a:ext cx="13144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CE4D8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046DB5-93BC-428D-9FD2-B6BE17AA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248150"/>
            <a:ext cx="22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DA3490-BC67-4F6F-A4EB-F52EE871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481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10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810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Sweet tea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8940FD-58B3-40C5-A086-0B26700B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577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8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8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sugar varies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B772D8-463A-448B-8A47-B97E0F80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76700"/>
            <a:ext cx="13144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3CD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32545B-16EE-4C5C-8E01-4B1C41A5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48150"/>
            <a:ext cx="22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FF87B1-FF30-41D7-A4C1-11E60C78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481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10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810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Juice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1A971E-8845-4DFC-AADE-7391855A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577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8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8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portion and purpose matter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5531E8-854C-43FF-AD55-B1916324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76700"/>
            <a:ext cx="13144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CE4D8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C9EB78-2761-4077-86EC-7BD17A3D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48150"/>
            <a:ext cx="22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6F82DE-A829-4ABE-879D-DD16FD40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481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10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810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Energy/sports drinks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5DD708-99B1-43F6-9B65-E0ECBC24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577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8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8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check sugar and caffeine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2A6ED9-5B76-4E9E-A3DA-4CEFD3E4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0"/>
            <a:ext cx="6191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CE4D8"/>
          </a:solidFill>
          <a:ln xmlns:a="http://schemas.openxmlformats.org/drawingml/2006/main" w="10001">
            <a:solidFill>
              <a:srgbClr val="F3B49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808202-18BB-4BD1-8002-09C65CBE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99135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8F3519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8F3519"/>
                </a:solidFill>
                <a:latin typeface="Lato"/>
                <a:ea typeface="Lato"/>
                <a:cs typeface="Lato"/>
              </a:rPr>
              <a:t>Alcohol safety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EBE40D-3293-47B2-B7EF-1941DF03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58050"/>
            <a:ext cx="588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Alcohol can interact with diabetes medicines and can affect glucose decisions. Ask your clinician what is safe for you, especially if you use insulin or medicines that can cause lows.</a:t>
            </a:r>
          </a:p>
        </p:txBody>
      </p:sp>
    </p:spTree>
    <p:extLst>
      <p:ext uri="{BB962C8B-B14F-4D97-AF65-F5344CB8AC3E}">
        <p14:creationId xmlns:p14="http://schemas.microsoft.com/office/powerpoint/2010/main" val="3458093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f62267bc84d44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425CE-86B2-4835-B7EE-609989AF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73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Grocery Store Survival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BB2BB-E8DF-41D1-832C-908D883C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Nutrition Facts label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DFA70-78F3-4C3F-9167-98F6E1EC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DA5F5-B20B-44E2-B8DB-D5CE76E5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DC3FF-E915-4061-8B07-408AA345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B0562-F9D6-41A0-A144-96F819F3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  <a:hlinkClick xmlns:r="http://schemas.openxmlformats.org/officeDocument/2006/relationships" r:id="R985598025c69400a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07E79-0B4B-456E-BB9C-3BFC3B3F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2DD61-0E4C-44F3-81FB-5CD0EB9B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NUTRITION FACTS LABEL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F4C3A-A611-4D1E-A954-EDFF556C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2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Start with serving size, then scan what matters for your meal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A99AC-BABF-4E4F-841C-962D5378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38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The label is a comparison tool, not a personal portion prescription. Use it alongside your own plan and the way you will eat the food. [1,2]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1F3C8-E482-4014-BF73-4A71AA56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3143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16211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621B4-D455-47B4-A143-DABD0B72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7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187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Nutrition 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514F5-CA15-449F-BB6F-489796C5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32FA34-8589-486C-BB1D-D89C908F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Serving size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B9B9B-3CBF-44AE-B71B-D0C1A83E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480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4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1 cup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4FB41B-85FA-4585-B63C-AA87F7C1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29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8D8676-44F7-4F78-BAAC-DC3EC9F3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67100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38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638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E116F0-D699-4693-A4D4-52CCA20D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289F16-14F7-47DB-8551-EA6B34FB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814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4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4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Servings per container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2D1B4F-78FF-4329-A374-03B3527C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8142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84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4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CF68B6-77E4-43E3-91C1-8817E3A2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62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96E818-8AF2-4400-9A29-5D616499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00475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38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638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C2C2FB-F859-43E3-8BC3-8CBADF3F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16211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0E8E81-0749-4C45-859E-F8EBEC7A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Calories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DFBA2A-2B65-4A26-8B31-5B7E0ACD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148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4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240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4F32EA-B304-4E8F-B7FB-3BEAE899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32FB5C-882F-444C-93D2-CF3FCE12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Total Fat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1D12D7-2DA8-463A-A5C4-E4E2933E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5148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4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12g  15%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05D227-FC01-48A0-9055-8DB3F983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D39125-A784-4F1C-9A16-80851FC0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482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4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4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Saturated Fat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22F6AB-56EF-4569-A2C0-84C23D35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4822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84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4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4g  20%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7DA5AB-A41A-4FA7-A128-D6805072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29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85D575-A4BD-4FDE-BC4C-9B76444D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67275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38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638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61755F-7AB2-4F1B-8490-78EA0144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9B6CBB-EF4C-4EFC-8954-19F66B6F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Sodium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596488-ACD9-42EA-A0F1-D2B54EF5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816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4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480mg  21%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4C7AD4-D1AD-482F-8EC3-7B490F24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162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51CA91-D64E-4030-898A-0830ADE6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00650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38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638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069AD4-A6BF-4F0B-94EC-351EB114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FB8C47-DEA9-4CCD-AF74-007DEA07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149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4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Total Carbohydrate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D2106E-DF0C-4942-B49C-B30115E6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51497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4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4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34g  12%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055497-A208-4E74-8CC5-2B7CE636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4959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0D5866-B8C8-4801-B04C-705DAF8E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34025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38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638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F321D7-2C52-4BE6-BC02-DE693D1B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51148A-AAEB-4A19-9C43-78F0BE7A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48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4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4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Dietary Fiber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25E0F7-CED3-4013-AD61-D6E83BAF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483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84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4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4g  14%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16C608-B76C-44BB-8A41-D6F93717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829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782A2F-955A-4BCA-9D3E-FD22AEAA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867400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38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638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706EA4-97A0-4579-B8D9-20DACCF8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CD4A6F-BF71-4F6D-8F37-BC2B2014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817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4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4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Total Sugars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72E1F2-87CE-462D-9886-47DA605C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8172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84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4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12g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C626D66-EDC0-4803-A16A-2C6E1436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FB67570-5D20-4972-914F-AD0FF2BC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15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4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4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Added Sugars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0CDCBC2-E1B3-4CB8-BEF3-AD1E1652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5151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84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4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8g  16%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28C958E-E26C-491A-B810-DB86684A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496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588B84D-B13C-4850-A67E-C2C57A06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534150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38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638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AB31EF7-E730-4116-AD73-B90DA06B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71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7DB50E8-034B-409D-99E5-12CDAF97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019425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713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DE69490-1A76-4A7D-B37D-E6150541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03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Serving size describes the label.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F476503-F5F5-4660-90EF-0B87663B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96B1F8C-9D4F-4043-907E-05E6BF9D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686175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713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4336517-C034-4B3A-B75F-A8949F33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671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Servings per container can change the math.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9DAFDDA-78FC-4775-9E6F-376E4057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05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0C90F67-CC09-422F-AC33-882AE260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352925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713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7171004-B116-42FA-9890-263ACCA7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338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Total carbohydrate is the main carb line.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7575D08-FC2C-442B-911C-87C38597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72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D91258E-50B2-4067-A5EB-11F4B42C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019675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713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8F14634-2173-4BC8-880F-20EBC4DE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006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Fiber is included in total carbohydrate.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EBCD24E-ED53-4310-810C-60112071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38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17F1357-2A3F-43D1-989D-D324CF51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686425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713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5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B4DB429-ADA5-4458-91DA-C17C14D0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673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Added sugar is separate from total sugars.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F4A23A5-75C1-468F-9A08-1B772FC7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305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BF79DC2-1DAA-42E7-A5C0-C2E6017A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353175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713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E6D5F8B-7E01-4592-A355-93B765B8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3341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Saturated fat helps compare similar foods.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7D4C9C4-B70A-4815-BFD2-A9A06A0A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972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4CE3EDA-18F0-49F9-BBA6-CFD4BCBC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7019925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713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713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7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C99137D-A551-438F-8A61-A4B1E165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70008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Sodium and %DV help with comparison.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5901EE7-1D16-4FEB-8781-5F99D7B9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96250"/>
            <a:ext cx="619125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B8D8C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3C89AAE-29C0-4B3C-8BCC-301A024F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22960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Fast rule of thumb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1CC4D5C-4955-406F-830F-4334D21E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496300"/>
            <a:ext cx="588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For many nutrients, 5% Daily Value or less is low and 20% Daily Value or more is high. The amount is per labeled serving. [2]</a:t>
            </a:r>
          </a:p>
        </p:txBody>
      </p:sp>
    </p:spTree>
    <p:extLst>
      <p:ext uri="{BB962C8B-B14F-4D97-AF65-F5344CB8AC3E}">
        <p14:creationId xmlns:p14="http://schemas.microsoft.com/office/powerpoint/2010/main" val="12438775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2b33134b94de3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A3F39-EBDF-4EE8-87AC-2EA88EF3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73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Grocery Store Survival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67643-FFC0-4519-BC0D-6F3358FA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Carbs and added sugar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150B1-9E16-413D-8A5E-C2D0521D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AB87C-9AE0-4FEC-8C41-ACDE9235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76E82-F3D2-49C0-A2CC-5D5B1FD6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BFC53-DA02-42B9-9570-3C91051C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  <a:hlinkClick xmlns:r="http://schemas.openxmlformats.org/officeDocument/2006/relationships" r:id="Rbc70563d02b64e9d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85B5B-FF34-4C64-B16D-6531D982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5BC5B-8D91-4E05-953C-F9F19D27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CARBS AND ADDED SUGAR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EC2F4-AB5F-4201-864C-895E557F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2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Added sugar is one clue; total carbohydrate is still the main carb 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D5D3B-C3DB-4689-8E19-8B5E9543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38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Total carbohydrate includes starch, sugars, added sugars, and fiber. It can matter for carbohydrate-counting or glucose-management plans. [3,4]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EA8A2-A77A-4CD0-B115-D58EA788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667000" cy="3429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10001">
            <a:solidFill>
              <a:srgbClr val="C8DC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CD97FD-5604-4753-AF39-B0DEFB51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13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Total carbohydrate includes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839E1-F05D-4065-A899-8CE7F781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67125"/>
            <a:ext cx="1809750" cy="4000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91170-B932-44DA-ADA9-170610B0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814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93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3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Starches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875CF-3AFE-41AC-B7B6-09AD4D6D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1809750" cy="4000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E97F4B-A5F4-4516-AA4C-0C404A34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0055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93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3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Sugars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F9FD28-C731-411B-82BE-B822FDE2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05375"/>
            <a:ext cx="1809750" cy="4000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2386E8-3EE2-4FE2-98C3-1F020D8D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1967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93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3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Added sugars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D6DFE7-6EC1-4F8F-9052-CB8D613E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24500"/>
            <a:ext cx="1809750" cy="4000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83EE43-3D7F-4F8B-8207-A0CA097E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3880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93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3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Fiber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E61580-ECBB-4B8D-BA70-4DE77E1C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146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8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097045-6657-40E3-9671-9FF4F504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0037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9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9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Ingredient words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4BE6DD-150C-4517-B244-95F4BAF6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146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8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03915F-7E44-4C53-950F-8CD86FEF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0037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95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95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Still check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1E717D-89A4-4839-80F8-E4CB5946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290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C48D97-BD26-44EC-AFAF-AE510A05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147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Syrup, dextrose, sucrose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F6D73D-E35A-428A-A133-FBD89E9B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290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695C88-EE1A-479C-9850-72AB8E39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1472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Total carbohydrate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57F943-B4DB-41E0-8C01-A576A4BF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9433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A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B51A52-BC2B-481E-B8B5-1D086C05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2907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Honey, agave, molasses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F221B5-21FA-4838-8B9D-3985FA28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433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A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397215-F5B9-40E5-BEEA-A0E2A195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2907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Added sugars + serving size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3E46C0-3326-4079-AB86-0839EE64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577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89651C-FFFC-43ED-AC3B-CBDBC96A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434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Juice concentrate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9DB860-A8B6-4E3F-8203-4944B156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577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3986E8-2A42-4FAD-A0E2-E7137A22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4342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Total carbs and portion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5D42A7-4E90-4C4F-80D2-C6170E56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720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A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1FA791-CCD4-499C-AD76-95E50E17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5777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No sugar added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959A1C-0C9E-45FF-8E22-2488516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9720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A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EB1E46-0855-44D2-963B-9234A92D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5777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May not be low carbohydrate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361EF1-99B1-4280-8485-26E10A58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864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0CE728-C343-4260-8A3F-627E562E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721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Sugar-free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C4AA2D-C865-4FE5-BA98-D067DE81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4864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6DE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349CDD-1679-43AB-8A9C-E87B35D0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57212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May not be carbohydrate-free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3864E8-DDDF-4458-990C-75EE3FB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0"/>
            <a:ext cx="6191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B8D8C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2EC7A9-08D1-4898-8186-9A9BFE02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56285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Plain-English takeaway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EDFCE6-ECC7-4DA7-B267-12505A47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29550"/>
            <a:ext cx="588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Ingredient names can help you notice added sweeteners. They do not replace the Nutrition Facts label or your portion.</a:t>
            </a:r>
          </a:p>
        </p:txBody>
      </p:sp>
    </p:spTree>
    <p:extLst>
      <p:ext uri="{BB962C8B-B14F-4D97-AF65-F5344CB8AC3E}">
        <p14:creationId xmlns:p14="http://schemas.microsoft.com/office/powerpoint/2010/main" val="12612152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06eba721548d8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DA3F7-97BB-4EEF-9648-A9D185FF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73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Grocery Store Survival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7299B-4D64-43D6-9C48-C41C6517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Fiber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44D7B-673D-46E4-94DE-5133186D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BD349-601B-4B8A-A073-0F3AE324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51C3A-B465-4EEF-96AC-16938D47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90802-A6CA-4963-81D6-5B5BCABC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  <a:hlinkClick xmlns:r="http://schemas.openxmlformats.org/officeDocument/2006/relationships" r:id="R2c86bafb0ee44190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445B7-A363-4656-B58B-6895E540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5956B-C2C1-4785-AA23-444B2248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FIBER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EF7EA-8609-455B-9480-A8F62E23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2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Compare similar foods, then increase gradually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67284-3EC0-48C1-A178-BB46E5BE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38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Fiber-rich foods can support fullness, digestive health, overall dietary quality, cholesterol management, and more balanced meals. Individual glucose and digestive responses vary.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E222A-C00A-4525-94B2-5C9A0690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8"/>
          </a:solidFill>
          <a:ln xmlns:a="http://schemas.openxmlformats.org/drawingml/2006/main" w="10001">
            <a:solidFill>
              <a:srgbClr val="F3B49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9A309B-845B-4122-9BF2-9620B65D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066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735" b="1" i="0">
                <a:solidFill>
                  <a:srgbClr val="8F3519"/>
                </a:solidFill>
                <a:latin typeface="Lato"/>
                <a:ea typeface="Lato"/>
                <a:cs typeface="Lato"/>
              </a:defRPr>
            </a:pPr>
            <a:r>
              <a:rPr sz="735" b="1" i="0">
                <a:solidFill>
                  <a:srgbClr val="8F3519"/>
                </a:solidFill>
                <a:latin typeface="Lato"/>
                <a:ea typeface="Lato"/>
                <a:cs typeface="Lato"/>
              </a:rPr>
              <a:t>Vegetables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E05DB-3376-4E59-B06C-436E1CE4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8130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B8D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3044A-8694-4DFB-8A39-BB83B2DA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38450"/>
            <a:ext cx="1066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73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735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Beans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DB898-663C-4F87-8F28-0973B3CD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8130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B8D8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CDE00-A0D7-4DC0-ACC1-10A3CB11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38450"/>
            <a:ext cx="1066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73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735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Lentils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8FFA3B-EB34-4DFD-8E79-125D0CF4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8130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8"/>
          </a:solidFill>
          <a:ln xmlns:a="http://schemas.openxmlformats.org/drawingml/2006/main" w="10001">
            <a:solidFill>
              <a:srgbClr val="F3B49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D4ADBF-6D75-4B01-BA6C-258E9103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38450"/>
            <a:ext cx="1066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735" b="1" i="0">
                <a:solidFill>
                  <a:srgbClr val="8F3519"/>
                </a:solidFill>
                <a:latin typeface="Lato"/>
                <a:ea typeface="Lato"/>
                <a:cs typeface="Lato"/>
              </a:defRPr>
            </a:pPr>
            <a:r>
              <a:rPr sz="735" b="1" i="0">
                <a:solidFill>
                  <a:srgbClr val="8F3519"/>
                </a:solidFill>
                <a:latin typeface="Lato"/>
                <a:ea typeface="Lato"/>
                <a:cs typeface="Lato"/>
              </a:rPr>
              <a:t>Oats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2FC43D-C2BE-46AF-B1FF-D356CA19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B8D8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91A2C-4C50-4798-9A11-DBCEA389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066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73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735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Whole grains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D68837-DF59-4E7D-8066-FDA22BFA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0040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B8D8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5BF558-A925-46AF-829A-38CC89C5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57550"/>
            <a:ext cx="1066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73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735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Berries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4F35BF-66DE-45DA-BA14-E14BB9D5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0040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8"/>
          </a:solidFill>
          <a:ln xmlns:a="http://schemas.openxmlformats.org/drawingml/2006/main" w="10001">
            <a:solidFill>
              <a:srgbClr val="F3B49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BF666B-44F0-4208-B7C4-FCAFBFC6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57550"/>
            <a:ext cx="1066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735" b="1" i="0">
                <a:solidFill>
                  <a:srgbClr val="8F3519"/>
                </a:solidFill>
                <a:latin typeface="Lato"/>
                <a:ea typeface="Lato"/>
                <a:cs typeface="Lato"/>
              </a:defRPr>
            </a:pPr>
            <a:r>
              <a:rPr sz="735" b="1" i="0">
                <a:solidFill>
                  <a:srgbClr val="8F3519"/>
                </a:solidFill>
                <a:latin typeface="Lato"/>
                <a:ea typeface="Lato"/>
                <a:cs typeface="Lato"/>
              </a:rPr>
              <a:t>Nuts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7B51E2-26F2-4A51-BD51-B5D3EC80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00400"/>
            <a:ext cx="12573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B8D8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B90AD2-DB11-4D19-A189-C444D519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57550"/>
            <a:ext cx="1066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73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735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Seeds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FDC9A6-E707-4DFB-9E68-22760EC9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2381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16211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D36C84-127F-41CA-BD4F-4DE22975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1350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Nutrition Facts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C97EFC-184C-497E-9BF0-E5367EED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6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765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Option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CEA285-D073-4E46-89C3-75F97199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16211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8847E6-F872-44E4-993C-ECCE6E5E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101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Serving size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0F424E-E2D3-4983-9FC4-189F6219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10100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788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1 bar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EA29AF-D414-4199-9504-042A22CF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FE7C43-055F-4B5B-AC0D-F365F52E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Total carb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4D47C7-7C85-49D0-9D18-51EE5378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876800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788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28g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A4DC33-C5CD-4379-A3D0-0FFBA68E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5A06B8-5235-4BE9-8255-BE7921B3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43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Dietary fiber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8D8EF9-C7C6-4C31-8557-DABE5DDB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143500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2g  7%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54EAC5-050E-4022-AAC6-84939391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721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7EB115-0945-46E0-9BA8-1B0298EF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102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Added sugars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1B40F0-9059-43F1-A127-9091B2CA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10200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9g  18%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8051D3-438F-4573-AE53-09D18AD6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482F63-F77C-42F6-90EB-0D115FEA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769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Sodium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499EEE-30C9-43FD-A241-10137F85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676900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120mg  5%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E3A8D6-3012-4C03-89F1-D111AFBA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81450"/>
            <a:ext cx="2381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16211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478BE9-6728-4D6E-B9ED-39EB7A36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767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1350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Nutrition Facts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90643D-75C5-4FDA-B188-0DA3868E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624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6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765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Option 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57F228-2BBF-4E85-BD86-0CF23D19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720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16211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A54B1D-F76B-454C-8844-B42F225A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101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Serving size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4E101A-35C9-49CC-97F1-0ED8A909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10100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788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1 bar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154B4E-D1C2-4A6A-8B33-68CA4FB2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387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8750F8-356D-4BBA-A5EB-89F532A2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768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Total carb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9C3D5A-EF41-4D61-B231-189EC6DC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876800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788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29g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6916EC-5E09-4FCA-9AED-7D88CFF9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054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6B60BDB-C741-4354-9207-E05F95A0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43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Dietary fiber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5D7D420-633A-4B2E-A94A-877FE63C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143500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6g  21%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A09805E-519C-4027-AFE0-A4D3E3F8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721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532585F-C934-40BC-98B8-7ADEDCDD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4102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Added sugars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77F77B6-8CE3-44C9-8668-A663494E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410200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5g  10%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1B9B00-C62F-4ECA-A496-8A7CE58F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388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CDADC09-0120-447B-BBA5-CADDA01E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6769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Sodium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C02FDCD-3C38-42E9-8538-1485A716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676900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150mg  7%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8B11368-EAE0-4ABB-83D4-FE8D405F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524750"/>
            <a:ext cx="6191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B8D8C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F4BE26F-08D5-4215-8229-0F2B6DC8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5810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Comfort note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97230EF-2A3E-4ED2-A998-D1AE1BEF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24800"/>
            <a:ext cx="588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Increase fiber gradually, drink fluids, and adjust for digestive conditions, kidney needs, medications, and your care team's advice.</a:t>
            </a:r>
          </a:p>
        </p:txBody>
      </p:sp>
    </p:spTree>
    <p:extLst>
      <p:ext uri="{BB962C8B-B14F-4D97-AF65-F5344CB8AC3E}">
        <p14:creationId xmlns:p14="http://schemas.microsoft.com/office/powerpoint/2010/main" val="16312649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ecf6ff2ae4447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F74B0-CB7A-4213-B86C-36B16A1D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73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Grocery Store Survival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07FE2-E47F-4073-B517-1A1D27C8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Sodium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63255-82B2-4A53-BF38-B1921DC9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84DFF7-78B9-4FAD-AAAE-333DFE61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C8C7F-597B-422F-AF52-A40F0573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835CF-60AE-4B24-8F5A-5C3A16BC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  <a:hlinkClick xmlns:r="http://schemas.openxmlformats.org/officeDocument/2006/relationships" r:id="R9f68aa0b74b04c1d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92798-4F35-4CBD-820A-8B2EC404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51479-FA19-4D14-BD99-542E72F9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SODIUM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20D36-E795-4BD8-AE37-30404002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Compare similar products before deciding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289E87-676A-4693-AAFE-3489167B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38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The FDA Daily Value for sodium is 2,300 mg per day. The %DV is per labeled serving, and individual recommendations may differ. [2,9]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F64C9-4CE5-41FB-8C22-681770D3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381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16211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E306D-5A1A-4307-BDCB-B30A8760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1350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Nutrition 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525B5-BDD4-410E-B976-50635CC0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6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765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Option 1 canned soup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DBA20-CF74-42E7-84CF-B7B84F8B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16211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41AFE2-4D8A-46DE-B29D-576D0990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Serving size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CB1790-C10F-42EC-9994-D71BA77B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581400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788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1 cup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F5A7D4-3642-426F-A005-59954D58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2C9AB7-2172-4CD1-B6D8-0B9FA906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Servings/container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6B484B-08C8-4813-B85E-7028BC74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848100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583030-AD0B-4CEE-BAA7-205E9ADB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767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FA10A8-B436-4327-A594-C7545D43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Sodium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F86344-0A0C-4A2A-8AB8-6E42FA09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114800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788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520mg  23%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7FD8B8-D2C9-4AF9-8D38-3A288454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434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CE003A-F988-4967-A081-DE55F3D7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Total carb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E8C16B-8558-4205-990E-E3779E73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381500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24g  9%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67D93F-BF68-4412-906E-D0575C3F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101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37735E-F933-431E-B284-FCB7BDEA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Protein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C77F5D-E3CA-4334-839C-1083028A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648200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9g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600EF9-6907-4A8E-87BE-60BC872F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52750"/>
            <a:ext cx="2381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16211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134185-B4B8-4570-AABB-AB991DA5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480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1350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Nutrition Facts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7568C1-0FF8-4DFE-AC74-7047C572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33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6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765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Option 2 canned soup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B78C16-E7F4-4699-BB29-B92D6435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433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16211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AD3FF2-5F45-4448-8E2D-D871E4E4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814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Serving size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D36D9D-E891-48F8-92B3-63485E6B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581400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788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1 cup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8BD29C-ADB7-46FB-A7E6-B6828B68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100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33059C-59DE-41E6-AC88-67E43850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481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Servings/container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3C49B5-7FE3-42C3-9514-2973C425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848100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4580D4-DBFD-4A8F-BCAB-1A357E4A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767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C13000-AD9F-460F-8F35-D908D141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148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8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Sodium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779B87-A90B-4E60-A576-0440EB10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114800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788" b="1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88" b="1" i="0">
                <a:solidFill>
                  <a:srgbClr val="16211D"/>
                </a:solidFill>
                <a:latin typeface="Lato"/>
                <a:ea typeface="Lato"/>
                <a:cs typeface="Lato"/>
              </a:rPr>
              <a:t>760mg  33%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D231EF-5314-4F62-8CC8-5E4C6EFD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434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E95E6C-8688-4CB4-B6D6-A9C54280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81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Total carb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3DD2D0-1EBA-42C6-BF13-9870510A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381500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23g  8%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11E4BB-280F-4FD8-BD50-FF945052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101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C74BF4-E4DF-4D7C-BB8E-E04D916F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482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Protein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DA1ABD-9CFB-4A76-B4AB-1F79D962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648200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72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72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10g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02F70E-FE33-4954-8FD9-F118DA3F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6191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B8D8C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B1A108-F06E-4E5C-9018-8C07EC95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How to compare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58AF5F-B8DE-45D3-85A9-BC12CE47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0300"/>
            <a:ext cx="588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First compare the same serving size. Then ask how much you will actually eat, how often you buy it, and what else is in the meal.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90E0F6-2001-4A3E-A4EA-4C2780D8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96100"/>
            <a:ext cx="6191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10001">
            <a:solidFill>
              <a:srgbClr val="C8DC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F3944B-6B6A-42EB-B971-E5654C3E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2945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Daily Value cue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91E285-5C16-4AEB-A778-1ED246A3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96150"/>
            <a:ext cx="588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For many nutrients, 5% DV or less is generally low and 20% DV or more is generally high. One label line does not make a food universally good or bad.</a:t>
            </a:r>
          </a:p>
        </p:txBody>
      </p:sp>
    </p:spTree>
    <p:extLst>
      <p:ext uri="{BB962C8B-B14F-4D97-AF65-F5344CB8AC3E}">
        <p14:creationId xmlns:p14="http://schemas.microsoft.com/office/powerpoint/2010/main" val="11650108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2141bf2cb431c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C6045-84F6-404B-A9E6-DA8CDC3A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73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Grocery Store Survival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7EA6F-6C22-4E1A-98D9-0D571203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Claims and ingredients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25547-A665-4EED-90A8-10DC5133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4FA77-0F73-4166-B682-1E2B4CE2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BF198-CAAA-408F-94F7-9230B8BB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AD402-AA2C-4985-8277-1D5B9FA2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  <a:hlinkClick xmlns:r="http://schemas.openxmlformats.org/officeDocument/2006/relationships" r:id="Rd6961d3a6f244e45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A4BE2-85E6-47F0-9AA0-9DD7E1B6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A99E9-0FB6-4F08-A771-E2825837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INGREDIENT LISTS AND MARKETING CLAIMS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D83AF-E8D2-4402-B064-E38D2CA3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2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Front labels can be useful, but they are not the whole 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69980-459F-4D17-83B3-F14ECB07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38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Claims may be helpful clues. They do not replace the Nutrition Facts label, ingredient list, serving size, and your health needs. [1,3]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9256B-7B59-46FC-B2DB-A3970212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13335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10A7F-657B-4F0D-978A-900AADA4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D45F8-AE64-4781-B9A2-6920BD63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773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No sugar added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5F4130-8867-4327-9595-227B4E74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975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975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Front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E0078-7C1E-4041-AE0C-BBADAD17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495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12AEF1-CA88-4961-99AD-D6D46D45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19400"/>
            <a:ext cx="13335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DC1CB3-4749-4403-8DF9-57142C5A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9085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A47B0A-AF80-4146-8BDE-60268979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051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773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Sugar-free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E528A6-4E96-4B77-AE47-4A7656A4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5623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975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975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Front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A1CE93-06F8-4F96-99D2-BE37D23E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43350"/>
            <a:ext cx="495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19E6C6-DD97-4E77-B5E8-BF1740EC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19400"/>
            <a:ext cx="13335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9380A9-3984-4959-BD72-092C38AB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9085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8FDF70-F006-44CB-BE00-55386F5A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051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773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Natural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6FFEDF-7607-4342-91D0-4D5BCD28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623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975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975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Front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9BE832-342E-4E3B-81BD-ADEC94B2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495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9BF29A-57A9-4A84-9215-9A7114CC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19400"/>
            <a:ext cx="13335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369134-6188-48DF-A041-1537058B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9085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098F0A-57E2-48FE-8809-A42B9DF6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051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773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Multigrain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70640D-99C2-4EBF-AEED-B6C601A7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623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975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975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Front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940CA1-4745-4484-A798-FE2AE38D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43350"/>
            <a:ext cx="495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118ADE-35D0-4CC5-A4AB-2BF27A78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13335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F210A3-998C-4F1D-A8AC-EA9E69D3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59FBD7-8F9E-477A-84E5-3E2B894F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773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Keto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922965-FEF9-4DEE-9C75-E2A29453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975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975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Front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1323BD-9097-4120-B19E-6EB904FF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495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26947E-F1A4-43EA-B137-52DD00E5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00550"/>
            <a:ext cx="13335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6A8506-EB7C-4E88-A34E-A29AD249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7200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88F9A0-D62A-4EFA-97A0-50A7431E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8630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773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Low-fat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044F1C-65E1-4EBD-89C4-E779AFB4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14350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975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975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Front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96F3C1-313B-4ED7-B4A9-88C7E7C0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24500"/>
            <a:ext cx="495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CF2DB2-DC96-4044-8DE2-6647A75D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400550"/>
            <a:ext cx="13335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617F2C-AFCA-4B06-ABFD-821FB5C0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57200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D62EF2-D05C-4FCE-8B01-1FB29FB4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8630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773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High-protein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4B59D3-E08C-4C92-A03C-2A328D70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14350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975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975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Front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6AF07A-8080-4F8F-ABE1-E95FA42B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24500"/>
            <a:ext cx="495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6A0EB1-5854-401C-8339-DD812759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00550"/>
            <a:ext cx="13335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07C7F6-6E7D-4E1F-833C-D185C4E2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7200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49F0A90-8FFE-467C-BD33-A4C2029E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8630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773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Organic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A1BE0F-A938-4052-B297-86FFA328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14350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975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975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Front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14265A-42E0-41DB-BDF3-8949D646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24500"/>
            <a:ext cx="495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B5793D-8B86-4F57-B11D-2F2464F7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29400"/>
            <a:ext cx="6191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B8D8C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27A766-9C6A-440D-805C-9CC33B86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76275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Back-of-package checks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606F38C-8AE8-482D-A1D5-21994BE6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29450"/>
            <a:ext cx="588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Serving size, total carbohydrate, fiber, added sugar, saturated fat, sodium, and ingredient list. Net carbs is not one of the standard Nutrition Facts lines. [1]</a:t>
            </a:r>
          </a:p>
        </p:txBody>
      </p:sp>
    </p:spTree>
    <p:extLst>
      <p:ext uri="{BB962C8B-B14F-4D97-AF65-F5344CB8AC3E}">
        <p14:creationId xmlns:p14="http://schemas.microsoft.com/office/powerpoint/2010/main" val="4975295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3d71d47844305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4B11D-5B36-4DE4-91A9-42BBD4B3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73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Grocery Store Survival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BF300-5D04-4E6F-9730-C0138590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Budget strategies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21BBC-DC90-48EB-93FE-43267FFB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E18D5-6763-4CE4-9D1C-E88760A1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EE4E2-84D4-4893-AE4C-1C6A5DCB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D6677-B1F7-4188-9D5E-76EA6826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  <a:hlinkClick xmlns:r="http://schemas.openxmlformats.org/officeDocument/2006/relationships" r:id="Rd04c84d7c3494ed2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2CBC8-EBC7-4CE4-8205-DC2B977D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370E6-9A9D-42B8-96C7-B2E2F6BF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BUDGET STRATEGIES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8AF94-7CEC-4751-9D16-6E22D4F7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2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Let budget be part of the plan, not a source of shame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4F6DA-BF88-482C-B286-480636B7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38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A realistic plan uses what is already available and avoids buying aspirational foods that will not be eaten.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f1b9257d8d4983"/>
          <a:srcRect xmlns:a="http://schemas.openxmlformats.org/drawingml/2006/main" l="794" t="0" r="7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2781300"/>
            <a:ext cx="2952750" cy="200025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19474-A007-4655-926F-0C3EAAC3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19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BB6FD-2548-4217-AE5F-513B5C88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8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8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Shop the kitchen first.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97CA55-B396-4DB9-8655-753EEF90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19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D1291-3B8A-4985-8B1D-1C7CDB28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813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8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8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Plan meals around what is already available.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B6F6E0-AF3D-4FA6-B093-9A77A4EF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19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85DCE-41CC-4B4A-A95C-066F3999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814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8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8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Compare unit prices.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3E3349-3C0E-431E-851C-4A01119F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1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47938E-44E6-498F-A8A3-EAE7B224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814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8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8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Use store brands.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33642F-DE5B-4690-8397-40EEF026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19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FB15AA-A52E-41AE-A3B1-A8029854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815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8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8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Use frozen vegetables.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1FB55B-DA2F-447D-B7AA-5616A9EE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029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21B4C7-7FA7-49E1-989D-AB67D426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911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8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8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Use canned beans.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6B1773-01C3-4E7A-8005-CF8CF2AB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429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193928-D716-4EF6-9589-D804969C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911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8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8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Buy seasonal produce when useful.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E038A5-F4E8-458E-98FE-97D770F9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829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2F63FC-9317-4629-A92E-3EB10E1B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7912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8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8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Freeze leftovers.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92ECA1-3DDE-48BE-A0D9-4663A016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229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A98906-5597-40D5-92BA-71BCB61E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1912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8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8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Build pantry backup meals.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2DB2C7-ECB8-46B2-A556-52644BE1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629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465356-CCE6-4859-A5D5-DA0B6126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5913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85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85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Reduce waste before adding more variety.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887B47-F505-4598-BC36-E9C27ABA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505700"/>
            <a:ext cx="61912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B8D8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ED97CA-2988-4535-B0F7-11882CCF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3905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Useful question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D02F48-1C63-45E0-AEE0-33C1C1B5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05750"/>
            <a:ext cx="588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Will I actually eat this before it spoils? That question can protect both your budget and your energy.</a:t>
            </a:r>
          </a:p>
        </p:txBody>
      </p:sp>
    </p:spTree>
    <p:extLst>
      <p:ext uri="{BB962C8B-B14F-4D97-AF65-F5344CB8AC3E}">
        <p14:creationId xmlns:p14="http://schemas.microsoft.com/office/powerpoint/2010/main" val="18934336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76973c16e4148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C23FF-8FA5-4C51-89D8-80616B47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73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Grocery Store Survival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65E64-BB61-4EC2-9CFB-DAAAC88D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Ten-minute meals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C894F-2CCD-4F85-B055-5E0B425E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6BB3F-931D-4097-8AC0-0B87A5C9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D0DE9-7294-4450-965B-5D9C4B63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0205E-1E14-48DD-9B1A-E13BFB3F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  <a:hlinkClick xmlns:r="http://schemas.openxmlformats.org/officeDocument/2006/relationships" r:id="R41f1b5dcc6574146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1DE08-CF95-4E5B-8339-D20263C7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25556-0FDC-40A4-A879-647B714A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TEN-MINUTE MEAL FORMULAS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9CDF6-478F-4A0A-8E85-57881F29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2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Build from a base, a protein, a vegetable or fruit, and flavor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44950-CCC8-436B-A5C3-F793A6D3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38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These are flexible formulas, not prescriptions. Swap based on culture, budget, appetite, allergies, tools, and what is already in the kitchen.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4EAAB-6231-47C3-AE76-DD12BB58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29146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3AC03-9D32-4831-9871-27B9DB65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1125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Taco or tortilla meal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B89256-AB4F-49B6-86F6-0CED0C65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7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7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Tortilla + beans or protein + cabbage or frozen vegetables + salsa or avocado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984C4-ECD5-4452-B175-67B141A8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57500"/>
            <a:ext cx="29146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1BBC67-C9B0-4502-BD6B-3B5F6BB1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28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1125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Rice bowl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F86899-8F98-4E31-84A3-51C8F955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909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7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7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Rice + tofu, egg, fish, or chicken + frozen stir-fry vegetables + sauce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6C2065-21DE-4E8A-A589-4F366155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0"/>
            <a:ext cx="29146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2967D7-DA1F-4BB4-A5C5-6C97F1F2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1125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Pantry plate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468B16-8E13-4D2D-A519-D128C4E3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7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7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Crackers or bread + tuna, hummus, or beans + cucumber, carrots, or fruit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5142BE-1DA9-4288-8569-D97D49C9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72000"/>
            <a:ext cx="29146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518DF8-0A24-40E9-A4BA-7463A670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43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1125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Soup upgrade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33716F-BB25-49D7-855B-21143BA3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054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78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78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Canned soup + extra vegetables + beans, chicken, tofu, or egg + whole-grain side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4F4982-38F7-4BE0-AE09-C59DF2EC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334250"/>
            <a:ext cx="6191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B8D8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9DB1CD-3857-477F-912D-EB40297B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6760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Backup meal 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0C0B2D-AAA3-4549-A54C-5770A656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34300"/>
            <a:ext cx="588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Write one formula on your grocery list. Repeating a meal that works is not boring; it is a way to lower decision fatigue.</a:t>
            </a:r>
          </a:p>
        </p:txBody>
      </p:sp>
    </p:spTree>
    <p:extLst>
      <p:ext uri="{BB962C8B-B14F-4D97-AF65-F5344CB8AC3E}">
        <p14:creationId xmlns:p14="http://schemas.microsoft.com/office/powerpoint/2010/main" val="14456523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1677899d446ef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37B96-E4B7-43D2-871F-3FED1D60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73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Grocery Store Survival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8B556-F9A4-49DD-8927-8AF0F940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Checklist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85EEF-7565-42AA-9333-C1433998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89E99-A0FF-4781-9E21-1B7B2157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F0B27-5A2C-47EE-AE95-63A0526E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918F8-528C-44F3-A103-A9502CFA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  <a:hlinkClick xmlns:r="http://schemas.openxmlformats.org/officeDocument/2006/relationships" r:id="R3637855fb06344ea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A28B7-E60D-4C17-A212-7C7CF04D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D23C9-AF03-44E1-9C85-047AEB75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PRINTABLE GROCERY CHECKLIST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3C924-E1A6-4D32-A1E3-99346B10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2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Make one list that works for your household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4AC9B9-75A0-4BC5-8985-66BF5C0C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38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Use this as a starting point. Add what fits your family, budget, culture, medical needs, and schedule.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0D4AE-F2CB-4387-87EC-84C92CDA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6C25E-40E6-4FA6-9F6B-1E209172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2892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0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780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Shop my kitchen first: refrigerator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29D9D-8DA3-4038-ABE7-E90997EF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81300"/>
            <a:ext cx="14287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CCD8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3C60C5-9D90-476A-9140-7AB23201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7655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38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38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Qty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6160D-E0FF-4AA3-AAC1-2D1769C3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55F50A-34F0-4CC3-8288-C911F14D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8137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0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780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Shop my kitchen first: freezer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F6B6AA-0FB1-4807-8AF6-847D2C7E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33750"/>
            <a:ext cx="14287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CCD8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C0E662-5DED-4C37-93A2-A2E558F4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2900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38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38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Qty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C3585F-92D8-470E-9197-48DB7B34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A0C23E-0ED6-4D71-94B0-5C97BF93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3382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0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780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Shop my kitchen first: pantry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16EA4A-D5CC-408C-98C0-B35D4B87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886200"/>
            <a:ext cx="14287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CCD8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37807C-A7DC-4C40-8B47-8BA0C9A5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8145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38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38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Qty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03C188-0154-44A7-8232-1A4F6821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4C1A63-DCC7-4862-BD2A-8FCA2E5C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8627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0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780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Produce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34559C-A8AB-406F-941A-9FFC0C39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38650"/>
            <a:ext cx="14287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CCD8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087EBD-1A50-4AC5-B253-7FF54371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3390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38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38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Qty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006A05-C4E4-459D-A1EB-87496F52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86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831D94-9190-4A12-B5EF-2ABAD299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3872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0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780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Protein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AF0EEE-6977-4487-A319-EA54AEA9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91100"/>
            <a:ext cx="14287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CCD8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C4B69F-87A7-4ED4-BBFC-6410FF36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8635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38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38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Qty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0781A9-3BB0-44EF-9C56-166225FA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747C7A-BF0D-401D-8DCF-A947CD92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9117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0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780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Fiber-rich carbohydrates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43251C-C781-4FB5-8758-4E17A7D6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543550"/>
            <a:ext cx="14287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CCD8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C4D192-BA6E-48CE-8C88-1A4DF761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3880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38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38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Qty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569588-DD78-42A1-B85B-9B09EDAA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1E6AA4-9AA3-4FDB-AAEF-B2B95103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4362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0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780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Healthy fats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C2AEC4-884B-44ED-9DC5-5E3BAE55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6096000"/>
            <a:ext cx="14287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CCD8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A6FBE3-86D8-4DCB-903A-7597CB6E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19125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38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38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Qty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D20011-6093-49BB-B9E4-65D4F91B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76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AEDD41-7104-4E6D-8565-625D9876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2892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0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780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Flavor builders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2ABAD6-29F2-42B7-BA0C-F83ACBF2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81300"/>
            <a:ext cx="14287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CCD8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58938C-088C-4F02-ACCC-80E3F2B6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7655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38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38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Qty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C323EA-DD8E-4234-8E9A-717E02F1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29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9A455B-D3F1-4333-B4CE-6025763E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8137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0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780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Dairy or alternatives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5AEB06-F41E-4DA9-A1A8-767C35EA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33750"/>
            <a:ext cx="14287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CCD8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CC2918-19FB-4EC1-8F7B-80F6E966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2900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38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38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Qty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CD9CF0-4BED-4D76-888F-688DCCD7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81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C788E9-EA55-4B91-BE76-1901250E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3382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0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780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Drinks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92FB10-DB28-490F-9454-646949FE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86200"/>
            <a:ext cx="14287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CCD8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89E7D62-7DA3-48E2-B13A-A20C6137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8145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38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38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Qty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A0C619-389F-46B0-B297-ABC04F3C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33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5E031E-FE3B-42B5-ABD1-DD147284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8627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0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780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Snacks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4164C9-8536-47CE-B015-B3514E83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38650"/>
            <a:ext cx="14287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CCD8D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478565-57EC-42B5-874E-10067CBF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3390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38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38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Qty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110E0DB-6B31-438C-B86C-34EA92EA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86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407672E-5DA4-4530-936F-FF77CE70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3872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0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780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Pantry and freezer backups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849103A-6991-4197-9EEF-F24A3782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991100"/>
            <a:ext cx="14287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CCD8D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9BBA721-31D2-46B7-8E03-A13498B7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8635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38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38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Qty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7902E69-89A4-4F33-AFE2-B9E7B31D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38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034B2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3232FB7-2066-4CE0-8C55-7437D858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591175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80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780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Household or non-food items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D986EF6-8669-4560-B1A8-DA6981A3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543550"/>
            <a:ext cx="14287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CCD8D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21E0F9C-2B6C-4062-BFAC-EEBCB95D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3880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38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38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Qty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B923204-BC46-42DD-B101-7B54A2E8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97230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8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88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Meals planned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FD321F5-27E9-487A-A51A-65DA5E2D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6896100"/>
            <a:ext cx="4429125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CCD8D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0A3B950-25D9-4678-85CC-39AD7AEE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8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88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Backup meals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54C04BD-9353-4869-967C-4C708652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7353300"/>
            <a:ext cx="4429125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CCD8D1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309CEC-ABA0-45FF-94B4-FA861971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8670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8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88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Already have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1B542FB-31C9-4198-8E76-8971D744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7810500"/>
            <a:ext cx="4429125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CCD8D1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8CBFE86-2460-48A9-A84A-C1F49E07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4390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8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88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Need to buy / budget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CEF04B7-3D83-4BE2-B237-36F405C1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8267700"/>
            <a:ext cx="4429125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CCD8D1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E313DB4-A6E4-4FAC-BB64-0C3C67DC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80110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85" b="1" i="0">
                <a:solidFill>
                  <a:srgbClr val="192442"/>
                </a:solidFill>
                <a:latin typeface="Lato"/>
                <a:ea typeface="Lato"/>
                <a:cs typeface="Lato"/>
              </a:defRPr>
            </a:pPr>
            <a:r>
              <a:rPr sz="885" b="1" i="0">
                <a:solidFill>
                  <a:srgbClr val="192442"/>
                </a:solidFill>
                <a:latin typeface="Lato"/>
                <a:ea typeface="Lato"/>
                <a:cs typeface="Lato"/>
              </a:rPr>
              <a:t>Store or household notes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AE045B9-FBB1-45F2-B9FD-F4978888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8724900"/>
            <a:ext cx="4429125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CCD8D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276645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34B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51864d10a4e32"/>
          <a:srcRect xmlns:a="http://schemas.openxmlformats.org/drawingml/2006/main" l="969" t="0" r="9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685800"/>
            <a:ext cx="476250" cy="514350"/>
          </a:xfrm>
          <a:prstGeom xmlns:a="http://schemas.openxmlformats.org/drawingml/2006/main" prst="roundRect">
            <a:avLst>
              <a:gd name="adj" fmla="val 160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774F4-A06F-43A2-9CEB-9E28A70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 i="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2700" b="1" i="0">
                <a:solidFill>
                  <a:srgbClr val="FFFFFF"/>
                </a:solidFill>
                <a:latin typeface="Lora"/>
                <a:ea typeface="Lora"/>
                <a:cs typeface="Lora"/>
              </a:rPr>
              <a:t>Make the store easier next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6F0DC-6EF2-424A-B8AD-BDE24D83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 i="0">
                <a:solidFill>
                  <a:srgbClr val="E6F2EC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E6F2EC"/>
                </a:solidFill>
                <a:latin typeface="Lato"/>
                <a:ea typeface="Lato"/>
                <a:cs typeface="Lato"/>
              </a:rPr>
              <a:t>Save one list that worked, one backup meal, and one product comparison. The next grocery trip gets easier when you do not start from scratch.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4C408-7518-4D9D-862A-2B139218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5429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C6A6D-9DA0-408E-BFA3-84B201D6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529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34B2F"/>
                </a:solidFill>
                <a:latin typeface="Lato"/>
                <a:ea typeface="Lato"/>
                <a:cs typeface="Lato"/>
                <a:hlinkClick xmlns:r="http://schemas.openxmlformats.org/officeDocument/2006/relationships" r:id="Rf52ec5a177e94e1e"/>
              </a:rPr>
              <a:t>Explore the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6C406-3984-4335-AD13-047BE575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624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788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88" b="0" i="0">
                <a:solidFill>
                  <a:srgbClr val="5C6C67"/>
                </a:solidFill>
                <a:latin typeface="Lato"/>
                <a:ea typeface="Lato"/>
                <a:cs typeface="Lato"/>
                <a:hlinkClick xmlns:r="http://schemas.openxmlformats.org/officeDocument/2006/relationships" r:id="R7e26ce16aa2b4f8e"/>
              </a:rPr>
              <a:t>mindfuldiabetes.org/guide/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B0E9E-48C2-432D-A83E-5590C77A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5429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4C479-2926-4A8B-8F99-BC88B8AB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34B2F"/>
                </a:solidFill>
                <a:latin typeface="Lato"/>
                <a:ea typeface="Lato"/>
                <a:cs typeface="Lato"/>
                <a:hlinkClick xmlns:r="http://schemas.openxmlformats.org/officeDocument/2006/relationships" r:id="R45bd97c71c104c30"/>
              </a:rPr>
              <a:t>Visit Health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C459E-BC32-46A3-B02E-1CFEBF3C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815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788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88" b="0" i="0">
                <a:solidFill>
                  <a:srgbClr val="5C6C67"/>
                </a:solidFill>
                <a:latin typeface="Lato"/>
                <a:ea typeface="Lato"/>
                <a:cs typeface="Lato"/>
                <a:hlinkClick xmlns:r="http://schemas.openxmlformats.org/officeDocument/2006/relationships" r:id="Rc8bf62b24d2b419b"/>
              </a:rPr>
              <a:t>mindfuldiabetes.org/health-tools/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42229-44C9-498B-A736-9E994B09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5429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39181-DBA3-418A-A444-B636BFD2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91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034B2F"/>
                </a:solidFill>
                <a:latin typeface="Lato"/>
                <a:ea typeface="Lato"/>
                <a:cs typeface="Lato"/>
                <a:hlinkClick xmlns:r="http://schemas.openxmlformats.org/officeDocument/2006/relationships" r:id="Rd84949f7789b4948"/>
              </a:rPr>
              <a:t>Try JEIR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70825-A15E-4F5A-B02C-35D4134F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8007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788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788" b="0" i="0">
                <a:solidFill>
                  <a:srgbClr val="5C6C67"/>
                </a:solidFill>
                <a:latin typeface="Lato"/>
                <a:ea typeface="Lato"/>
                <a:cs typeface="Lato"/>
                <a:hlinkClick xmlns:r="http://schemas.openxmlformats.org/officeDocument/2006/relationships" r:id="R82aa24a5320344f1"/>
              </a:rPr>
              <a:t>mindfuldiabetes.org/research/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7B775-213B-4E4D-8CB0-7A706DF8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57950"/>
            <a:ext cx="5429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2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0A2C0-9EE9-4110-857F-3903DF44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6103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FFFFFF"/>
                </a:solidFill>
                <a:latin typeface="Lato"/>
                <a:ea typeface="Lato"/>
                <a:cs typeface="Lato"/>
                <a:hlinkClick xmlns:r="http://schemas.openxmlformats.org/officeDocument/2006/relationships" r:id="Rb083bb5d1e0b4666"/>
              </a:rPr>
              <a:t>Support free education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C2A39F-FEF3-4DD6-B5B7-3937B5A7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61987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788" b="0" i="0">
                <a:solidFill>
                  <a:srgbClr val="FFF4EC"/>
                </a:solidFill>
                <a:latin typeface="Lato"/>
                <a:ea typeface="Lato"/>
                <a:cs typeface="Lato"/>
              </a:defRPr>
            </a:pPr>
            <a:r>
              <a:rPr sz="788" b="0" i="0">
                <a:solidFill>
                  <a:srgbClr val="FFF4EC"/>
                </a:solidFill>
                <a:latin typeface="Lato"/>
                <a:ea typeface="Lato"/>
                <a:cs typeface="Lato"/>
                <a:hlinkClick xmlns:r="http://schemas.openxmlformats.org/officeDocument/2006/relationships" r:id="R3aaf022ac1944864"/>
              </a:rPr>
              <a:t>mindfuldiabetes.org/donation/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68EE9D-156A-49A9-8307-D7548FDA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524750"/>
            <a:ext cx="5429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CE4D8"/>
          </a:solidFill>
          <a:ln xmlns:a="http://schemas.openxmlformats.org/drawingml/2006/main" w="10001">
            <a:solidFill>
              <a:srgbClr val="F3B49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76AEC6-2523-4988-BFB4-1D23388E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658100"/>
            <a:ext cx="512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8F3519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8F3519"/>
                </a:solidFill>
                <a:latin typeface="Lato"/>
                <a:ea typeface="Lato"/>
                <a:cs typeface="Lato"/>
              </a:rPr>
              <a:t>Medical disclaimer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0E4056-475C-465F-BC3E-43676828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924800"/>
            <a:ext cx="512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This guide is general education, not medical advice, diagnosis, or treatment. Do not change medication, insulin, glucose targets, or a prescribed medical diet based on this guide.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31A86B-92AA-40F4-8EB4-33EC55F7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249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50" b="0" i="0">
                <a:solidFill>
                  <a:srgbClr val="E6F2EC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E6F2EC"/>
                </a:solidFill>
                <a:latin typeface="Lato"/>
                <a:ea typeface="Lato"/>
                <a:cs typeface="Lato"/>
              </a:rPr>
              <a:t>Mindful Diabetes Inc. | 501(c)(3) nonprofit | Free to share for education</a:t>
            </a:r>
          </a:p>
        </p:txBody>
      </p:sp>
    </p:spTree>
    <p:extLst>
      <p:ext uri="{BB962C8B-B14F-4D97-AF65-F5344CB8AC3E}">
        <p14:creationId xmlns:p14="http://schemas.microsoft.com/office/powerpoint/2010/main" val="31521478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dabb3f62d4f4e"/>
          <a:srcRect xmlns:a="http://schemas.openxmlformats.org/drawingml/2006/main" l="699" t="0" r="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85750"/>
            <a:ext cx="257175" cy="276225"/>
          </a:xfrm>
          <a:prstGeom xmlns:a="http://schemas.openxmlformats.org/drawingml/2006/main" prst="roundRect">
            <a:avLst>
              <a:gd name="adj" fmla="val 296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7A451-CE7D-4A0C-A085-559266A8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773" b="1" i="0">
                <a:solidFill>
                  <a:srgbClr val="034B2F"/>
                </a:solidFill>
                <a:latin typeface="Lora"/>
                <a:ea typeface="Lora"/>
                <a:cs typeface="Lora"/>
              </a:defRPr>
            </a:pPr>
            <a:r>
              <a:rPr sz="773" b="1" i="0">
                <a:solidFill>
                  <a:srgbClr val="034B2F"/>
                </a:solidFill>
                <a:latin typeface="Lora"/>
                <a:ea typeface="Lora"/>
                <a:cs typeface="Lora"/>
              </a:rPr>
              <a:t>Grocery Store Survival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19C68-2CB5-4057-BC35-ADE7859B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"/>
            <a:ext cx="2667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References and safety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7B894-F28C-4D50-90CB-6AE0CB3C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43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79AAD-882E-43F3-B26C-137CA94B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61072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9E2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A07C0-CE0E-4CD4-B928-F41D164B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Mindful Diabetes Inc.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5582F-0736-47F9-8E93-49E974D8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715500"/>
            <a:ext cx="1476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660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5C6C67"/>
                </a:solidFill>
                <a:latin typeface="Lato"/>
                <a:ea typeface="Lato"/>
                <a:cs typeface="Lato"/>
                <a:hlinkClick xmlns:r="http://schemas.openxmlformats.org/officeDocument/2006/relationships" r:id="Re77a9f7b318a4bd0"/>
              </a:rPr>
              <a:t>mindfuldiabetes.org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425AE-F105-41ED-8C70-7F979C39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97155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660" b="0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660" b="0" i="0">
                <a:solidFill>
                  <a:srgbClr val="F26A2E"/>
                </a:solidFill>
                <a:latin typeface="Lato"/>
                <a:ea typeface="Lato"/>
                <a:cs typeface="Lato"/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4F689-1D60-47E8-BB94-828070A2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05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0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REFERENCES AND 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9F239-94C4-4049-9B7F-B75787AC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 i="0">
                <a:solidFill>
                  <a:srgbClr val="192442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192442"/>
                </a:solidFill>
                <a:latin typeface="Lora"/>
                <a:ea typeface="Lora"/>
                <a:cs typeface="Lora"/>
              </a:rPr>
              <a:t>References and medical disclaimer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3020B-E8C2-4902-9542-7325E497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38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125" b="0" i="0">
                <a:solidFill>
                  <a:srgbClr val="5C6C67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5C6C67"/>
                </a:solidFill>
                <a:latin typeface="Lato"/>
                <a:ea typeface="Lato"/>
                <a:cs typeface="Lato"/>
              </a:rPr>
              <a:t>Every numbered citation in this guide appears here.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540E7-D6E8-4950-A5DA-9F7FF043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F26A2E"/>
                </a:solidFill>
                <a:latin typeface="Lato"/>
                <a:ea typeface="Lato"/>
                <a:cs typeface="Lato"/>
              </a:defRPr>
            </a:pPr>
            <a:r>
              <a:rPr sz="1050" b="1" i="0">
                <a:solidFill>
                  <a:srgbClr val="F26A2E"/>
                </a:solidFill>
                <a:latin typeface="Lato"/>
                <a:ea typeface="Lato"/>
                <a:cs typeface="Lato"/>
              </a:rPr>
              <a:t>Medical disclaimer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F8A21-19F2-4BAD-8452-91981185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647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900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This guide provides general health education. It is not medical advice, diagnosis, treatment, nutrition therapy, or a medication plan. Do not change insulin, diabetes medication, cholesterol medication, glucose targets, pregnancy care, kidney-disease care, or any prescribed medical diet because of this guide. For urgent symptoms, seek medical care.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77CEB3-7197-4307-8C1E-2876B511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8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105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References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957495-2291-4372-B020-82F69976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6477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94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694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1. U.S. Food and Drug Administration. How to Understand and Use the Nutrition Facts Label. FDA; 2024. https://www.fda.gov/food/nutrition-facts-label/how-understand-and-use-nutrition-facts-label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694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694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2. U.S. Food and Drug Administration. Daily Value on the Nutrition and Supplement Facts Labels. FDA; 2024. https://www.fda.gov/food/nutrition-facts-label/daily-value-nutrition-and-supplement-facts-labels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694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694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3. U.S. Food and Drug Administration. Added Sugars on the Nutrition Facts Label. FDA; 2026. https://www.fda.gov/food/nutrition-facts-label/added-sugars-nutrition-facts-label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694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694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4. Centers for Disease Control and Prevention. Counting Carbohydrates. CDC; 2024. https://www.cdc.gov/diabetes/healthy-eating/carb-counting.html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694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694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5. American Diabetes Association. What is the Diabetes Plate?. ADA; 2026. https://diabetesfoodhub.org/blog/what-diabetes-plate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694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694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6. U.S. Department of Agriculture. MyPlate: Fruits and Vegetables. USDA MyPlate; 2026. https://www.myplate.gov/eat-healthy/fruits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694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694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7. U.S. Department of Agriculture. MyPlate: Dairy. USDA MyPlate; 2026. https://www.myplate.gov/eat-healthy/dairy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694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694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8. U.S. Department of Agriculture. MyPlate: Protein Foods. USDA MyPlate; 2026. https://www.myplate.gov/eat-healthy/protein-foods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694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694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9. U.S. Food and Drug Administration. Sodium in Your Diet. FDA; 2024. https://www.fda.gov/food/nutrition-education-resources-materials/sodium-your-diet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BB2833-9F05-457E-9BCE-7797B5FA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229600"/>
            <a:ext cx="6191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6F2EC"/>
          </a:solidFill>
          <a:ln xmlns:a="http://schemas.openxmlformats.org/drawingml/2006/main" w="10001">
            <a:solidFill>
              <a:srgbClr val="B8D8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CD0A2-DE21-47DB-A274-75549D8B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6295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90" b="1" i="0">
                <a:solidFill>
                  <a:srgbClr val="034B2F"/>
                </a:solidFill>
                <a:latin typeface="Lato"/>
                <a:ea typeface="Lato"/>
                <a:cs typeface="Lato"/>
              </a:defRPr>
            </a:pPr>
            <a:r>
              <a:rPr sz="990" b="1" i="0">
                <a:solidFill>
                  <a:srgbClr val="034B2F"/>
                </a:solidFill>
                <a:latin typeface="Lato"/>
                <a:ea typeface="Lato"/>
                <a:cs typeface="Lato"/>
              </a:rPr>
              <a:t>Publication information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29B33F-B43C-448B-8DF5-5210C1F3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629650"/>
            <a:ext cx="588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863" b="0" i="0">
                <a:solidFill>
                  <a:srgbClr val="16211D"/>
                </a:solidFill>
                <a:latin typeface="Lato"/>
                <a:ea typeface="Lato"/>
                <a:cs typeface="Lato"/>
              </a:defRPr>
            </a:pPr>
            <a:r>
              <a:rPr sz="863" b="0" i="0">
                <a:solidFill>
                  <a:srgbClr val="16211D"/>
                </a:solidFill>
                <a:latin typeface="Lato"/>
                <a:ea typeface="Lato"/>
                <a:cs typeface="Lato"/>
              </a:rPr>
              <a:t>Published July 30, 2026 | Medical review pending | Next scheduled review July 2027 | Accessibility review: basic visual QA completed; PDF/UA tagging not completed.</a:t>
            </a:r>
          </a:p>
        </p:txBody>
      </p:sp>
    </p:spTree>
    <p:extLst>
      <p:ext uri="{BB962C8B-B14F-4D97-AF65-F5344CB8AC3E}">
        <p14:creationId xmlns:p14="http://schemas.microsoft.com/office/powerpoint/2010/main" val="1922929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2026-07-30T18:46:24.1200000Z</dcterms:created>
  <dcterms:modified xsi:type="dcterms:W3CDTF">2026-07-30T18:46:24.1200000Z</dcterms:modified>
</coreProperties>
</file>