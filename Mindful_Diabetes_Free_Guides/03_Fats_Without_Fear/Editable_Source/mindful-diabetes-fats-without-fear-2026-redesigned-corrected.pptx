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eb0851c99406a" /><Relationship Type="http://schemas.openxmlformats.org/officeDocument/2006/relationships/extended-properties" Target="/docProps/app.xml" Id="R44f5b65cae084097" /><Relationship Type="http://schemas.openxmlformats.org/officeDocument/2006/relationships/officeDocument" Target="/ppt/presentation.xml" Id="Rfe13b6c26d7141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742fc541fa40b4"/>
  </p:sldMasterIdLst>
  <p:notesMasterIdLst>
    <p:notesMasterId xmlns:r="http://schemas.openxmlformats.org/officeDocument/2006/relationships" r:id="R37d2d2b0bc884ff1"/>
  </p:notesMasterIdLst>
  <p:sldIdLst>
    <p:sldId xmlns:r="http://schemas.openxmlformats.org/officeDocument/2006/relationships" id="256" r:id="R0162bec692c047f8"/>
    <p:sldId xmlns:r="http://schemas.openxmlformats.org/officeDocument/2006/relationships" id="257" r:id="R8b7d3601a3e348b3"/>
    <p:sldId xmlns:r="http://schemas.openxmlformats.org/officeDocument/2006/relationships" id="258" r:id="Red62a9e065d749b4"/>
    <p:sldId xmlns:r="http://schemas.openxmlformats.org/officeDocument/2006/relationships" id="259" r:id="Re0f5b469bb5a43fb"/>
    <p:sldId xmlns:r="http://schemas.openxmlformats.org/officeDocument/2006/relationships" id="260" r:id="Ra710fe5ffeab4eb9"/>
    <p:sldId xmlns:r="http://schemas.openxmlformats.org/officeDocument/2006/relationships" id="261" r:id="R57bdf5bac40b43e5"/>
    <p:sldId xmlns:r="http://schemas.openxmlformats.org/officeDocument/2006/relationships" id="262" r:id="R499b9d8c1fbc4d3e"/>
    <p:sldId xmlns:r="http://schemas.openxmlformats.org/officeDocument/2006/relationships" id="263" r:id="R51c1d68db7f44369"/>
    <p:sldId xmlns:r="http://schemas.openxmlformats.org/officeDocument/2006/relationships" id="264" r:id="R6fb51cfbd6f04735"/>
    <p:sldId xmlns:r="http://schemas.openxmlformats.org/officeDocument/2006/relationships" id="265" r:id="R2b6211b525694b8d"/>
    <p:sldId xmlns:r="http://schemas.openxmlformats.org/officeDocument/2006/relationships" id="266" r:id="Rfec3b17ade3442ad"/>
    <p:sldId xmlns:r="http://schemas.openxmlformats.org/officeDocument/2006/relationships" id="267" r:id="Rce45adde3c8c4bcf"/>
    <p:sldId xmlns:r="http://schemas.openxmlformats.org/officeDocument/2006/relationships" id="268" r:id="R55e4fb9a8b394ba1"/>
    <p:sldId xmlns:r="http://schemas.openxmlformats.org/officeDocument/2006/relationships" id="269" r:id="Re2e95d0885ca4363"/>
    <p:sldId xmlns:r="http://schemas.openxmlformats.org/officeDocument/2006/relationships" id="270" r:id="R69d758fbf9604c94"/>
    <p:sldId xmlns:r="http://schemas.openxmlformats.org/officeDocument/2006/relationships" id="271" r:id="R9aa26a9ee4c84ab7"/>
    <p:sldId xmlns:r="http://schemas.openxmlformats.org/officeDocument/2006/relationships" id="272" r:id="R094c852b367a47e1"/>
    <p:sldId xmlns:r="http://schemas.openxmlformats.org/officeDocument/2006/relationships" id="273" r:id="R240863da6e9c4975"/>
    <p:sldId xmlns:r="http://schemas.openxmlformats.org/officeDocument/2006/relationships" id="274" r:id="R3fb8b7318ef44c1f"/>
    <p:sldId xmlns:r="http://schemas.openxmlformats.org/officeDocument/2006/relationships" id="275" r:id="Rea03307c30f144ff"/>
    <p:sldId xmlns:r="http://schemas.openxmlformats.org/officeDocument/2006/relationships" id="276" r:id="Rc8b2d94110514cf2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1f81a2424d4b43" /><Relationship Type="http://schemas.openxmlformats.org/officeDocument/2006/relationships/slideMaster" Target="/ppt/slideMasters/slideMaster1.xml" Id="R0b742fc541fa40b4" /><Relationship Type="http://schemas.openxmlformats.org/officeDocument/2006/relationships/notesMaster" Target="/ppt/notesMasters/notesMaster1.xml" Id="R37d2d2b0bc884ff1" /><Relationship Type="http://schemas.openxmlformats.org/officeDocument/2006/relationships/presProps" Target="/ppt/presProps.xml" Id="R7387552a3961423a" /><Relationship Type="http://schemas.openxmlformats.org/officeDocument/2006/relationships/tableStyles" Target="/ppt/tableStyles.xml" Id="R73c613c8b30a4475" /><Relationship Type="http://schemas.openxmlformats.org/officeDocument/2006/relationships/slide" Target="/ppt/slides/slide1.xml" Id="R0162bec692c047f8" /><Relationship Type="http://schemas.openxmlformats.org/officeDocument/2006/relationships/slide" Target="/ppt/slides/slide2.xml" Id="R8b7d3601a3e348b3" /><Relationship Type="http://schemas.openxmlformats.org/officeDocument/2006/relationships/slide" Target="/ppt/slides/slide3.xml" Id="Red62a9e065d749b4" /><Relationship Type="http://schemas.openxmlformats.org/officeDocument/2006/relationships/slide" Target="/ppt/slides/slide4.xml" Id="Re0f5b469bb5a43fb" /><Relationship Type="http://schemas.openxmlformats.org/officeDocument/2006/relationships/slide" Target="/ppt/slides/slide5.xml" Id="Ra710fe5ffeab4eb9" /><Relationship Type="http://schemas.openxmlformats.org/officeDocument/2006/relationships/slide" Target="/ppt/slides/slide6.xml" Id="R57bdf5bac40b43e5" /><Relationship Type="http://schemas.openxmlformats.org/officeDocument/2006/relationships/slide" Target="/ppt/slides/slide7.xml" Id="R499b9d8c1fbc4d3e" /><Relationship Type="http://schemas.openxmlformats.org/officeDocument/2006/relationships/slide" Target="/ppt/slides/slide8.xml" Id="R51c1d68db7f44369" /><Relationship Type="http://schemas.openxmlformats.org/officeDocument/2006/relationships/slide" Target="/ppt/slides/slide9.xml" Id="R6fb51cfbd6f04735" /><Relationship Type="http://schemas.openxmlformats.org/officeDocument/2006/relationships/slide" Target="/ppt/slides/slide10.xml" Id="R2b6211b525694b8d" /><Relationship Type="http://schemas.openxmlformats.org/officeDocument/2006/relationships/slide" Target="/ppt/slides/slide11.xml" Id="Rfec3b17ade3442ad" /><Relationship Type="http://schemas.openxmlformats.org/officeDocument/2006/relationships/slide" Target="/ppt/slides/slide12.xml" Id="Rce45adde3c8c4bcf" /><Relationship Type="http://schemas.openxmlformats.org/officeDocument/2006/relationships/slide" Target="/ppt/slides/slide13.xml" Id="R55e4fb9a8b394ba1" /><Relationship Type="http://schemas.openxmlformats.org/officeDocument/2006/relationships/slide" Target="/ppt/slides/slide14.xml" Id="Re2e95d0885ca4363" /><Relationship Type="http://schemas.openxmlformats.org/officeDocument/2006/relationships/slide" Target="/ppt/slides/slide15.xml" Id="R69d758fbf9604c94" /><Relationship Type="http://schemas.openxmlformats.org/officeDocument/2006/relationships/slide" Target="/ppt/slides/slide16.xml" Id="R9aa26a9ee4c84ab7" /><Relationship Type="http://schemas.openxmlformats.org/officeDocument/2006/relationships/slide" Target="/ppt/slides/slide17.xml" Id="R094c852b367a47e1" /><Relationship Type="http://schemas.openxmlformats.org/officeDocument/2006/relationships/slide" Target="/ppt/slides/slide18.xml" Id="R240863da6e9c4975" /><Relationship Type="http://schemas.openxmlformats.org/officeDocument/2006/relationships/slide" Target="/ppt/slides/slide19.xml" Id="R3fb8b7318ef44c1f" /><Relationship Type="http://schemas.openxmlformats.org/officeDocument/2006/relationships/slide" Target="/ppt/slides/slide20.xml" Id="Rea03307c30f144ff" /><Relationship Type="http://schemas.openxmlformats.org/officeDocument/2006/relationships/slide" Target="/ppt/slides/slide21.xml" Id="Rc8b2d94110514c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0a3eefd7b44b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ndful Diabetes">
      <a:dk1>
        <a:srgbClr val="16211D"/>
      </a:dk1>
      <a:lt1>
        <a:srgbClr val="FFFDF7"/>
      </a:lt1>
      <a:dk2>
        <a:srgbClr val="192442"/>
      </a:dk2>
      <a:lt2>
        <a:srgbClr val="FBF3EA"/>
      </a:lt2>
      <a:accent1>
        <a:srgbClr val="034B2F"/>
      </a:accent1>
      <a:accent2>
        <a:srgbClr val="F26A2E"/>
      </a:accent2>
      <a:accent3>
        <a:srgbClr val="E6F2EC"/>
      </a:accent3>
      <a:accent4>
        <a:srgbClr val="EEF7FA"/>
      </a:accent4>
      <a:accent5>
        <a:srgbClr val="F5C66B"/>
      </a:accent5>
      <a:accent6>
        <a:srgbClr val="5C6C67"/>
      </a:accent6>
      <a:hlink>
        <a:srgbClr val="034B2F"/>
      </a:hlink>
      <a:folHlink>
        <a:srgbClr val="1924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dful Diabet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05db3144c04a47" /><Relationship Type="http://schemas.openxmlformats.org/officeDocument/2006/relationships/notesMaster" Target="/ppt/notesMasters/notesMaster1.xml" Id="Rf1ccf8c60d5e4f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6d4f0e4d4d4dd7" /><Relationship Type="http://schemas.openxmlformats.org/officeDocument/2006/relationships/notesMaster" Target="/ppt/notesMasters/notesMaster1.xml" Id="Rf170fd03db0c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12617ab9d34c00" /><Relationship Type="http://schemas.openxmlformats.org/officeDocument/2006/relationships/notesMaster" Target="/ppt/notesMasters/notesMaster1.xml" Id="Re78d80be09704d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89cb68099a426d" /><Relationship Type="http://schemas.openxmlformats.org/officeDocument/2006/relationships/notesMaster" Target="/ppt/notesMasters/notesMaster1.xml" Id="R7185a3fac37443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03c1ebec52419e" /><Relationship Type="http://schemas.openxmlformats.org/officeDocument/2006/relationships/notesMaster" Target="/ppt/notesMasters/notesMaster1.xml" Id="Rf2ebb6e4983342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4f64c0a51d4bd8" /><Relationship Type="http://schemas.openxmlformats.org/officeDocument/2006/relationships/notesMaster" Target="/ppt/notesMasters/notesMaster1.xml" Id="R9f58d40dd4c047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81097f86384095" /><Relationship Type="http://schemas.openxmlformats.org/officeDocument/2006/relationships/notesMaster" Target="/ppt/notesMasters/notesMaster1.xml" Id="R3443f880ea0049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4c8a4323254f36" /><Relationship Type="http://schemas.openxmlformats.org/officeDocument/2006/relationships/notesMaster" Target="/ppt/notesMasters/notesMaster1.xml" Id="Rdf3ab98714134e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887e4de1804338" /><Relationship Type="http://schemas.openxmlformats.org/officeDocument/2006/relationships/notesMaster" Target="/ppt/notesMasters/notesMaster1.xml" Id="R853bd1e9b67a4a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70e017e5814887" /><Relationship Type="http://schemas.openxmlformats.org/officeDocument/2006/relationships/notesMaster" Target="/ppt/notesMasters/notesMaster1.xml" Id="Reb76ba784259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58adec6e454362" /><Relationship Type="http://schemas.openxmlformats.org/officeDocument/2006/relationships/notesMaster" Target="/ppt/notesMasters/notesMaster1.xml" Id="R468d705f6a9944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25a3cb9f8944bd" /><Relationship Type="http://schemas.openxmlformats.org/officeDocument/2006/relationships/notesMaster" Target="/ppt/notesMasters/notesMaster1.xml" Id="R80148bef26224f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61014c477f4dad" /><Relationship Type="http://schemas.openxmlformats.org/officeDocument/2006/relationships/notesMaster" Target="/ppt/notesMasters/notesMaster1.xml" Id="Refab37a5de1a41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96ba21d1434a62" /><Relationship Type="http://schemas.openxmlformats.org/officeDocument/2006/relationships/notesMaster" Target="/ppt/notesMasters/notesMaster1.xml" Id="R9651b55edd814e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8439ec017d47be" /><Relationship Type="http://schemas.openxmlformats.org/officeDocument/2006/relationships/notesMaster" Target="/ppt/notesMasters/notesMaster1.xml" Id="R782572d7038f4e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2e3d642d8f4c1b" /><Relationship Type="http://schemas.openxmlformats.org/officeDocument/2006/relationships/notesMaster" Target="/ppt/notesMasters/notesMaster1.xml" Id="Rf94e9a8617df4b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bdaa61a9184d20" /><Relationship Type="http://schemas.openxmlformats.org/officeDocument/2006/relationships/notesMaster" Target="/ppt/notesMasters/notesMaster1.xml" Id="Ra360e90b84af43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a862184b8f4b51" /><Relationship Type="http://schemas.openxmlformats.org/officeDocument/2006/relationships/notesMaster" Target="/ppt/notesMasters/notesMaster1.xml" Id="R23e28caa6acc42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6df00f42144e9b" /><Relationship Type="http://schemas.openxmlformats.org/officeDocument/2006/relationships/notesMaster" Target="/ppt/notesMasters/notesMaster1.xml" Id="Rf32cbacbe14c42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4c1ca899874d3a" /><Relationship Type="http://schemas.openxmlformats.org/officeDocument/2006/relationships/notesMaster" Target="/ppt/notesMasters/notesMaster1.xml" Id="R49d7df3ee7ea47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80ce9a59d0436f" /><Relationship Type="http://schemas.openxmlformats.org/officeDocument/2006/relationships/notesMaster" Target="/ppt/notesMasters/notesMaster1.xml" Id="R53f920c8fb1c48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American Heart Association, The Facts on Fats: https://www.heart.org/en/healthy-living/healthy-eating/eat-smart/fats/the-facts-on-fats</a:t>
            </a:r>
          </a:p>
          <a:p xmlns:a="http://schemas.openxmlformats.org/drawingml/2006/main">
            <a:r>
              <a:t>- [2] American Heart Association, Fats in Foods: https://www.heart.org/en/healthy-living/healthy-eating/eat-smart/fats/fats-in-foods</a:t>
            </a:r>
          </a:p>
          <a:p xmlns:a="http://schemas.openxmlformats.org/drawingml/2006/main">
            <a:r>
              <a:t>- [3]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[4]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[5] U.S. Food and Drug Administration and U.S. Environmental Protection Agency, Advice About Eating Fish: https://www.fda.gov/food/consumers/advice-about-eating-fish</a:t>
            </a:r>
          </a:p>
          <a:p xmlns:a="http://schemas.openxmlformats.org/drawingml/2006/main">
            <a:r>
              <a:t>- [6] NIH Office of Dietary Supplements, Omega-3 Fatty Acids: Fact Sheet for Consumers: https://ods.od.nih.gov/factsheets/Omega3FattyAcids-Consumer/</a:t>
            </a:r>
          </a:p>
          <a:p xmlns:a="http://schemas.openxmlformats.org/drawingml/2006/main">
            <a:r>
              <a:t>- [7] National Institute on Aging, What Do We Know About Diet and Prevention of Alzheimer's Disease?: https://www.nia.nih.gov/health/alzheimers-and-dementia/what-do-we-know-about-diet-and-prevention-alzheimers-disease</a:t>
            </a:r>
          </a:p>
          <a:p xmlns:a="http://schemas.openxmlformats.org/drawingml/2006/main">
            <a:r>
              <a:t>- [8] American Heart Association, Life's Essential 8: https://www.heart.org/en/healthy-living/healthy-lifestyle/lifes-essential-8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f6d5d783a49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723aa47bc14662" /><Relationship Type="http://schemas.openxmlformats.org/officeDocument/2006/relationships/slideLayout" Target="/ppt/slideLayouts/slideLayout1.xml" Id="R47a97c44ca49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97c44ca49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ndful Diabetes">
      <a:dk1>
        <a:srgbClr val="16211D"/>
      </a:dk1>
      <a:lt1>
        <a:srgbClr val="FFFDF7"/>
      </a:lt1>
      <a:dk2>
        <a:srgbClr val="192442"/>
      </a:dk2>
      <a:lt2>
        <a:srgbClr val="FBF3EA"/>
      </a:lt2>
      <a:accent1>
        <a:srgbClr val="034B2F"/>
      </a:accent1>
      <a:accent2>
        <a:srgbClr val="F26A2E"/>
      </a:accent2>
      <a:accent3>
        <a:srgbClr val="E6F2EC"/>
      </a:accent3>
      <a:accent4>
        <a:srgbClr val="EEF7FA"/>
      </a:accent4>
      <a:accent5>
        <a:srgbClr val="F5C66B"/>
      </a:accent5>
      <a:accent6>
        <a:srgbClr val="5C6C67"/>
      </a:accent6>
      <a:hlink>
        <a:srgbClr val="034B2F"/>
      </a:hlink>
      <a:folHlink>
        <a:srgbClr val="1924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dful Diabet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f8d2e1c4c462e" /><Relationship Type="http://schemas.openxmlformats.org/officeDocument/2006/relationships/image" Target="/ppt/media/image.png" Id="Re38af420a98c4b29" /><Relationship Type="http://schemas.openxmlformats.org/officeDocument/2006/relationships/image" Target="/ppt/media/image.jpeg" Id="Rd9d33fefaec44dba" /><Relationship Type="http://schemas.openxmlformats.org/officeDocument/2006/relationships/notesSlide" Target="/ppt/notesSlides/notesSlide1.xml" Id="R699727504e2846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33a74666d43ab" /><Relationship Type="http://schemas.openxmlformats.org/officeDocument/2006/relationships/image" Target="/ppt/media/image2.jpeg" Id="R793a8b555e244cab" /><Relationship Type="http://schemas.openxmlformats.org/officeDocument/2006/relationships/image" Target="/ppt/media/image2.png" Id="R326f928402714ef9" /><Relationship Type="http://schemas.openxmlformats.org/officeDocument/2006/relationships/notesSlide" Target="/ppt/notesSlides/notesSlide2.xml" Id="R5bde89ead27642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cd949523246e2" /><Relationship Type="http://schemas.openxmlformats.org/officeDocument/2006/relationships/image" Target="/ppt/media/image3.jpeg" Id="Rda7756fd9c7a41bc" /><Relationship Type="http://schemas.openxmlformats.org/officeDocument/2006/relationships/notesSlide" Target="/ppt/notesSlides/notesSlide3.xml" Id="R8d526af4d52d47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97d006d254704" /><Relationship Type="http://schemas.openxmlformats.org/officeDocument/2006/relationships/image" Target="/ppt/media/image4.jpeg" Id="R16170699defb4f6b" /><Relationship Type="http://schemas.openxmlformats.org/officeDocument/2006/relationships/notesSlide" Target="/ppt/notesSlides/notesSlide4.xml" Id="Rdf754896c22c4a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3c955e9af4e13" /><Relationship Type="http://schemas.openxmlformats.org/officeDocument/2006/relationships/image" Target="/ppt/media/image5.jpeg" Id="R921ca87d95074965" /><Relationship Type="http://schemas.openxmlformats.org/officeDocument/2006/relationships/notesSlide" Target="/ppt/notesSlides/notesSlide5.xml" Id="Ref0bbd6052cc4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63c1e2bcf4b4e" /><Relationship Type="http://schemas.openxmlformats.org/officeDocument/2006/relationships/image" Target="/ppt/media/image6.jpeg" Id="R8f4cb398c2004047" /><Relationship Type="http://schemas.openxmlformats.org/officeDocument/2006/relationships/notesSlide" Target="/ppt/notesSlides/notesSlide6.xml" Id="R592578e0b07748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a6bd12f12448a" /><Relationship Type="http://schemas.openxmlformats.org/officeDocument/2006/relationships/image" Target="/ppt/media/image7.jpeg" Id="Refad77022deb42c8" /><Relationship Type="http://schemas.openxmlformats.org/officeDocument/2006/relationships/notesSlide" Target="/ppt/notesSlides/notesSlide7.xml" Id="R535a15bf43fb4c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3b67a45d74f67" /><Relationship Type="http://schemas.openxmlformats.org/officeDocument/2006/relationships/image" Target="/ppt/media/image8.jpeg" Id="R540fca743f874e56" /><Relationship Type="http://schemas.openxmlformats.org/officeDocument/2006/relationships/image" Target="/ppt/media/image3.png" Id="Rbd51fd6bc8a543a2" /><Relationship Type="http://schemas.openxmlformats.org/officeDocument/2006/relationships/notesSlide" Target="/ppt/notesSlides/notesSlide8.xml" Id="Recf1b7dc69b141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be90e218e4802" /><Relationship Type="http://schemas.openxmlformats.org/officeDocument/2006/relationships/image" Target="/ppt/media/image9.jpeg" Id="R88578440fce44af1" /><Relationship Type="http://schemas.openxmlformats.org/officeDocument/2006/relationships/notesSlide" Target="/ppt/notesSlides/notesSlide9.xml" Id="R1f5c0b2a728941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df15660cc45af" /><Relationship Type="http://schemas.openxmlformats.org/officeDocument/2006/relationships/image" Target="/ppt/media/image10.jpeg" Id="R063eb76298154775" /><Relationship Type="http://schemas.openxmlformats.org/officeDocument/2006/relationships/notesSlide" Target="/ppt/notesSlides/notesSlide10.xml" Id="Rbd5e55f5c8f04d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f48d67ae848bb" /><Relationship Type="http://schemas.openxmlformats.org/officeDocument/2006/relationships/image" Target="/ppt/media/image11.jpeg" Id="Rf8fb6bfef283404c" /><Relationship Type="http://schemas.openxmlformats.org/officeDocument/2006/relationships/notesSlide" Target="/ppt/notesSlides/notesSlide11.xml" Id="R8645edec169441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2f6aa904b4bc0" /><Relationship Type="http://schemas.openxmlformats.org/officeDocument/2006/relationships/image" Target="/ppt/media/image12.jpeg" Id="Rc092f40d49154323" /><Relationship Type="http://schemas.openxmlformats.org/officeDocument/2006/relationships/notesSlide" Target="/ppt/notesSlides/notesSlide12.xml" Id="R5bfe54ecc52e41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386d81f574d42" /><Relationship Type="http://schemas.openxmlformats.org/officeDocument/2006/relationships/image" Target="/ppt/media/image13.jpeg" Id="R884547fe7c284532" /><Relationship Type="http://schemas.openxmlformats.org/officeDocument/2006/relationships/notesSlide" Target="/ppt/notesSlides/notesSlide13.xml" Id="R3b97727e01494b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0bdb59b442d9" /><Relationship Type="http://schemas.openxmlformats.org/officeDocument/2006/relationships/image" Target="/ppt/media/image14.jpeg" Id="Rc6924f7fa5e24317" /><Relationship Type="http://schemas.openxmlformats.org/officeDocument/2006/relationships/notesSlide" Target="/ppt/notesSlides/notesSlide14.xml" Id="R0debee24028847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5b283811f4727" /><Relationship Type="http://schemas.openxmlformats.org/officeDocument/2006/relationships/image" Target="/ppt/media/image15.jpeg" Id="Rbda77d3f06f74610" /><Relationship Type="http://schemas.openxmlformats.org/officeDocument/2006/relationships/notesSlide" Target="/ppt/notesSlides/notesSlide15.xml" Id="Re19b4e6cffd146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c0bd749364428" /><Relationship Type="http://schemas.openxmlformats.org/officeDocument/2006/relationships/image" Target="/ppt/media/image16.jpeg" Id="R3927794f78a244fc" /><Relationship Type="http://schemas.openxmlformats.org/officeDocument/2006/relationships/notesSlide" Target="/ppt/notesSlides/notesSlide16.xml" Id="R5a2c6d52ae9a4f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323b4f9314537" /><Relationship Type="http://schemas.openxmlformats.org/officeDocument/2006/relationships/image" Target="/ppt/media/image17.jpeg" Id="R0ebbc9b4ce7849ae" /><Relationship Type="http://schemas.openxmlformats.org/officeDocument/2006/relationships/image" Target="/ppt/media/image4.png" Id="Rbed86565581942c3" /><Relationship Type="http://schemas.openxmlformats.org/officeDocument/2006/relationships/notesSlide" Target="/ppt/notesSlides/notesSlide17.xml" Id="Rbb50aeb6b0f94f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ef6bc1562486d" /><Relationship Type="http://schemas.openxmlformats.org/officeDocument/2006/relationships/image" Target="/ppt/media/image18.jpeg" Id="R66424d411ac64518" /><Relationship Type="http://schemas.openxmlformats.org/officeDocument/2006/relationships/notesSlide" Target="/ppt/notesSlides/notesSlide18.xml" Id="R72ef010878194b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57a7c13174813" /><Relationship Type="http://schemas.openxmlformats.org/officeDocument/2006/relationships/image" Target="/ppt/media/image19.jpeg" Id="R451808b2ffae44a4" /><Relationship Type="http://schemas.openxmlformats.org/officeDocument/2006/relationships/notesSlide" Target="/ppt/notesSlides/notesSlide19.xml" Id="Re2299424d32b44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cafdff8634a4f" /><Relationship Type="http://schemas.openxmlformats.org/officeDocument/2006/relationships/image" Target="/ppt/media/image20.jpeg" Id="R47aeaea2663c41e6" /><Relationship Type="http://schemas.openxmlformats.org/officeDocument/2006/relationships/notesSlide" Target="/ppt/notesSlides/notesSlide20.xml" Id="R201b763edc6a4c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97c98f5c9424c" /><Relationship Type="http://schemas.openxmlformats.org/officeDocument/2006/relationships/image" Target="/ppt/media/image21.jpeg" Id="R7b94f2f2e4b24980" /><Relationship Type="http://schemas.openxmlformats.org/officeDocument/2006/relationships/notesSlide" Target="/ppt/notesSlides/notesSlide21.xml" Id="R0df21cc4a428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af420a98c4b29"/>
          <a:srcRect xmlns:a="http://schemas.openxmlformats.org/drawingml/2006/main" l="0" t="25899" r="0" b="25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772400" cy="5619750"/>
          </a:xfrm>
          <a:prstGeom xmlns:a="http://schemas.openxmlformats.org/drawingml/2006/main" prst="roundRect">
            <a:avLst>
              <a:gd name="adj" fmla="val 237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6DACA-39C7-4B30-B72C-182B14D8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D28">
              <a:alpha val="5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33fefaec44dba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571500"/>
            <a:ext cx="514350" cy="552450"/>
          </a:xfrm>
          <a:prstGeom xmlns:a="http://schemas.openxmlformats.org/drawingml/2006/main" prst="roundRect">
            <a:avLst>
              <a:gd name="adj" fmla="val 1851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075AC-E0B8-49E0-9602-7F640989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9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1125" b="1" i="0">
                <a:solidFill>
                  <a:srgbClr val="FFFFFF"/>
                </a:solidFill>
                <a:latin typeface="Lora"/>
                <a:ea typeface="Lora"/>
                <a:cs typeface="Lora"/>
              </a:rPr>
              <a:t>Mindful Diabetes Free Guides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D3C42-351C-40DA-81E9-909D65F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66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0" i="0">
                <a:solidFill>
                  <a:srgbClr val="E6F2EC"/>
                </a:solidFill>
                <a:latin typeface="Lato"/>
                <a:ea typeface="Lato"/>
                <a:cs typeface="Lato"/>
              </a:defRPr>
            </a:pPr>
            <a:r>
              <a:rPr sz="788" b="0" i="0">
                <a:solidFill>
                  <a:srgbClr val="E6F2EC"/>
                </a:solidFill>
                <a:latin typeface="Lato"/>
                <a:ea typeface="Lato"/>
                <a:cs typeface="Lato"/>
              </a:rPr>
              <a:t>501(c)(3) nonprofit health education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3F3DE-911D-44CD-9E62-CAA2363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971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83F1B-4CCA-4C09-A4EF-C6E86E7B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FREE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4E1E3-20F6-4F00-84B3-2364290B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42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88297-AE5F-4A66-904E-A948F3D8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1990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A Plain-English Guide to Dietary Fats, Heart Health, and Brain 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BB87C-4178-46E0-8F19-0B1E139C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43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Learn which fat sources appear most often, what they replace, and how the overall eating pattern fits your health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E73FE-FE23-4823-BD4A-A4A34CC4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62950"/>
            <a:ext cx="62865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C1F4F-E866-4F1E-BCE8-8AC9EE4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96300"/>
            <a:ext cx="596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Inside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8654D-7CE0-4E2B-AD0E-339A1178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763000"/>
            <a:ext cx="596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Fat types, heart and brain context, oil choices, fish and omega-3 notes, label reading, realistic swaps, budget tips, and a printable planner.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2CEFA-DF5B-4380-A811-70912E29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10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8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Published July 30, 2026 | Next review July 2027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11DB8-F3CF-4F4B-8094-E5D86F2C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4107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</p:spTree>
    <p:extLst>
      <p:ext uri="{BB962C8B-B14F-4D97-AF65-F5344CB8AC3E}">
        <p14:creationId xmlns:p14="http://schemas.microsoft.com/office/powerpoint/2010/main" val="1201263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a8b555e244cab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F04C8-4C47-43D6-A1B7-B9E2331D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1360B-5E40-4D1C-80BD-7AB6A574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Welcome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B1B3D-0D6A-4073-8960-FA5633EF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69A8C-F528-42D4-B4E7-C35C3300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C7AF9-90C5-4350-921D-F97EDD48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7126D-BE67-458A-BFC2-E830044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D2703-2EB8-4744-AE4D-12271F4A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15BCF-705B-4478-8549-FC824437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WELCOME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E9E0C-4D5C-41AA-9290-6018FB6B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Fat is not something to fear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731A6-7F49-486C-9E34-4E2F388D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The useful question is not whether fat is allowed. It is which sources show up most often, what they replace, and how the overall pattern fits your needs.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f928402714ef9"/>
          <a:srcRect xmlns:a="http://schemas.openxmlformats.org/drawingml/2006/main" l="0" t="38791" r="0" b="38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571750"/>
            <a:ext cx="6515100" cy="2190750"/>
          </a:xfrm>
          <a:prstGeom xmlns:a="http://schemas.openxmlformats.org/drawingml/2006/main" prst="roundRect">
            <a:avLst>
              <a:gd name="adj" fmla="val 608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EDA51-048B-432A-8FC3-32FD9A84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30289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BFB1F-BE7F-45B2-B0FE-176B1C7F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70F6D-DA09-4F62-80E6-8E05E441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387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Know the types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A4721-FF58-4E2B-B0DC-9A5BB88E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8640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Saturated, monounsaturated, polyunsaturated, and trans fats.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8CA03-7DFE-4346-9B71-DA48E300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05400"/>
            <a:ext cx="30289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5B04E-2CDE-4E63-91F0-E598C201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76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90D0A-7E14-4AF5-BED8-A32F788F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Read labels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B2C30-3C35-4B6D-B138-AA4526F2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8640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Serving size, saturated fat, trans fat, sodium, added sugar, and %DV.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CB64F-F4D2-4D7D-BCE1-7268F78A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30289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F85A8-4040-4A1B-ADBF-6D16ADA8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2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DA652-A115-4B20-837E-A9F5F00A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86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Try swaps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2510C-77FD-4B44-9260-F8169C3D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341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Replace more often, rather than simply subtracting.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BFEBB-FB66-492C-9071-1A7C0935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153150"/>
            <a:ext cx="30289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9D243-93D9-4AC5-B242-684345F1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32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526BA-A131-4A27-9AD3-A19451F1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86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Stay personal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CE88E-957A-47E1-A012-E851DB06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341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Health conditions, culture, access, and taste all matter.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CAF7-45DA-4DFB-A4B5-90DEC4F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24850"/>
            <a:ext cx="65151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CE166-B98E-4433-9320-4FBE821D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582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Individual guidance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9CE29-76B5-4479-98D1-2B629F61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724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Ask for personalized advice if you have pancreatitis, gallbladder disease, very high triglycerides, kidney disease, pregnancy, allergies, an eating disorder history, or a prescribed diet.</a:t>
            </a:r>
          </a:p>
        </p:txBody>
      </p:sp>
    </p:spTree>
    <p:extLst>
      <p:ext uri="{BB962C8B-B14F-4D97-AF65-F5344CB8AC3E}">
        <p14:creationId xmlns:p14="http://schemas.microsoft.com/office/powerpoint/2010/main" val="799960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756fd9c7a41bc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A4178-F322-43CC-8742-EB5BC03E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0CE03-92D5-490F-A6DF-B479263F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What fat does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5A031-99C7-44D3-A176-94C28838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889E8-3494-4F16-A9F7-B44ABFA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8EBE5-69EB-4EED-B552-9A002C9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EAC65-9F97-431A-9833-B226CE42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4C4A6-33CA-4411-AFFE-8582DB0C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B7420-AE84-40D9-8E5B-98DC8FB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WHAT FAT DOES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6B7B0-02FE-4CD9-B347-C2F9374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What dietary fat does in the body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FF01E-5388-4F02-80BE-E6B00519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Fat is an essential nutrient, but it does not act alone. Source, portion, and the rest of the meal still matter.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F3CD2-EF2D-46DB-AFAB-EAE0C177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02895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8337E-518F-4F02-B218-D32FD364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3AD6E-63C9-4B4E-9E19-EFAB8DA3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Cell membranes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28B96-01D0-4338-94EC-DA13F1AB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Fats help form flexible cell structures.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602B0-CE45-4958-BC08-5D22CB9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302895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74C44-3364-4651-9E6D-6B7A0DC2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6CCB2-D7BD-406D-9D33-D4A8C1A9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Vitamins A, D, E, 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54ED6-C4B2-497D-9E33-5A3583A2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Fat helps absorb these fat-soluble vitamins.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8051D-673D-4F26-A696-0CA561A2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302895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597D5-B6B7-49CA-96FB-3BB19611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A13B7-3AEF-4296-951E-E13554A5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052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Flavor and texture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E6090-9FF2-4512-8471-79F26AB6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Fat carries flavor and changes mouthfeel.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3AA0C-411C-488D-B3AF-31A3EFAE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71925"/>
            <a:ext cx="302895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635D9-5A05-421B-970D-759874E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4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677E2-3D63-43FE-8D04-7D9D55C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Meal satisfaction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E3E33-661A-4359-8E4A-541D2DE1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5292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Fat can help a meal feel satisfying, especially with fiber and protein.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A8B3EC-A300-4860-8A32-921FFC85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302895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FB9DF6-206A-49B4-A1D1-0D12DE8B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F804DE-0F8F-4977-9F14-C8B0596F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Essential fats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454C1-2B80-46CF-A43F-1F88E2D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673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Some fatty acids must come from food.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397000-28F6-4A94-845C-1728F51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86750"/>
            <a:ext cx="65151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60E86B-6C85-4592-AF14-9F43AF8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20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Simple takeaway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88396C-330B-4DED-AC67-D9D50BE2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6868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Fat is useful. The pattern is the point: food source, replacement, frequency, and personal medical needs.</a:t>
            </a:r>
          </a:p>
        </p:txBody>
      </p:sp>
    </p:spTree>
    <p:extLst>
      <p:ext uri="{BB962C8B-B14F-4D97-AF65-F5344CB8AC3E}">
        <p14:creationId xmlns:p14="http://schemas.microsoft.com/office/powerpoint/2010/main" val="114765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70699defb4f6b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CA776-ED9E-4B85-82A6-9506BD48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3310C-6123-43FA-8F73-85D485CA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Fat 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9588A-E2DB-4318-A26C-2385F412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DD489-8A89-46D1-BC6B-C9D6D282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A0576-F064-42E6-879C-75F2D3D7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5C840-80AF-4BD4-8AFF-A80923AB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D5708-AFA4-493D-A510-9A2C499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4D59F-2712-43D3-9195-37B0D699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FAT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C5751-DC90-4427-B77C-A96E0DF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Saturated, unsaturated, and trans fats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5A862-4945-4F42-BCCF-30D24172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Foods usually contain mixtures of fats, but their main fat sources can guide everyday choices.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AF963-1431-45D7-B6C3-3D7E42CA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0289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C15B6-B002-4455-821F-39738F4D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26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554B8-317B-41F0-9561-E78330A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Saturated fat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F93E9-2B0F-4E0A-A93E-F7B1444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419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Common in butter, cheese, fatty meats, coconut oil, and palm oil. Limit where appropriate. [1]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4FB58-FFE5-4766-A93B-94F1C50B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30289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01B3B-7348-40FE-A146-C5D0D2D9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94873-567E-4D4F-BB30-B103F5A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Monounsaturated fat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391B0-17F4-43E8-A409-69A01FC1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2419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Common in olive oil, avocado, peanuts, and some nuts. Choose more often. [1]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8C18C-C4A1-43D0-BF4F-814AFA1D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289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F5C74-87A5-4874-B78A-624EED41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F121B-6036-4C1A-AD09-0CA22492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Polyunsaturated fat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BD4BC-C62B-40B8-981B-C4FD3EF9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2419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Common in walnuts, seeds, soybean oil, and fatty fish. Choose more often. [1]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DD611-0E15-4034-8659-842EA96B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24350"/>
            <a:ext cx="30289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EA2CF-B59B-4AB3-A280-6136123F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95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26A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6B319-6187-4CFF-9A7E-0A3B4E90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Industrial trans fat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3F8FED-5C38-454F-8A0D-DF2BE7E5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05350"/>
            <a:ext cx="2419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Avoid partially hydrogenated oils. Check labels and ingredients. [2]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4D6FC-1AC8-4EA9-83DC-AE11B5AC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05800"/>
            <a:ext cx="6515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87EB7-75DD-46F2-BEB6-9B696EEE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39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Nuance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2883B-DDAC-4D2A-A575-45724FF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705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This is not a food purity list. It is a practical pattern: choose unsaturated-fat sources more often, limit saturated-fat sources where appropriate, and avoid trans fat.</a:t>
            </a:r>
          </a:p>
        </p:txBody>
      </p:sp>
    </p:spTree>
    <p:extLst>
      <p:ext uri="{BB962C8B-B14F-4D97-AF65-F5344CB8AC3E}">
        <p14:creationId xmlns:p14="http://schemas.microsoft.com/office/powerpoint/2010/main" val="85801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ca87d95074965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7A08A-DF1D-4CCF-9F3B-CA60E98F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8E50C-380A-4FA9-8FF2-B2B45D10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Replacement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29A80-5FCF-4104-B123-EB6CCA1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3949D-E7B6-4946-9499-76C365F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BC35D-C848-4B83-9D68-2EC22D1F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F24EF-4F49-4AB7-9758-CE5A926F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99472-0D33-4144-83EF-4B2BC83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55A8B-23D7-4B43-A150-3BA0A7F2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REPLACEMENT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F747C-9BBB-4756-A35B-ADF8D509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Swap, do not simply subtract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4F3D2-0C5A-400D-8A15-F55C46E3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Reducing saturated fat helps most when it is replaced with unsaturated fats or fiber-rich foods, rather than refined starch or added sugar. [1]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9E717-3B98-4564-A224-AA6414BB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EDA07-D2CE-4615-99AB-D037C11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39244-5A59-44FE-B66B-32D35FEB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8F3519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8F3519"/>
                </a:solidFill>
                <a:latin typeface="Lora"/>
                <a:ea typeface="Lora"/>
                <a:cs typeface="Lora"/>
              </a:rPr>
              <a:t>Less supportive default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E4560-FB0A-4031-A78E-CF16EED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02222-E0A1-478E-905F-941BF3CA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Butter-heavy cooking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52DD0-B640-4704-AD0F-65B9B718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4C77E-2F22-4023-896B-305D11EA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Fatty processed meat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91A6F-90ED-4C44-A74C-EFFF7C9A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20792-2FBF-4752-85A3-4062F47D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Creamy dressing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35C0E-7D67-45DB-A996-B0DF1915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2B315-AA31-4F18-820A-24F3D70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Refined snack alone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69C04-043E-47D2-BE08-4BBE1CE0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More supportive replacement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6DF78-ED11-4C63-9AAA-B13EED6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E283D-4611-4ADB-AB60-FD814D3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Olive oil or avocado when it fits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A6A1B-7A16-48CF-AE71-1E3BE772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C141A7-37EF-415D-A043-126A65AF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Beans, fish, tofu, poultry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CAFB5-A8C2-40F3-99EF-5280A82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B9882-DD0E-4D95-B250-815229D5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Vinaigrette or yogurt-based option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99C499-FAF3-4996-A0DF-B4D574FE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B59575-567F-4CE5-B84C-E6E3178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Nuts and fruit or hummus and vegetables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F33D5D-534B-46AF-9B78-3DAD3AA9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67550"/>
            <a:ext cx="64960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7F4AB4-3239-4353-8C66-06EF060B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0090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Pattern message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61844-7E00-4BB5-8D72-C74832C6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67600"/>
            <a:ext cx="617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The replacement is the intervention. A meal should still be satisfying enough to repeat.</a:t>
            </a:r>
          </a:p>
        </p:txBody>
      </p:sp>
    </p:spTree>
    <p:extLst>
      <p:ext uri="{BB962C8B-B14F-4D97-AF65-F5344CB8AC3E}">
        <p14:creationId xmlns:p14="http://schemas.microsoft.com/office/powerpoint/2010/main" val="1021830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cb398c2004047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6F209-5429-42CA-AC0B-DB50466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F5540-FFAB-4D7D-AAC8-2CC22FD6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Blood fats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FA35F-744B-410D-B494-402D78CD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BBD5B-DBD9-4A01-B638-2A950634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2B54F-91B0-404D-8226-8B195393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FB065-DBCC-4016-A850-FFA84AA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1BB7B-D81D-499A-9396-EC851D3A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A8BE2-8BF8-433A-AC66-0022D396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BLOOD FATS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B6732-BB05-4690-93AE-0E596F41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LDL, HDL, and triglycerides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FEF73-A9DC-4F90-B521-2ABF31E4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Lab numbers are useful clues, not a complete story. Ask your clinician what your own results mean.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CC98F-BFC9-43D7-8EAC-970EBB1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000250" cy="2095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FB239-C98D-425B-AD2B-77FC94FD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LDL cholesterol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F0916-873A-425D-AC17-2D6EF48F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73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An important cardiovascular-risk marker. Lower targets may be recommended for some people.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78304-9A63-469C-9636-8C79B9A9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952750"/>
            <a:ext cx="2000250" cy="2095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3D317-7AC0-46F5-A4F4-450AE471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765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HDL cholesterol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D473F-BB54-4412-8EB5-451FF0DC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33750"/>
            <a:ext cx="173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Part of the overall picture. It should not be treated as a simple protective score.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09326-FDC7-4B28-A548-96F6E4BF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2000250" cy="2095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2B35A-F301-444F-8917-801FA40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765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Triglycerides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0533B-21FA-4B29-827A-CB4AA2A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73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Can be influenced by genetics, diabetes, alcohol, medicines, weight, and dietary pattern.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72C29-5050-404D-9ADD-1D1E953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No single lab value explains all cardiovascular risk. Blood pressure, smoking status, kidney health, age, family history, glucose, medications, and other factors matter too.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8CD8B-00B2-44AB-AEAF-BE14454A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0"/>
            <a:ext cx="65151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3A918-DFAA-45D8-AD17-242C6E2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229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Medication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CCF7B-D618-4854-A721-26074835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963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Do not change cholesterol treatment, diabetes medicine, insulin, or supplements because of this guide.</a:t>
            </a:r>
          </a:p>
        </p:txBody>
      </p:sp>
    </p:spTree>
    <p:extLst>
      <p:ext uri="{BB962C8B-B14F-4D97-AF65-F5344CB8AC3E}">
        <p14:creationId xmlns:p14="http://schemas.microsoft.com/office/powerpoint/2010/main" val="1988924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d77022deb42c8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FC498-3E82-4159-A386-420C0424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81FD8-4445-44F0-9283-944A7553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Cooking oils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6F0B6-DF85-41DC-9E07-FBF6AA68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98AFD-E935-44E6-859F-C79EB48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C6812-B3A1-49B8-9CF9-6D4C78F9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B5C11-B149-4EFB-806E-07F88526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FB77E-D2A2-4C48-BF48-7E76D40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8A3FB-C686-4CB2-989B-5BF357E6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COOKING OILS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3EB11-94F1-4905-A6A3-D765C73F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Cooking oils are tools, not trophies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55C19-726F-4F7C-A0BF-CF2CA84F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No oil is perfect for every recipe, budget, allergy, or health need. Non-tropical liquid plant oils are generally useful unsaturated-fat sources. [2]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917A5-7132-4844-B75C-BAEF0B0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6989B-90B3-4B2D-A1A4-79489E13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03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03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Oil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C7B1B-E3DE-4CA2-969C-2731090D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57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7F2AE-F50F-4F6A-8BE0-F54FA818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432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03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03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Common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E6571-5D1E-485D-822A-641D7A99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5750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8FE23-65ED-4A2A-9CF7-79D1212F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4322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03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03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1024E-EE21-4462-ABED-CDB16E4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575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4CB2D-3934-4A8E-97D9-07A15C3D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432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03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03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Remember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5BC37-307B-468D-B724-38943708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5EE45-1E06-4438-815A-55DBBC6D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Olive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FC375-466C-4389-BF49-44C56DE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C6A45-81E8-44AD-9C75-E43ABEF6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0517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dressings, saute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9C8A5-0C19-4910-B516-3A1680D9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194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0D388-72F0-4E58-A2B6-EE2D0985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051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flavor varies; often unsaturated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D0CC9-A506-4C25-BBA2-8387DA7D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194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3E344-CC27-4192-B497-7A43B6A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051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measure if portions matter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B59A7-91D7-4A00-92D2-06FFDEF5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D59D2C-4A1D-42CB-BF01-D6478767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Canola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4A728-D404-444B-A1FC-14961D3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CCADE-4B5E-49B6-8153-78FF2BBF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0522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baking, saute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CCE823-AB97-4C22-B0A5-0EE04126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195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6E9CB-C6F4-4699-8806-A602CB93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052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neutral taste; usually lower cost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590EBA-28F2-45F8-A456-AD41F2B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195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63174-8BED-4D3B-B24B-FED379AC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052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recipe and access count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4AE330-8AC9-40C3-A52C-777ECD9B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63596D-F394-4512-B548-398DE98F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Soybean/corn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4E4180-BBCA-48CE-98F1-56F7F165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19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4312AF-D4F7-4DD6-9FEF-FBBCE662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0527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everyday cooking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9CE3EE-7F9D-4465-8F91-79E3B0F7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195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79430-59E1-4ECF-A961-5588E484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052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common liquid plant oils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25459A-5EE9-493B-9207-CA2F0324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19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695259-4BF3-4908-9005-E589E0C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052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not all oils taste alike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5EF327-8DB2-4A78-BFFD-47EBF028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47F497-4A79-431F-82A6-971E8DF2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053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Sunflower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0F768B-6A35-455F-94E6-AD8E273C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19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EE6862-B670-45DD-86DA-8AF9D0DB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0532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saute, dressings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B8CABD-1E9C-4EBA-9C72-382565D9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96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EDE9EA-43AD-4784-A79C-1D9A274B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53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varies by type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F13D2C-6063-4A4D-8C83-531E7CFC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96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58FDF1-E79A-4925-AD2F-257764A4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053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check label if needed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D7B6B4-E1EB-4E9E-BF38-3CCE70E2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4C137C-8790-4987-AE6A-F8E05FFE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Avocado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7C29D0-FC7E-4E79-A26D-A0AC3255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9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AC262D-D30E-49CA-AFDA-9D7F76D3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0537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higher-heat cooking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4B7235-51ED-4093-AE91-FCE608E1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F88911-C66C-46C2-93C9-AE67581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053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often higher cost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4FA83F-40E3-472E-8F59-5D396B89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196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B2023D-9B71-4A1C-B1E9-8C9F4663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053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not required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8A7874-A721-4657-9DA2-DF6EAC5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EAE2EE-31B0-4952-A5EE-33BAC6F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Peanut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FA792A-FBD4-4397-BB09-081A9BD3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97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B7EF03-7F17-47C5-94B0-E4093513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0542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stir-fry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64CFA7-2A37-476E-BCCC-B10069F6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643393-A27B-4DED-9FA4-FBA80D60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054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allergy issue for some people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5D1807-EF72-4B6E-88F9-F3D7364A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197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B8CC55-8A82-469E-A752-0F7F29CA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3054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choose safely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20DDDE-6DEE-4A35-88D0-20ACD54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B8E986-3B22-4D7C-A9C8-8EA48A27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054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Coconut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2F7293-5C02-4D1F-9A08-BA0AF4E0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98B55F-4E3D-4914-8B63-DCD23EDB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70547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traditional uses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F3C09E-B2B6-4BA9-AE00-639F9222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197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3DFF24-D9E8-462F-B191-902B92E5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054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higher in saturated fat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D7ABC9-1B85-414B-820B-63E4E22A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197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3D9DCB-DC84-4776-9D51-A4F4656F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054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not a miracle food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53EC9C-6C90-42B5-9287-B3E1296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C3B2F1F-A0D7-4DEA-9257-B3953229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55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Palm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0B0B7D-46CB-4D9A-AD63-8A1997BE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0198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932C141-F52A-4C53-AB24-07CF917B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10552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packaged foods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4BC4C31-36E6-4D44-8489-C43EA9BD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0198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EE8195-3656-4E43-83A0-921347C4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higher in saturated fat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1CCFD0-CFE5-40A9-A9BE-A992F635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0198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4F7EC77-F05A-444C-87E1-47D8F9E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1055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look at frequency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FE145A-78F9-40B1-9892-74B25C54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B626DF-04F9-459E-AB94-58CC7CD8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Any oil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803973-657A-4964-BED0-215D76D5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198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0561336-6E70-4E7E-BEC2-536AE78D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50557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flavor and cooking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2D3F8F6-9F8A-44A5-BD52-8C195B5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4198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56523EC-7A50-4929-AEA0-8624F1B7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055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all oils are calorie-dense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427F2D-3308-4FDD-A2DD-BC1A369D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4198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66BCCBD-CDEA-4942-ABE9-B5FC9303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5055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3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 without moralizing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E4FAFA1-349B-4AC3-859E-42FD9403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65151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018A74E-EC4E-4478-A262-49E7FC0D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3820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Kitchen note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9A20411-42E6-458C-A3CC-113A8B3F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6487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Coconut and palm oils are plant-based but higher in saturated fat. Natural does not automatically mean heart-supportive.</a:t>
            </a:r>
          </a:p>
        </p:txBody>
      </p:sp>
    </p:spTree>
    <p:extLst>
      <p:ext uri="{BB962C8B-B14F-4D97-AF65-F5344CB8AC3E}">
        <p14:creationId xmlns:p14="http://schemas.microsoft.com/office/powerpoint/2010/main" val="1251439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fca743f874e56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C0E84-DAC7-424C-8898-6CC6CE71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50FCE-064D-4ABE-854B-38310C9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Nuts and avocado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43D52-F8FE-429E-9C3A-A7624202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5F453-29E0-46B1-B57A-4D38C73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37905-1469-4AB3-B2F4-1BDAFB8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D3152-1581-4DA1-B6AF-BDD21CD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5F5C8-FA32-45BC-9BE5-236947F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B339D-B147-4A2E-BC43-1D2F595C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NUTS AND AVOCADO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814E7-CAC2-46C8-9FA5-F565509C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Nuts, seeds, and avocado add more than fat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D92D6-97D5-4A80-BEF4-09AA43DE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These foods can bring unsaturated fats, fiber, minerals, texture, and satisfaction. They are calorie-dense, which is a neutral fact, not a moral warning.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1fd6bc8a543a2"/>
          <a:srcRect xmlns:a="http://schemas.openxmlformats.org/drawingml/2006/main" l="0" t="19355" r="0" b="19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686050"/>
            <a:ext cx="2952750" cy="2714625"/>
          </a:xfrm>
          <a:prstGeom xmlns:a="http://schemas.openxmlformats.org/drawingml/2006/main" prst="roundRect">
            <a:avLst>
              <a:gd name="adj" fmla="val 491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1017F-6FAB-403C-A441-7BA580AF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43200"/>
            <a:ext cx="1428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49C07-5FB1-4CAB-AE2D-CCE40500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35843-FA12-4F7A-9838-A88123CE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Peanuts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E9711-A98B-4BE7-8400-50FE8D91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24200"/>
            <a:ext cx="819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Often lower cost than many tree nuts.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D9EB5-4507-4F88-A511-E57E61E6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1428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E9948-B7F6-46B2-A83D-9894E78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1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ABA26-8D1F-4D3C-AD8E-BA50E5AE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Walnuts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61F36-F671-44EC-8646-2E4ED05F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819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A plant source of omega-3 ALA.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55E97-E630-40BD-A379-0749130F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76700"/>
            <a:ext cx="1428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12C72-1D01-4CBB-B03D-F79F4111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74460-9570-4B81-98C0-52E24EB0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00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Seeds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B0B7B-6EF6-4C0E-9141-E48A4896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57700"/>
            <a:ext cx="819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Sunflower, pumpkin, chia, and flax can add crunch.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06A6B-D18E-4D05-81B7-D0624DB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76700"/>
            <a:ext cx="1428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C77150-79DF-4206-ABF0-E59739E2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79B37-0F09-492B-94DB-1776D439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Avocado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6A459C-9633-4629-97C3-5364C7A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819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Useful in small amounts for texture and flavor.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C0BCAC-E298-4E8B-A63C-003DE6C1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2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16E79-EE2D-46DF-B7D4-481B8578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8175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Buy small amounts if food waste is a concern.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E95B0-B765-4712-9162-14A0B0F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2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FF0E7-AC59-4FA6-A2EC-B389A7B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818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Store nuts and seeds tightly sealed; refrigerate or freeze when needed.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053631-C6BA-48CE-A291-BF08FFC8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2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F77569-6B5B-47DB-A912-86DCA333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8185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 portions that fit appetite, glucose goals, and overall needs.</a:t>
            </a:r>
          </a:p>
        </p:txBody>
      </p:sp>
    </p:spTree>
    <p:extLst>
      <p:ext uri="{BB962C8B-B14F-4D97-AF65-F5344CB8AC3E}">
        <p14:creationId xmlns:p14="http://schemas.microsoft.com/office/powerpoint/2010/main" val="338544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78440fce44af1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AEAF1-0C7C-47AB-AB29-E29E2DA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5D699-3720-4EB2-9B78-2F5CA390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6365A-5E16-4C67-AFB1-F80510E5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5C9FE-E3D0-4BD8-8F62-2504BF1F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F61D6-712F-436E-8FF8-66B3FC47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E724B-16E0-4A59-ACDD-9FD74E5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23D27-3B12-4D8B-9708-0715061E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DD136-D3FE-401D-B081-F60F14B8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AB11C-F18E-4DD2-9C34-364FF55E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Fish and omega-3 fats need nuance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55436-2094-4C6D-930C-4D4A663A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Fish can be a useful protein source, and fatty fish provides omega-3 fats. Eating fish is different from assuming everyone needs a supplement.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18495-D109-4AFA-A534-93461F2A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028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7F53A-F821-44EB-920F-D07A1866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6CA8B-C54E-46CE-9119-4B851CEF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Salmon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A113E-9763-481E-BBB6-5B2989E5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Fresh, frozen, or canned can fit.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BE398-4DEF-4041-9E89-AEA8E3CC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3028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011CF-FAD2-42BC-8C69-485E6882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70C25-7053-4962-BCAD-CA507AE6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Sardines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C8E24-78BA-4C2E-819F-DCC54F63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Often budget-friendly and rich in omega-3 fats.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FBC4A-80F8-457E-BF26-A0481E0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3028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0C2D4-340D-4202-98E9-DB6630BB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D1F23-7AA5-4CD1-B218-1C65CEC2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Tuna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9A452-B6FD-4EE4-A0BA-0325089E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Consider mercury guidance, especially in pregnancy. [5]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6FC07-871E-450A-BEE8-7D92045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19550"/>
            <a:ext cx="3028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28933-8BB2-4D00-9469-9A324DE5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91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DDBF0-14C9-4F42-A71C-25B9C89A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Plant pattern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62B45-6FFF-4366-8A32-AB7EB39A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0055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Beans, tofu, nuts, seeds, and oils can support plant-forward meals.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49798-9995-4508-808D-9A9B1C5D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96200"/>
            <a:ext cx="65151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E44D8-E06A-4DBD-860E-031B6E50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8295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Supplement caution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BFB93-F39E-4343-B055-2BDBF8D8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096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Omega-3 supplements are not universally needed and may interact with medicines such as blood thinners. Ask your clinician what is safe for you. [6]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3E0E04-BEFF-42C4-BDD7-D5112FFF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43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Pregnancy or breastfeeding: FDA/EPA guidance emphasizes lower-mercury seafood choices and individualized advice. [5]</a:t>
            </a:r>
          </a:p>
        </p:txBody>
      </p:sp>
    </p:spTree>
    <p:extLst>
      <p:ext uri="{BB962C8B-B14F-4D97-AF65-F5344CB8AC3E}">
        <p14:creationId xmlns:p14="http://schemas.microsoft.com/office/powerpoint/2010/main" val="430848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eb76298154775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B79E0-D70F-464E-A695-55D81B2B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F6F7E-31E7-4177-ACCB-06F85E15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Dairy fats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085A5-FEA1-487E-854D-F7A58774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38C3B-9E7A-49F9-AB86-4B6BA86E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90F0F-0E23-45F2-A899-C20F6B89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A96E8-7306-476A-8DDF-8D5A29F2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38513-9734-438B-8A46-D2460F6C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C173B-2F91-4018-8202-3F04C485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DAIRY FATS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BB349-8FC0-4831-958D-3098FA4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Butter, cheese, cream, and dairy fats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C747E-F9F4-4D01-9213-9D1DD116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You do not have to ban familiar foods. It helps to notice frequency, portion, added sugar, and what the food replaces.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00567-109F-4C30-9924-31AB9412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8E116-62E2-4B29-A43F-00B3EE19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0A772-F3C4-4EDF-8AD8-AE44AAB2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8F3519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8F3519"/>
                </a:solidFill>
                <a:latin typeface="Lora"/>
                <a:ea typeface="Lora"/>
                <a:cs typeface="Lora"/>
              </a:rPr>
              <a:t>Current default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1C438-45C2-45CE-BCC0-C2291DD5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B4C93-451F-41FE-BB25-D65B4D9D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Butter as the only spread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B2CA7-8401-4CC0-BF16-2549930A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39494-D673-4CB2-B95B-BDDCB66E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Cream-heavy sauce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C82F8-C3D4-45A2-BF55-AA07D587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C3389-7E27-4424-8F3F-FB760788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Large mild-cheese portion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F9D21-0CFB-4F09-933D-A738BEDB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CC840-BA7F-4384-A931-44BD31BB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Sweetened dairy item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2B77F5-0861-40E0-B75A-CE73C2D5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Possible swap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D0FBC-B35E-4587-AF9B-3CCC49A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BF732-3FE6-403C-9FAF-CD828492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Avocado, olive oil, or nut butter sometimes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B8CE6-118D-4AF8-969E-F816C9D8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A0B44-9ED5-40DF-AB5A-97276DAD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Tomato-, broth-, or yogurt-based sauce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2110E-C40E-491B-AD06-998B8B5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F02D86-5D19-40CE-A68F-6ED130E7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Smaller amount of stronger cheese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3043B4-EA06-48D7-A614-AE00275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993556-21C2-436A-AC9A-784BB2D0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Plain or lower-added-sugar option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E7D8F9-D9C7-495B-A46E-E1F9B555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67550"/>
            <a:ext cx="64960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1A714-428E-4390-B0BA-E6FF5FF4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0090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Keep it realistic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213E4D-5863-4497-8119-523ED637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67600"/>
            <a:ext cx="617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The point is not to erase pleasure. Use flavor intentionally and choose what fits your health needs.</a:t>
            </a:r>
          </a:p>
        </p:txBody>
      </p:sp>
    </p:spTree>
    <p:extLst>
      <p:ext uri="{BB962C8B-B14F-4D97-AF65-F5344CB8AC3E}">
        <p14:creationId xmlns:p14="http://schemas.microsoft.com/office/powerpoint/2010/main" val="1375201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b6bfef283404c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129D5-6FD0-40F9-8563-2FA8762B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11926-B77F-4237-997E-8C06C952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Tropical oils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C6892-177E-464A-83FD-5F60A344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FE466-48BF-4AB3-B6E2-06BB0652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71A64-8374-4923-B84D-2D2F554E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C5AEA-7137-4AF9-B781-454FABEA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3D5B6-DADF-4E79-A5EF-82128957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431DF-7C9F-48D3-B26A-CD52BFE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TROPICAL OILS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AF2C5-59AB-425B-BB91-73BF13F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32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Plant-based does not always mean low in saturated fat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BC600-3A6B-428F-BE80-031E8222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Coconut and palm oils are plant-based, but they are higher in saturated fat than many non-tropical liquid plant oils. [2]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4E4EC-F0C5-477A-9A9E-607E720D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0289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52467-4828-45E5-82E7-84245EBD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DC224-F5D0-4379-AAC7-942FFC3A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Claims to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9BDCC-663E-40CA-ACAB-77CE431A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Miracle fat, metabolism booster, detox, or brain cure.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C83BF-81E1-4D50-A1EE-9F1DCF13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14650"/>
            <a:ext cx="30289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7D8E6-775C-4368-A684-93A14D1B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86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7B53D-391A-4354-ACF9-7B11703F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Context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75283-A0A2-4F4A-813B-69B2C87F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Traditional foods can matter culturally. Frequency and amount still 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784DF-BE30-45E8-AF3B-373551E3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289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82AA0-3004-48ED-903C-36B66F9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D4766-9F59-4161-896D-65770746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When to choose another oil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ECDFC-F4CD-4843-9694-8D4ED400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If LDL cholesterol or heart risk is a concern, ask what fits your plan.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B1E68-CAD5-4CBB-AB49-ECF51438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24350"/>
            <a:ext cx="30289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416E5E-FB36-4DDA-B1CB-C728585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95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D7DDE-A4A4-4086-BC1D-5EBA8931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What to use instead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660D9-E5A8-4C45-AD2B-C50F6682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053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Olive, canola, soybean, sunflower, corn, avocado, or peanut oil when appropriate.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54A31-83ED-4304-A079-47FDD05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62950"/>
            <a:ext cx="65151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4BE9A-3236-4D89-9B4E-0AC2F083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96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Nonjudgmental note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A9DF1C-95CF-42C4-BBC0-13797DF8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7630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No single ingredient defines a whole diet. Look at the pattern, the portion, and what happens most often.</a:t>
            </a:r>
          </a:p>
        </p:txBody>
      </p:sp>
    </p:spTree>
    <p:extLst>
      <p:ext uri="{BB962C8B-B14F-4D97-AF65-F5344CB8AC3E}">
        <p14:creationId xmlns:p14="http://schemas.microsoft.com/office/powerpoint/2010/main" val="3136112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2f40d49154323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9C92C-8146-48D2-8B93-7599C7DA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286D5-350E-4F13-87B0-D92BC477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Fried foods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9A37D-501C-411C-B8D8-558FF9BE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1DB87-7E08-46EA-A480-43503F3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902DA-52F8-41D2-969E-759515FB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9ED8C-4F85-4323-830B-8A8585B8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40D35-CA78-47E3-95D6-CDAFE8C4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344C8-AC81-4773-B649-9D98A1F4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FRIED FOODS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A46A7-A822-42F4-92DD-86A092F8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The issue is the repeated pattern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66F5C-3443-4064-BE21-7B550EE5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Fried and many ultra-processed foods can combine refined starch, sodium, saturated fat, added sugar, and large portions. One meal is not the whole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F181B-6CEC-4C3A-95D8-049571F2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75068-9386-4A3F-BA04-D43C4097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DA838-5CCB-45B4-A86D-87932FEC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8F3519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8F3519"/>
                </a:solidFill>
                <a:latin typeface="Lora"/>
                <a:ea typeface="Lora"/>
                <a:cs typeface="Lora"/>
              </a:rPr>
              <a:t>Frequent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96A25-324C-4900-BBC6-A32BE17C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24D39-E430-4CC6-B23F-5DB013BF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Fried entree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6510D-F1BE-4397-BF73-DFC8F543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B3A1B-E950-4439-B53C-B7B160F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83243-6C56-47FE-BA7E-C4EBE03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F52B7-DD67-4B40-ABEA-0E26F88C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Sugary drink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5A1B5-BB57-4B0B-812B-F297BB9D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7CD63-6298-4B05-8FD6-23D5C05E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Few vegetables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5CDE9-9317-42B5-9E66-B6A7621F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More supportive adjustment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D0B3E-5E26-4818-9F23-5C061CE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BE1799-7292-4672-BE63-4ACC6B76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Smaller or shared fried portion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39B6A-3939-4C90-9CBE-15C09B1B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75E45-68D1-42E0-926B-2D946AAE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Vegetable side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AD425-1EB6-49AF-B5B6-85840424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5246A-1683-43E4-AC3C-7A7017E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Water or lower-sugar drink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CC6888-61FB-46DB-B2B1-AD0BDE1D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9020F9-0928-43ED-B56F-CCBE010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Different cooking method next 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7A0F4D-3D9D-4E3F-AE47-B1C98CB0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67550"/>
            <a:ext cx="64960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2F310B-B3CB-4BC1-AB5B-80D7BA9E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0090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No shame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729DAB-3527-40E3-8CDC-ABAD9055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67600"/>
            <a:ext cx="617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Food is not a character test. Patterns can change without turning one meal into a failure.</a:t>
            </a:r>
          </a:p>
        </p:txBody>
      </p:sp>
    </p:spTree>
    <p:extLst>
      <p:ext uri="{BB962C8B-B14F-4D97-AF65-F5344CB8AC3E}">
        <p14:creationId xmlns:p14="http://schemas.microsoft.com/office/powerpoint/2010/main" val="13648508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547fe7c284532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C5A28-513F-4D23-BAD9-43FAA3EB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C50E3-DCDE-4905-B6D2-108F5BDE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Label reading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5FE0B-D4D7-48C2-8A81-CADA3C4F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ADD9A-4534-41DB-9C05-5B5B3E6F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DE07F-EB2C-4E35-9D2C-4D29516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F471E-D589-4895-8E97-B01E7A0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46AAF-825E-4DC0-BF51-537B0F67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F6BF4-0D39-4D27-96C5-5BB79159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LABEL READING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C5247-CA7B-43A8-96D7-7C861B07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Reading the Nutrition Facts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FCC5A-ED18-4D7F-9B43-9BBC4D25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The fastest label check starts with serving size, then saturated fat, trans fat, sodium, added sugars, carbohydrates, and % Daily Value. [3]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3657C-9DE0-4559-9990-86E21C04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0003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21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9D34E-3E02-4F92-8EF0-222AE32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Nutrition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011A4-77F2-472A-9B01-5973F361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47594-12E2-453E-A6A6-AC97587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4E8B2-799C-4720-B22E-25D2BD5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 cup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18D85-40CB-4622-B781-28F2BC50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1621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D1BF2-4C82-4469-BC84-D39F6E1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Calories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67DE9-C2B2-43DA-BE39-16053B9B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DD04E-9280-4FAB-B1E4-6B236820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A2DFE-60A3-4D4E-8269-51017B9C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Fat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38276-8768-4260-8382-C772A4A5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719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12g   15%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A57F2-DBD0-4AFD-8193-59FAFD37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A1F9B-455F-46FE-B8A4-1966ED70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Saturated Fat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F8FF0-E843-43DF-9E7D-D81E974B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529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4g   20%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63B5C-0EE7-406F-8507-1B1D32C3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34C25-33A4-419D-BC4F-72BCA865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Trans Fat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2323A-7B67-409C-A6A9-752ADBBB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339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0g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193C8-497F-4569-AA26-79557CF4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6B17C3-4B88-4A77-95A6-750EC531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Sodium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26BBC-F570-49AB-BABD-92CD4EC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149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480mg   21%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C2E7A-5B45-42BE-8313-8116832B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9BB71-5243-4184-9FD0-42EA31F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95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Carbohydrate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8C86A3-2FC7-411E-8116-B26046B0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959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34g   12%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19F189-F6FB-4DFB-B4D3-54158921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3885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1DB3C8-81CE-462D-8AF8-515E9643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76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Dietary Fiber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8EC557-BA79-4DE8-BE21-C53E29DA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769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4g   14%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F2C41B-89F4-4829-BDA9-D77ABE57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1985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F85E49-B080-4F4D-8E75-A10CD059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57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Added Sugars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E4BA61-F5DC-4A36-8CD6-60A1942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579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8g   16%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61398-FA1D-479D-8D77-4BD1DBAB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156457-A06F-4AF5-AE54-7D61BEC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6227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946729-1E90-4E94-82F1-9FAC6DF7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337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Start with serving size.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5CAE5A-0218-42B3-AF9E-576B34BC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52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7A0CB6-2BBE-4B19-A523-884852BA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0047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D5CDC5-EE18-4C6C-B078-2080F172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719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Compare saturated fat across similar foods.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2DA7A2-FD81-4ABE-B689-BCFE11F0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05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FDB1DE-407F-403C-8C69-08FD596F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5297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3C3268-B3FE-4E1B-8558-61EA67D5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244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Trans fat has no %DV, but still matters.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0531FF-502E-4684-A240-455B3B90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5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016723-A2C7-4F67-9C28-6328D981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8FE242-68A0-4933-AFA8-4ECEBDE8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769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 %DV: 5% is low, 20% is high.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80F6F5-0DC6-42A8-B726-8658000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629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FE07C1-24F6-49AD-AA09-9CFF8840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67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7CEFEF-FA84-4112-8FC0-EADC6E4C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6484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For diabetes, carbs and added sugar may also matter.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AFC0DC-3AAA-4ECD-81B3-AFAB0495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72450"/>
            <a:ext cx="6515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CE48FE-205E-409E-AF44-5830AF7B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305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Fast rule of thumb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C5CBD8-9B40-4F0F-B6B1-36278A5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572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For many nutrients, 5% DV or less is low and 20% DV or more is high. The goal may be lower for saturated fat, sodium, and added sugars. [4]</a:t>
            </a:r>
          </a:p>
        </p:txBody>
      </p:sp>
    </p:spTree>
    <p:extLst>
      <p:ext uri="{BB962C8B-B14F-4D97-AF65-F5344CB8AC3E}">
        <p14:creationId xmlns:p14="http://schemas.microsoft.com/office/powerpoint/2010/main" val="965699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24f7fa5e24317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5D052-23DE-4F48-B17C-5AB2D1AB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EBC35-D9B5-489D-B6CF-62FD1F05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Breakfast swaps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A1F7B-1392-4932-9729-4639D37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6C1CE-DA31-42E8-9144-A1428EA8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0E00A-0A3B-4CD3-A582-B414BD29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6C5F0-6BE3-4DE1-B779-6F610FB5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CF360-0A55-4F66-B01E-3DA99E2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2DCDD-8EB6-442B-A8B5-23EFEDA5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BREAKFAST SWAPS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2D354-4FEF-4AA4-9D07-C9CB26E7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32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Try one change while keeping breakfast familiar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577B4-1DB4-46A9-AA90-0C2F8B6F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Swaps work best when the meal still feels like yours.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37451-33FF-4F0F-9DD2-DF8CD6E5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6608E-F312-4BC1-A388-BAA3A5E8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ED762-A338-4BDF-A27E-7B23CE71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8F3519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8F3519"/>
                </a:solidFill>
                <a:latin typeface="Lora"/>
                <a:ea typeface="Lora"/>
                <a:cs typeface="Lora"/>
              </a:rPr>
              <a:t>Current choice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2C6DC-9564-4B0C-986A-C1D42135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775E9-13F9-4938-8FF0-52556414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Pastry and sweet coffee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83EB8-E507-4185-8126-D4FD5CE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5C297-6B58-4035-8FC7-BA12F9E7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Butter-heavy toast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F2B7A-967D-4F53-AEB4-7CE03228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27A75-1F21-4668-A48A-4ACDA1D8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Fried processed-meat side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16A8B-E5FE-41B0-8DF4-0B183FFB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9DAA2-BF5E-43E9-95F5-DD329519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Sugary cereal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A176F-5D19-460F-9D03-D6209F3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Possible swap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82133-5230-4E91-A511-8B03B5F5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D2D2A-3691-4835-8983-F80DEA4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Plain yogurt, berries, and nuts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6572A-0E0B-4DA9-BEA0-F33639CD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312BA-5366-4DC1-AB41-CA2A897A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Whole-grain avocado or nut-butter toast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C3047-18B8-43D1-A8BF-7239AA9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ED824C-0BA5-403D-A856-074D738B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Eggs with vegetables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DCF8CD-2843-424C-B1C5-929F43CE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FCB7B-04A3-4C81-B902-011593E4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Oats with seeds and fruit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705CC-CC88-48EE-B676-46FEA9F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67550"/>
            <a:ext cx="64960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731E4F-E3E1-4312-9220-45C86EDE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0090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Flexible language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182871-9917-4D25-A83F-02F938DC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67600"/>
            <a:ext cx="617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These are ideas, not assignments. Start with one change that feels doable.</a:t>
            </a:r>
          </a:p>
        </p:txBody>
      </p:sp>
    </p:spTree>
    <p:extLst>
      <p:ext uri="{BB962C8B-B14F-4D97-AF65-F5344CB8AC3E}">
        <p14:creationId xmlns:p14="http://schemas.microsoft.com/office/powerpoint/2010/main" val="2926014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77d3f06f74610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51246-E4F4-49F4-BB88-8BA09E0E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1F2DE-1A86-4606-95D2-2854CB27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Meal swaps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D4521-B5FB-40DA-AB4A-8496B7C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1BB1C-47F8-4227-9078-5936CFC0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35832-32D5-4A24-B19F-3EFEA42C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A7B87-D7C3-4134-AA4F-BA02057D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F4B78-F76B-4D1F-A83E-60731F44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86821-8364-4625-9887-A1F3A770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MEAL SWAPS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C56F7-809C-4C54-A52E-B114A86C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Swap frequency, not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FFDD1-C962-45C3-B174-10EDA3FF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Lunch and dinner changes should respect culture, taste, time, and budget.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2C050-F036-4281-B295-175C9BB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7FEB9-E091-49BC-83D5-EE764D1C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952750" cy="347662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6825B-3E09-408A-8659-1DE972D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8F3519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8F3519"/>
                </a:solidFill>
                <a:latin typeface="Lora"/>
                <a:ea typeface="Lora"/>
                <a:cs typeface="Lora"/>
              </a:rPr>
              <a:t>Current choice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2E9FB-6C86-4005-BE11-2A300D08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C1B91-5398-48D7-B37E-6C5CE82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Creamy dressing most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1F1EE-87EC-4988-BDF7-A86DB27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ED77C-FCE6-4870-AF92-FA19D1A1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Meat-centered 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AA212-D4C1-481A-B797-DE1097FC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D9E10-319E-499D-98C1-40CB09D2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Fried side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F520E-8B5D-474B-8A9A-688EF50A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38197-88CA-4E8D-AEB7-A594BC3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Heavy cream sauce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3C8C1-6298-4505-BB85-8530DC7D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27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Possible swap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A9528-DCC4-4E43-82CA-4F4C5571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184F6-7723-4182-8274-22A355B3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Olive-oil vinaigrette sometimes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DB280-FDB0-4CA8-BBF0-AA48B9FD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035609-78D9-4642-A4DA-D38BF8A4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Beans, fish, tofu, or poultry with vegetables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DDC0E-C3EE-4557-B76D-15E0B318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722A2-D107-4582-ABD4-EAD700A9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148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Roasted or sauteed vegetable side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F5BAB-EF89-4DBD-86A4-5EB95B05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27F22C-C66B-43E9-A6EF-7B52457D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Tomato-, broth-, or yogurt-based option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68F7FA-FB5B-432B-A614-1BCEF986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67550"/>
            <a:ext cx="64960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EA9BB8-EE7B-49F2-A60E-C3C19A19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0090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Featured idea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9EE025-6C62-4D1F-BE53-26F56E5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67600"/>
            <a:ext cx="617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You can keep familiar foods while changing what shows up most often.</a:t>
            </a:r>
          </a:p>
        </p:txBody>
      </p:sp>
    </p:spTree>
    <p:extLst>
      <p:ext uri="{BB962C8B-B14F-4D97-AF65-F5344CB8AC3E}">
        <p14:creationId xmlns:p14="http://schemas.microsoft.com/office/powerpoint/2010/main" val="7020212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7794f78a244fc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B8DCD-E277-4011-8864-5D51608F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8BB61-B144-49CE-BAEF-8B6A0AA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Snack swaps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CEAE9-F040-4927-9D0D-8A466A6F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C5761-CDBF-4B13-AB78-1BE89097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5956A-ED35-48D2-8ED1-178E5465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2EB9E-E83B-4BEA-9AB1-DCC1FFD0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985E5-A3A0-4C76-935F-ACA51322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5A6F1-9105-4A73-BFAF-6AF5E38D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SNACK SWAPS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1CCFB-AA53-4167-8CD9-0924BB5D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Snacks are optional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77AC6-E7B7-44FE-B720-4E6E7491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Not everyone needs snacks. If you use them, keep the pairing practical and satisfying.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8550B-B723-4298-B3CF-97524D67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10C4D-A9A6-43D4-9248-826B92E4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FCA50-FBF9-41AC-A546-0682DB36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Nuts + fruit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F31B1-7A50-456A-AD3D-92FE95F1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Portable crunch and sweetness.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9E747-44C8-4485-907D-9EB23F1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83CC5-F0CF-4A9D-AEEE-9D742C3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A2D72-2280-46AD-9A88-415E5AD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Hummus + vegetables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1AC95-7D4D-48E7-AF1F-5351003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Fiber, flavor, and texture.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A4304-5073-4C39-9564-62DC931D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8378F-2C19-44F9-99BC-D1EBC02F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45B8B-2751-455B-9075-B746DE80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Yogurt + berries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BF796-FFF6-497F-AC06-B894633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Check saturated fat and added sugar.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36834-59B6-4153-ACDE-4D8ECB31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4335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C5826-BCF5-423A-8C7E-72CE16F5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AB7AE-26B3-451F-9CB7-0E11AECC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76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Roasted chickpeas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C51EF-F470-4F76-A706-14F2E30A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243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Shelf-stable crunch.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0CB36F-152E-4898-8BC7-B6761ABA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785325-2CC6-45E2-8F81-A5A9FFD1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FB397-C2B9-4B86-8676-81DC967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Popcorn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988134-DB52-4E4D-9297-D7DBA03F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102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A crunchy option; notice butter and salt.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2583E-C4A1-450C-B901-601BE6E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2920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FDF206-514A-47C0-8EA1-9B7D724C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00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93823A-88C7-466D-B35E-B666A4D6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625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Tuna + crackers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C2804F-896B-4724-BF18-74220BA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102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Protein with carbohydrate.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C724E-7C9E-45A9-8AC3-5DA8C34E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458200"/>
            <a:ext cx="65151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508D17-B53A-40B9-B177-82E27332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5915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Medication safety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5958F2-EC65-45E4-B278-4850035C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858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If you use insulin or medicines that can cause low blood sugar, ask your care team how snacks and activity should be handled.</a:t>
            </a:r>
          </a:p>
        </p:txBody>
      </p:sp>
    </p:spTree>
    <p:extLst>
      <p:ext uri="{BB962C8B-B14F-4D97-AF65-F5344CB8AC3E}">
        <p14:creationId xmlns:p14="http://schemas.microsoft.com/office/powerpoint/2010/main" val="9185676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bc9b4ce7849ae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CDAF9-AE67-4542-8D37-25A28528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E055-A9CF-418C-848E-C67C41A7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B166D-2137-46C2-9B26-33783803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49D26-FAB0-404F-B76E-66A3E997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A4A0C-A23E-4F5C-BD26-FB3A081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BFDE3-38FB-4CFE-A29D-A549B58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5C171-4C83-4DAF-AA68-B121837D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444BB-BEB7-41EF-BDB3-19A2C28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23DAE-0F73-4602-8436-90FAC6A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Budget-friendly fats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9F060-EB48-400F-A335-5DE4B92B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Wellness branding is not required for nutritious food. Buy foods you will actually use.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86565581942c3"/>
          <a:srcRect xmlns:a="http://schemas.openxmlformats.org/drawingml/2006/main" l="0" t="21491" r="0" b="214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686050"/>
            <a:ext cx="6515100" cy="2476500"/>
          </a:xfrm>
          <a:prstGeom xmlns:a="http://schemas.openxmlformats.org/drawingml/2006/main" prst="roundRect">
            <a:avLst>
              <a:gd name="adj" fmla="val 538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36F94-D8AC-4DC2-B0F7-1C45A3CC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3028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0AF33-F91B-4457-89D7-6392E522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10F44-2871-404B-B6AD-67FAF30D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340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Often practical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DD6A6-680D-4607-B844-FC33CFC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817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Peanuts, sunflower seeds, canola oil, eggs, canned fish, store-brand nut butter.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A06EC-3A79-4F35-A10B-2AEB2005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00700"/>
            <a:ext cx="3028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FAF5A-CBB5-4B03-BC1F-6E6D86E4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77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2DDEA-90DE-469A-B4C9-6CAB248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340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Reduce waste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4FE00-2514-4394-9B2B-7C0614FA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817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Frozen and canned options may help.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451EE-1477-40B9-AB50-E0C27752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62750"/>
            <a:ext cx="3028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0E837-4E84-4711-91A1-015FC5A7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3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A1880-3A0B-440D-AF52-17755E01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961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Compare carefully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4C055-3DB7-4285-8F92-DB082252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4375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Use unit price when possible; do not assume premium means better.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28A4F-6C83-47A6-A7FC-FA75186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762750"/>
            <a:ext cx="3028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F6998-2356-4C0B-878F-9DF6406E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93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3B9B9-B8EF-47A2-97C9-83E0B791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8961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Store well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94515-612E-4C2C-932D-249DE142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14375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Seal nuts and seeds; refrigerate or freeze when needed.</a:t>
            </a:r>
          </a:p>
        </p:txBody>
      </p:sp>
    </p:spTree>
    <p:extLst>
      <p:ext uri="{BB962C8B-B14F-4D97-AF65-F5344CB8AC3E}">
        <p14:creationId xmlns:p14="http://schemas.microsoft.com/office/powerpoint/2010/main" val="5458214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24d411ac64518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CACEA-7A5C-4CA8-BF04-AE7B6D73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44871-33AD-4E4A-89F1-73552EB7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Myths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872A9-E070-4A0B-9B70-5F8CA279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73A16-B6A7-414D-A5F8-EAF6A232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46D74-1C5F-41C6-B499-8C1193CA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A5C2B-249C-442B-AEBC-074FB970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EE9C9-84CF-499B-B913-1FA467FA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E0D39-412E-4274-9CEF-BD4010B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MYTHS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9C480-4F3C-46B8-9338-F5A8CBC9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Common fat claims need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F9D57-36E2-4013-B55F-5C06444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Nutrition claims can be loud. A calmer answer is usually more useful.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3F1D4-EFAE-4475-933F-E2CA49EB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51C6D-C8AB-4FF3-B453-6C2A5163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21351-B0CE-477E-A19C-32E2DD15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Fat-free is always healthier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4539B-4669-4027-A097-EFAC6C75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Not always. Added sugar, sodium, portion, and food quality still matter.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3F121-83D7-462C-92DB-2CBF703D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9AE5E-8B79-407F-95BF-67809514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0FCA9-F695-4B4A-AFB9-AA5CC497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Keto supports every heart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FBB28-F93E-4CB5-9C30-ABA38C6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Not automatically. Lab numbers and food sources matter.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37E62-184F-4B00-AD83-73129B52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F6185-EB73-421E-AD47-C9BB7296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E1F18-F358-461D-A826-1956AFBF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Coconut oil is a miracle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0C6B7-D8C4-4BDB-BF54-70AE81D9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No single oil is a cure-all.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E40E8-2206-44F8-B912-F8BC5B04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4335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0B38C-A664-4587-876D-804D27FD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FE0CF-6262-4E5A-A2B8-0FD4DEEC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76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Everyone needs omega-3 pills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B95F1B-F393-4C20-9AE2-6A5CFAA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243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Food and supplements are different. Ask about safety. [6]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4982B6-9C5A-4C0A-81EB-75D89C1A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B0646-08C5-49F0-A611-AB4BEB9B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26BAB-F9B0-4CF9-925A-6FDE5027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Eating fat equals body fat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09315-788E-4717-9C25-ACB738DA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102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Body weight is more complex than one nutrient.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68F98C-EE69-44B4-A2B6-E7F58D0C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29200"/>
            <a:ext cx="30289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DD0B71-5A07-40B6-85C0-DB8EE0CB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00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034B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63F6C-2175-4BB8-9CB7-3685F138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625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All fats affect cholesterol the same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EA313B-CAD2-492F-B82B-0D747DE6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102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1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1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Different fats and replacements matter. [1]</a:t>
            </a:r>
          </a:p>
        </p:txBody>
      </p:sp>
    </p:spTree>
    <p:extLst>
      <p:ext uri="{BB962C8B-B14F-4D97-AF65-F5344CB8AC3E}">
        <p14:creationId xmlns:p14="http://schemas.microsoft.com/office/powerpoint/2010/main" val="3602398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808b2ffae44a4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AA7BA-0B95-4C81-9C9A-4FA68597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940F3-B638-4AE1-AE79-0F68DC97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DCFD6-1912-44DB-B016-517A8484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76A10-5BF4-4E4C-A357-79BBECB3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BF102-5835-4ABC-933A-40D254E9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9BA30-7AE8-43CC-A77E-7AB54D55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D9627-4ED2-4C18-95A2-DA9735A7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73022-B1FF-4ACA-AE0B-5F8A04C6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PLANNER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3062F-9690-4A98-88EA-3012C40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Personal fat-swap planner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9D33E-6BDB-41A7-83F2-9B6F55A2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Choose one meal where a change feels realistic. Keep it small enough to try and satisfying enough to repeat.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C9CBF-F149-430C-823D-C0121246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38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Meal or eating occasion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C6223-E58F-473E-9D72-12C286BA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86050"/>
            <a:ext cx="4343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8E711-F139-4D4F-96F0-4E90007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38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What I usually choose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9DD56-54E4-4370-B830-98F855D7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524250"/>
            <a:ext cx="4343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459EE-9E71-4D43-8F97-445B76F9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38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One realistic change I could 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05C72-6AF4-4125-B89C-38736B3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62450"/>
            <a:ext cx="4343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AF633-C118-4AE6-AEC4-F35BCBED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38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Cost or availability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FEDC8-21A8-4B2B-B671-E17ED0E6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200650"/>
            <a:ext cx="4343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83054-6551-42A0-82E4-CBF11BC7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03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38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Taste and satisfaction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BD52D-6CBE-4FE9-95A2-30A2A980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6038850"/>
            <a:ext cx="4343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AC129-ABD6-4000-B240-BE236B42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38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Use again?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5871F-7916-4BA9-8318-CEC99BB4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6877050"/>
            <a:ext cx="4343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645C3-5D26-4B20-86D9-35C32074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86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38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Notes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5B176-A855-4BF0-AA1C-889BA7E0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7715250"/>
            <a:ext cx="4343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1BAA0-A404-404E-ABC2-8B84609E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86800"/>
            <a:ext cx="64960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4DB78-488C-44B8-82A6-FDAFCD13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82015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Keep it printable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D0AD5-8670-4FA4-947C-BAD7083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086850"/>
            <a:ext cx="6172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 one meal at a time. A useful swap should be realistic for your budget, schedule, taste, and health needs.</a:t>
            </a:r>
          </a:p>
        </p:txBody>
      </p:sp>
    </p:spTree>
    <p:extLst>
      <p:ext uri="{BB962C8B-B14F-4D97-AF65-F5344CB8AC3E}">
        <p14:creationId xmlns:p14="http://schemas.microsoft.com/office/powerpoint/2010/main" val="8963351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34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B7C00-6CC5-4837-895B-0B5D4BEF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4B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eaea2663c41e6"/>
          <a:srcRect xmlns:a="http://schemas.openxmlformats.org/drawingml/2006/main" l="463" t="0" r="4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666750"/>
            <a:ext cx="552450" cy="590550"/>
          </a:xfrm>
          <a:prstGeom xmlns:a="http://schemas.openxmlformats.org/drawingml/2006/main" prst="roundRect">
            <a:avLst>
              <a:gd name="adj" fmla="val 1724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D0B1E-CBB3-4A4D-B975-D5BB7BD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25" b="1" i="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225" b="1" i="0">
                <a:solidFill>
                  <a:srgbClr val="FFFFFF"/>
                </a:solidFill>
                <a:latin typeface="Lora"/>
                <a:ea typeface="Lora"/>
                <a:cs typeface="Lora"/>
              </a:rPr>
              <a:t>Heart and brain health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ECCA0-FF7F-458B-A638-BDA73F8E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38" b="0" i="0">
                <a:solidFill>
                  <a:srgbClr val="E6F2EC"/>
                </a:solidFill>
                <a:latin typeface="Lato"/>
                <a:ea typeface="Lato"/>
                <a:cs typeface="Lato"/>
              </a:defRPr>
            </a:pPr>
            <a:r>
              <a:rPr sz="1238" b="0" i="0">
                <a:solidFill>
                  <a:srgbClr val="E6F2EC"/>
                </a:solidFill>
                <a:latin typeface="Lato"/>
                <a:ea typeface="Lato"/>
                <a:cs typeface="Lato"/>
              </a:rPr>
              <a:t>Dietary-fat choices work inside a larger pattern: vegetables, fiber-rich foods, blood pressure care, cholesterol care, glucose care, movement, sleep, tobacco avoidance, and medical guidance. [7,8]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663DF-D0CD-460A-9752-482A60B7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5334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77242-3883-4497-BC65-DFED4890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Explore The Mindful 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33098-BFE4-4D5A-9257-95C70DA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052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mindfuldiabetes.org/free-guides/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D0B4E-B2E2-40E1-B4D9-DAF75127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5334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A42A6-15AF-4BA4-B507-A7CB7D2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Visit Health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E5ECE-315C-43B5-A99A-1F2DE91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815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mindfuldiabetes.org/health-tools/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7F005-225F-4420-9E71-07BB2D55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5334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DE55A-C25C-4199-BB60-CDEDD3D7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48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Try JEIR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2DE53-65A3-4030-847E-DF605A51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57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mindfuldiabetes.org/research/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43421-0219-4FE7-973D-8E2D00EC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5334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10272-1C54-4F2E-BCCF-97F5D2D4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24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Support free education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6EDEE-6CC7-47B8-A9D4-36053237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734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 i="0">
                <a:solidFill>
                  <a:srgbClr val="FFF4EC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FFF4EC"/>
                </a:solidFill>
                <a:latin typeface="Lato"/>
                <a:ea typeface="Lato"/>
                <a:cs typeface="Lato"/>
              </a:rPr>
              <a:t>mindfuldiabetes.org/donation/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22EFD-559E-47F5-8EE6-174B3E01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0"/>
            <a:ext cx="53340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478">
            <a:solidFill>
              <a:srgbClr val="F3B4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30572-20F4-4FC3-B515-903EAF37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753350"/>
            <a:ext cx="501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Medical disclaimer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C72FE-6A3F-4C2A-BAED-190BEE18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020050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This guide is general education, not medical advice, diagnosis, or treatment. Do not change medication, insulin, cholesterol treatment, or supplements based on this guide.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F3949-80E8-4DB3-BF36-F1F0968C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29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DDEBE5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DDEBE5"/>
                </a:solidFill>
                <a:latin typeface="Lato"/>
                <a:ea typeface="Lato"/>
                <a:cs typeface="Lato"/>
              </a:rPr>
              <a:t>Mindful Diabetes Inc. | 501(c)(3) nonprofit | Free to share for education</a:t>
            </a:r>
          </a:p>
        </p:txBody>
      </p:sp>
    </p:spTree>
    <p:extLst>
      <p:ext uri="{BB962C8B-B14F-4D97-AF65-F5344CB8AC3E}">
        <p14:creationId xmlns:p14="http://schemas.microsoft.com/office/powerpoint/2010/main" val="16747047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4f2f2e4b24980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3FB3C-7B35-467C-8349-FD37D390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88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Fats Without Fear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A8E5B-FAB7-458D-A111-A6D4D10B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References and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52964-AABF-462B-BCBD-522B599A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95645-C2A2-4415-A55B-4265120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12AFF-3E41-401B-8EF2-C1190EE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36EF0-8779-4A5F-83BF-AE08BB9E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2A9FE-69B6-4E61-A553-5ED5334C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43954-768C-4AA2-9787-E91940DD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REFERENCES AND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F56C5-49F3-4730-A41E-C0C2B5C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References and medical disclaimer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3A29C-8804-4AB7-9E7B-9DD00FCA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Every numbered citation in this guide appears here.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7E38F-692F-4ADF-8104-D0CE3390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Medical disclaimer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27C1F-89AF-4290-BA81-A7E872C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This guide provides general health education. It is not medical advice, diagnosis, treatment, nutrition therapy, or a medication plan. Do not change insulin, diabetes medication, cholesterol medication, glucose targets, pregnancy care, kidney-disease care, or any prescribed medical diet because of this guide. For urgent symptoms, seek medical care.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D459D-42B8-4B8A-AAE6-8345E567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21500-7A84-482C-B010-FB63E01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477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757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57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1. American Heart Association. The Facts on Fats. AHA; 2025. https://www.heart.org/en/healthy-living/healthy-eating/eat-smart/fats/the-facts-on-fats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757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57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2. American Heart Association. Fats in Foods. AHA; 2026. https://www.heart.org/en/healthy-living/healthy-eating/eat-smart/fats/fats-in-foods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757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57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3. U.S. Food and Drug Administration. How to Understand and Use the Nutrition Facts Label. FDA; 2024. https://www.fda.gov/food/nutrition-facts-label/how-understand-and-use-nutrition-facts-label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757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57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4. U.S. Food and Drug Administration. Daily Value on the Nutrition and Supplement Facts Labels. FDA; 2024. https://www.fda.gov/food/nutrition-facts-label/daily-value-nutrition-and-supplement-facts-labels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757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57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5. U.S. Food and Drug Administration and U.S. Environmental Protection Agency. Advice About Eating Fish. FDA/EPA; 2024. https://www.fda.gov/food/consumers/advice-about-eating-fish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757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57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6. NIH Office of Dietary Supplements. Omega-3 Fatty Acids: Fact Sheet for Consumers. NIH ODS; 2022. https://ods.od.nih.gov/factsheets/Omega3FattyAcids-Consumer/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757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57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7. National Institute on Aging. What Do We Know About Diet and Prevention of Alzheimer's Disease?. NIA; 2023. https://www.nia.nih.gov/health/alzheimers-and-dementia/what-do-we-know-about-diet-and-prevention-alzheimers-disease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757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57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8. American Heart Association. Life's Essential 8. AHA; 2026. https://www.heart.org/en/healthy-living/healthy-lifestyle/lifes-essential-8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DC14B-E9CF-43E8-A497-3ACF9C06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53400"/>
            <a:ext cx="64960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478">
            <a:solidFill>
              <a:srgbClr val="B8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E6C7E-AB6F-4245-A9D7-3F288D24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28675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Publication 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32497-3581-46D6-8955-A64E4E9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553450"/>
            <a:ext cx="617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Published July 30, 2026 | Next scheduled review July 2027 | Mindful Diabetes Inc., 501(c)(3) nonprofit health education.</a:t>
            </a:r>
          </a:p>
        </p:txBody>
      </p:sp>
    </p:spTree>
    <p:extLst>
      <p:ext uri="{BB962C8B-B14F-4D97-AF65-F5344CB8AC3E}">
        <p14:creationId xmlns:p14="http://schemas.microsoft.com/office/powerpoint/2010/main" val="387743875"/>
      </p:ext>
    </p:extLst>
  </p:cSld>
</p:sld>
</file>

<file path=ppt/theme/theme1.xml><?xml version="1.0" encoding="utf-8"?>
<a:theme xmlns:a="http://schemas.openxmlformats.org/drawingml/2006/main" name="ChatGPT">
  <a:themeElements>
    <a:clrScheme name="Mindful Diabetes">
      <a:dk1>
        <a:srgbClr val="16211D"/>
      </a:dk1>
      <a:lt1>
        <a:srgbClr val="FFFDF7"/>
      </a:lt1>
      <a:dk2>
        <a:srgbClr val="192442"/>
      </a:dk2>
      <a:lt2>
        <a:srgbClr val="FBF3EA"/>
      </a:lt2>
      <a:accent1>
        <a:srgbClr val="034B2F"/>
      </a:accent1>
      <a:accent2>
        <a:srgbClr val="F26A2E"/>
      </a:accent2>
      <a:accent3>
        <a:srgbClr val="E6F2EC"/>
      </a:accent3>
      <a:accent4>
        <a:srgbClr val="EEF7FA"/>
      </a:accent4>
      <a:accent5>
        <a:srgbClr val="F5C66B"/>
      </a:accent5>
      <a:accent6>
        <a:srgbClr val="5C6C67"/>
      </a:accent6>
      <a:hlink>
        <a:srgbClr val="034B2F"/>
      </a:hlink>
      <a:folHlink>
        <a:srgbClr val="1924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dful Diabet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2026-07-30T18:11:08.1390000Z</dcterms:created>
  <dcterms:modified xsi:type="dcterms:W3CDTF">2026-07-30T18:11:08.1390000Z</dcterms:modified>
</coreProperties>
</file>